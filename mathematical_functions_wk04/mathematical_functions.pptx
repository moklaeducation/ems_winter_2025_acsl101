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85" r:id="rId4"/>
    <p:sldId id="28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6:19:53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6:20:08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0 262 24575,'3'0'0,"0"1"0,-1-1 0,1 1 0,-1 0 0,1 0 0,-1 0 0,1 0 0,-1 0 0,4 3 0,16 6 0,-15-8 0,0-1 0,1 0 0,0 0 0,-1-1 0,1 0 0,-1-1 0,1 1 0,-1-1 0,1-1 0,9-2 0,1-3 0,1 0 0,26-17 0,-35 19 0,33-15 0,2 2 0,92-24 0,-70 23 0,-3 3 0,-45 12 0,-1 0 0,0-1 0,0-1 0,0-1 0,20-11 0,-25 11 0,0 0 0,1 0 0,0 2 0,0 0 0,1 0 0,-1 1 0,1 1 0,0 1 0,0 0 0,27 0 0,-37 2 0,9 1 0,0-1 0,0 0 0,0-1 0,-1-1 0,1 0 0,0-1 0,-1 0 0,14-6 0,-53 2-1365,14 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6:20:10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 24575,'1'4'0,"0"0"0,1 0 0,0 0 0,-1 0 0,2 0 0,-1 0 0,0-1 0,1 1 0,0-1 0,-1 0 0,8 6 0,-7-7 0,0 0 0,0 0 0,1-1 0,-1 1 0,0-1 0,1 0 0,0 0 0,-1 0 0,1 0 0,-1-1 0,8 1 0,48-3 0,-28 0 0,-19 2 0,-4-1 0,-1 1 0,0 0 0,0 1 0,0 0 0,8 1 0,-13-1 0,0-1 0,-1 1 0,1 0 0,0 0 0,0 0 0,-1 0 0,1 0 0,-1 0 0,1 0 0,-1 0 0,0 0 0,1 1 0,-1-1 0,0 1 0,0-1 0,0 1 0,0-1 0,0 1 0,0 0 0,0-1 0,0 1 0,-1 0 0,1 0 0,0 2 0,0 0 0,-1-1 0,1 1 0,0 0 0,-1-1 0,0 1 0,0-1 0,0 1 0,0 0 0,-1-1 0,0 1 0,1 0 0,-1-1 0,0 1 0,-3 4 0,1-4 0,1 0 0,-1 0 0,0-1 0,-1 1 0,1-1 0,-1 0 0,1 0 0,-1 0 0,0 0 0,0-1 0,-5 3 0,-18 10 0,5-2 0,-2 0 0,0-1 0,-48 15 0,57-22 0,-1 1 0,2 1 0,-1 0 0,1 1 0,0 0 0,0 1 0,-22 20 0,0-1 0,35-27 27,1-1-59,-1 0 1,1 1-1,0-1 0,0 0 1,-1 1-1,1-1 0,0 0 1,0 0-1,-1 1 1,1-1-1,0 0 0,-1 0 1,1 0-1,0 1 0,-1-1 1,1 0-1,0 0 0,-1 0 1,1 0-1,-1 0 1,1 0-1,0 0 0,-1 0 1,1 0-1,0 0 0,-1 0 1,1 0-1,-1 0 0,1 0 1,0 0-1,-1 0 1,1 0-1,0-1 0,-1 1 1,1 0-1,0 0 0,-1 0 1,1 0-1,0-1 0,-1 1 1,1 0-1,0-1 1,-1 1-1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6:20:1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24575,'3'2'0,"0"0"0,1 0 0,-1-1 0,0 0 0,1 1 0,0-1 0,-1-1 0,1 1 0,0 0 0,-1-1 0,1 0 0,0 0 0,5 0 0,7 0 0,383 4 0,-385-5 0,216-3 0,-174-2 0,14 0 0,-54 5 0,0-1 0,-1 0 0,1-1 0,20-7 0,-20 5 0,-15 5 7,0 0-1,-1 0 0,1 0 1,-1 0-1,1-1 1,0 1-1,-1 0 0,1 0 1,-1-1-1,1 1 1,-1-1-1,1 1 1,-1 0-1,1-1 0,-1 1 1,1-1-1,-1 1 1,1-1-1,-1 1 0,0-1 1,1 1-1,-1-1 1,0 0-1,0 1 0,1-1 1,-1 1-1,0-1 1,0 0-1,0 1 0,0-1 1,0 0-1,0 1 1,0-1-1,0 0 0,0 1 1,0-1-1,0 1 1,0-1-1,0 0 0,-1 1 1,1-1-1,0 0 1,0 1-1,-1-1 1,1 1-1,0-1 0,-1 1 1,1-1-1,-1 0 1,-26-31-717,20 24-266,-11-12-5850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6:20:12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 24575,'8'1'0,"-1"1"0,0 0 0,0 0 0,0 1 0,0 0 0,-1 0 0,1 1 0,-1-1 0,0 2 0,7 4 0,0 0 0,12 9 0,0 1 0,29 32 0,-5-5 0,-46-44 0,-1 0 0,1 0 0,-1 0 0,1 1 0,-1-1 0,0 1 0,0-1 0,3 6 0,-5-7 0,0 0 0,0-1 0,0 1 0,1 0 0,-1 0 0,0 0 0,0 0 0,-1-1 0,1 1 0,0 0 0,0 0 0,0 0 0,-1 0 0,1-1 0,0 1 0,-1 0 0,1 0 0,0-1 0,-1 1 0,1 0 0,-1-1 0,1 1 0,-1 0 0,0-1 0,1 1 0,-1-1 0,1 1 0,-1-1 0,0 1 0,0-1 0,1 0 0,-1 1 0,0-1 0,0 0 0,1 1 0,-3-1 0,-25 12 0,-2-2 0,0-1 0,0-1 0,-45 5 0,-36 10 0,87-18 0,17-4 0,-1 1 0,0 0 0,1 1 0,-1-1 0,-9 6 0,16-7 0,1-1 0,0 0-1,0 0 1,-1 0 0,1 0-1,0 0 1,0 0-1,-1 1 1,1-1 0,0 0-1,0 0 1,-1 0 0,1 0-1,0 0 1,-1 0 0,1 0-1,0 0 1,0 0 0,-1 0-1,1 0 1,0 0 0,-1-1-1,1 1 1,0 0 0,0 0-1,-1 0 1,1 0 0,0 0-1,0 0 1,-1-1 0,1 1-1,0 0 1,0 0-1,0 0 1,-1-1 0,1 1-1,0 0 1,0 0 0,0-1-1,0 1 1,0 0 0,-1 0-1,1-1 1,0 1 0,0 0-1,0 0 1,0-1 0,0 1-1,0 0 1,0-1 0,0 1-1,-2-5-1346,-3-4-5479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6:20:13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24575,'24'1'0,"0"1"0,0 1 0,0 2 0,-1 0 0,1 1 0,-1 1 0,0 1 0,-1 2 0,0 0 0,-1 1 0,0 1 0,39 29 0,-39-25 0,275 230 0,-281-234 0,1-1 0,1-1 0,-1 0 0,1-1 0,1-1 0,0 0 0,0-2 0,23 6 0,-31-9 0,0-2 0,19 2 0,-22-2 0,1-1 0,-1 1 0,0 0 0,1 1 0,-1 0 0,11 4 0,-22-9 21,1 1 0,0 0 1,0-1-1,0 0 0,0 1 0,1-1 0,-5-6 0,-4-4-1555,-5-4-5292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8T16:20:14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 24575,'4'1'0,"1"0"0,-1 1 0,1-1 0,-1 1 0,0 0 0,1 1 0,-1-1 0,0 1 0,-1 0 0,1 0 0,0 0 0,-1 0 0,6 7 0,13 10 0,108 88 0,-106-89 0,-19-17 0,0 1 0,-1 0 0,0 1 0,0-1 0,0 1 0,5 7 0,-8-11 0,-1 1 0,0-1 0,0 1 0,0-1 0,0 1 0,0-1 0,0 1 0,0-1 0,0 1 0,0 0 0,0-1 0,0 1 0,0-1 0,-1 1 0,1-1 0,0 1 0,0-1 0,0 1 0,-1-1 0,1 1 0,0-1 0,-1 1 0,1-1 0,0 0 0,-1 1 0,1-1 0,-1 1 0,1-1 0,0 0 0,-1 1 0,1-1 0,-1 0 0,1 0 0,-1 1 0,1-1 0,-1 0 0,0 0 0,1 0 0,-2 0 0,-23 8 0,-97 15 0,-118 31 0,222-48 0,1 2 0,0 0 0,-27 18 0,24-14 0,-29 14 0,48-27-2,1 1-1,0-1 0,0 1 1,0-1-1,0 1 1,-1-1-1,1 1 1,0-1-1,0 1 0,0-1 1,0 1-1,0-1 1,0 1-1,1-1 0,-1 1 1,0-1-1,0 1 1,0-1-1,0 1 0,0-1 1,1 1-1,-1 0 1,0-1-1,1 0 0,0-4-1297,2-5-5526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8DD93-DC54-4EF6-9AF9-1E1381166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BE14D3-FB9F-EE90-BC94-5CC3A288D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D1FAA-2D8B-12FE-0B16-273012BC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4DA7B-A42F-4762-8DAB-D3EF50A986D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08C99-E5C9-FDD1-5D54-EAFC26493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BA1B6-9ABD-873A-B18F-24D916B1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55BA-4B2D-4130-A1A8-4E1F02C9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06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DD005-94CC-246D-8035-1F2230209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F32F1-D1EA-F0F3-B054-EC076A4CD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93FC3-2D21-78AE-6A21-A7AF7F431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4DA7B-A42F-4762-8DAB-D3EF50A986D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27638-7170-15B7-5B8F-E540DB32B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E02CC-8964-1E2D-D150-469E772D3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55BA-4B2D-4130-A1A8-4E1F02C9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526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FED14-22D3-AF64-A8ED-4D747885B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6E15A-1A82-E995-441C-3534015ED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E67C-251D-C3B6-E702-CE88D7517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4DA7B-A42F-4762-8DAB-D3EF50A986D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D4F74-6CD3-D4CE-C463-D5244DC7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525B-D858-F0A8-93E9-3E71BD7D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55BA-4B2D-4130-A1A8-4E1F02C9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75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8A24A-535E-22B9-7FE3-C8AB588FF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D90F1-0024-3E73-3659-9E669E41CB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5DF44-2F30-264B-8451-8E3298CC7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92439-441D-4F35-9E16-923CFB3F3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4DA7B-A42F-4762-8DAB-D3EF50A986D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FA513-356C-8B3B-5F75-08A3EF3D7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37434-853C-AE30-D691-FA74045F6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55BA-4B2D-4130-A1A8-4E1F02C9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06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5EE4E-63DE-2BD1-8ED2-271CAC1C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22B22-9B6C-6DEF-5FD9-7453E6A14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7F8F2-102F-E5EA-3C6E-C18628F4A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46A35-EE1B-4F97-964E-41986B5466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D50A6-05BD-08F3-6A51-27D553149A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0A0721-15D5-DF0C-35F9-FD45D008E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4DA7B-A42F-4762-8DAB-D3EF50A986D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1CF4A1-9D01-3ECD-9143-C5EB6C499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846509-45A3-5E3B-141B-11967E13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55BA-4B2D-4130-A1A8-4E1F02C9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32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CA78-D2DD-4204-CCF2-4AB930A66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75BF79-85F0-7956-C134-6B8932775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4DA7B-A42F-4762-8DAB-D3EF50A986D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74C83-E9A4-0436-FFB3-B45565F80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B07F67-0188-DF16-77DD-C26E503A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55BA-4B2D-4130-A1A8-4E1F02C9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82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6A83B3-01B4-589D-2D3E-F650AC29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4DA7B-A42F-4762-8DAB-D3EF50A986D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73AB1E-D7BC-AA60-CFBC-D186B7618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0A963-6F34-74E2-6868-4C841D3D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55BA-4B2D-4130-A1A8-4E1F02C9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64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A1B35-D31E-75F6-4A3E-3BD0B4747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3FF21-8794-7A97-73BD-3DBBFFE73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FBA69-B531-5127-2A4A-7CE36CCB2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1726E-A0FD-12B4-7DBF-01C780C29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4DA7B-A42F-4762-8DAB-D3EF50A986D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D7430-1E91-9394-0EC8-4F2E25B3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E6BFF-E9EC-9D21-7DBF-6C0601E4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55BA-4B2D-4130-A1A8-4E1F02C9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83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B0577-9A6B-622F-2876-51EAA54FA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B72A0A-7DBF-14D8-AFD7-9166E785E9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990A1-877A-6B0C-6379-483F104D2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73846-8665-566A-6B45-64AB594A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4DA7B-A42F-4762-8DAB-D3EF50A986D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53DF5-B74F-AA7B-A8D1-49A0AAB83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10FE4-4BD8-7151-FB87-E903950A1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55BA-4B2D-4130-A1A8-4E1F02C9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427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82BB4-01CF-3C60-341D-4ED26172B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A3EBC2-2C52-5C61-EB17-3A37C597F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2B158-594D-7F28-C8B4-071B207A9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4DA7B-A42F-4762-8DAB-D3EF50A986D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329D3-DB48-D447-397E-8695EEB87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33FC5-7E79-98BB-5B60-528B8DC60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55BA-4B2D-4130-A1A8-4E1F02C9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35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6799A2-717A-D9F5-ACAF-3A07E91836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FB1D4-D4D7-D367-B434-09710869E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E5B2F-48A6-B474-9BFF-A113CC319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4DA7B-A42F-4762-8DAB-D3EF50A986D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4AACA-9DEB-BB91-274C-B2A36F94F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45FF7-12E3-6383-CCD5-7AF178ABE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555BA-4B2D-4130-A1A8-4E1F02C9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819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9E4D60-5418-C5E9-8EDC-33D999D32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AF2BC-286B-3436-7562-976F34861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31463-3915-408F-CC4A-49ED691E6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74DA7B-A42F-4762-8DAB-D3EF50A986D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7C03E-E49D-61F4-A1C1-D981DB080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81D63-14D3-E133-350D-EAF1578CE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1555BA-4B2D-4130-A1A8-4E1F02C9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21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hyperlink" Target="https://storage.googleapis.com/content-resources/Math%20unit%20guides/CCSS/CCSS%20Algebra%201/Unit%20guide%20_%20CCSS%20Algebra%201%20_%20Unit%208_%20Functions.pdf" TargetMode="Externa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ritings.stephenwolfram.com/2024/09/nestedly-recursive-functions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ackerrank.com/domains/data-structures?filters%5Bsubdomains%5D%5B%5D=array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656C5-174E-2FB6-65E4-CA2111D70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, mathematical kind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4E198-62A9-A7DA-7EB7-D2E9BE70D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relation</a:t>
            </a:r>
            <a:r>
              <a:rPr lang="en-US" dirty="0"/>
              <a:t> that gives exactly </a:t>
            </a:r>
            <a:r>
              <a:rPr lang="en-US" b="1" dirty="0"/>
              <a:t>one unique output for each input</a:t>
            </a:r>
          </a:p>
          <a:p>
            <a:pPr marL="0" indent="0">
              <a:buNone/>
            </a:pPr>
            <a:r>
              <a:rPr lang="en-US" dirty="0"/>
              <a:t>x </a:t>
            </a:r>
            <a:r>
              <a:rPr lang="en-US" dirty="0">
                <a:sym typeface="Wingdings" panose="05000000000000000000" pitchFamily="2" charset="2"/>
              </a:rPr>
              <a:t>               y     :this is a function as you always get one answer</a:t>
            </a:r>
          </a:p>
          <a:p>
            <a:pPr marL="0" indent="0">
              <a:buNone/>
            </a:pPr>
            <a:r>
              <a:rPr lang="en-US" dirty="0"/>
              <a:t>x </a:t>
            </a:r>
            <a:r>
              <a:rPr lang="en-US" dirty="0">
                <a:sym typeface="Wingdings" panose="05000000000000000000" pitchFamily="2" charset="2"/>
              </a:rPr>
              <a:t>                           :Not a function as you get multiple answers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Representation </a:t>
            </a:r>
          </a:p>
          <a:p>
            <a:pPr lvl="1"/>
            <a:r>
              <a:rPr lang="en-US" dirty="0"/>
              <a:t>f(x)  = 2x+1 : this is a function </a:t>
            </a:r>
          </a:p>
          <a:p>
            <a:pPr lvl="1"/>
            <a:r>
              <a:rPr lang="en-US" dirty="0"/>
              <a:t>g(x) = ± 3x  : this is </a:t>
            </a:r>
            <a:r>
              <a:rPr lang="en-US" b="1" dirty="0"/>
              <a:t>not </a:t>
            </a:r>
            <a:r>
              <a:rPr lang="en-US" dirty="0"/>
              <a:t>a function , why?</a:t>
            </a:r>
          </a:p>
          <a:p>
            <a:r>
              <a:rPr lang="en-US" dirty="0"/>
              <a:t>Follow up reading </a:t>
            </a:r>
            <a:r>
              <a:rPr lang="en-US" sz="1600" dirty="0"/>
              <a:t>(optional)</a:t>
            </a:r>
            <a:r>
              <a:rPr lang="en-US" dirty="0"/>
              <a:t>: </a:t>
            </a:r>
            <a:r>
              <a:rPr lang="en-US" dirty="0" err="1"/>
              <a:t>pg</a:t>
            </a:r>
            <a:r>
              <a:rPr lang="en-US" dirty="0"/>
              <a:t> 11-13 : </a:t>
            </a:r>
            <a:r>
              <a:rPr lang="en-US" dirty="0">
                <a:hlinkClick r:id="rId2"/>
              </a:rPr>
              <a:t>functions</a:t>
            </a:r>
            <a:endParaRPr lang="en-US" dirty="0"/>
          </a:p>
          <a:p>
            <a:endParaRPr lang="en-US" b="1" dirty="0"/>
          </a:p>
          <a:p>
            <a:pPr lvl="1"/>
            <a:endParaRPr lang="en-US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151C7A-8B6C-8009-415E-F91BB003110A}"/>
              </a:ext>
            </a:extLst>
          </p:cNvPr>
          <p:cNvSpPr/>
          <p:nvPr/>
        </p:nvSpPr>
        <p:spPr>
          <a:xfrm>
            <a:off x="1838880" y="2348280"/>
            <a:ext cx="731520" cy="365760"/>
          </a:xfrm>
          <a:prstGeom prst="rect">
            <a:avLst/>
          </a:prstGeom>
          <a:solidFill>
            <a:srgbClr val="000000">
              <a:alpha val="5000"/>
            </a:srgbClr>
          </a:solidFill>
          <a:ln w="18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6B4BE5-A952-1A8B-54BC-63ED314339FD}"/>
              </a:ext>
            </a:extLst>
          </p:cNvPr>
          <p:cNvSpPr txBox="1"/>
          <p:nvPr/>
        </p:nvSpPr>
        <p:spPr>
          <a:xfrm>
            <a:off x="1860641" y="2348280"/>
            <a:ext cx="687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9EF14B-CA2E-6982-AF5C-489BC285D936}"/>
              </a:ext>
            </a:extLst>
          </p:cNvPr>
          <p:cNvSpPr txBox="1"/>
          <p:nvPr/>
        </p:nvSpPr>
        <p:spPr>
          <a:xfrm>
            <a:off x="1838880" y="2882925"/>
            <a:ext cx="687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0DAEC3-6CB2-B53A-492C-9AF9FB397D56}"/>
              </a:ext>
            </a:extLst>
          </p:cNvPr>
          <p:cNvSpPr/>
          <p:nvPr/>
        </p:nvSpPr>
        <p:spPr>
          <a:xfrm>
            <a:off x="1842120" y="2909160"/>
            <a:ext cx="731520" cy="365760"/>
          </a:xfrm>
          <a:prstGeom prst="rect">
            <a:avLst/>
          </a:prstGeom>
          <a:solidFill>
            <a:srgbClr val="000000">
              <a:alpha val="5000"/>
            </a:srgbClr>
          </a:solidFill>
          <a:ln w="18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875B4C7-A359-6018-2157-AE5ABA315C18}"/>
                  </a:ext>
                </a:extLst>
              </p14:cNvPr>
              <p14:cNvContentPartPr/>
              <p14:nvPr/>
            </p14:nvContentPartPr>
            <p14:xfrm>
              <a:off x="2936679" y="2998246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875B4C7-A359-6018-2157-AE5ABA315C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27679" y="298924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9C0F5BCF-D0F2-30A7-9946-861FA1711ABA}"/>
              </a:ext>
            </a:extLst>
          </p:cNvPr>
          <p:cNvGrpSpPr/>
          <p:nvPr/>
        </p:nvGrpSpPr>
        <p:grpSpPr>
          <a:xfrm>
            <a:off x="2721039" y="2857126"/>
            <a:ext cx="445320" cy="303840"/>
            <a:chOff x="2721039" y="2857126"/>
            <a:chExt cx="44532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8C7FEF2-D3AE-3E3C-A68D-D3F43971E802}"/>
                    </a:ext>
                  </a:extLst>
                </p14:cNvPr>
                <p14:cNvContentPartPr/>
                <p14:nvPr/>
              </p14:nvContentPartPr>
              <p14:xfrm>
                <a:off x="2721039" y="2908246"/>
                <a:ext cx="376920" cy="104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8C7FEF2-D3AE-3E3C-A68D-D3F43971E80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12039" y="2899246"/>
                  <a:ext cx="3945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8ECC4D9-1F6F-1158-5D0B-145F4119AC69}"/>
                    </a:ext>
                  </a:extLst>
                </p14:cNvPr>
                <p14:cNvContentPartPr/>
                <p14:nvPr/>
              </p14:nvContentPartPr>
              <p14:xfrm>
                <a:off x="2985639" y="2857126"/>
                <a:ext cx="149040" cy="141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8ECC4D9-1F6F-1158-5D0B-145F4119AC6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76639" y="2848486"/>
                  <a:ext cx="1666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66648FE-AFBB-2E70-8ED4-3195243117CC}"/>
                    </a:ext>
                  </a:extLst>
                </p14:cNvPr>
                <p14:cNvContentPartPr/>
                <p14:nvPr/>
              </p14:nvContentPartPr>
              <p14:xfrm>
                <a:off x="2769279" y="3081766"/>
                <a:ext cx="349200" cy="45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66648FE-AFBB-2E70-8ED4-3195243117C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60639" y="3073126"/>
                  <a:ext cx="3668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7090F1C-D55F-8CC3-89BB-7EB84048F0D5}"/>
                    </a:ext>
                  </a:extLst>
                </p14:cNvPr>
                <p14:cNvContentPartPr/>
                <p14:nvPr/>
              </p14:nvContentPartPr>
              <p14:xfrm>
                <a:off x="3015519" y="3041806"/>
                <a:ext cx="150840" cy="119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7090F1C-D55F-8CC3-89BB-7EB84048F0D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06879" y="3033166"/>
                  <a:ext cx="16848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FCD7125-712B-D955-04CB-A6D6EA861E7E}"/>
              </a:ext>
            </a:extLst>
          </p:cNvPr>
          <p:cNvGrpSpPr/>
          <p:nvPr/>
        </p:nvGrpSpPr>
        <p:grpSpPr>
          <a:xfrm>
            <a:off x="2769279" y="3244126"/>
            <a:ext cx="389520" cy="255240"/>
            <a:chOff x="2769279" y="3244126"/>
            <a:chExt cx="38952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AD88289-ECFD-B45F-2CF4-BB5A981B9584}"/>
                    </a:ext>
                  </a:extLst>
                </p14:cNvPr>
                <p14:cNvContentPartPr/>
                <p14:nvPr/>
              </p14:nvContentPartPr>
              <p14:xfrm>
                <a:off x="2769279" y="3244126"/>
                <a:ext cx="338400" cy="176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AD88289-ECFD-B45F-2CF4-BB5A981B958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60639" y="3235126"/>
                  <a:ext cx="3560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0CC6CB1-5945-9D71-1B4F-5864922A7BD9}"/>
                    </a:ext>
                  </a:extLst>
                </p14:cNvPr>
                <p14:cNvContentPartPr/>
                <p14:nvPr/>
              </p14:nvContentPartPr>
              <p14:xfrm>
                <a:off x="2954679" y="3353926"/>
                <a:ext cx="204120" cy="145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0CC6CB1-5945-9D71-1B4F-5864922A7BD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45679" y="3345286"/>
                  <a:ext cx="221760" cy="163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80D0CA2-9126-FD7A-E450-E50AFF13D531}"/>
              </a:ext>
            </a:extLst>
          </p:cNvPr>
          <p:cNvSpPr txBox="1"/>
          <p:nvPr/>
        </p:nvSpPr>
        <p:spPr>
          <a:xfrm>
            <a:off x="3201639" y="2714040"/>
            <a:ext cx="527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</a:p>
          <a:p>
            <a:r>
              <a:rPr lang="en-US" dirty="0"/>
              <a:t>b</a:t>
            </a:r>
          </a:p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775769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02945-0AC2-97D6-21F3-4A5D08BD2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889C3-04D9-9556-4A46-311203061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Solving </a:t>
            </a:r>
          </a:p>
          <a:p>
            <a:pPr lvl="1"/>
            <a:r>
              <a:rPr lang="en-US" dirty="0"/>
              <a:t>Substitute variables with numerals</a:t>
            </a:r>
          </a:p>
          <a:p>
            <a:pPr lvl="1"/>
            <a:r>
              <a:rPr lang="en-US" dirty="0"/>
              <a:t>Evaluate</a:t>
            </a:r>
          </a:p>
          <a:p>
            <a:pPr lvl="2"/>
            <a:r>
              <a:rPr lang="en-US" dirty="0"/>
              <a:t>Follow PEMDAS/BODMAS</a:t>
            </a:r>
          </a:p>
          <a:p>
            <a:r>
              <a:rPr lang="en-US" dirty="0"/>
              <a:t>Solve for x = 0,1,2,3</a:t>
            </a:r>
          </a:p>
          <a:p>
            <a:pPr lvl="1"/>
            <a:r>
              <a:rPr lang="en-US" dirty="0"/>
              <a:t>f(x) = 3x + 1</a:t>
            </a:r>
          </a:p>
          <a:p>
            <a:pPr lvl="1"/>
            <a:r>
              <a:rPr lang="en-US" dirty="0"/>
              <a:t>g(x) = 2x</a:t>
            </a:r>
            <a:r>
              <a:rPr lang="en-US" baseline="30000" dirty="0"/>
              <a:t>2 </a:t>
            </a:r>
            <a:r>
              <a:rPr lang="en-US" dirty="0"/>
              <a:t>+ 3</a:t>
            </a:r>
          </a:p>
          <a:p>
            <a:pPr lvl="1"/>
            <a:r>
              <a:rPr lang="en-US" dirty="0"/>
              <a:t>h(x) = x</a:t>
            </a:r>
            <a:r>
              <a:rPr lang="en-US" baseline="30000" dirty="0"/>
              <a:t>2</a:t>
            </a:r>
            <a:r>
              <a:rPr lang="en-US" dirty="0"/>
              <a:t> + 2x +1</a:t>
            </a:r>
          </a:p>
        </p:txBody>
      </p:sp>
    </p:spTree>
    <p:extLst>
      <p:ext uri="{BB962C8B-B14F-4D97-AF65-F5344CB8AC3E}">
        <p14:creationId xmlns:p14="http://schemas.microsoft.com/office/powerpoint/2010/main" val="2419863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BAF36-C99B-4C0F-D9A1-F97EBF1C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1E908-BFA9-6149-6F25-D118365B8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Functions calling themselves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/>
          </a:p>
          <a:p>
            <a:r>
              <a:rPr lang="en-US" dirty="0"/>
              <a:t>Evaluate for ‘n’ = 2 , 4, 5, 6</a:t>
            </a:r>
          </a:p>
          <a:p>
            <a:r>
              <a:rPr lang="en-US" dirty="0"/>
              <a:t>Follow up reading </a:t>
            </a:r>
            <a:r>
              <a:rPr lang="en-US" sz="1500" dirty="0"/>
              <a:t>(optional)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nested functions visualized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B07FF-705F-B2EE-4909-718D1ECDC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136" y="2233628"/>
            <a:ext cx="3333921" cy="112400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D924A9-7C44-EBC3-DDF7-0205456CDCDE}"/>
              </a:ext>
            </a:extLst>
          </p:cNvPr>
          <p:cNvGraphicFramePr>
            <a:graphicFrameLocks noGrp="1"/>
          </p:cNvGraphicFramePr>
          <p:nvPr/>
        </p:nvGraphicFramePr>
        <p:xfrm>
          <a:off x="1071459" y="2316479"/>
          <a:ext cx="8861106" cy="2821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30553">
                  <a:extLst>
                    <a:ext uri="{9D8B030D-6E8A-4147-A177-3AD203B41FA5}">
                      <a16:colId xmlns:a16="http://schemas.microsoft.com/office/drawing/2014/main" val="2496394709"/>
                    </a:ext>
                  </a:extLst>
                </a:gridCol>
                <a:gridCol w="4430553">
                  <a:extLst>
                    <a:ext uri="{9D8B030D-6E8A-4147-A177-3AD203B41FA5}">
                      <a16:colId xmlns:a16="http://schemas.microsoft.com/office/drawing/2014/main" val="1375899388"/>
                    </a:ext>
                  </a:extLst>
                </a:gridCol>
              </a:tblGrid>
              <a:tr h="940592">
                <a:tc>
                  <a:txBody>
                    <a:bodyPr/>
                    <a:lstStyle/>
                    <a:p>
                      <a:r>
                        <a:rPr lang="en-US" b="1" dirty="0"/>
                        <a:t>Fibonacci </a:t>
                      </a:r>
                      <a:r>
                        <a:rPr lang="en-US" b="0" dirty="0"/>
                        <a:t>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360927"/>
                  </a:ext>
                </a:extLst>
              </a:tr>
              <a:tr h="940592">
                <a:tc>
                  <a:txBody>
                    <a:bodyPr/>
                    <a:lstStyle/>
                    <a:p>
                      <a:r>
                        <a:rPr lang="en-US" b="1" dirty="0"/>
                        <a:t>Factorial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    fact(n) = n * fact(n-1)</a:t>
                      </a:r>
                    </a:p>
                    <a:p>
                      <a:r>
                        <a:rPr lang="en-US" dirty="0"/>
                        <a:t>    {given, </a:t>
                      </a:r>
                      <a:r>
                        <a:rPr lang="en-US" i="1" dirty="0"/>
                        <a:t> fact(1) = fact(0) =1}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044372"/>
                  </a:ext>
                </a:extLst>
              </a:tr>
              <a:tr h="940592">
                <a:tc>
                  <a:txBody>
                    <a:bodyPr/>
                    <a:lstStyle/>
                    <a:p>
                      <a:r>
                        <a:rPr lang="en-US" b="1" dirty="0"/>
                        <a:t>Lucas </a:t>
                      </a:r>
                      <a:r>
                        <a:rPr lang="en-US" b="0" dirty="0"/>
                        <a:t>numbers</a:t>
                      </a:r>
                      <a:br>
                        <a:rPr lang="en-US" b="0" dirty="0"/>
                      </a:br>
                      <a:r>
                        <a:rPr lang="en-US" dirty="0"/>
                        <a:t>(</a:t>
                      </a:r>
                      <a:r>
                        <a:rPr lang="en-US" i="1" dirty="0"/>
                        <a:t>same rule as Fibonacci but with different starting values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    l (n) = l(n-1) + l(n-2)</a:t>
                      </a:r>
                    </a:p>
                    <a:p>
                      <a:r>
                        <a:rPr lang="en-US" dirty="0"/>
                        <a:t>    {given , </a:t>
                      </a:r>
                      <a:r>
                        <a:rPr lang="en-US" i="1" dirty="0"/>
                        <a:t>l(0) = 2, l(1) = 1}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91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2921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EB84F-B0DC-79D2-7C5F-8C3A6D23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Programming, , Test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EA891-9323-41D9-4413-E83293264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Need to know </a:t>
            </a:r>
          </a:p>
          <a:p>
            <a:pPr lvl="1"/>
            <a:r>
              <a:rPr lang="en-US" dirty="0"/>
              <a:t>Data types</a:t>
            </a:r>
          </a:p>
          <a:p>
            <a:pPr lvl="1"/>
            <a:r>
              <a:rPr lang="en-US" dirty="0"/>
              <a:t>Conditionals : If/else</a:t>
            </a:r>
          </a:p>
          <a:p>
            <a:pPr lvl="1"/>
            <a:r>
              <a:rPr lang="en-US" dirty="0"/>
              <a:t>Loops : for</a:t>
            </a:r>
          </a:p>
          <a:p>
            <a:pPr lvl="1"/>
            <a:r>
              <a:rPr lang="en-US" dirty="0"/>
              <a:t>Arrays : 2 dimensional</a:t>
            </a:r>
          </a:p>
          <a:p>
            <a:r>
              <a:rPr lang="en-US" dirty="0"/>
              <a:t>Practice </a:t>
            </a:r>
          </a:p>
          <a:p>
            <a:pPr lvl="1"/>
            <a:r>
              <a:rPr lang="en-US" dirty="0">
                <a:hlinkClick r:id="rId2"/>
              </a:rPr>
              <a:t>Arrays- DS (</a:t>
            </a:r>
            <a:r>
              <a:rPr lang="en-US" dirty="0" err="1">
                <a:hlinkClick r:id="rId2"/>
              </a:rPr>
              <a:t>Hackerrank</a:t>
            </a:r>
            <a:r>
              <a:rPr lang="en-US" dirty="0">
                <a:hlinkClick r:id="rId2"/>
              </a:rPr>
              <a:t>)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Do the 4 problems marked “easy”</a:t>
            </a:r>
          </a:p>
          <a:p>
            <a:pPr lvl="2"/>
            <a:r>
              <a:rPr lang="en-US" dirty="0"/>
              <a:t>Optional :“hard”, “medium” one are for extra challenge</a:t>
            </a:r>
          </a:p>
        </p:txBody>
      </p:sp>
    </p:spTree>
    <p:extLst>
      <p:ext uri="{BB962C8B-B14F-4D97-AF65-F5344CB8AC3E}">
        <p14:creationId xmlns:p14="http://schemas.microsoft.com/office/powerpoint/2010/main" val="633546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Widescreen</PresentationFormat>
  <Paragraphs>53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Functions , mathematical kind</vt:lpstr>
      <vt:lpstr>Evaluating functions</vt:lpstr>
      <vt:lpstr>Recursive Functions</vt:lpstr>
      <vt:lpstr>Programming, , Test #1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Sankalp Gupta</dc:creator>
  <cp:lastModifiedBy>Sankalp Gupta</cp:lastModifiedBy>
  <cp:revision>1</cp:revision>
  <dcterms:created xsi:type="dcterms:W3CDTF">2026-01-09T17:36:36Z</dcterms:created>
  <dcterms:modified xsi:type="dcterms:W3CDTF">2026-01-09T17:37:09Z</dcterms:modified>
</cp:coreProperties>
</file>