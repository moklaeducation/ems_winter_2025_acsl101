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2" r:id="rId6"/>
    <p:sldId id="264" r:id="rId7"/>
    <p:sldId id="263" r:id="rId8"/>
    <p:sldId id="267" r:id="rId9"/>
    <p:sldId id="269" r:id="rId10"/>
    <p:sldId id="270" r:id="rId11"/>
    <p:sldId id="271" r:id="rId12"/>
    <p:sldId id="273" r:id="rId13"/>
    <p:sldId id="275" r:id="rId14"/>
    <p:sldId id="277" r:id="rId15"/>
    <p:sldId id="278" r:id="rId16"/>
    <p:sldId id="276" r:id="rId17"/>
    <p:sldId id="280" r:id="rId18"/>
    <p:sldId id="279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40B79-17E4-40BE-B7A8-16C7C22233E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66959-7055-4D94-A85A-A563C47A8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13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BE1C-5242-F3AB-FAB7-2C60DCC6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F9C86-8BD7-D89B-3647-1E2326E2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48978-E736-BB7A-C2B2-1C0F3412E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6E3B-A427-F36C-F340-20964451E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16765-C83A-46F1-AE07-8E4F9D1EDA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3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7A52-F56B-7E24-49DE-4A1BFA20C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FCEE2-2E58-C4F8-6C5B-12E06C8DD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76197-728A-821C-07D3-C99D962A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34F09-B19C-1946-8BCE-F7E048C7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5E22-6BA3-780E-1195-4BEBA96B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3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C370-ECE5-A81E-E6FD-CA48E664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40DAE-310D-6BA5-0AEB-3B761BBCF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83FD9-4C57-4F27-A46E-1654816B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E4E8-BC22-3B45-62C9-1EBB08CB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5EB4-7F62-6E06-8DEA-2CEA84FF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0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564B-B2BD-2F7F-F1C7-C2B83B56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437B-137A-4C12-07E4-4F72BF58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93EA3-FCD2-C58C-6FE8-1211F85F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876E7-284A-3F3F-C00C-CC27F9FC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BAE1-BD4A-B175-251C-0DC37573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3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E1FB-67C7-AD35-A55A-C2C8A32D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6C8AC-5AFB-27B4-E7A8-61068821D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13F0D-7F7C-91C0-060A-97DDFC5B6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A173A-A433-4FD3-E4DF-143810FE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10451-3EB9-3801-44B6-18B8B312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C8F17-C171-83A7-A0ED-538ED120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2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A03A-9070-FDCA-9ED8-F5FB22C0C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E7DCF-4583-DFD9-B7B8-2F153EE73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60E45-BD52-5609-4782-A372924C7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53E54-F5D1-1717-E7C6-079CE57C1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DD7E70-A092-102F-5E32-DF948438B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F2C55-3A9D-2808-2433-10911E04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33AB3-BC1A-8049-1B16-F8698357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4EABA-6E64-8EE2-B2BE-C4187CA1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9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DE73-93B5-EE5F-BB53-813316B4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EF51F-D5FB-1AF5-2FD6-DE83FDE3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DCA5D-A8EE-01CA-A5E5-EEC054E3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7341F-4D93-CA57-089A-9A9FFBDE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2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64517-0B57-9DE8-1B20-8017614A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07B16-3A64-61C8-A6F3-3080ACBF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A7F8C-BB02-C781-C5AC-44130E54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DDFE-DAAC-138F-C1F5-C07793F8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081D8-75F2-53A8-CDF2-3C1A9E5E2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37ACC-3F25-2FB8-1BD9-16AC1DDFA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ABEAC-7E9A-38A0-1697-84D6AE0E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8F254-C62B-5046-EACC-54673A6A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F085F-65AB-5364-526B-DC090EC3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2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F18D-9575-F6D9-ECCE-F36E67591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21EFC-9EF9-F144-08BD-F3E95C120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D9D80-5E1C-97D4-0E8F-B0C5A346A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2A5F8-CC79-9E41-2CC1-01D206D2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6DB95-5ADF-22C5-F3A3-3FFEE2016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0E49D-3825-3107-2BFE-68EE7AB8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6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DD80-3DBC-3E5C-5814-047EB659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55223-C61C-4F47-E778-7289EDE6E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63405-FFE5-5965-147D-AD31A586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71ACD-5A39-700A-AA72-D086EB36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C0F8E-969D-A1AF-06FD-2BAE3C20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883597-9D4D-F869-B9BD-E27229ABD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EC5CD-FCA9-B06D-FACE-A975EB7A3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66F3D-6168-72C9-2EC9-90E81A8C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D68FF-72E7-23D5-A145-EC6DE09F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89DF1-9952-2001-8A53-3C1C5839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3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2BDF71-8847-49A0-95CB-6B5665AF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2AB30-FB7B-FBC5-60CD-16EE4405C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242C8-E8AC-CEEB-BF23-BC37119FA1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D75F7-3D05-4F1B-8879-93028BC86AD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4FC2E-0CC8-2B23-22E1-312F577BA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051A-3B79-3FF6-6240-0CDE47ACA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E03CC-3E65-4791-99F7-BE5741CC7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5DF9-A4F9-FA18-916B-B242CAADA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Exploring Computer Science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8D661-0AFA-99D4-F749-4F399DEF6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Via ACSL Competitions</a:t>
            </a:r>
          </a:p>
        </p:txBody>
      </p:sp>
    </p:spTree>
    <p:extLst>
      <p:ext uri="{BB962C8B-B14F-4D97-AF65-F5344CB8AC3E}">
        <p14:creationId xmlns:p14="http://schemas.microsoft.com/office/powerpoint/2010/main" val="2777413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6A93-0DC5-C1EA-5F18-8E3BE1C1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B5AA-6F01-1B7B-3ADC-6E7DE191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 </a:t>
            </a:r>
          </a:p>
          <a:p>
            <a:pPr lvl="1"/>
            <a:r>
              <a:rPr lang="en-US" dirty="0"/>
              <a:t>base 10</a:t>
            </a:r>
          </a:p>
          <a:p>
            <a:r>
              <a:rPr lang="en-US" dirty="0"/>
              <a:t>Binary </a:t>
            </a:r>
          </a:p>
          <a:p>
            <a:pPr lvl="1"/>
            <a:r>
              <a:rPr lang="en-US" dirty="0"/>
              <a:t>base 2</a:t>
            </a:r>
          </a:p>
          <a:p>
            <a:r>
              <a:rPr lang="en-US" dirty="0"/>
              <a:t>Octal </a:t>
            </a:r>
          </a:p>
          <a:p>
            <a:pPr lvl="1"/>
            <a:r>
              <a:rPr lang="en-US" dirty="0"/>
              <a:t>base 8</a:t>
            </a:r>
          </a:p>
          <a:p>
            <a:r>
              <a:rPr lang="en-US" dirty="0" err="1"/>
              <a:t>HexaDecimal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base 16</a:t>
            </a:r>
          </a:p>
        </p:txBody>
      </p:sp>
    </p:spTree>
    <p:extLst>
      <p:ext uri="{BB962C8B-B14F-4D97-AF65-F5344CB8AC3E}">
        <p14:creationId xmlns:p14="http://schemas.microsoft.com/office/powerpoint/2010/main" val="1764282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0258-22AE-B1D6-966E-1DF59E8E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Digits per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3F30-4463-B560-E41B-9E2FFF00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Decimal </a:t>
            </a:r>
          </a:p>
          <a:p>
            <a:pPr lvl="1"/>
            <a:r>
              <a:rPr lang="en-US" dirty="0"/>
              <a:t>Ten digits </a:t>
            </a:r>
          </a:p>
          <a:p>
            <a:pPr lvl="1"/>
            <a:r>
              <a:rPr lang="en-US" dirty="0"/>
              <a:t>0 1 2 3 4 5 6 7 8 9 </a:t>
            </a:r>
          </a:p>
          <a:p>
            <a:r>
              <a:rPr lang="en-US" dirty="0"/>
              <a:t>Binary </a:t>
            </a:r>
          </a:p>
          <a:p>
            <a:pPr lvl="1"/>
            <a:r>
              <a:rPr lang="en-US" dirty="0"/>
              <a:t>Two Digits</a:t>
            </a:r>
          </a:p>
          <a:p>
            <a:pPr lvl="1"/>
            <a:r>
              <a:rPr lang="en-US" dirty="0"/>
              <a:t>0 1</a:t>
            </a:r>
          </a:p>
          <a:p>
            <a:r>
              <a:rPr lang="en-US" dirty="0"/>
              <a:t>Octal </a:t>
            </a:r>
          </a:p>
          <a:p>
            <a:pPr lvl="1"/>
            <a:r>
              <a:rPr lang="en-US" dirty="0"/>
              <a:t>8 digits</a:t>
            </a:r>
          </a:p>
          <a:p>
            <a:pPr lvl="1"/>
            <a:r>
              <a:rPr lang="en-US" dirty="0"/>
              <a:t>0 1 2 3 4 5 6 7 </a:t>
            </a:r>
          </a:p>
          <a:p>
            <a:r>
              <a:rPr lang="en-US" dirty="0"/>
              <a:t>Hexadecimal </a:t>
            </a:r>
          </a:p>
          <a:p>
            <a:pPr lvl="1"/>
            <a:r>
              <a:rPr lang="en-US" dirty="0"/>
              <a:t>16 digits</a:t>
            </a:r>
          </a:p>
          <a:p>
            <a:pPr lvl="1"/>
            <a:r>
              <a:rPr lang="en-US" dirty="0"/>
              <a:t>0 1 2 3 4 5 6 7 8 9 A B C D E 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7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AFF5-4CBA-4A8E-8480-C396D07A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in 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6E79-FF3C-8801-7E97-9E6176DCC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Increment the lowest place value ( right most digit)</a:t>
            </a:r>
          </a:p>
          <a:p>
            <a:r>
              <a:rPr lang="en-US" dirty="0"/>
              <a:t>When last digit is reached</a:t>
            </a:r>
          </a:p>
          <a:p>
            <a:pPr lvl="1"/>
            <a:r>
              <a:rPr lang="en-US" dirty="0"/>
              <a:t>Set the current column to 0 </a:t>
            </a:r>
          </a:p>
          <a:p>
            <a:pPr lvl="1"/>
            <a:r>
              <a:rPr lang="en-US" dirty="0"/>
              <a:t>Increment the column on the left by 1</a:t>
            </a:r>
          </a:p>
          <a:p>
            <a:r>
              <a:rPr lang="en-US" dirty="0"/>
              <a:t>Lets count with decimal </a:t>
            </a:r>
          </a:p>
          <a:p>
            <a:pPr lvl="1"/>
            <a:r>
              <a:rPr lang="en-US" dirty="0"/>
              <a:t>0 to 10</a:t>
            </a:r>
          </a:p>
          <a:p>
            <a:pPr lvl="1"/>
            <a:r>
              <a:rPr lang="en-US" dirty="0"/>
              <a:t>95 to105</a:t>
            </a:r>
          </a:p>
          <a:p>
            <a:r>
              <a:rPr lang="en-US" dirty="0"/>
              <a:t>How frequently do we add a new digit ?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E4FAB2-9F0E-284D-CEBB-CE9E304BA1C9}"/>
              </a:ext>
            </a:extLst>
          </p:cNvPr>
          <p:cNvGraphicFramePr>
            <a:graphicFrameLocks noGrp="1"/>
          </p:cNvGraphicFramePr>
          <p:nvPr/>
        </p:nvGraphicFramePr>
        <p:xfrm>
          <a:off x="7266905" y="2324099"/>
          <a:ext cx="2862801" cy="3468504"/>
        </p:xfrm>
        <a:graphic>
          <a:graphicData uri="http://schemas.openxmlformats.org/drawingml/2006/table">
            <a:tbl>
              <a:tblPr/>
              <a:tblGrid>
                <a:gridCol w="1416643">
                  <a:extLst>
                    <a:ext uri="{9D8B030D-6E8A-4147-A177-3AD203B41FA5}">
                      <a16:colId xmlns:a16="http://schemas.microsoft.com/office/drawing/2014/main" val="3193197147"/>
                    </a:ext>
                  </a:extLst>
                </a:gridCol>
                <a:gridCol w="1446158">
                  <a:extLst>
                    <a:ext uri="{9D8B030D-6E8A-4147-A177-3AD203B41FA5}">
                      <a16:colId xmlns:a16="http://schemas.microsoft.com/office/drawing/2014/main" val="1376048237"/>
                    </a:ext>
                  </a:extLst>
                </a:gridCol>
              </a:tblGrid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Decimal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Decimal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395944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32623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587604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25980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190043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509285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794389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71007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70641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57029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003880"/>
                  </a:ext>
                </a:extLst>
              </a:tr>
              <a:tr h="28904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1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41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1C3D-9409-A178-58C3-4C72CCAF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in other 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3C8F-B7A4-E2F1-2733-967CFAD94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Counting in binary </a:t>
            </a:r>
          </a:p>
          <a:p>
            <a:pPr lvl="1"/>
            <a:r>
              <a:rPr lang="en-US" dirty="0"/>
              <a:t>We add a new digit frequently </a:t>
            </a:r>
          </a:p>
          <a:p>
            <a:pPr lvl="2"/>
            <a:r>
              <a:rPr lang="en-US" dirty="0"/>
              <a:t>At 2 , 4, 8, 16 … decimal values</a:t>
            </a:r>
          </a:p>
          <a:p>
            <a:r>
              <a:rPr lang="en-US" dirty="0"/>
              <a:t>Counting in Octal</a:t>
            </a:r>
          </a:p>
          <a:p>
            <a:pPr lvl="1"/>
            <a:r>
              <a:rPr lang="en-US" dirty="0"/>
              <a:t>We add a new digit at every</a:t>
            </a:r>
          </a:p>
          <a:p>
            <a:pPr lvl="2"/>
            <a:r>
              <a:rPr lang="en-US" dirty="0"/>
              <a:t>At 8, 64,128 …</a:t>
            </a:r>
          </a:p>
          <a:p>
            <a:r>
              <a:rPr lang="en-US" dirty="0"/>
              <a:t>Counting in </a:t>
            </a:r>
            <a:r>
              <a:rPr lang="en-US" dirty="0" err="1"/>
              <a:t>HexaDecimal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We add a new digit at every </a:t>
            </a:r>
          </a:p>
          <a:p>
            <a:pPr lvl="2"/>
            <a:r>
              <a:rPr lang="en-US" dirty="0"/>
              <a:t>At 16, 256 … values</a:t>
            </a:r>
          </a:p>
          <a:p>
            <a:pPr lvl="2"/>
            <a:endParaRPr lang="en-US" dirty="0"/>
          </a:p>
          <a:p>
            <a:endParaRPr lang="en-US" baseline="30000" dirty="0"/>
          </a:p>
          <a:p>
            <a:pPr lvl="2"/>
            <a:endParaRPr lang="en-US" dirty="0"/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E8E78130-726D-374A-AFCF-C54987DAD7D4}"/>
              </a:ext>
            </a:extLst>
          </p:cNvPr>
          <p:cNvGraphicFramePr>
            <a:graphicFrameLocks/>
          </p:cNvGraphicFramePr>
          <p:nvPr/>
        </p:nvGraphicFramePr>
        <p:xfrm>
          <a:off x="6723777" y="1825625"/>
          <a:ext cx="3938164" cy="3771719"/>
        </p:xfrm>
        <a:graphic>
          <a:graphicData uri="http://schemas.openxmlformats.org/drawingml/2006/table">
            <a:tbl>
              <a:tblPr/>
              <a:tblGrid>
                <a:gridCol w="984541">
                  <a:extLst>
                    <a:ext uri="{9D8B030D-6E8A-4147-A177-3AD203B41FA5}">
                      <a16:colId xmlns:a16="http://schemas.microsoft.com/office/drawing/2014/main" val="1475462977"/>
                    </a:ext>
                  </a:extLst>
                </a:gridCol>
                <a:gridCol w="984541">
                  <a:extLst>
                    <a:ext uri="{9D8B030D-6E8A-4147-A177-3AD203B41FA5}">
                      <a16:colId xmlns:a16="http://schemas.microsoft.com/office/drawing/2014/main" val="1475054408"/>
                    </a:ext>
                  </a:extLst>
                </a:gridCol>
                <a:gridCol w="984541">
                  <a:extLst>
                    <a:ext uri="{9D8B030D-6E8A-4147-A177-3AD203B41FA5}">
                      <a16:colId xmlns:a16="http://schemas.microsoft.com/office/drawing/2014/main" val="923081006"/>
                    </a:ext>
                  </a:extLst>
                </a:gridCol>
                <a:gridCol w="984541">
                  <a:extLst>
                    <a:ext uri="{9D8B030D-6E8A-4147-A177-3AD203B41FA5}">
                      <a16:colId xmlns:a16="http://schemas.microsoft.com/office/drawing/2014/main" val="3248402632"/>
                    </a:ext>
                  </a:extLst>
                </a:gridCol>
              </a:tblGrid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Decimal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Binary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HexaDecimal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054357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097036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379696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234856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020869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243755"/>
                  </a:ext>
                </a:extLst>
              </a:tr>
              <a:tr h="218022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990883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85239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851579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93307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75144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23302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51974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25880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172534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30223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397521"/>
                  </a:ext>
                </a:extLst>
              </a:tr>
              <a:tr h="209041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FA7D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2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43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490B-DA55-CC9D-B2B9-C557BBD4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7FFD3-8283-2BEB-7491-131EE4D2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</a:t>
            </a:r>
          </a:p>
          <a:p>
            <a:pPr lvl="1"/>
            <a:r>
              <a:rPr lang="en-US" i="1" dirty="0"/>
              <a:t>We deal in power of 10s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2452</a:t>
            </a:r>
            <a:r>
              <a:rPr lang="en-US" dirty="0"/>
              <a:t> = 2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1000</a:t>
            </a:r>
            <a:r>
              <a:rPr lang="en-US" dirty="0"/>
              <a:t> + 4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100</a:t>
            </a:r>
            <a:r>
              <a:rPr lang="en-US" dirty="0"/>
              <a:t> + 5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r>
              <a:rPr lang="en-US" dirty="0"/>
              <a:t> + 2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101</a:t>
            </a:r>
            <a:r>
              <a:rPr lang="en-US" dirty="0"/>
              <a:t>    =                       1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100</a:t>
            </a:r>
            <a:r>
              <a:rPr lang="en-US" dirty="0"/>
              <a:t> + 0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10 </a:t>
            </a:r>
            <a:r>
              <a:rPr lang="en-US" dirty="0"/>
              <a:t>+ 1 *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US" dirty="0"/>
              <a:t> </a:t>
            </a:r>
          </a:p>
          <a:p>
            <a:r>
              <a:rPr lang="en-US" dirty="0"/>
              <a:t>Binary </a:t>
            </a:r>
          </a:p>
          <a:p>
            <a:pPr lvl="1"/>
            <a:r>
              <a:rPr lang="en-US" i="1" dirty="0"/>
              <a:t>We deal in power of 2s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111</a:t>
            </a:r>
            <a:r>
              <a:rPr lang="en-US" dirty="0"/>
              <a:t>   =               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r>
              <a:rPr lang="en-US" dirty="0"/>
              <a:t> + 1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dirty="0"/>
              <a:t> + 1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1010 </a:t>
            </a:r>
            <a:r>
              <a:rPr lang="en-US" dirty="0"/>
              <a:t>=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8</a:t>
            </a:r>
            <a:r>
              <a:rPr lang="en-US" dirty="0"/>
              <a:t> + 0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r>
              <a:rPr lang="en-US" dirty="0"/>
              <a:t> + 1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dirty="0"/>
              <a:t> + 0 *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66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53AF-4DCF-5D83-F4FD-272465A13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1003"/>
          </a:xfrm>
        </p:spPr>
        <p:txBody>
          <a:bodyPr>
            <a:normAutofit fontScale="90000"/>
          </a:bodyPr>
          <a:lstStyle/>
          <a:p>
            <a:r>
              <a:rPr lang="en-US" dirty="0"/>
              <a:t>Place values</a:t>
            </a:r>
            <a:br>
              <a:rPr lang="en-US" dirty="0"/>
            </a:br>
            <a:r>
              <a:rPr lang="en-US" dirty="0"/>
              <a:t>Converting binary </a:t>
            </a:r>
            <a:r>
              <a:rPr lang="en-US" dirty="0">
                <a:sym typeface="Wingdings" panose="05000000000000000000" pitchFamily="2" charset="2"/>
              </a:rPr>
              <a:t>decimal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D19918D-74D4-3820-44F9-8BBF95FA1A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8" y="1501628"/>
          <a:ext cx="10642136" cy="4978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068">
                  <a:extLst>
                    <a:ext uri="{9D8B030D-6E8A-4147-A177-3AD203B41FA5}">
                      <a16:colId xmlns:a16="http://schemas.microsoft.com/office/drawing/2014/main" val="3982428962"/>
                    </a:ext>
                  </a:extLst>
                </a:gridCol>
                <a:gridCol w="5321068">
                  <a:extLst>
                    <a:ext uri="{9D8B030D-6E8A-4147-A177-3AD203B41FA5}">
                      <a16:colId xmlns:a16="http://schemas.microsoft.com/office/drawing/2014/main" val="185785752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925158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2452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dirty="0"/>
                        <a:t>                                               </a:t>
                      </a:r>
                    </a:p>
                    <a:p>
                      <a:r>
                        <a:rPr lang="en-US" dirty="0"/>
                        <a:t>                   2 x 10^3 = 2000</a:t>
                      </a:r>
                    </a:p>
                    <a:p>
                      <a:r>
                        <a:rPr lang="en-US" dirty="0"/>
                        <a:t>                   4 x 10^2 =    400</a:t>
                      </a:r>
                    </a:p>
                    <a:p>
                      <a:r>
                        <a:rPr lang="en-US" dirty="0"/>
                        <a:t>                   5 x 10^1 =       50  </a:t>
                      </a:r>
                    </a:p>
                    <a:p>
                      <a:r>
                        <a:rPr lang="en-US" dirty="0"/>
                        <a:t>                   2 x 10^0 =          2</a:t>
                      </a:r>
                    </a:p>
                    <a:p>
                      <a:r>
                        <a:rPr lang="en-US" dirty="0"/>
                        <a:t>                                      = 2452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1 x 2^2 = 1 x 4 =   4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1 x 2^1 = 1 x 2 =   2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1 x 2^0 = 1 x 1 =   1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                       =   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9210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101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1</a:t>
                      </a:r>
                      <a:r>
                        <a:rPr lang="en-US" dirty="0"/>
                        <a:t> x 10^2 =    100</a:t>
                      </a:r>
                    </a:p>
                    <a:p>
                      <a:r>
                        <a:rPr lang="en-US" dirty="0"/>
                        <a:t>                   0 x 10^1 =         0  </a:t>
                      </a:r>
                    </a:p>
                    <a:p>
                      <a:r>
                        <a:rPr lang="en-US" dirty="0"/>
                        <a:t>                   1 x 10^0 =          1</a:t>
                      </a:r>
                    </a:p>
                    <a:p>
                      <a:r>
                        <a:rPr lang="en-US" dirty="0"/>
                        <a:t>                                      =    101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1010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  <a:p>
                      <a:r>
                        <a:rPr lang="en-US" dirty="0"/>
                        <a:t>            1 x 2^ 3 = 1 x 8 =   8</a:t>
                      </a:r>
                    </a:p>
                    <a:p>
                      <a:r>
                        <a:rPr lang="en-US" dirty="0"/>
                        <a:t>            0 x 2^ 2 = 0 x 4 =   0</a:t>
                      </a:r>
                      <a:br>
                        <a:rPr lang="en-US" dirty="0"/>
                      </a:br>
                      <a:r>
                        <a:rPr lang="en-US" dirty="0"/>
                        <a:t>            1 x 2^ 1 = 0 x 2 =   2</a:t>
                      </a:r>
                      <a:br>
                        <a:rPr lang="en-US" dirty="0"/>
                      </a:br>
                      <a:r>
                        <a:rPr lang="en-US" dirty="0"/>
                        <a:t>            0 x 2^ 0 = 0 x 1 =   0</a:t>
                      </a:r>
                      <a:br>
                        <a:rPr lang="en-US" dirty="0"/>
                      </a:br>
                      <a:r>
                        <a:rPr lang="en-US" dirty="0"/>
                        <a:t>                                           =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98279"/>
                  </a:ext>
                </a:extLst>
              </a:tr>
              <a:tr h="1071365">
                <a:tc>
                  <a:txBody>
                    <a:bodyPr/>
                    <a:lstStyle/>
                    <a:p>
                      <a:r>
                        <a:rPr lang="en-US" dirty="0"/>
                        <a:t>756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1000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093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85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5474-E3A9-E1C2-833E-1CEBF32A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Binary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E40F9-9581-C2BC-5B88-6F1FA10EB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128    64    32   16     8     4     2     1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1      0      0     1      0      0     1   =     64 + 16 + 1 = 81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1        0       0      0     0      1      1     1   = 128 + 4 + 2 + 1 = 135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1        1       1      0      0     0     0     0     = ?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0A94F0-7818-1B6D-64C3-C894020E204C}"/>
              </a:ext>
            </a:extLst>
          </p:cNvPr>
          <p:cNvCxnSpPr>
            <a:cxnSpLocks/>
          </p:cNvCxnSpPr>
          <p:nvPr/>
        </p:nvCxnSpPr>
        <p:spPr>
          <a:xfrm>
            <a:off x="989901" y="2290194"/>
            <a:ext cx="472070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7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0C36-D410-83DF-929D-84FA7D54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1B7D-BAC5-FEE4-4486-F4E90BC4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Decimal to Binary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0CBA1-A2D0-1059-8DA4-FA156A007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128    64    32   16     8     4     2     1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 =      22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 =      33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 =   130              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BE95D4-FCA2-7AB1-568B-79F46AD9C1FF}"/>
              </a:ext>
            </a:extLst>
          </p:cNvPr>
          <p:cNvCxnSpPr>
            <a:cxnSpLocks/>
          </p:cNvCxnSpPr>
          <p:nvPr/>
        </p:nvCxnSpPr>
        <p:spPr>
          <a:xfrm>
            <a:off x="989901" y="2290194"/>
            <a:ext cx="472070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91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429B-6C6D-B1C6-ECE1-CB36B6B5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DA09-B148-4228-9B76-3FA17F9BB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Convert following Decimal numbers to binary </a:t>
            </a:r>
          </a:p>
          <a:p>
            <a:pPr lvl="1"/>
            <a:r>
              <a:rPr lang="en-US" dirty="0"/>
              <a:t>127</a:t>
            </a:r>
            <a:r>
              <a:rPr lang="en-US" baseline="-25000" dirty="0"/>
              <a:t>10</a:t>
            </a:r>
          </a:p>
          <a:p>
            <a:pPr lvl="1"/>
            <a:r>
              <a:rPr lang="en-US" dirty="0"/>
              <a:t>128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129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255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256</a:t>
            </a:r>
            <a:r>
              <a:rPr lang="en-US" baseline="-25000" dirty="0"/>
              <a:t>10</a:t>
            </a:r>
            <a:endParaRPr lang="en-US" dirty="0"/>
          </a:p>
          <a:p>
            <a:r>
              <a:rPr lang="en-US" dirty="0"/>
              <a:t>Convert following Binary numbers to Decimal</a:t>
            </a:r>
          </a:p>
          <a:p>
            <a:pPr lvl="1"/>
            <a:r>
              <a:rPr lang="en-US" dirty="0"/>
              <a:t>101101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1110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1111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0110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24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3946-F61B-42B0-4D7C-AAF0808E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3C2EE-2437-1760-3168-B24BD6AF9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binary addition and subtraction work ?</a:t>
            </a:r>
          </a:p>
        </p:txBody>
      </p:sp>
    </p:spTree>
    <p:extLst>
      <p:ext uri="{BB962C8B-B14F-4D97-AF65-F5344CB8AC3E}">
        <p14:creationId xmlns:p14="http://schemas.microsoft.com/office/powerpoint/2010/main" val="201770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C36A-D445-ACDC-D463-8E79266F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0B8B-27E7-8109-A350-5C882F25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1003"/>
          </a:xfrm>
        </p:spPr>
        <p:txBody>
          <a:bodyPr>
            <a:normAutofit fontScale="90000"/>
          </a:bodyPr>
          <a:lstStyle/>
          <a:p>
            <a:r>
              <a:rPr lang="en-US" dirty="0"/>
              <a:t>Place values</a:t>
            </a:r>
            <a:br>
              <a:rPr lang="en-US" dirty="0"/>
            </a:br>
            <a:r>
              <a:rPr lang="en-US" dirty="0"/>
              <a:t>Converting </a:t>
            </a:r>
            <a:r>
              <a:rPr lang="en-US" dirty="0" err="1"/>
              <a:t>octal,hexadecimal</a:t>
            </a:r>
            <a:r>
              <a:rPr lang="en-US" dirty="0" err="1">
                <a:sym typeface="Wingdings" panose="05000000000000000000" pitchFamily="2" charset="2"/>
              </a:rPr>
              <a:t>decimal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A2D640-C25D-13E6-D0E4-1BE5615BB9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8" y="1501628"/>
          <a:ext cx="10642136" cy="4794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068">
                  <a:extLst>
                    <a:ext uri="{9D8B030D-6E8A-4147-A177-3AD203B41FA5}">
                      <a16:colId xmlns:a16="http://schemas.microsoft.com/office/drawing/2014/main" val="3982428962"/>
                    </a:ext>
                  </a:extLst>
                </a:gridCol>
                <a:gridCol w="5321068">
                  <a:extLst>
                    <a:ext uri="{9D8B030D-6E8A-4147-A177-3AD203B41FA5}">
                      <a16:colId xmlns:a16="http://schemas.microsoft.com/office/drawing/2014/main" val="185785752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Octal 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Decimal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HexaDecimal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Decimal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925158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777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dirty="0"/>
                        <a:t>                                               </a:t>
                      </a:r>
                    </a:p>
                    <a:p>
                      <a:r>
                        <a:rPr lang="en-US" dirty="0"/>
                        <a:t>                   7 x 8^2 = 7 x 64 = 448 </a:t>
                      </a:r>
                    </a:p>
                    <a:p>
                      <a:r>
                        <a:rPr lang="en-US" dirty="0"/>
                        <a:t>                   7 x 8^1 = 7 x    8 =    56</a:t>
                      </a:r>
                    </a:p>
                    <a:p>
                      <a:r>
                        <a:rPr lang="en-US" dirty="0"/>
                        <a:t>                   7 x 8^0 = 7 x    1 =       7</a:t>
                      </a:r>
                    </a:p>
                    <a:p>
                      <a:r>
                        <a:rPr lang="en-US" dirty="0"/>
                        <a:t>                                                    =  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2AB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 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2</a:t>
                      </a:r>
                      <a:r>
                        <a:rPr lang="en-US" dirty="0"/>
                        <a:t> x 16^2 =    2 x 256 = 512 </a:t>
                      </a:r>
                    </a:p>
                    <a:p>
                      <a:r>
                        <a:rPr lang="en-US" dirty="0"/>
                        <a:t>                   A x 16^1 = 10 x    16 = 160</a:t>
                      </a:r>
                    </a:p>
                    <a:p>
                      <a:r>
                        <a:rPr lang="en-US" dirty="0"/>
                        <a:t>                   B x 16^0 = 11 x       1 =    11</a:t>
                      </a:r>
                    </a:p>
                    <a:p>
                      <a:r>
                        <a:rPr lang="en-US" dirty="0"/>
                        <a:t>                                                             =  683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9210"/>
                  </a:ext>
                </a:extLst>
              </a:tr>
              <a:tr h="1645448">
                <a:tc>
                  <a:txBody>
                    <a:bodyPr/>
                    <a:lstStyle/>
                    <a:p>
                      <a:r>
                        <a:rPr lang="en-US" dirty="0"/>
                        <a:t>137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                   1</a:t>
                      </a:r>
                      <a:r>
                        <a:rPr lang="en-US" dirty="0"/>
                        <a:t> x 8^2 = 1 x 64 =  64 </a:t>
                      </a:r>
                    </a:p>
                    <a:p>
                      <a:r>
                        <a:rPr lang="en-US" dirty="0"/>
                        <a:t>                   3 x 8^1 = 3 x    8 =  24</a:t>
                      </a:r>
                    </a:p>
                    <a:p>
                      <a:r>
                        <a:rPr lang="en-US" dirty="0"/>
                        <a:t>                   7 x 8^0 = 7 x    1 =     7</a:t>
                      </a:r>
                    </a:p>
                    <a:p>
                      <a:r>
                        <a:rPr lang="en-US" dirty="0"/>
                        <a:t>                                                    =  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  <a:p>
                      <a:r>
                        <a:rPr lang="en-US" dirty="0"/>
                        <a:t>                  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dirty="0"/>
                        <a:t> x 16^2 =    1 x 256 = 256 </a:t>
                      </a:r>
                    </a:p>
                    <a:p>
                      <a:r>
                        <a:rPr lang="en-US" dirty="0"/>
                        <a:t>                   0 x 16^1 =    0 x    16 =       0</a:t>
                      </a:r>
                    </a:p>
                    <a:p>
                      <a:r>
                        <a:rPr lang="en-US" dirty="0"/>
                        <a:t>                   1 x 16^0 =    1 x       1 =       1</a:t>
                      </a:r>
                    </a:p>
                    <a:p>
                      <a:r>
                        <a:rPr lang="en-US" dirty="0"/>
                        <a:t>                                                             = 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98279"/>
                  </a:ext>
                </a:extLst>
              </a:tr>
              <a:tr h="1071365">
                <a:tc>
                  <a:txBody>
                    <a:bodyPr/>
                    <a:lstStyle/>
                    <a:p>
                      <a:r>
                        <a:rPr lang="en-US" dirty="0"/>
                        <a:t>756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4A3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093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11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B1EAA-B8DD-26EC-19FF-8608881D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FBE1-1F09-4E5C-D356-458DFA42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Decimal to Octal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1B172-61D5-6887-D73A-F28BD6074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(312)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  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312 / 8    quotient : 39   , Remainder 0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39 / 8    quotient :    4   , Remainder 7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4 / 8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quotient :    0   , Remainder 4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(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470)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</a:p>
          <a:p>
            <a:pPr marL="0" indent="0">
              <a:buNone/>
            </a:pP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(112)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112 / 8    quotient : 14   , Remainder 0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 14 / 8    quotient :    1   , Remainder 6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1 / 8 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quotient :    0   , Remainder 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(160)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3494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12BF-ADDA-0C33-F381-FCCB19ED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32C9-397E-270E-3178-40150E97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E31D5-323B-E1FF-6193-D91249E24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Convert following Decimal numbers to Octal</a:t>
            </a:r>
          </a:p>
          <a:p>
            <a:pPr lvl="1"/>
            <a:r>
              <a:rPr lang="en-US" dirty="0"/>
              <a:t>111</a:t>
            </a:r>
            <a:r>
              <a:rPr lang="en-US" baseline="-25000" dirty="0"/>
              <a:t>10</a:t>
            </a:r>
          </a:p>
          <a:p>
            <a:pPr lvl="1"/>
            <a:r>
              <a:rPr lang="en-US" dirty="0"/>
              <a:t>88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511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512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513</a:t>
            </a:r>
            <a:r>
              <a:rPr lang="en-US" baseline="-25000" dirty="0"/>
              <a:t>10</a:t>
            </a:r>
            <a:endParaRPr lang="en-US" dirty="0"/>
          </a:p>
          <a:p>
            <a:r>
              <a:rPr lang="en-US" dirty="0"/>
              <a:t>Convert following Octal numbers to Decimal</a:t>
            </a:r>
          </a:p>
          <a:p>
            <a:pPr lvl="1"/>
            <a:r>
              <a:rPr lang="en-US" dirty="0"/>
              <a:t>45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r>
              <a:rPr lang="en-US" dirty="0"/>
              <a:t>77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r>
              <a:rPr lang="en-US" dirty="0"/>
              <a:t>100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r>
              <a:rPr lang="en-US" dirty="0"/>
              <a:t>101</a:t>
            </a:r>
            <a:r>
              <a:rPr lang="en-US" baseline="-25000" dirty="0"/>
              <a:t>8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972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6EE4-432F-5935-FB55-C980748F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1EAC-639E-4B61-800D-0736AC70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Decimal to Hexadecimal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F8D8-D8F2-9044-6B8D-B583A4F81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(312)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  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312 / 16    quotient : 19   , Remainder 8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19 / 16    quotient :    1   , Remainder 3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1 / 16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quotient :    0   , Remainder 1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(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138)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16</a:t>
            </a:r>
          </a:p>
          <a:p>
            <a:pPr marL="0" indent="0">
              <a:buNone/>
            </a:pP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(112)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(?)</a:t>
            </a:r>
            <a:r>
              <a:rPr lang="en-US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8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112 / 16    quotient :    7   , Remainder 0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     7 / 16    quotient :    0   , Remainder 7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                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(70)</a:t>
            </a:r>
            <a:r>
              <a:rPr lang="en-US" sz="24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16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5080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A0DF-0428-A16C-932D-6D90D974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Hexadecimal </a:t>
            </a:r>
            <a:r>
              <a:rPr lang="en-US" dirty="0">
                <a:sym typeface="Wingdings" panose="05000000000000000000" pitchFamily="2" charset="2"/>
              </a:rPr>
              <a:t> Octal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D1FC0-0FC1-E666-D418-54A07F448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(AC)</a:t>
            </a:r>
            <a:r>
              <a:rPr lang="en-US" baseline="-25000" dirty="0"/>
              <a:t>16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1010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x 16  +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1100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x 1 //Replace </a:t>
            </a:r>
            <a:r>
              <a:rPr lang="en-US" dirty="0" err="1">
                <a:sym typeface="Wingdings" panose="05000000000000000000" pitchFamily="2" charset="2"/>
              </a:rPr>
              <a:t>hexa</a:t>
            </a:r>
            <a:r>
              <a:rPr lang="en-US" dirty="0">
                <a:sym typeface="Wingdings" panose="05000000000000000000" pitchFamily="2" charset="2"/>
              </a:rPr>
              <a:t> with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binary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1010 1100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Convert to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binary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010 101 100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group by 3s , added extra 0s in the front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    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254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</a:t>
            </a:r>
            <a:r>
              <a:rPr lang="en-US" dirty="0">
                <a:sym typeface="Wingdings" panose="05000000000000000000" pitchFamily="2" charset="2"/>
              </a:rPr>
              <a:t>// Replace each group by octal value</a:t>
            </a:r>
            <a:br>
              <a:rPr lang="en-US" dirty="0">
                <a:sym typeface="Wingdings" panose="05000000000000000000" pitchFamily="2" charset="2"/>
              </a:rPr>
            </a:b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(1EF)</a:t>
            </a:r>
            <a:r>
              <a:rPr lang="en-US" baseline="-25000" dirty="0"/>
              <a:t>16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0001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x 256 + (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1110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x 16 + (1111) x 1</a:t>
            </a:r>
            <a:endParaRPr lang="en-US" dirty="0">
              <a:solidFill>
                <a:schemeClr val="accent5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(0001 1110 1111)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Convert to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binary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           </a:t>
            </a:r>
            <a:r>
              <a:rPr lang="en-US" dirty="0">
                <a:sym typeface="Wingdings" panose="05000000000000000000" pitchFamily="2" charset="2"/>
              </a:rPr>
              <a:t>  (</a:t>
            </a:r>
            <a:r>
              <a:rPr lang="en-US" strike="sngStrike" dirty="0">
                <a:sym typeface="Wingdings" panose="05000000000000000000" pitchFamily="2" charset="2"/>
              </a:rPr>
              <a:t>000</a:t>
            </a:r>
            <a:r>
              <a:rPr lang="en-US" dirty="0">
                <a:sym typeface="Wingdings" panose="05000000000000000000" pitchFamily="2" charset="2"/>
              </a:rPr>
              <a:t> 111 101 111)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// group by 3 , removed 0s in the front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    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757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</a:t>
            </a:r>
            <a:r>
              <a:rPr lang="en-US" dirty="0">
                <a:sym typeface="Wingdings" panose="05000000000000000000" pitchFamily="2" charset="2"/>
              </a:rPr>
              <a:t>// Replace each group by octal value</a:t>
            </a:r>
            <a:endParaRPr lang="en-US" dirty="0">
              <a:solidFill>
                <a:schemeClr val="accent5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23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F378-FBC4-B785-4606-55327891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</a:t>
            </a:r>
            <a:r>
              <a:rPr lang="en-US" dirty="0">
                <a:sym typeface="Wingdings" panose="05000000000000000000" pitchFamily="2" charset="2"/>
              </a:rPr>
              <a:t> Hexadecimal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9DCD8-512B-7888-2854-B8DFA4AE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757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 </a:t>
            </a:r>
            <a:r>
              <a:rPr lang="en-US" dirty="0">
                <a:sym typeface="Wingdings" panose="05000000000000000000" pitchFamily="2" charset="2"/>
              </a:rPr>
              <a:t>  (?)</a:t>
            </a:r>
            <a:r>
              <a:rPr lang="en-US" baseline="-25000" dirty="0">
                <a:sym typeface="Wingdings" panose="05000000000000000000" pitchFamily="2" charset="2"/>
              </a:rPr>
              <a:t>16</a:t>
            </a:r>
          </a:p>
          <a:p>
            <a:r>
              <a:rPr lang="en-US" dirty="0">
                <a:sym typeface="Wingdings" panose="05000000000000000000" pitchFamily="2" charset="2"/>
              </a:rPr>
              <a:t>(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254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8 </a:t>
            </a:r>
            <a:r>
              <a:rPr lang="en-US" dirty="0">
                <a:sym typeface="Wingdings" panose="05000000000000000000" pitchFamily="2" charset="2"/>
              </a:rPr>
              <a:t>  (?)</a:t>
            </a:r>
            <a:r>
              <a:rPr lang="en-US" baseline="-25000" dirty="0">
                <a:sym typeface="Wingdings" panose="05000000000000000000" pitchFamily="2" charset="2"/>
              </a:rPr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8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E173-48F1-8AE4-B589-9212969F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FDA8-A7C8-160E-58B2-F46D3A27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E79C7-6903-EF1D-ABED-3A14B271B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following Decimal numbers to </a:t>
            </a:r>
            <a:r>
              <a:rPr lang="en-US" dirty="0" err="1"/>
              <a:t>HexaDecimal</a:t>
            </a:r>
            <a:r>
              <a:rPr lang="en-US" dirty="0"/>
              <a:t>/Octal</a:t>
            </a:r>
          </a:p>
          <a:p>
            <a:pPr lvl="1"/>
            <a:r>
              <a:rPr lang="en-US" dirty="0"/>
              <a:t>255</a:t>
            </a:r>
            <a:r>
              <a:rPr lang="en-US" baseline="-25000" dirty="0"/>
              <a:t>10</a:t>
            </a:r>
          </a:p>
          <a:p>
            <a:pPr lvl="1"/>
            <a:r>
              <a:rPr lang="en-US" dirty="0"/>
              <a:t>256</a:t>
            </a:r>
            <a:r>
              <a:rPr lang="en-US" baseline="-25000" dirty="0"/>
              <a:t>10</a:t>
            </a:r>
            <a:endParaRPr lang="en-US" dirty="0"/>
          </a:p>
          <a:p>
            <a:pPr lvl="1"/>
            <a:r>
              <a:rPr lang="en-US" dirty="0"/>
              <a:t>257</a:t>
            </a:r>
            <a:r>
              <a:rPr lang="en-US" baseline="-25000" dirty="0"/>
              <a:t>10</a:t>
            </a:r>
            <a:endParaRPr lang="en-US" dirty="0"/>
          </a:p>
          <a:p>
            <a:r>
              <a:rPr lang="en-US" dirty="0"/>
              <a:t>Convert following </a:t>
            </a:r>
            <a:r>
              <a:rPr lang="en-US" dirty="0" err="1"/>
              <a:t>HexaDecimal</a:t>
            </a:r>
            <a:r>
              <a:rPr lang="en-US" dirty="0"/>
              <a:t> numbers to Decimal, Octal</a:t>
            </a:r>
          </a:p>
          <a:p>
            <a:pPr lvl="1"/>
            <a:r>
              <a:rPr lang="en-US" dirty="0"/>
              <a:t>99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r>
              <a:rPr lang="en-US" dirty="0"/>
              <a:t>100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r>
              <a:rPr lang="en-US" dirty="0"/>
              <a:t>101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74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8B1A-215C-B042-EA28-08D3F948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: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A67A3-EB34-AD47-4E4D-D1BF4F6A5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factorial</a:t>
            </a:r>
          </a:p>
          <a:p>
            <a:pPr lvl="1"/>
            <a:r>
              <a:rPr lang="en-US" dirty="0"/>
              <a:t>5! = 5 x 4 x 3 x 2 x 1 = </a:t>
            </a:r>
            <a:r>
              <a:rPr lang="en-US" b="1" dirty="0"/>
              <a:t>120</a:t>
            </a:r>
          </a:p>
          <a:p>
            <a:pPr lvl="1"/>
            <a:r>
              <a:rPr lang="en-US" dirty="0"/>
              <a:t>2! = </a:t>
            </a:r>
            <a:r>
              <a:rPr lang="en-US" b="1" dirty="0"/>
              <a:t>2</a:t>
            </a:r>
          </a:p>
          <a:p>
            <a:r>
              <a:rPr lang="en-US" dirty="0"/>
              <a:t>Provide sum of Fibonacci numbers using recursion</a:t>
            </a:r>
          </a:p>
          <a:p>
            <a:pPr lvl="1"/>
            <a:r>
              <a:rPr lang="en-US" dirty="0" err="1"/>
              <a:t>fibonacci</a:t>
            </a:r>
            <a:r>
              <a:rPr lang="en-US" dirty="0"/>
              <a:t>(13) </a:t>
            </a:r>
          </a:p>
          <a:p>
            <a:pPr lvl="2"/>
            <a:r>
              <a:rPr lang="en-US" dirty="0"/>
              <a:t>0 + 1 + 1 + 2 + 3 + 5 + 8 + 13  = </a:t>
            </a:r>
            <a:r>
              <a:rPr lang="en-US" b="1" dirty="0"/>
              <a:t>33</a:t>
            </a:r>
          </a:p>
          <a:p>
            <a:pPr lvl="1"/>
            <a:r>
              <a:rPr lang="en-US" dirty="0" err="1"/>
              <a:t>fibonacci</a:t>
            </a:r>
            <a:r>
              <a:rPr lang="en-US" dirty="0"/>
              <a:t>(3)</a:t>
            </a:r>
          </a:p>
          <a:p>
            <a:pPr lvl="2"/>
            <a:r>
              <a:rPr lang="en-US" dirty="0"/>
              <a:t>0 + 1 + 1 + 2 + 3 = </a:t>
            </a:r>
            <a:r>
              <a:rPr lang="en-US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9746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Office PowerPoint</Application>
  <PresentationFormat>Widescreen</PresentationFormat>
  <Paragraphs>286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Wingdings</vt:lpstr>
      <vt:lpstr>Office Theme</vt:lpstr>
      <vt:lpstr>Exploring Computer Science Concepts</vt:lpstr>
      <vt:lpstr>Number Systems</vt:lpstr>
      <vt:lpstr>Digits per base</vt:lpstr>
      <vt:lpstr>Counting in Decimal </vt:lpstr>
      <vt:lpstr>Counting in other bases</vt:lpstr>
      <vt:lpstr>Place Values </vt:lpstr>
      <vt:lpstr>Place values Converting binary decimal</vt:lpstr>
      <vt:lpstr>Converting Binary to Decimal</vt:lpstr>
      <vt:lpstr>Converting Decimal to Binary </vt:lpstr>
      <vt:lpstr>Exercises</vt:lpstr>
      <vt:lpstr>Challenge</vt:lpstr>
      <vt:lpstr>Place values Converting octal,hexadecimaldecimal</vt:lpstr>
      <vt:lpstr>Converting Decimal to Octal </vt:lpstr>
      <vt:lpstr>Exercises</vt:lpstr>
      <vt:lpstr>Converting Decimal to Hexadecimal </vt:lpstr>
      <vt:lpstr> Hexadecimal  Octal </vt:lpstr>
      <vt:lpstr>Octal  Hexadecimal</vt:lpstr>
      <vt:lpstr>Exercises</vt:lpstr>
      <vt:lpstr>Recursion :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1</cp:revision>
  <dcterms:created xsi:type="dcterms:W3CDTF">2026-01-09T17:32:06Z</dcterms:created>
  <dcterms:modified xsi:type="dcterms:W3CDTF">2026-01-09T17:32:43Z</dcterms:modified>
</cp:coreProperties>
</file>