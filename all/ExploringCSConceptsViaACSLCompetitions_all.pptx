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0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  <p:sldId id="321" r:id="rId57"/>
    <p:sldId id="329" r:id="rId58"/>
    <p:sldId id="322" r:id="rId59"/>
    <p:sldId id="330" r:id="rId60"/>
    <p:sldId id="323" r:id="rId61"/>
    <p:sldId id="331" r:id="rId62"/>
    <p:sldId id="324" r:id="rId63"/>
    <p:sldId id="332" r:id="rId64"/>
    <p:sldId id="326" r:id="rId65"/>
    <p:sldId id="333" r:id="rId66"/>
    <p:sldId id="327" r:id="rId67"/>
    <p:sldId id="334" r:id="rId68"/>
    <p:sldId id="328" r:id="rId69"/>
    <p:sldId id="335" r:id="rId70"/>
    <p:sldId id="336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7" r:id="rId80"/>
    <p:sldId id="357" r:id="rId81"/>
    <p:sldId id="349" r:id="rId82"/>
    <p:sldId id="351" r:id="rId83"/>
    <p:sldId id="353" r:id="rId84"/>
    <p:sldId id="352" r:id="rId85"/>
    <p:sldId id="354" r:id="rId86"/>
    <p:sldId id="350" r:id="rId87"/>
    <p:sldId id="355" r:id="rId88"/>
    <p:sldId id="356" r:id="rId89"/>
    <p:sldId id="358" r:id="rId90"/>
    <p:sldId id="367" r:id="rId91"/>
    <p:sldId id="359" r:id="rId92"/>
    <p:sldId id="368" r:id="rId93"/>
    <p:sldId id="360" r:id="rId94"/>
    <p:sldId id="369" r:id="rId95"/>
    <p:sldId id="361" r:id="rId96"/>
    <p:sldId id="370" r:id="rId97"/>
    <p:sldId id="363" r:id="rId98"/>
    <p:sldId id="371" r:id="rId99"/>
    <p:sldId id="366" r:id="rId100"/>
    <p:sldId id="372" r:id="rId101"/>
    <p:sldId id="373" r:id="rId102"/>
    <p:sldId id="374" r:id="rId103"/>
    <p:sldId id="375" r:id="rId104"/>
    <p:sldId id="376" r:id="rId105"/>
    <p:sldId id="377" r:id="rId106"/>
    <p:sldId id="378" r:id="rId107"/>
    <p:sldId id="379" r:id="rId108"/>
    <p:sldId id="380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27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 3 have outputs</a:t>
            </a:r>
            <a:br>
              <a:rPr lang="en-US" dirty="0"/>
            </a:br>
            <a:r>
              <a:rPr lang="en-US" dirty="0"/>
              <a:t>4,5,6 don’t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76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729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A952E-9927-1087-C198-76B6E209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C7705-C938-649D-740E-28D1AAD8C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0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4519E-BC79-07F8-39D4-1C6BABAB4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88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015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errank.com/acsltest3practise" TargetMode="External"/><Relationship Id="rId2" Type="http://schemas.openxmlformats.org/officeDocument/2006/relationships/hyperlink" Target="https://www.hackerrank.com/acsltest2practise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1984-CC99-1FD5-74F2-4C5D7F94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74131-785E-2A52-4D45-ED3F02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4..6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1B45D-8860-0D15-A406-C0C4369B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7..8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BA331-E1C7-68C8-C5A0-75B2600E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E72D7-0D7A-A4BC-D0BB-73DEB229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221D368-6BAD-6E79-AA4D-81A97D91F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18414" y="1690688"/>
            <a:ext cx="4367986" cy="4220906"/>
          </a:xfrm>
        </p:spPr>
      </p:pic>
    </p:spTree>
    <p:extLst>
      <p:ext uri="{BB962C8B-B14F-4D97-AF65-F5344CB8AC3E}">
        <p14:creationId xmlns:p14="http://schemas.microsoft.com/office/powerpoint/2010/main" val="13660297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F38E-FE26-1480-0E2C-4C0A63BA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1228-AC4D-366F-3D99-F517F0A72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1D49E56-D5D1-6578-D76A-29A85AAE6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490" y="1777399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= 2 </a:t>
            </a:r>
          </a:p>
          <a:p>
            <a:pPr lvl="1"/>
            <a:r>
              <a:rPr lang="en-US" dirty="0"/>
              <a:t>num = 72</a:t>
            </a:r>
          </a:p>
          <a:p>
            <a:pPr lvl="1"/>
            <a:r>
              <a:rPr lang="en-US" dirty="0"/>
              <a:t>72 % 2 == 0 → yes</a:t>
            </a:r>
          </a:p>
          <a:p>
            <a:pPr lvl="2"/>
            <a:r>
              <a:rPr lang="en-US" dirty="0"/>
              <a:t>num = 36, count = 1</a:t>
            </a:r>
          </a:p>
          <a:p>
            <a:pPr lvl="1"/>
            <a:r>
              <a:rPr lang="en-US" dirty="0"/>
              <a:t>36 % 2 == 0 → yes</a:t>
            </a:r>
          </a:p>
          <a:p>
            <a:pPr lvl="2"/>
            <a:r>
              <a:rPr lang="en-US" dirty="0"/>
              <a:t>num = 18, count = 2</a:t>
            </a:r>
          </a:p>
          <a:p>
            <a:pPr lvl="1"/>
            <a:r>
              <a:rPr lang="en-US" dirty="0"/>
              <a:t>18 % 2 == 0 → yes</a:t>
            </a:r>
          </a:p>
          <a:p>
            <a:pPr lvl="2"/>
            <a:r>
              <a:rPr lang="en-US" dirty="0"/>
              <a:t>num = 9, count = 3</a:t>
            </a:r>
          </a:p>
          <a:p>
            <a:pPr lvl="1"/>
            <a:r>
              <a:rPr lang="en-US" dirty="0"/>
              <a:t>9 % 2 != 0 → stop</a:t>
            </a:r>
          </a:p>
          <a:p>
            <a:pPr lvl="1"/>
            <a:r>
              <a:rPr lang="en-US" dirty="0"/>
              <a:t>output → 2 3</a:t>
            </a:r>
          </a:p>
          <a:p>
            <a:r>
              <a:rPr lang="en-US" dirty="0"/>
              <a:t>I =3 </a:t>
            </a:r>
          </a:p>
          <a:p>
            <a:pPr lvl="1"/>
            <a:r>
              <a:rPr lang="en-US" dirty="0"/>
              <a:t>output → 3 2</a:t>
            </a:r>
          </a:p>
          <a:p>
            <a:r>
              <a:rPr lang="en-US" dirty="0"/>
              <a:t>I = 4 ,5, 6</a:t>
            </a:r>
          </a:p>
          <a:p>
            <a:pPr lvl="1"/>
            <a:r>
              <a:rPr lang="en-US" dirty="0"/>
              <a:t>num = 1  ( not divisible by any)</a:t>
            </a:r>
          </a:p>
          <a:p>
            <a:pPr lvl="1"/>
            <a:r>
              <a:rPr lang="en-US" dirty="0"/>
              <a:t>no output</a:t>
            </a:r>
          </a:p>
          <a:p>
            <a:pPr lvl="1"/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2E061E9E-3254-CD26-4930-FE889E90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524" y="1777399"/>
            <a:ext cx="4367986" cy="422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3992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19F7C-64A8-6BBF-B7BD-831EE935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231ECF-E15A-8953-C520-04A6C2401B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692" y="2030998"/>
            <a:ext cx="5260464" cy="3455402"/>
          </a:xfrm>
        </p:spPr>
      </p:pic>
    </p:spTree>
    <p:extLst>
      <p:ext uri="{BB962C8B-B14F-4D97-AF65-F5344CB8AC3E}">
        <p14:creationId xmlns:p14="http://schemas.microsoft.com/office/powerpoint/2010/main" val="220731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CE9ED-6524-DC6A-EE50-03751C9CC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9C47-A844-8024-1E13-0A333A26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A2.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FB000280-F639-4E1F-E662-FF837C26B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906" y="1896991"/>
            <a:ext cx="5260464" cy="345540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5B5EE5-1473-E2E4-2C3B-DBE0CE8CD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Nested loop sum : 35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29C28563-5938-2EFF-BD4F-B2A285E2A7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7903152"/>
              </p:ext>
            </p:extLst>
          </p:nvPr>
        </p:nvGraphicFramePr>
        <p:xfrm>
          <a:off x="1103654" y="2385301"/>
          <a:ext cx="4766441" cy="3526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10">
                  <a:extLst>
                    <a:ext uri="{9D8B030D-6E8A-4147-A177-3AD203B41FA5}">
                      <a16:colId xmlns:a16="http://schemas.microsoft.com/office/drawing/2014/main" val="2829498307"/>
                    </a:ext>
                  </a:extLst>
                </a:gridCol>
                <a:gridCol w="1470135">
                  <a:extLst>
                    <a:ext uri="{9D8B030D-6E8A-4147-A177-3AD203B41FA5}">
                      <a16:colId xmlns:a16="http://schemas.microsoft.com/office/drawing/2014/main" val="2236824969"/>
                    </a:ext>
                  </a:extLst>
                </a:gridCol>
                <a:gridCol w="913086">
                  <a:extLst>
                    <a:ext uri="{9D8B030D-6E8A-4147-A177-3AD203B41FA5}">
                      <a16:colId xmlns:a16="http://schemas.microsoft.com/office/drawing/2014/main" val="2084030851"/>
                    </a:ext>
                  </a:extLst>
                </a:gridCol>
                <a:gridCol w="1191610">
                  <a:extLst>
                    <a:ext uri="{9D8B030D-6E8A-4147-A177-3AD203B41FA5}">
                      <a16:colId xmlns:a16="http://schemas.microsoft.com/office/drawing/2014/main" val="1456409771"/>
                    </a:ext>
                  </a:extLst>
                </a:gridCol>
              </a:tblGrid>
              <a:tr h="587795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576104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38887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29930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53527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88139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596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4589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98296-BCFA-A4FD-8C84-FABA67255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B306B037-9002-F85B-D8E9-FE58D03DA7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885" y="1887466"/>
            <a:ext cx="7176049" cy="36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81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DBA-9053-3108-1DE3-ACD6F731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E529-7D4D-7996-8BA8-098B84D61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3988ECD-FF80-8C71-0489-3A4ED4542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</a:t>
            </a:r>
          </a:p>
          <a:p>
            <a:pPr lvl="1"/>
            <a:r>
              <a:rPr lang="en-US" dirty="0"/>
              <a:t>Divisible by 3</a:t>
            </a:r>
          </a:p>
          <a:p>
            <a:pPr lvl="1"/>
            <a:r>
              <a:rPr lang="en-US" dirty="0"/>
              <a:t>NOT divisible by 4</a:t>
            </a:r>
          </a:p>
          <a:p>
            <a:r>
              <a:rPr lang="en-US" dirty="0"/>
              <a:t>15 + 18 = 33</a:t>
            </a:r>
          </a:p>
          <a:p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AD4C6A4-CD8E-35B8-ED9E-5CDCED20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58" y="2022694"/>
            <a:ext cx="6049308" cy="304714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247C17-E352-B075-5C45-0F11A18FF056}"/>
              </a:ext>
            </a:extLst>
          </p:cNvPr>
          <p:cNvGraphicFramePr>
            <a:graphicFrameLocks noGrp="1"/>
          </p:cNvGraphicFramePr>
          <p:nvPr/>
        </p:nvGraphicFramePr>
        <p:xfrm>
          <a:off x="1086068" y="4001294"/>
          <a:ext cx="406925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314">
                  <a:extLst>
                    <a:ext uri="{9D8B030D-6E8A-4147-A177-3AD203B41FA5}">
                      <a16:colId xmlns:a16="http://schemas.microsoft.com/office/drawing/2014/main" val="2572898738"/>
                    </a:ext>
                  </a:extLst>
                </a:gridCol>
                <a:gridCol w="1017314">
                  <a:extLst>
                    <a:ext uri="{9D8B030D-6E8A-4147-A177-3AD203B41FA5}">
                      <a16:colId xmlns:a16="http://schemas.microsoft.com/office/drawing/2014/main" val="3945718912"/>
                    </a:ext>
                  </a:extLst>
                </a:gridCol>
                <a:gridCol w="899511">
                  <a:extLst>
                    <a:ext uri="{9D8B030D-6E8A-4147-A177-3AD203B41FA5}">
                      <a16:colId xmlns:a16="http://schemas.microsoft.com/office/drawing/2014/main" val="126023410"/>
                    </a:ext>
                  </a:extLst>
                </a:gridCol>
                <a:gridCol w="1135117">
                  <a:extLst>
                    <a:ext uri="{9D8B030D-6E8A-4147-A177-3AD203B41FA5}">
                      <a16:colId xmlns:a16="http://schemas.microsoft.com/office/drawing/2014/main" val="98415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Include?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893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26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857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8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2821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494-CB44-23E6-6167-3B208E66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C93A-4A24-101D-372C-39870A974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1F3A36-ABAF-E830-D679-95EBF73FA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6462" y="1867741"/>
            <a:ext cx="5128799" cy="3975081"/>
          </a:xfrm>
        </p:spPr>
      </p:pic>
    </p:spTree>
    <p:extLst>
      <p:ext uri="{BB962C8B-B14F-4D97-AF65-F5344CB8AC3E}">
        <p14:creationId xmlns:p14="http://schemas.microsoft.com/office/powerpoint/2010/main" val="472968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0E92F-AF49-7D7B-050E-B52B454B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E6CA-C955-4AC7-D595-48528D43D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B678F-4154-33E1-671D-916FE686C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860"/>
            <a:ext cx="10515600" cy="4351338"/>
          </a:xfrm>
        </p:spPr>
        <p:txBody>
          <a:bodyPr/>
          <a:lstStyle/>
          <a:p>
            <a:r>
              <a:rPr lang="en-US" dirty="0"/>
              <a:t>Output 4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A9B3C22B-857E-640E-DCC7-9205A3777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144" y="1749500"/>
            <a:ext cx="5128799" cy="3975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EE48A-F157-1798-7EAE-1B4D145A2EED}"/>
              </a:ext>
            </a:extLst>
          </p:cNvPr>
          <p:cNvSpPr txBox="1"/>
          <p:nvPr/>
        </p:nvSpPr>
        <p:spPr>
          <a:xfrm>
            <a:off x="1062201" y="3545471"/>
            <a:ext cx="44951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Step	digit	even?	count</a:t>
            </a:r>
          </a:p>
          <a:p>
            <a:r>
              <a:rPr lang="en-US" dirty="0"/>
              <a:t>8	yes	1	1</a:t>
            </a:r>
          </a:p>
          <a:p>
            <a:r>
              <a:rPr lang="en-US" dirty="0"/>
              <a:t>6	yes	2	2</a:t>
            </a:r>
          </a:p>
          <a:p>
            <a:r>
              <a:rPr lang="en-US" dirty="0"/>
              <a:t>4	yes	3	3</a:t>
            </a:r>
          </a:p>
          <a:p>
            <a:r>
              <a:rPr lang="en-US" dirty="0"/>
              <a:t>2	yes	4	4</a:t>
            </a:r>
          </a:p>
        </p:txBody>
      </p:sp>
    </p:spTree>
    <p:extLst>
      <p:ext uri="{BB962C8B-B14F-4D97-AF65-F5344CB8AC3E}">
        <p14:creationId xmlns:p14="http://schemas.microsoft.com/office/powerpoint/2010/main" val="1526322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1662D-56D1-A890-3A90-E5804BAF2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A77DD-319B-B8CB-067B-809A8256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0C0A05-4862-B677-A23E-72B3ADC71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0142" y="1974397"/>
            <a:ext cx="5115858" cy="3761236"/>
          </a:xfrm>
        </p:spPr>
      </p:pic>
    </p:spTree>
    <p:extLst>
      <p:ext uri="{BB962C8B-B14F-4D97-AF65-F5344CB8AC3E}">
        <p14:creationId xmlns:p14="http://schemas.microsoft.com/office/powerpoint/2010/main" val="22373007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D29-74FC-E5C5-470F-3990F5AA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C6D-9E88-105F-5872-247603B4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BE19-7D70-249A-4EC2-6DAB233B0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Divide every element by 3</a:t>
            </a:r>
          </a:p>
          <a:p>
            <a:r>
              <a:rPr lang="en-US" dirty="0"/>
              <a:t>Output 1,2,3,4,5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b="1" u="sng" dirty="0"/>
              <a:t>Index	Original		New</a:t>
            </a:r>
          </a:p>
          <a:p>
            <a:pPr marL="0" indent="0">
              <a:buNone/>
            </a:pPr>
            <a:r>
              <a:rPr lang="en-US" sz="2000" dirty="0"/>
              <a:t>0	3		1</a:t>
            </a:r>
          </a:p>
          <a:p>
            <a:pPr marL="0" indent="0">
              <a:buNone/>
            </a:pPr>
            <a:r>
              <a:rPr lang="en-US" sz="2000" dirty="0"/>
              <a:t>1	6		2</a:t>
            </a:r>
          </a:p>
          <a:p>
            <a:pPr marL="0" indent="0">
              <a:buNone/>
            </a:pPr>
            <a:r>
              <a:rPr lang="en-US" sz="2000" dirty="0"/>
              <a:t>2	9		3</a:t>
            </a:r>
          </a:p>
          <a:p>
            <a:pPr marL="0" indent="0">
              <a:buNone/>
            </a:pPr>
            <a:r>
              <a:rPr lang="en-US" sz="2000" dirty="0"/>
              <a:t>3	12		4</a:t>
            </a:r>
          </a:p>
          <a:p>
            <a:pPr marL="0" indent="0">
              <a:buNone/>
            </a:pPr>
            <a:r>
              <a:rPr lang="en-US" sz="2000" dirty="0"/>
              <a:t>4	15		5</a:t>
            </a:r>
          </a:p>
        </p:txBody>
      </p:sp>
      <p:pic>
        <p:nvPicPr>
          <p:cNvPr id="5" name="Content Placeholder 8">
            <a:extLst>
              <a:ext uri="{FF2B5EF4-FFF2-40B4-BE49-F238E27FC236}">
                <a16:creationId xmlns:a16="http://schemas.microsoft.com/office/drawing/2014/main" id="{F3508B81-D07D-9A2E-711A-108335FF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391" y="1825625"/>
            <a:ext cx="5115858" cy="376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3793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EAE1-601F-A56C-2093-29AE055F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DAB8B-D489-C7C1-2756-DEA23A56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843AFF-E13C-780D-9B6E-B591AD0F02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6549" y="1797789"/>
            <a:ext cx="4429201" cy="3822618"/>
          </a:xfrm>
        </p:spPr>
      </p:pic>
    </p:spTree>
    <p:extLst>
      <p:ext uri="{BB962C8B-B14F-4D97-AF65-F5344CB8AC3E}">
        <p14:creationId xmlns:p14="http://schemas.microsoft.com/office/powerpoint/2010/main" val="569505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2DFB-A262-168F-C564-5942A84A8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F048-1DC8-9E32-EFE2-3C47F27D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21129-1CA9-751A-B267-B30A3E1B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pass swap</a:t>
            </a:r>
          </a:p>
          <a:p>
            <a:pPr lvl="1"/>
            <a:r>
              <a:rPr lang="en-US" dirty="0"/>
              <a:t>Output  : 1,4,2,5</a:t>
            </a:r>
          </a:p>
          <a:p>
            <a:pPr lvl="1"/>
            <a:r>
              <a:rPr lang="en-US" b="1" dirty="0"/>
              <a:t>Note : not sorted</a:t>
            </a:r>
          </a:p>
          <a:p>
            <a:r>
              <a:rPr lang="en-US" dirty="0"/>
              <a:t>i =0 </a:t>
            </a:r>
          </a:p>
          <a:p>
            <a:pPr lvl="1"/>
            <a:r>
              <a:rPr lang="en-US" dirty="0"/>
              <a:t>5 &gt; 1 → swap → [1, 5, 4, 2]</a:t>
            </a:r>
          </a:p>
          <a:p>
            <a:r>
              <a:rPr lang="en-US" dirty="0"/>
              <a:t>i =1 </a:t>
            </a:r>
          </a:p>
          <a:p>
            <a:pPr lvl="1"/>
            <a:r>
              <a:rPr lang="en-US" dirty="0"/>
              <a:t>5 &gt; 4 → swap → [1, 4, 5, 2]</a:t>
            </a:r>
          </a:p>
          <a:p>
            <a:r>
              <a:rPr lang="en-US" dirty="0"/>
              <a:t>i = 2</a:t>
            </a:r>
          </a:p>
          <a:p>
            <a:pPr lvl="1"/>
            <a:r>
              <a:rPr lang="en-US" dirty="0"/>
              <a:t>5 &gt; 2 → swap → [1, 4, 2, 5]</a:t>
            </a:r>
          </a:p>
        </p:txBody>
      </p:sp>
      <p:pic>
        <p:nvPicPr>
          <p:cNvPr id="5" name="Content Placeholder 10">
            <a:extLst>
              <a:ext uri="{FF2B5EF4-FFF2-40B4-BE49-F238E27FC236}">
                <a16:creationId xmlns:a16="http://schemas.microsoft.com/office/drawing/2014/main" id="{8FF07BF5-47E4-D416-E383-A4DE39565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763" y="1794094"/>
            <a:ext cx="4429201" cy="382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0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1701-2B07-168C-3CE8-98E848A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690C7-DB50-C566-790E-BA6542271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Q7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5D88EB9-52CD-71F3-E0F2-B1C3E8100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3579" y="1865448"/>
            <a:ext cx="6035752" cy="3857435"/>
          </a:xfrm>
        </p:spPr>
      </p:pic>
    </p:spTree>
    <p:extLst>
      <p:ext uri="{BB962C8B-B14F-4D97-AF65-F5344CB8AC3E}">
        <p14:creationId xmlns:p14="http://schemas.microsoft.com/office/powerpoint/2010/main" val="22343982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F3EA2-E343-1A42-A5E7-A2086BD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C3823-B7E6-19CD-407F-88073F85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6A43E-791C-1ED0-32A3-D7FAA0F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 5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pt-BR" sz="2000" b="1" u="sng" dirty="0"/>
              <a:t>Step  i	result	action</a:t>
            </a:r>
          </a:p>
          <a:p>
            <a:pPr marL="457200" lvl="1" indent="0">
              <a:buNone/>
            </a:pPr>
            <a:r>
              <a:rPr lang="pt-BR" sz="2000" dirty="0"/>
              <a:t>1	   1	1	result &lt; 50 continue</a:t>
            </a:r>
          </a:p>
          <a:p>
            <a:pPr marL="457200" lvl="1" indent="0">
              <a:buNone/>
            </a:pPr>
            <a:r>
              <a:rPr lang="pt-BR" sz="2000" dirty="0"/>
              <a:t>2	   2	2	result &lt; 50 continue</a:t>
            </a:r>
          </a:p>
          <a:p>
            <a:pPr marL="457200" lvl="1" indent="0">
              <a:buNone/>
            </a:pPr>
            <a:r>
              <a:rPr lang="pt-BR" sz="2000" dirty="0"/>
              <a:t>3	   3	6	result &lt; 50 continue</a:t>
            </a:r>
          </a:p>
          <a:p>
            <a:pPr marL="457200" lvl="1" indent="0">
              <a:buNone/>
            </a:pPr>
            <a:r>
              <a:rPr lang="pt-BR" sz="2000" dirty="0"/>
              <a:t>4	   4	24	result &lt; 50 continue</a:t>
            </a:r>
          </a:p>
          <a:p>
            <a:pPr marL="457200" lvl="1" indent="0">
              <a:buNone/>
            </a:pPr>
            <a:r>
              <a:rPr lang="pt-BR" sz="2000" dirty="0"/>
              <a:t>5	   5	120	</a:t>
            </a:r>
            <a:r>
              <a:rPr lang="pt-BR" sz="2000" b="1" dirty="0"/>
              <a:t>result &gt; 50 break</a:t>
            </a:r>
          </a:p>
          <a:p>
            <a:pPr marL="457200" lvl="1" indent="0">
              <a:buNone/>
            </a:pPr>
            <a:endParaRPr lang="pt-BR" sz="2000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7A3A6A90-E3AB-179D-99A4-778692989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48" y="2072576"/>
            <a:ext cx="6035752" cy="385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3784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562B-2D71-9CBF-878B-99DEB2172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Logic/Algebra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inputs are    : 0,1 {only}</a:t>
                </a:r>
              </a:p>
              <a:p>
                <a:r>
                  <a:rPr lang="en-US" dirty="0"/>
                  <a:t>The outputs are : 0,1 {only}</a:t>
                </a:r>
              </a:p>
              <a:p>
                <a:r>
                  <a:rPr lang="en-US" dirty="0"/>
                  <a:t>Operators </a:t>
                </a:r>
              </a:p>
              <a:p>
                <a:pPr lvl="1"/>
                <a:r>
                  <a:rPr lang="en-US" dirty="0"/>
                  <a:t>()</a:t>
                </a:r>
              </a:p>
              <a:p>
                <a:pPr lvl="1"/>
                <a:r>
                  <a:rPr lang="en-US" dirty="0"/>
                  <a:t>NOT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</m:e>
                    </m:acc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AND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.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XOR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⊕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XNOR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  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3148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EF463-8E69-9B0E-5E1E-A8A4361A3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F375-B6F2-5C4F-0378-385B893AA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 </a:t>
            </a:r>
            <a:r>
              <a:rPr lang="en-US" sz="2000" dirty="0"/>
              <a:t>( same as bitwise operations </a:t>
            </a:r>
            <a:r>
              <a:rPr lang="en-US" sz="2000" dirty="0">
                <a:sym typeface="Wingdings" panose="05000000000000000000" pitchFamily="2" charset="2"/>
              </a:rPr>
              <a:t> easy</a:t>
            </a:r>
            <a:r>
              <a:rPr lang="en-US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⊕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Y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4" t="-6349" r="-202083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654" t="-6349" r="-101384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042" t="-6349" r="-1736" b="-4190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73" t="-6557" r="-1347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AD3397B-377F-7A84-0DDF-99BD55E4C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380609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C287-FA78-3AE8-013F-3406E803B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Evaluate for A = 1 , B = 0 , C =0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.B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8096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6A50-A7B2-0EAB-DAA1-4E6F7C1B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Rules/Discovery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Identity</a:t>
                </a:r>
              </a:p>
              <a:p>
                <a:pPr lvl="1"/>
                <a:r>
                  <a:rPr lang="en-US" dirty="0"/>
                  <a:t>A + 0 = A</a:t>
                </a:r>
              </a:p>
              <a:p>
                <a:pPr lvl="1"/>
                <a:r>
                  <a:rPr lang="en-US" dirty="0"/>
                  <a:t>A  . 1 = A</a:t>
                </a:r>
              </a:p>
              <a:p>
                <a:pPr lvl="1"/>
                <a:r>
                  <a:rPr lang="en-US" dirty="0"/>
                  <a:t>A + 1 = 1</a:t>
                </a:r>
              </a:p>
              <a:p>
                <a:pPr lvl="1"/>
                <a:r>
                  <a:rPr lang="en-US" dirty="0"/>
                  <a:t>A  . 0 = 0 </a:t>
                </a:r>
              </a:p>
              <a:p>
                <a:r>
                  <a:rPr lang="en-US" dirty="0"/>
                  <a:t>Idempotent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r>
                  <a:rPr lang="en-US" dirty="0"/>
                  <a:t>Complement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b="0" i="0" dirty="0" smtClean="0"/>
                      <m:t>0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800727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F6AD-9969-0048-8C5F-54BA5AA34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rules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Double Negation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̿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r>
                  <a:rPr lang="en-US" b="0" dirty="0"/>
                  <a:t>Absorption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r>
                  <a:rPr lang="en-US" b="1" dirty="0"/>
                  <a:t>Distribution law </a:t>
                </a:r>
                <a:br>
                  <a:rPr lang="en-US" b="1" dirty="0"/>
                </a:br>
                <a:r>
                  <a:rPr lang="en-US" dirty="0"/>
                  <a:t>(symmetrical to both . and +)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609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F640-25A8-B0E4-213D-D5B78CE0B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it yourself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6492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A1F26-A2A5-5B10-3A4B-5A4D0A63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8C453-735D-9943-1D52-9282A0E3A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Solved </a:t>
            </a:r>
            <a:r>
              <a:rPr lang="en-US" sz="2000" dirty="0"/>
              <a:t>(and named)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(again)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Consensus theorem 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Redundancy law</a:t>
                </a:r>
              </a:p>
              <a:p>
                <a:pPr lvl="2"/>
                <a:r>
                  <a:rPr lang="en-US" dirty="0"/>
                  <a:t>Also called, Second Absorption law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Redundancy law (again)</a:t>
                </a:r>
              </a:p>
              <a:p>
                <a:pPr lvl="2"/>
                <a:r>
                  <a:rPr lang="en-US" b="0" dirty="0"/>
                  <a:t>Also called , Third distributive law</a:t>
                </a:r>
              </a:p>
              <a:p>
                <a:pPr lvl="2"/>
                <a:endParaRPr lang="en-US" b="0" dirty="0"/>
              </a:p>
              <a:p>
                <a:pPr lvl="2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801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96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2A8DE-70D1-F0C4-50B6-932DB537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52882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B0124-F2C3-D388-3D32-C9F41B15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0C5AF-27A6-2DE7-E719-D9C62BD3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By Absorption law = A, OR</a:t>
                </a:r>
              </a:p>
              <a:p>
                <a:pPr lvl="2"/>
                <a:r>
                  <a:rPr lang="en-US" dirty="0"/>
                  <a:t>A.A + A.B</a:t>
                </a:r>
              </a:p>
              <a:p>
                <a:pPr lvl="2"/>
                <a:r>
                  <a:rPr lang="en-US" dirty="0"/>
                  <a:t>A + AB  </a:t>
                </a:r>
                <a:r>
                  <a:rPr lang="en-US" dirty="0">
                    <a:solidFill>
                      <a:srgbClr val="00B050"/>
                    </a:solidFill>
                  </a:rPr>
                  <a:t>//(A.A = A), Idempotent Law</a:t>
                </a:r>
              </a:p>
              <a:p>
                <a:pPr lvl="2"/>
                <a:r>
                  <a:rPr lang="en-US" dirty="0"/>
                  <a:t>A (1+ B) </a:t>
                </a:r>
                <a:r>
                  <a:rPr lang="en-US" dirty="0">
                    <a:solidFill>
                      <a:srgbClr val="00B050"/>
                    </a:solidFill>
                  </a:rPr>
                  <a:t>// factor A out</a:t>
                </a:r>
              </a:p>
              <a:p>
                <a:pPr lvl="2"/>
                <a:r>
                  <a:rPr lang="en-US" dirty="0"/>
                  <a:t>A </a:t>
                </a:r>
                <a:r>
                  <a:rPr lang="en-US" dirty="0">
                    <a:solidFill>
                      <a:srgbClr val="00B050"/>
                    </a:solidFill>
                  </a:rPr>
                  <a:t>// By null law 1+B = 1 and A.1 = 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>
                    <a:latin typeface="Cambria Math" panose="02040503050406030204" pitchFamily="18" charset="0"/>
                  </a:rPr>
                  <a:t>1.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 By Complement law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dirty="0"/>
                  <a:t> B </a:t>
                </a:r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</a:p>
              <a:p>
                <a:pPr lvl="1"/>
                <a:r>
                  <a:rPr lang="en-US" b="0" dirty="0"/>
                  <a:t>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//Idempotent law + Complement law</a:t>
                </a:r>
              </a:p>
              <a:p>
                <a:pPr lvl="1"/>
                <a:r>
                  <a:rPr lang="en-US" b="0" dirty="0"/>
                  <a:t>A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20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82703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1777-7C6F-76BE-45C2-4D03B4DC5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+ 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acc>
                    <m:r>
                      <a:rPr lang="en-US" b="1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acc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2"/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26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2313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9C9B2-45AB-787B-5C91-05A5B558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DC5A-141E-6F8B-7CFB-CAA9C873B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A3309-A527-5D31-6F50-29E46FDBB2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These are hard , think of them as puzzles,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A3309-A527-5D31-6F50-29E46FDBB2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74231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C7ACA-4DBD-62AB-39CA-F2A3B56B9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Tables/Expressions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Create truth table for each and validate/discover simplifications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b="0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/>
                  <a:t> B 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b="0" dirty="0"/>
                  <a:t> </a:t>
                </a:r>
                <a:r>
                  <a:rPr lang="en-US" dirty="0"/>
                  <a:t>= A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=?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00606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768-6F15-06E9-C840-DA5612F8D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ADE1B-D96A-3D30-68AE-1B60E274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249802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2ABC3-2FB2-EB18-7247-2C7A596D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9C898-35FC-6EF2-7A80-305B2EB0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in reverse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b="0" i="1" dirty="0"/>
                  <a:t> 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i="1" dirty="0">
                  <a:solidFill>
                    <a:schemeClr val="accent6">
                      <a:lumMod val="75000"/>
                    </a:schemeClr>
                  </a:solidFill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97324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E7EA4-5E46-1419-52D3-511DA43F8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//See 4</a:t>
                </a:r>
              </a:p>
              <a:p>
                <a:pPr lvl="2"/>
                <a:r>
                  <a:rPr lang="en-US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//Distribution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//De-Morgan’s Law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//Factor the like terms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//Identity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783010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318A9-801A-714A-A234-6CD3FE66D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80F5D-20D4-03D8-1456-187A1EC7A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(A.B +B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 and expansion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A.B  + 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𝐶𝐴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 and combine like terms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</a:t>
                </a:r>
                <a:r>
                  <a:rPr lang="en-US" i="1" dirty="0">
                    <a:latin typeface="Cambria Math" panose="02040503050406030204" pitchFamily="18" charset="0"/>
                  </a:rPr>
                  <a:t>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 Law and rearrange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74539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434AD-E6F7-D00B-CB66-20747A08B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5EE43-FFCC-BF84-FE5A-6984F2C46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Specific to Test2 ,</a:t>
            </a:r>
            <a:r>
              <a:rPr lang="en-US" i="1" dirty="0"/>
              <a:t>(skip if you are already done with test 2)</a:t>
            </a:r>
          </a:p>
          <a:p>
            <a:pPr lvl="1"/>
            <a:r>
              <a:rPr lang="en-US" dirty="0">
                <a:hlinkClick r:id="rId2"/>
              </a:rPr>
              <a:t>https://www.hackerrank.com/acsltest2practise</a:t>
            </a:r>
            <a:r>
              <a:rPr lang="en-US" dirty="0"/>
              <a:t> </a:t>
            </a:r>
          </a:p>
          <a:p>
            <a:r>
              <a:rPr lang="en-US" dirty="0"/>
              <a:t>Specific to Test 3</a:t>
            </a:r>
          </a:p>
          <a:p>
            <a:pPr lvl="1"/>
            <a:r>
              <a:rPr lang="en-US" dirty="0">
                <a:hlinkClick r:id="rId3"/>
              </a:rPr>
              <a:t>https://www.hackerrank.com/acsltest3practise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Knowledge needed</a:t>
            </a:r>
          </a:p>
          <a:p>
            <a:pPr lvl="2"/>
            <a:r>
              <a:rPr lang="en-US" dirty="0"/>
              <a:t>New: Stacks and Queues</a:t>
            </a:r>
          </a:p>
          <a:p>
            <a:pPr lvl="2"/>
            <a:r>
              <a:rPr lang="en-US"/>
              <a:t>Existing</a:t>
            </a:r>
            <a:r>
              <a:rPr lang="en-US" dirty="0"/>
              <a:t>: if else, loops, arrays, functions, …</a:t>
            </a:r>
          </a:p>
        </p:txBody>
      </p:sp>
    </p:spTree>
    <p:extLst>
      <p:ext uri="{BB962C8B-B14F-4D97-AF65-F5344CB8AC3E}">
        <p14:creationId xmlns:p14="http://schemas.microsoft.com/office/powerpoint/2010/main" val="205332962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0BA96-FDEB-0275-31FE-0F91C76B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EB8CE-CBD7-DE7D-2F24-555C4474D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FIFO : First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queue</a:t>
            </a:r>
          </a:p>
          <a:p>
            <a:pPr lvl="2"/>
            <a:r>
              <a:rPr lang="en-US" dirty="0"/>
              <a:t>Can also be called (enqueue , </a:t>
            </a:r>
            <a:r>
              <a:rPr lang="en-US" dirty="0" err="1"/>
              <a:t>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(dequeue ,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 front,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queue_stack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68585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37F5-6EB6-D652-74CB-258C0615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48800-5A6E-82AE-A5CB-5CDEE0CFD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A019D-DD89-5C1B-B36F-A3C88E7A9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LIFO : Last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stack</a:t>
            </a:r>
          </a:p>
          <a:p>
            <a:pPr lvl="2"/>
            <a:r>
              <a:rPr lang="en-US" dirty="0"/>
              <a:t>Can also be called (</a:t>
            </a:r>
            <a:r>
              <a:rPr lang="en-US" dirty="0" err="1"/>
              <a:t>insert,push_back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(back,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queue_stack</a:t>
            </a:r>
            <a:endParaRPr lang="en-US" dirty="0"/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871018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9D11A-E375-E71D-07F3-EE29E1111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1AE1CA-0CED-FC52-B3A9-B263513E5F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6062" y="1690688"/>
            <a:ext cx="4036690" cy="4213159"/>
          </a:xfrm>
        </p:spPr>
      </p:pic>
    </p:spTree>
    <p:extLst>
      <p:ext uri="{BB962C8B-B14F-4D97-AF65-F5344CB8AC3E}">
        <p14:creationId xmlns:p14="http://schemas.microsoft.com/office/powerpoint/2010/main" val="35109705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178D-935B-AAEE-36BA-F87AA98BA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F76CD-D406-A389-02FF-0BA92261C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ECFA53-052C-D6F6-6B28-122C1A2DBA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3421758"/>
              </p:ext>
            </p:extLst>
          </p:nvPr>
        </p:nvGraphicFramePr>
        <p:xfrm>
          <a:off x="1224455" y="2948151"/>
          <a:ext cx="4001814" cy="2774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938">
                  <a:extLst>
                    <a:ext uri="{9D8B030D-6E8A-4147-A177-3AD203B41FA5}">
                      <a16:colId xmlns:a16="http://schemas.microsoft.com/office/drawing/2014/main" val="563773428"/>
                    </a:ext>
                  </a:extLst>
                </a:gridCol>
                <a:gridCol w="1453930">
                  <a:extLst>
                    <a:ext uri="{9D8B030D-6E8A-4147-A177-3AD203B41FA5}">
                      <a16:colId xmlns:a16="http://schemas.microsoft.com/office/drawing/2014/main" val="2982123843"/>
                    </a:ext>
                  </a:extLst>
                </a:gridCol>
                <a:gridCol w="1213946">
                  <a:extLst>
                    <a:ext uri="{9D8B030D-6E8A-4147-A177-3AD203B41FA5}">
                      <a16:colId xmlns:a16="http://schemas.microsoft.com/office/drawing/2014/main" val="905214871"/>
                    </a:ext>
                  </a:extLst>
                </a:gridCol>
              </a:tblGrid>
              <a:tr h="462456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 :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 : After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03781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111627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9452181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189348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0260239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6806729"/>
                  </a:ext>
                </a:extLst>
              </a:tr>
            </a:tbl>
          </a:graphicData>
        </a:graphic>
      </p:graphicFrame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F0E50695-BDC5-0370-1DB9-2A32436F2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5848" y="1675557"/>
            <a:ext cx="4036690" cy="4213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45E9F79-29BB-4CDA-46A4-57558B564644}"/>
              </a:ext>
            </a:extLst>
          </p:cNvPr>
          <p:cNvSpPr txBox="1"/>
          <p:nvPr/>
        </p:nvSpPr>
        <p:spPr>
          <a:xfrm>
            <a:off x="1224455" y="2088587"/>
            <a:ext cx="41246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9 7 5 3 1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72070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60C2-3FE9-DE1C-F670-2471C6908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3A649AB-679F-53E7-0286-70971B8EF8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4934" y="1690688"/>
            <a:ext cx="4516662" cy="4142553"/>
          </a:xfrm>
        </p:spPr>
      </p:pic>
    </p:spTree>
    <p:extLst>
      <p:ext uri="{BB962C8B-B14F-4D97-AF65-F5344CB8AC3E}">
        <p14:creationId xmlns:p14="http://schemas.microsoft.com/office/powerpoint/2010/main" val="167432419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7532A-6F5A-F03B-491E-8D861097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84C87-8A76-0A64-FF44-67BE47DD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18AF0C-177A-2287-B125-733572E30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2 4 6 8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This program tried to sort</a:t>
            </a:r>
          </a:p>
          <a:p>
            <a:pPr>
              <a:buFontTx/>
              <a:buChar char="-"/>
            </a:pPr>
            <a:r>
              <a:rPr lang="en-US" dirty="0"/>
              <a:t>Already sorted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Nothing happens 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3A58DBF8-59D4-4A3D-CD6D-54C16CC7A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599" y="1825625"/>
            <a:ext cx="4212021" cy="38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797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DC7EA-2D17-DA29-7BE7-A16B9FCCE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7385F-E344-2CA5-16FD-C3C3301D0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175DD1A-FC8B-A807-42A0-48613AC903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8313" y="1690688"/>
            <a:ext cx="5064006" cy="4071609"/>
          </a:xfrm>
        </p:spPr>
      </p:pic>
    </p:spTree>
    <p:extLst>
      <p:ext uri="{BB962C8B-B14F-4D97-AF65-F5344CB8AC3E}">
        <p14:creationId xmlns:p14="http://schemas.microsoft.com/office/powerpoint/2010/main" val="196727512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586C3-3556-C4E4-2F98-34D72C0EF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613A8-03DC-CAC0-8256-B67ADE32A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127C6-BB4E-AE59-83D7-ECD64EB85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13</a:t>
            </a:r>
          </a:p>
          <a:p>
            <a:r>
              <a:rPr lang="en-US" dirty="0"/>
              <a:t>Add j only when (</a:t>
            </a:r>
            <a:r>
              <a:rPr lang="en-US" dirty="0" err="1"/>
              <a:t>i+j</a:t>
            </a:r>
            <a:r>
              <a:rPr lang="en-US" dirty="0"/>
              <a:t>) is even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 =1</a:t>
            </a:r>
          </a:p>
          <a:p>
            <a:pPr lvl="2"/>
            <a:r>
              <a:rPr lang="en-US" dirty="0"/>
              <a:t>j=1 → 2 (even) → +1 → sum=1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=2</a:t>
            </a:r>
          </a:p>
          <a:p>
            <a:pPr lvl="2"/>
            <a:r>
              <a:rPr lang="en-US" dirty="0"/>
              <a:t>j=1 → 3</a:t>
            </a:r>
          </a:p>
          <a:p>
            <a:pPr lvl="2"/>
            <a:r>
              <a:rPr lang="en-US" dirty="0"/>
              <a:t>j=2 → 4(even) → +2 → sum=3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=3</a:t>
            </a:r>
          </a:p>
          <a:p>
            <a:pPr lvl="2"/>
            <a:r>
              <a:rPr lang="en-US" dirty="0"/>
              <a:t>j=1 → 4 (even) → +1 → sum=4</a:t>
            </a:r>
          </a:p>
          <a:p>
            <a:pPr lvl="2"/>
            <a:r>
              <a:rPr lang="en-US" dirty="0"/>
              <a:t>j=2 → 5 (odd)</a:t>
            </a:r>
          </a:p>
          <a:p>
            <a:pPr lvl="2"/>
            <a:r>
              <a:rPr lang="en-US" dirty="0"/>
              <a:t>j=3 → 6 (even) → +3 → sum=7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=4</a:t>
            </a:r>
          </a:p>
          <a:p>
            <a:pPr lvl="2"/>
            <a:r>
              <a:rPr lang="en-US" dirty="0"/>
              <a:t>j=1 → 5 (odd)</a:t>
            </a:r>
          </a:p>
          <a:p>
            <a:pPr lvl="2"/>
            <a:r>
              <a:rPr lang="en-US" dirty="0"/>
              <a:t>j=2 → 6 (even) → +2 → sum=9</a:t>
            </a:r>
          </a:p>
          <a:p>
            <a:pPr lvl="2"/>
            <a:r>
              <a:rPr lang="en-US" dirty="0"/>
              <a:t>j=3 → 7 (odd)</a:t>
            </a:r>
          </a:p>
          <a:p>
            <a:pPr lvl="2"/>
            <a:r>
              <a:rPr lang="en-US" dirty="0"/>
              <a:t>j=4 → 8 (even) → +4 → sum=13</a:t>
            </a:r>
          </a:p>
          <a:p>
            <a:pPr lvl="2"/>
            <a:endParaRPr lang="en-US" dirty="0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AD373F5-91BE-5532-CE2F-4C5A2A454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6661" y="1990233"/>
            <a:ext cx="4855249" cy="390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3908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64A83-F873-72A7-C405-8ABD45D0B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868C33-D8B7-9D19-DBFD-BAAA6B1E4A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2788" y="1799728"/>
            <a:ext cx="4100645" cy="4563898"/>
          </a:xfrm>
        </p:spPr>
      </p:pic>
    </p:spTree>
    <p:extLst>
      <p:ext uri="{BB962C8B-B14F-4D97-AF65-F5344CB8AC3E}">
        <p14:creationId xmlns:p14="http://schemas.microsoft.com/office/powerpoint/2010/main" val="362232017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1A11-13A6-13EA-2BBF-E3F325435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073A9-D3A1-EA46-9965-88D807526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F4CA66-2E1D-A65D-96B1-7D63B9B63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</a:t>
            </a:r>
          </a:p>
          <a:p>
            <a:r>
              <a:rPr lang="en-US" dirty="0"/>
              <a:t>Count how many times A[</a:t>
            </a:r>
            <a:r>
              <a:rPr lang="en-US" dirty="0" err="1"/>
              <a:t>i</a:t>
            </a:r>
            <a:r>
              <a:rPr lang="en-US" dirty="0"/>
              <a:t>] &lt; A[j]</a:t>
            </a:r>
          </a:p>
          <a:p>
            <a:pPr lvl="1"/>
            <a:r>
              <a:rPr lang="it-IT" dirty="0"/>
              <a:t>1 &lt; 3,5,7 → 3</a:t>
            </a:r>
          </a:p>
          <a:p>
            <a:pPr lvl="1"/>
            <a:r>
              <a:rPr lang="it-IT" dirty="0"/>
              <a:t>3 &lt; 5,7 → 2</a:t>
            </a:r>
          </a:p>
          <a:p>
            <a:pPr lvl="1"/>
            <a:r>
              <a:rPr lang="it-IT" dirty="0"/>
              <a:t>5 &lt; 7 → 1</a:t>
            </a:r>
          </a:p>
          <a:p>
            <a:pPr lvl="1"/>
            <a:r>
              <a:rPr lang="it-IT" dirty="0"/>
              <a:t>7 &lt; none → 0</a:t>
            </a:r>
            <a:endParaRPr lang="en-US" dirty="0"/>
          </a:p>
          <a:p>
            <a:r>
              <a:rPr lang="en-US" dirty="0"/>
              <a:t>Total = 3 + 2 + 1 = 6</a:t>
            </a:r>
            <a:endParaRPr lang="it-IT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665AAB9F-0F4E-0B93-A910-68451237E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937" y="1690687"/>
            <a:ext cx="3909659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39507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58E75-5553-324F-5B48-028B76BBD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274CD-93BF-0487-A229-2394EC9B2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3C46BAF-D801-5E6F-3276-708F9CF1C9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1615" y="1616107"/>
            <a:ext cx="2220578" cy="474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85541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29693-7FD9-47E4-BA86-B97EB9408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C0844-6D66-B048-A14A-CE67FE9B5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DFC1A9-4F46-A34B-EC6F-15BA81F9E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5 2 1</a:t>
            </a:r>
          </a:p>
          <a:p>
            <a:pPr lvl="1"/>
            <a:r>
              <a:rPr lang="en-US" dirty="0"/>
              <a:t>Push 1,2,3,4</a:t>
            </a:r>
          </a:p>
          <a:p>
            <a:pPr lvl="1"/>
            <a:r>
              <a:rPr lang="en-US" dirty="0"/>
              <a:t>Pop twice </a:t>
            </a:r>
          </a:p>
          <a:p>
            <a:pPr lvl="2"/>
            <a:r>
              <a:rPr lang="en-US" dirty="0"/>
              <a:t>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1,2,3</a:t>
            </a:r>
          </a:p>
          <a:p>
            <a:pPr lvl="2"/>
            <a:r>
              <a:rPr lang="en-US" dirty="0"/>
              <a:t>3 </a:t>
            </a:r>
            <a:r>
              <a:rPr lang="en-US" dirty="0">
                <a:sym typeface="Wingdings" panose="05000000000000000000" pitchFamily="2" charset="2"/>
              </a:rPr>
              <a:t> 1,2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Push 5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1,2,5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Pop all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5,2,1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04979409-7BA8-5D3F-228C-B55060B2B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767" y="1690688"/>
            <a:ext cx="2039275" cy="435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0341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5AF1E-B94B-B679-DF50-9B417918A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80D29-E26E-CC89-ED61-E18E39F86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20711A-4624-D6E5-76BF-5063A92FA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5588" y="1690688"/>
            <a:ext cx="5122423" cy="4260795"/>
          </a:xfrm>
        </p:spPr>
      </p:pic>
    </p:spTree>
    <p:extLst>
      <p:ext uri="{BB962C8B-B14F-4D97-AF65-F5344CB8AC3E}">
        <p14:creationId xmlns:p14="http://schemas.microsoft.com/office/powerpoint/2010/main" val="38623285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978AA-FE52-CD93-522C-CD1CAD6E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D0B23-C7DE-7BD3-3432-914ED568A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</a:t>
            </a:r>
            <a:r>
              <a:rPr lang="en-US"/>
              <a:t>A6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1FF15-17C3-E624-760A-CCA518D19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1 2 3 4</a:t>
            </a:r>
          </a:p>
          <a:p>
            <a:pPr lvl="1"/>
            <a:r>
              <a:rPr lang="en-US" dirty="0"/>
              <a:t>Bubble sort</a:t>
            </a:r>
          </a:p>
          <a:p>
            <a:pPr lvl="2"/>
            <a:r>
              <a:rPr lang="en-US" dirty="0"/>
              <a:t>Pass 1 </a:t>
            </a:r>
            <a:r>
              <a:rPr lang="en-US" dirty="0">
                <a:sym typeface="Wingdings" panose="05000000000000000000" pitchFamily="2" charset="2"/>
              </a:rPr>
              <a:t> 1,3,2,4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2  1,2,3,4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3  (No Change)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4  (No Change)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481A62B2-389D-56BD-B428-9D0DBD6C1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3469" y="1943866"/>
            <a:ext cx="4660660" cy="387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83406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E7288-A3E9-2E4B-1CFA-A9FE653B6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 :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86A02-254A-2D1D-68EE-6C2694ACF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the green/woody kind </a:t>
            </a:r>
          </a:p>
          <a:p>
            <a:pPr lvl="1"/>
            <a:r>
              <a:rPr lang="en-US" dirty="0"/>
              <a:t>But they actually look like upside down trees </a:t>
            </a:r>
          </a:p>
          <a:p>
            <a:r>
              <a:rPr lang="en-US" dirty="0"/>
              <a:t>Trees are data structures that represents data in parent/child relationships</a:t>
            </a:r>
          </a:p>
          <a:p>
            <a:pPr lvl="1"/>
            <a:r>
              <a:rPr lang="en-US" dirty="0"/>
              <a:t>Start with a </a:t>
            </a:r>
            <a:r>
              <a:rPr lang="en-US" b="1" dirty="0"/>
              <a:t>root</a:t>
            </a:r>
            <a:r>
              <a:rPr lang="en-US" dirty="0"/>
              <a:t> node </a:t>
            </a:r>
          </a:p>
          <a:p>
            <a:pPr lvl="1"/>
            <a:r>
              <a:rPr lang="en-US" dirty="0"/>
              <a:t>(May) point to other nodes </a:t>
            </a:r>
          </a:p>
          <a:p>
            <a:pPr lvl="2"/>
            <a:r>
              <a:rPr lang="en-US" dirty="0"/>
              <a:t>This is </a:t>
            </a:r>
            <a:r>
              <a:rPr lang="en-US" b="1" dirty="0"/>
              <a:t>parent</a:t>
            </a:r>
            <a:r>
              <a:rPr lang="en-US" dirty="0"/>
              <a:t> pointing to </a:t>
            </a:r>
            <a:r>
              <a:rPr lang="en-US" b="1" dirty="0"/>
              <a:t>child</a:t>
            </a:r>
            <a:r>
              <a:rPr lang="en-US" dirty="0"/>
              <a:t> ( generally) or vice versa</a:t>
            </a:r>
          </a:p>
          <a:p>
            <a:pPr lvl="1"/>
            <a:r>
              <a:rPr lang="en-US" dirty="0"/>
              <a:t>The nodes with no children are </a:t>
            </a:r>
            <a:r>
              <a:rPr lang="en-US" b="1" dirty="0"/>
              <a:t>leaf</a:t>
            </a:r>
            <a:r>
              <a:rPr lang="en-US" dirty="0"/>
              <a:t> nodes</a:t>
            </a:r>
          </a:p>
        </p:txBody>
      </p:sp>
    </p:spTree>
    <p:extLst>
      <p:ext uri="{BB962C8B-B14F-4D97-AF65-F5344CB8AC3E}">
        <p14:creationId xmlns:p14="http://schemas.microsoft.com/office/powerpoint/2010/main" val="328698197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D1CE6-1DED-8A20-394D-424C73A11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Tree: Visuals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0807D5B-BD36-72DB-EF4C-02875547AB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429D248-619E-F8D5-1EB5-7C1366A17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87" y="2540719"/>
            <a:ext cx="8820603" cy="292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10347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8C887-3C8C-169D-F409-469D624A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: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B5F16-DAD5-744D-2F75-11549F6BE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Based on child count</a:t>
            </a:r>
          </a:p>
          <a:p>
            <a:pPr lvl="1"/>
            <a:r>
              <a:rPr lang="en-US" dirty="0"/>
              <a:t>Binary trees (most popular)</a:t>
            </a:r>
          </a:p>
          <a:p>
            <a:pPr lvl="2"/>
            <a:r>
              <a:rPr lang="en-US" dirty="0"/>
              <a:t>Each node max 2 children (</a:t>
            </a:r>
            <a:r>
              <a:rPr lang="en-US" dirty="0" err="1"/>
              <a:t>i.e</a:t>
            </a:r>
            <a:r>
              <a:rPr lang="en-US" dirty="0"/>
              <a:t> 0,1 or 2 )</a:t>
            </a:r>
          </a:p>
          <a:p>
            <a:pPr lvl="1"/>
            <a:r>
              <a:rPr lang="en-US" dirty="0"/>
              <a:t>Ternary trees</a:t>
            </a:r>
          </a:p>
          <a:p>
            <a:pPr lvl="2"/>
            <a:r>
              <a:rPr lang="en-US" dirty="0"/>
              <a:t>Max 3 children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ary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Max N children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6260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42CB8-C999-0471-92B1-89909ABF7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Trees: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502A5-1746-0B16-F272-087655FC8B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Based on data organization</a:t>
            </a:r>
          </a:p>
          <a:p>
            <a:pPr lvl="1"/>
            <a:r>
              <a:rPr lang="en-US" dirty="0"/>
              <a:t>Binary Tree</a:t>
            </a:r>
          </a:p>
          <a:p>
            <a:pPr lvl="2"/>
            <a:r>
              <a:rPr lang="en-US" dirty="0"/>
              <a:t>No organization requirement</a:t>
            </a:r>
          </a:p>
          <a:p>
            <a:pPr lvl="1"/>
            <a:r>
              <a:rPr lang="en-US" dirty="0"/>
              <a:t>Binary Search trees , </a:t>
            </a:r>
          </a:p>
          <a:p>
            <a:pPr lvl="2"/>
            <a:r>
              <a:rPr lang="en-US" dirty="0"/>
              <a:t>Left child is smaller ( or equal to) the root</a:t>
            </a:r>
          </a:p>
          <a:p>
            <a:pPr lvl="2"/>
            <a:r>
              <a:rPr lang="en-US" dirty="0"/>
              <a:t>Right child is bigger than the root</a:t>
            </a:r>
          </a:p>
          <a:p>
            <a:pPr lvl="1"/>
            <a:r>
              <a:rPr lang="en-US" b="1" dirty="0"/>
              <a:t>AVL tree </a:t>
            </a:r>
            <a:r>
              <a:rPr lang="en-US" dirty="0"/>
              <a:t>(Adelson-</a:t>
            </a:r>
            <a:r>
              <a:rPr lang="en-US" dirty="0" err="1"/>
              <a:t>Velsky</a:t>
            </a:r>
            <a:r>
              <a:rPr lang="en-US" dirty="0"/>
              <a:t> and Landis)</a:t>
            </a:r>
          </a:p>
          <a:p>
            <a:pPr lvl="2"/>
            <a:r>
              <a:rPr lang="en-US" dirty="0"/>
              <a:t>Binary search tree with limits on height </a:t>
            </a:r>
          </a:p>
          <a:p>
            <a:pPr lvl="2"/>
            <a:r>
              <a:rPr lang="en-US" dirty="0"/>
              <a:t>No one leaf can be more than a 1 distance </a:t>
            </a:r>
            <a:r>
              <a:rPr lang="en-US" dirty="0" err="1"/>
              <a:t>logner</a:t>
            </a:r>
            <a:r>
              <a:rPr lang="en-US" dirty="0"/>
              <a:t> than any other leaf node</a:t>
            </a:r>
          </a:p>
          <a:p>
            <a:pPr lvl="1"/>
            <a:r>
              <a:rPr lang="en-US" dirty="0"/>
              <a:t>Red black tree</a:t>
            </a:r>
          </a:p>
          <a:p>
            <a:pPr lvl="2"/>
            <a:r>
              <a:rPr lang="en-US" dirty="0"/>
              <a:t>A representation of AVL tree that color codes the nodes ( red/black) to organize info.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6276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DF003-F9A9-1475-DB83-84CB2D60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: Key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C6801-7726-EB38-A181-96B8F89CC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Root : there is only 1 root( 0 for empty tree)</a:t>
            </a:r>
          </a:p>
          <a:p>
            <a:r>
              <a:rPr lang="en-US" dirty="0"/>
              <a:t>Parent </a:t>
            </a:r>
          </a:p>
          <a:p>
            <a:pPr lvl="1"/>
            <a:r>
              <a:rPr lang="en-US" dirty="0"/>
              <a:t>All other nodes have one parent (except the root node)</a:t>
            </a:r>
          </a:p>
          <a:p>
            <a:r>
              <a:rPr lang="en-US" dirty="0"/>
              <a:t>Children </a:t>
            </a:r>
          </a:p>
          <a:p>
            <a:pPr lvl="1"/>
            <a:r>
              <a:rPr lang="en-US" dirty="0"/>
              <a:t>In Binary Tree : there can be at most 2 children</a:t>
            </a:r>
          </a:p>
          <a:p>
            <a:pPr lvl="1"/>
            <a:r>
              <a:rPr lang="en-US" dirty="0"/>
              <a:t>The 2 children are also referred as siblings</a:t>
            </a:r>
          </a:p>
          <a:p>
            <a:r>
              <a:rPr lang="en-US" dirty="0"/>
              <a:t>Leaf nodes : nodes with no children are leaf nodes</a:t>
            </a:r>
          </a:p>
          <a:p>
            <a:r>
              <a:rPr lang="en-US" dirty="0"/>
              <a:t>Height : the distance from the root to furthest leaf node is height of the tree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61391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96E64-3C52-4650-4748-F1D6527BB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 :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F3575-C8F7-080A-D3E0-6D7604D24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child must be smaller than or equal to the  parent</a:t>
            </a:r>
          </a:p>
          <a:p>
            <a:r>
              <a:rPr lang="en-US" dirty="0"/>
              <a:t>Right child must be larger than the parent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C87756-9D75-31B8-6253-ECE1FBD69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617" y="2768028"/>
            <a:ext cx="5164154" cy="3040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21075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1B119-127E-62DE-A543-B9405E529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Creation of a 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F40EE-91EE-F334-EACC-374919DC78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52, 18, 74, 5, 33, 61, 89, 25, 42, 67</a:t>
            </a:r>
          </a:p>
          <a:p>
            <a:pPr marL="0" indent="0">
              <a:buNone/>
            </a:pPr>
            <a:r>
              <a:rPr lang="en-US" dirty="0"/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579547-A6B0-EB11-4B61-2AEB9D57A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8015" y="2348917"/>
            <a:ext cx="6417578" cy="358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55667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9B443-40AD-BC01-446B-D41711F9C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 :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EE65A-AAAA-2D72-CFD9-35F9EE48E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tree for </a:t>
            </a:r>
          </a:p>
          <a:p>
            <a:pPr lvl="1"/>
            <a:r>
              <a:rPr lang="en-US" dirty="0"/>
              <a:t>S U P E R N A T U R A L </a:t>
            </a:r>
          </a:p>
          <a:p>
            <a:pPr lvl="1"/>
            <a:r>
              <a:rPr lang="en-US" dirty="0"/>
              <a:t>16  93  81  37  98  84 </a:t>
            </a:r>
          </a:p>
          <a:p>
            <a:pPr lvl="1"/>
            <a:r>
              <a:rPr lang="en-US" dirty="0"/>
              <a:t>0  9  2  6  2  3  5  1  4  2  9  7  6  8   9   2   7</a:t>
            </a:r>
          </a:p>
          <a:p>
            <a:pPr lvl="1"/>
            <a:r>
              <a:rPr lang="en-US" dirty="0"/>
              <a:t>C O N I O S I S</a:t>
            </a:r>
          </a:p>
          <a:p>
            <a:pPr lvl="1"/>
            <a:r>
              <a:rPr lang="en-US" dirty="0"/>
              <a:t>A L P H A B E T I C A L</a:t>
            </a:r>
          </a:p>
          <a:p>
            <a:pPr lvl="1"/>
            <a:r>
              <a:rPr lang="en-US" dirty="0"/>
              <a:t>M A T H E M A T I C S</a:t>
            </a:r>
          </a:p>
        </p:txBody>
      </p:sp>
    </p:spTree>
    <p:extLst>
      <p:ext uri="{BB962C8B-B14F-4D97-AF65-F5344CB8AC3E}">
        <p14:creationId xmlns:p14="http://schemas.microsoft.com/office/powerpoint/2010/main" val="27848395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4190</TotalTime>
  <Words>6436</Words>
  <Application>Microsoft Office PowerPoint</Application>
  <PresentationFormat>Widescreen</PresentationFormat>
  <Paragraphs>1243</Paragraphs>
  <Slides>108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8" baseType="lpstr">
      <vt:lpstr>Aptos</vt:lpstr>
      <vt:lpstr>Aptos Display</vt:lpstr>
      <vt:lpstr>Aptos Narrow</vt:lpstr>
      <vt:lpstr>Arial</vt:lpstr>
      <vt:lpstr>Bahnschrift SemiBold</vt:lpstr>
      <vt:lpstr>Cambria Math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Answers 4..6</vt:lpstr>
      <vt:lpstr>Answers 7..8</vt:lpstr>
      <vt:lpstr>What does this Program do ? Q1.</vt:lpstr>
      <vt:lpstr>What does this Program do ? A1.</vt:lpstr>
      <vt:lpstr>What does this Program do ? Q2.</vt:lpstr>
      <vt:lpstr>What does this Program do ? A2.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A5</vt:lpstr>
      <vt:lpstr>What does this Program do ? Q6</vt:lpstr>
      <vt:lpstr>What does this Program do ? A6</vt:lpstr>
      <vt:lpstr>What does this Program do ? Q7</vt:lpstr>
      <vt:lpstr>What does this Program do ? A7</vt:lpstr>
      <vt:lpstr>Boolean Logic/Algebra</vt:lpstr>
      <vt:lpstr>Truth Tables ( same as bitwise operations  easy)</vt:lpstr>
      <vt:lpstr>Some expressions</vt:lpstr>
      <vt:lpstr>Rules/Discovery</vt:lpstr>
      <vt:lpstr>Some more rules</vt:lpstr>
      <vt:lpstr>Do it yourself </vt:lpstr>
      <vt:lpstr>Solved (and named)</vt:lpstr>
      <vt:lpstr>Lets Simplify 1..4</vt:lpstr>
      <vt:lpstr>Lets Simplify 1..4 : answers</vt:lpstr>
      <vt:lpstr>Lets Simplify 5..11</vt:lpstr>
      <vt:lpstr>Lets Simplify 5..11 : answers</vt:lpstr>
      <vt:lpstr>Truth Tables/Expressions</vt:lpstr>
      <vt:lpstr>Expressions: Soln</vt:lpstr>
      <vt:lpstr>Expressions: Soln 1..4</vt:lpstr>
      <vt:lpstr>Expressions: Soln 5,6</vt:lpstr>
      <vt:lpstr>Expressions: Soln 5,6</vt:lpstr>
      <vt:lpstr>Programming Practice</vt:lpstr>
      <vt:lpstr>Data Structures : Queue</vt:lpstr>
      <vt:lpstr>Data Structures : Stack</vt:lpstr>
      <vt:lpstr>What does this program do ? Q1</vt:lpstr>
      <vt:lpstr>What does this program do ? A1</vt:lpstr>
      <vt:lpstr>What does this program do ? Q2</vt:lpstr>
      <vt:lpstr>What does this program do ? A2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Q5</vt:lpstr>
      <vt:lpstr>What does this program do ? Q6</vt:lpstr>
      <vt:lpstr>What does this program do ? A6</vt:lpstr>
      <vt:lpstr>Data structure : Trees</vt:lpstr>
      <vt:lpstr>Tree: Visuals </vt:lpstr>
      <vt:lpstr>Trees : types</vt:lpstr>
      <vt:lpstr>Trees: Types</vt:lpstr>
      <vt:lpstr>Binary Tree : Key terms</vt:lpstr>
      <vt:lpstr>Binary Search tree : Examples</vt:lpstr>
      <vt:lpstr>Creation of a BST</vt:lpstr>
      <vt:lpstr>Binary Search Tree : 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53</cp:revision>
  <dcterms:created xsi:type="dcterms:W3CDTF">2025-12-04T21:37:48Z</dcterms:created>
  <dcterms:modified xsi:type="dcterms:W3CDTF">2026-03-26T21:46:05Z</dcterms:modified>
</cp:coreProperties>
</file>