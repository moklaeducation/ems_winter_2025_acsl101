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3"/>
  </p:notesMasterIdLst>
  <p:sldIdLst>
    <p:sldId id="256" r:id="rId2"/>
    <p:sldId id="257" r:id="rId3"/>
    <p:sldId id="258" r:id="rId4"/>
    <p:sldId id="259" r:id="rId5"/>
    <p:sldId id="262" r:id="rId6"/>
    <p:sldId id="264" r:id="rId7"/>
    <p:sldId id="263" r:id="rId8"/>
    <p:sldId id="267" r:id="rId9"/>
    <p:sldId id="269" r:id="rId10"/>
    <p:sldId id="270" r:id="rId11"/>
    <p:sldId id="271" r:id="rId12"/>
    <p:sldId id="273" r:id="rId13"/>
    <p:sldId id="275" r:id="rId14"/>
    <p:sldId id="277" r:id="rId15"/>
    <p:sldId id="278" r:id="rId16"/>
    <p:sldId id="276" r:id="rId17"/>
    <p:sldId id="280" r:id="rId18"/>
    <p:sldId id="279" r:id="rId19"/>
    <p:sldId id="281" r:id="rId20"/>
    <p:sldId id="282" r:id="rId21"/>
    <p:sldId id="283" r:id="rId22"/>
    <p:sldId id="284" r:id="rId23"/>
    <p:sldId id="285" r:id="rId24"/>
    <p:sldId id="286" r:id="rId25"/>
    <p:sldId id="295" r:id="rId26"/>
    <p:sldId id="296" r:id="rId27"/>
    <p:sldId id="287" r:id="rId28"/>
    <p:sldId id="288" r:id="rId29"/>
    <p:sldId id="289" r:id="rId30"/>
    <p:sldId id="290" r:id="rId31"/>
    <p:sldId id="293" r:id="rId32"/>
    <p:sldId id="291" r:id="rId33"/>
    <p:sldId id="292" r:id="rId34"/>
    <p:sldId id="294" r:id="rId35"/>
    <p:sldId id="298" r:id="rId36"/>
    <p:sldId id="299" r:id="rId37"/>
    <p:sldId id="300" r:id="rId38"/>
    <p:sldId id="301" r:id="rId39"/>
    <p:sldId id="310" r:id="rId40"/>
    <p:sldId id="307" r:id="rId41"/>
    <p:sldId id="308" r:id="rId42"/>
    <p:sldId id="302" r:id="rId43"/>
    <p:sldId id="303" r:id="rId44"/>
    <p:sldId id="311" r:id="rId45"/>
    <p:sldId id="297" r:id="rId46"/>
    <p:sldId id="312" r:id="rId47"/>
    <p:sldId id="305" r:id="rId48"/>
    <p:sldId id="313" r:id="rId49"/>
    <p:sldId id="315" r:id="rId50"/>
    <p:sldId id="314" r:id="rId51"/>
    <p:sldId id="316" r:id="rId52"/>
    <p:sldId id="317" r:id="rId53"/>
    <p:sldId id="318" r:id="rId54"/>
    <p:sldId id="319" r:id="rId55"/>
    <p:sldId id="320" r:id="rId56"/>
    <p:sldId id="321" r:id="rId57"/>
    <p:sldId id="329" r:id="rId58"/>
    <p:sldId id="322" r:id="rId59"/>
    <p:sldId id="330" r:id="rId60"/>
    <p:sldId id="323" r:id="rId61"/>
    <p:sldId id="331" r:id="rId62"/>
    <p:sldId id="324" r:id="rId63"/>
    <p:sldId id="332" r:id="rId64"/>
    <p:sldId id="326" r:id="rId65"/>
    <p:sldId id="333" r:id="rId66"/>
    <p:sldId id="327" r:id="rId67"/>
    <p:sldId id="334" r:id="rId68"/>
    <p:sldId id="328" r:id="rId69"/>
    <p:sldId id="335" r:id="rId70"/>
    <p:sldId id="336" r:id="rId71"/>
    <p:sldId id="338" r:id="rId72"/>
    <p:sldId id="339" r:id="rId73"/>
    <p:sldId id="340" r:id="rId74"/>
    <p:sldId id="341" r:id="rId75"/>
    <p:sldId id="342" r:id="rId76"/>
    <p:sldId id="343" r:id="rId77"/>
    <p:sldId id="344" r:id="rId78"/>
    <p:sldId id="345" r:id="rId79"/>
    <p:sldId id="347" r:id="rId80"/>
    <p:sldId id="349" r:id="rId81"/>
    <p:sldId id="350" r:id="rId8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81" d="100"/>
          <a:sy n="81" d="100"/>
        </p:scale>
        <p:origin x="64" y="16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19:53.8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08.4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0 262 24575,'3'0'0,"0"1"0,-1-1 0,1 1 0,-1 0 0,1 0 0,-1 0 0,1 0 0,-1 0 0,4 3 0,16 6 0,-15-8 0,0-1 0,1 0 0,0 0 0,-1-1 0,1 0 0,-1-1 0,1 1 0,-1-1 0,1-1 0,9-2 0,1-3 0,1 0 0,26-17 0,-35 19 0,33-15 0,2 2 0,92-24 0,-70 23 0,-3 3 0,-45 12 0,-1 0 0,0-1 0,0-1 0,0-1 0,20-11 0,-25 11 0,0 0 0,1 0 0,0 2 0,0 0 0,1 0 0,-1 1 0,1 1 0,0 1 0,0 0 0,27 0 0,-37 2 0,9 1 0,0-1 0,0 0 0,0-1 0,-1-1 0,1 0 0,0-1 0,-1 0 0,14-6 0,-53 2-1365,14 4-5461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0.1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145 1 24575,'1'4'0,"0"0"0,1 0 0,0 0 0,-1 0 0,2 0 0,-1 0 0,0-1 0,1 1 0,0-1 0,-1 0 0,8 6 0,-7-7 0,0 0 0,0 0 0,1-1 0,-1 1 0,0-1 0,1 0 0,0 0 0,-1 0 0,1 0 0,-1-1 0,8 1 0,48-3 0,-28 0 0,-19 2 0,-4-1 0,-1 1 0,0 0 0,0 1 0,0 0 0,8 1 0,-13-1 0,0-1 0,-1 1 0,1 0 0,0 0 0,0 0 0,-1 0 0,1 0 0,-1 0 0,1 0 0,-1 0 0,0 0 0,1 1 0,-1-1 0,0 1 0,0-1 0,0 1 0,0-1 0,0 1 0,0 0 0,0-1 0,0 1 0,-1 0 0,1 0 0,0 2 0,0 0 0,-1-1 0,1 1 0,0 0 0,-1-1 0,0 1 0,0-1 0,0 1 0,0 0 0,-1-1 0,0 1 0,1 0 0,-1-1 0,0 1 0,-3 4 0,1-4 0,1 0 0,-1 0 0,0-1 0,-1 1 0,1-1 0,-1 0 0,1 0 0,-1 0 0,0 0 0,0-1 0,-5 3 0,-18 10 0,5-2 0,-2 0 0,0-1 0,-48 15 0,57-22 0,-1 1 0,2 1 0,-1 0 0,1 1 0,0 0 0,0 1 0,-22 20 0,0-1 0,35-27 27,1-1-59,-1 0 1,1 1-1,0-1 0,0 0 1,-1 1-1,1-1 0,0 0 1,0 0-1,-1 1 1,1-1-1,0 0 0,-1 0 1,1 0-1,0 1 0,-1-1 1,1 0-1,0 0 0,-1 0 1,1 0-1,-1 0 1,1 0-1,0 0 0,-1 0 1,1 0-1,0 0 0,-1 0 1,1 0-1,-1 0 0,1 0 1,0 0-1,-1 0 1,1 0-1,0-1 0,-1 1 1,1 0-1,0 0 0,-1 0 1,1 0-1,0-1 0,-1 1 1,1 0-1,0-1 1,-1 1-1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1.4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1 109 24575,'3'2'0,"0"0"0,1 0 0,-1-1 0,0 0 0,1 1 0,0-1 0,-1-1 0,1 1 0,0 0 0,-1-1 0,1 0 0,0 0 0,5 0 0,7 0 0,383 4 0,-385-5 0,216-3 0,-174-2 0,14 0 0,-54 5 0,0-1 0,-1 0 0,1-1 0,20-7 0,-20 5 0,-15 5 7,0 0-1,-1 0 0,1 0 1,-1 0-1,1-1 1,0 1-1,-1 0 0,1 0 1,-1-1-1,1 1 1,-1-1-1,1 1 1,-1 0-1,1-1 0,-1 1 1,1-1-1,-1 1 1,1-1-1,-1 1 0,0-1 1,1 1-1,-1-1 1,0 0-1,0 1 0,1-1 1,-1 1-1,0-1 1,0 0-1,0 1 0,0-1 1,0 0-1,0 1 1,0-1-1,0 0 0,0 1 1,0-1-1,0 1 1,0-1-1,0 0 0,-1 1 1,1-1-1,0 0 1,0 1-1,-1-1 1,1 1-1,0-1 0,-1 1 1,1-1-1,-1 0 1,-26-31-717,20 24-266,-11-12-5850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2.3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147 1 24575,'8'1'0,"-1"1"0,0 0 0,0 0 0,0 1 0,0 0 0,-1 0 0,1 1 0,-1-1 0,0 2 0,7 4 0,0 0 0,12 9 0,0 1 0,29 32 0,-5-5 0,-46-44 0,-1 0 0,1 0 0,-1 0 0,1 1 0,-1-1 0,0 1 0,0-1 0,3 6 0,-5-7 0,0 0 0,0-1 0,0 1 0,1 0 0,-1 0 0,0 0 0,0 0 0,-1-1 0,1 1 0,0 0 0,0 0 0,0 0 0,-1 0 0,1-1 0,0 1 0,-1 0 0,1 0 0,0-1 0,-1 1 0,1 0 0,-1-1 0,1 1 0,-1 0 0,0-1 0,1 1 0,-1-1 0,1 1 0,-1-1 0,0 1 0,0-1 0,1 0 0,-1 1 0,0-1 0,0 0 0,1 1 0,-3-1 0,-25 12 0,-2-2 0,0-1 0,0-1 0,-45 5 0,-36 10 0,87-18 0,17-4 0,-1 1 0,0 0 0,1 1 0,-1-1 0,-9 6 0,16-7 0,1-1 0,0 0-1,0 0 1,-1 0 0,1 0-1,0 0 1,0 0-1,-1 1 1,1-1 0,0 0-1,0 0 1,-1 0 0,1 0-1,0 0 1,-1 0 0,1 0-1,0 0 1,0 0 0,-1 0-1,1 0 1,0 0 0,-1-1-1,1 1 1,0 0 0,0 0-1,-1 0 1,1 0 0,0 0-1,0 0 1,-1-1 0,1 1-1,0 0 1,0 0-1,0 0 1,-1-1 0,1 1-1,0 0 1,0 0 0,0-1-1,0 1 1,0 0 0,-1 0-1,1-1 1,0 1 0,0 0-1,0 0 1,0-1 0,0 1-1,0 0 1,0-1 0,0 1-1,-2-5-1346,-3-4-5479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3.8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24575,'24'1'0,"0"1"0,0 1 0,0 2 0,-1 0 0,1 1 0,-1 1 0,0 1 0,-1 2 0,0 0 0,-1 1 0,0 1 0,39 29 0,-39-25 0,275 230 0,-281-234 0,1-1 0,1-1 0,-1 0 0,1-1 0,1-1 0,0 0 0,0-2 0,23 6 0,-31-9 0,0-2 0,19 2 0,-22-2 0,1-1 0,-1 1 0,0 0 0,1 1 0,-1 0 0,11 4 0,-22-9 21,1 1 0,0 0 1,0-1-1,0 0 0,0 1 0,1-1 0,-5-6 0,-4-4-1555,-5-4-5292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4.6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292 1 24575,'4'1'0,"1"0"0,-1 1 0,1-1 0,-1 1 0,0 0 0,1 1 0,-1-1 0,0 1 0,-1 0 0,1 0 0,0 0 0,-1 0 0,6 7 0,13 10 0,108 88 0,-106-89 0,-19-17 0,0 1 0,-1 0 0,0 1 0,0-1 0,0 1 0,5 7 0,-8-11 0,-1 1 0,0-1 0,0 1 0,0-1 0,0 1 0,0-1 0,0 1 0,0-1 0,0 1 0,0 0 0,0-1 0,0 1 0,0-1 0,-1 1 0,1-1 0,0 1 0,0-1 0,0 1 0,-1-1 0,1 1 0,0-1 0,-1 1 0,1-1 0,0 0 0,-1 1 0,1-1 0,-1 1 0,1-1 0,0 0 0,-1 1 0,1-1 0,-1 0 0,1 0 0,-1 1 0,1-1 0,-1 0 0,0 0 0,1 0 0,-2 0 0,-23 8 0,-97 15 0,-118 31 0,222-48 0,1 2 0,0 0 0,-27 18 0,24-14 0,-29 14 0,48-27-2,1 1-1,0-1 0,0 1 1,0-1-1,0 1 1,-1-1-1,1 1 1,0-1-1,0 1 0,0-1 1,0 1-1,0-1 1,0 1-1,1-1 0,-1 1 1,0-1-1,0 1 1,0-1-1,0 1 0,0-1 1,1 1-1,-1 0 1,0-1-1,1 0 0,0-4-1297,2-5-5526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653688-98A8-4F3B-A740-8E6568AE1BCB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216765-C83A-46F1-AE07-8E4F9D1EDA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643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91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CBE1C-5242-F3AB-FAB7-2C60DCC6B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2F9C86-8BD7-D89B-3647-1E2326E2F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D48978-E736-BB7A-C2B2-1C0F3412E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456E3B-A427-F36C-F340-20964451EB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636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 3 have outputs</a:t>
            </a:r>
            <a:br>
              <a:rPr lang="en-US" dirty="0"/>
            </a:br>
            <a:r>
              <a:rPr lang="en-US" dirty="0"/>
              <a:t>4,5,6 don’t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764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/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b="0" i="0">
                    <a:latin typeface="Cambria Math" panose="02040503050406030204" pitchFamily="18" charset="0"/>
                  </a:rPr>
                  <a:t>(𝐴+𝐵).(𝐴 ̅+𝐶)=𝐴𝐶+𝐴 ̅B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:r>
                  <a:rPr lang="en-US" b="0" i="0">
                    <a:latin typeface="Cambria Math" panose="02040503050406030204" pitchFamily="18" charset="0"/>
                  </a:rPr>
                  <a:t>        𝐴(𝐴 ̅+𝐵 )=𝐴.𝐵</a:t>
                </a:r>
                <a:endParaRPr lang="en-US" b="0" dirty="0"/>
              </a:p>
              <a:p>
                <a:pPr lvl="1"/>
                <a:r>
                  <a:rPr lang="en-US" b="0" i="0">
                    <a:latin typeface="Cambria Math" panose="02040503050406030204" pitchFamily="18" charset="0"/>
                  </a:rPr>
                  <a:t>𝐴+𝐴 ̅𝐵=𝐴+𝐵</a:t>
                </a:r>
                <a:endParaRPr lang="en-US" b="0" dirty="0"/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729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A952E-9927-1087-C198-76B6E2095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1C7705-C938-649D-740E-28D1AAD8C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DF9E5F5B-B72E-DD3D-016C-BFF5597DEF1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/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DF9E5F5B-B72E-DD3D-016C-BFF5597DEF1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b="0" i="0">
                    <a:latin typeface="Cambria Math" panose="02040503050406030204" pitchFamily="18" charset="0"/>
                  </a:rPr>
                  <a:t>(𝐴+𝐵).(𝐴 ̅+𝐶)=𝐴𝐶+𝐴 ̅B </a:t>
                </a:r>
                <a:br>
                  <a:rPr lang="en-US" b="0" i="0" dirty="0">
                    <a:latin typeface="Cambria Math" panose="02040503050406030204" pitchFamily="18" charset="0"/>
                  </a:rPr>
                </a:br>
                <a:r>
                  <a:rPr lang="en-US" b="0" i="0">
                    <a:latin typeface="Cambria Math" panose="02040503050406030204" pitchFamily="18" charset="0"/>
                  </a:rPr>
                  <a:t>        𝐴(𝐴 ̅+𝐵 )=𝐴.𝐵</a:t>
                </a:r>
                <a:endParaRPr lang="en-US" b="0" dirty="0"/>
              </a:p>
              <a:p>
                <a:pPr lvl="1"/>
                <a:r>
                  <a:rPr lang="en-US" b="0" i="0">
                    <a:latin typeface="Cambria Math" panose="02040503050406030204" pitchFamily="18" charset="0"/>
                  </a:rPr>
                  <a:t>𝐴+𝐴 ̅𝐵=𝐴+𝐵</a:t>
                </a:r>
                <a:endParaRPr lang="en-US" b="0" dirty="0"/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54519E-BC79-07F8-39D4-1C6BABAB4C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2880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0159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A094-8FF7-972C-BAAE-99F40FE451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70CA27-926A-40A9-EDE4-2642234DDA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30D44-6D9F-D9C9-934E-1B2403DE5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05128-3533-A992-8CE5-6E4766508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D845D-F098-341F-958A-B8E24683F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687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7C067-CC2D-34FB-4336-E199FD6B3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16F61-ED0C-EB25-5321-0FD580AC21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89DAA7-FC13-4D1B-F2BE-06D43C3DE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EE07BE-ED07-1C67-3D9B-6B9BA45F4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3BD72-AEC0-7574-D49B-C08E123A7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444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794D0-2554-CB82-AB44-3441BC67B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5B23FD-C516-9866-2CC2-FED8EB2965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B80210-F129-4B24-BB14-5C1B9B0B8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700D7-A769-FBA0-EDD4-4105D8EE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4F88D0-D023-1A82-19D9-E047FC1A3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933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D559F-866B-752C-3654-B5D2DB9D3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7DF7D-C812-5CB3-1058-5E6219DADC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64CD83-5F30-A379-A403-E36E37AED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FF4C34-5187-7189-8EAD-A28D8CBA5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469AC8-BFBE-6B74-CC5E-4CFEBAF0A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37E9D0-D50F-D112-BFBA-F3A9A82B5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619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28476-BEF9-77BC-A341-AB2955E35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EC7042-DA62-42AD-912A-980E24B30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EE5677-4D00-AC69-3257-B9F812B6CB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753C5D-745D-F3A9-45DB-2572599F8D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197C56-33AA-9D2A-8C22-C2E0B08076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61478C-3EB0-624A-5735-D6FD4830A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02A1B1-B3F1-F824-8324-AD2ABC1F9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392A1E-149A-8D8E-85BB-2C3594CF5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434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2D167-9FE6-5BAC-23F6-05A6E9E54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46D61-F4C2-06F0-3F32-A15D9AA76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3A2F24-5D1A-BA17-A501-616D683F2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EBBE9C-852C-5999-A647-D07EA01F1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827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4083C6-FF62-1742-AE64-F8ACE6B3F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CFB856-5B25-E3AD-2CBA-8DACEC0C8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7C541F-E44C-9BAD-6FC5-6EC82D2BE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857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12E7B-47C4-2F88-DB03-87C8C3C17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8C8A6-2420-D516-FA94-778076015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8546E0-93F8-BB16-02B5-FAEB313D3D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EDF9D7-AF07-D6FB-F398-ED3CB41D5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1F7F0F-B5E4-7897-2EDA-E97C70C1A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9BA672-AAA9-00A9-371B-B3880C875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29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A9CA6-C640-CC3B-25DC-E73171212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273641-12E1-7FCD-0ED4-22D9175693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73D13C-584D-2FD6-EA25-3D552F4A72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2E968-5D7A-9371-D1D3-36FDD53D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E847DA-3911-AC61-E16A-51E732C43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FEA42D-2EE6-D711-93FD-5F42F0D1F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74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8F60B-CBA3-4333-0D58-3E8CA758F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DDA668-22FB-DC28-8949-EFE202D976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816147-F5EE-D687-28FE-6ECFD36AC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E466BA-F157-13E0-8BDA-492CD6A19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6FE2B5-594A-A28E-F40D-F10FC014E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755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86B02F-69ED-609C-15A5-A27DC99306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AA4F67-0837-5751-2410-213CAAA0EE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6F4A0-3F80-3CF9-D997-9E0107E4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3662CD-1E71-D904-1EC7-EFCA94610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D5EC73-0654-2B9C-BE3D-9C78C3673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477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9F88F3-441E-6109-5B60-4720AB29F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1B489A-3C59-2749-430B-157F18F26F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6EE25-8FC0-3EC3-5765-380EE3A0C0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CB266D-A331-4A79-AB46-FEF40B16CF9B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55A1F-2039-2D50-C82D-36D1A6ADDC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99653-6689-0951-6610-A21828865A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35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customXml" Target="../ink/ink6.xml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6.png"/><Relationship Id="rId2" Type="http://schemas.openxmlformats.org/officeDocument/2006/relationships/hyperlink" Target="https://storage.googleapis.com/content-resources/Math%20unit%20guides/CCSS/CCSS%20Algebra%201/Unit%20guide%20_%20CCSS%20Algebra%201%20_%20Unit%208_%20Functions.pdf" TargetMode="Externa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customXml" Target="../ink/ink4.xml"/><Relationship Id="rId1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ritings.stephenwolfram.com/2024/09/nestedly-recursive-functions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ackerrank.com/domains/data-structures?filters%5Bsubdomains%5D%5B%5D=arrays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ackerrank.com/acsltest3practise" TargetMode="External"/><Relationship Id="rId2" Type="http://schemas.openxmlformats.org/officeDocument/2006/relationships/hyperlink" Target="https://www.hackerrank.com/acsltest2practise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B5DF9-A4F9-FA18-916B-B242CAADA4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Exploring Computer Science Concepts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68D661-0AFA-99D4-F749-4F399DEF60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Via ACSL Competitions</a:t>
            </a:r>
          </a:p>
        </p:txBody>
      </p:sp>
    </p:spTree>
    <p:extLst>
      <p:ext uri="{BB962C8B-B14F-4D97-AF65-F5344CB8AC3E}">
        <p14:creationId xmlns:p14="http://schemas.microsoft.com/office/powerpoint/2010/main" val="2777413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6A93-0DC5-C1EA-5F18-8E3BE1C1A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27B5AA-6F01-1B7B-3ADC-6E7DE1910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base 10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base 2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base 8</a:t>
            </a:r>
          </a:p>
          <a:p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base 16</a:t>
            </a:r>
          </a:p>
        </p:txBody>
      </p:sp>
    </p:spTree>
    <p:extLst>
      <p:ext uri="{BB962C8B-B14F-4D97-AF65-F5344CB8AC3E}">
        <p14:creationId xmlns:p14="http://schemas.microsoft.com/office/powerpoint/2010/main" val="1764282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10258-22AE-B1D6-966E-1DF59E8E4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Digits per 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EF3F30-4463-B560-E41B-9E2FFF0018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Ten digits </a:t>
            </a:r>
          </a:p>
          <a:p>
            <a:pPr lvl="1"/>
            <a:r>
              <a:rPr lang="en-US" dirty="0"/>
              <a:t>0 1 2 3 4 5 6 7 8 9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Two Digits</a:t>
            </a:r>
          </a:p>
          <a:p>
            <a:pPr lvl="1"/>
            <a:r>
              <a:rPr lang="en-US" dirty="0"/>
              <a:t>0 1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8 digits</a:t>
            </a:r>
          </a:p>
          <a:p>
            <a:pPr lvl="1"/>
            <a:r>
              <a:rPr lang="en-US" dirty="0"/>
              <a:t>0 1 2 3 4 5 6 7 </a:t>
            </a:r>
          </a:p>
          <a:p>
            <a:r>
              <a:rPr lang="en-US" dirty="0"/>
              <a:t>Hexadecimal </a:t>
            </a:r>
          </a:p>
          <a:p>
            <a:pPr lvl="1"/>
            <a:r>
              <a:rPr lang="en-US" dirty="0"/>
              <a:t>16 digits</a:t>
            </a:r>
          </a:p>
          <a:p>
            <a:pPr lvl="1"/>
            <a:r>
              <a:rPr lang="en-US" dirty="0"/>
              <a:t>0 1 2 3 4 5 6 7 8 9 A B C D E F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575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9AFF5-4CBA-4A8E-8480-C396D07AC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A6E79-FF3C-8801-7E97-9E6176DCC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Increment the lowest place value ( right most digit)</a:t>
            </a:r>
          </a:p>
          <a:p>
            <a:r>
              <a:rPr lang="en-US" dirty="0"/>
              <a:t>When last digit is reached</a:t>
            </a:r>
          </a:p>
          <a:p>
            <a:pPr lvl="1"/>
            <a:r>
              <a:rPr lang="en-US" dirty="0"/>
              <a:t>Set the current column to 0 </a:t>
            </a:r>
          </a:p>
          <a:p>
            <a:pPr lvl="1"/>
            <a:r>
              <a:rPr lang="en-US" dirty="0"/>
              <a:t>Increment the column on the left by 1</a:t>
            </a:r>
          </a:p>
          <a:p>
            <a:r>
              <a:rPr lang="en-US" dirty="0"/>
              <a:t>Lets count with decimal </a:t>
            </a:r>
          </a:p>
          <a:p>
            <a:pPr lvl="1"/>
            <a:r>
              <a:rPr lang="en-US" dirty="0"/>
              <a:t>0 to 10</a:t>
            </a:r>
          </a:p>
          <a:p>
            <a:pPr lvl="1"/>
            <a:r>
              <a:rPr lang="en-US" dirty="0"/>
              <a:t>95 to105</a:t>
            </a:r>
          </a:p>
          <a:p>
            <a:r>
              <a:rPr lang="en-US" dirty="0"/>
              <a:t>How frequently do we add a new digit ?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CE4FAB2-9F0E-284D-CEBB-CE9E304BA1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979008"/>
              </p:ext>
            </p:extLst>
          </p:nvPr>
        </p:nvGraphicFramePr>
        <p:xfrm>
          <a:off x="7266905" y="2324099"/>
          <a:ext cx="2862801" cy="3468504"/>
        </p:xfrm>
        <a:graphic>
          <a:graphicData uri="http://schemas.openxmlformats.org/drawingml/2006/table">
            <a:tbl>
              <a:tblPr/>
              <a:tblGrid>
                <a:gridCol w="1416643">
                  <a:extLst>
                    <a:ext uri="{9D8B030D-6E8A-4147-A177-3AD203B41FA5}">
                      <a16:colId xmlns:a16="http://schemas.microsoft.com/office/drawing/2014/main" val="3193197147"/>
                    </a:ext>
                  </a:extLst>
                </a:gridCol>
                <a:gridCol w="1446158">
                  <a:extLst>
                    <a:ext uri="{9D8B030D-6E8A-4147-A177-3AD203B41FA5}">
                      <a16:colId xmlns:a16="http://schemas.microsoft.com/office/drawing/2014/main" val="1376048237"/>
                    </a:ext>
                  </a:extLst>
                </a:gridCol>
              </a:tblGrid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139594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53262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758760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19259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19004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7509285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379438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0771007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70641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615702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60038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1181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5413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81C3D-9409-A178-58C3-4C72CCAFB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other 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73C8F-B7A4-E2F1-2733-967CFAD941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Counting in binary </a:t>
            </a:r>
          </a:p>
          <a:p>
            <a:pPr lvl="1"/>
            <a:r>
              <a:rPr lang="en-US" dirty="0"/>
              <a:t>We add a new digit frequently </a:t>
            </a:r>
          </a:p>
          <a:p>
            <a:pPr lvl="2"/>
            <a:r>
              <a:rPr lang="en-US" dirty="0"/>
              <a:t>At 2 , 4, 8, 16 … decimal values</a:t>
            </a:r>
          </a:p>
          <a:p>
            <a:r>
              <a:rPr lang="en-US" dirty="0"/>
              <a:t>Counting in Octal</a:t>
            </a:r>
          </a:p>
          <a:p>
            <a:pPr lvl="1"/>
            <a:r>
              <a:rPr lang="en-US" dirty="0"/>
              <a:t>We add a new digit at every</a:t>
            </a:r>
          </a:p>
          <a:p>
            <a:pPr lvl="2"/>
            <a:r>
              <a:rPr lang="en-US" dirty="0"/>
              <a:t>At 8, 64,128 …</a:t>
            </a:r>
          </a:p>
          <a:p>
            <a:r>
              <a:rPr lang="en-US" dirty="0"/>
              <a:t>Counting in </a:t>
            </a:r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We add a new digit at every </a:t>
            </a:r>
          </a:p>
          <a:p>
            <a:pPr lvl="2"/>
            <a:r>
              <a:rPr lang="en-US" dirty="0"/>
              <a:t>At 16, 256 … values</a:t>
            </a:r>
          </a:p>
          <a:p>
            <a:pPr lvl="2"/>
            <a:endParaRPr lang="en-US" dirty="0"/>
          </a:p>
          <a:p>
            <a:endParaRPr lang="en-US" baseline="30000" dirty="0"/>
          </a:p>
          <a:p>
            <a:pPr lvl="2"/>
            <a:endParaRPr lang="en-US" dirty="0"/>
          </a:p>
        </p:txBody>
      </p:sp>
      <p:graphicFrame>
        <p:nvGraphicFramePr>
          <p:cNvPr id="4" name="Content Placeholder 8">
            <a:extLst>
              <a:ext uri="{FF2B5EF4-FFF2-40B4-BE49-F238E27FC236}">
                <a16:creationId xmlns:a16="http://schemas.microsoft.com/office/drawing/2014/main" id="{E8E78130-726D-374A-AFCF-C54987DAD7D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4296934"/>
              </p:ext>
            </p:extLst>
          </p:nvPr>
        </p:nvGraphicFramePr>
        <p:xfrm>
          <a:off x="6723777" y="1825625"/>
          <a:ext cx="3938164" cy="3771719"/>
        </p:xfrm>
        <a:graphic>
          <a:graphicData uri="http://schemas.openxmlformats.org/drawingml/2006/table">
            <a:tbl>
              <a:tblPr/>
              <a:tblGrid>
                <a:gridCol w="984541">
                  <a:extLst>
                    <a:ext uri="{9D8B030D-6E8A-4147-A177-3AD203B41FA5}">
                      <a16:colId xmlns:a16="http://schemas.microsoft.com/office/drawing/2014/main" val="1475462977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1475054408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923081006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3248402632"/>
                    </a:ext>
                  </a:extLst>
                </a:gridCol>
              </a:tblGrid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Binary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Octal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HexaDecimal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05435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309703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237969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23485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202086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243755"/>
                  </a:ext>
                </a:extLst>
              </a:tr>
              <a:tr h="21802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699088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158523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285157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439330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27514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523302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645197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125880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717253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003022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3397521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 dirty="0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49224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434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9490B-DA55-CC9D-B2B9-C557BBD47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Place Values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7FFD3-8283-2BEB-7491-131EE4D26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</a:t>
            </a:r>
          </a:p>
          <a:p>
            <a:pPr lvl="1"/>
            <a:r>
              <a:rPr lang="en-US" i="1" dirty="0"/>
              <a:t>We deal in power of 10s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2452</a:t>
            </a:r>
            <a:r>
              <a:rPr lang="en-US" dirty="0"/>
              <a:t> =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1000</a:t>
            </a:r>
            <a:r>
              <a:rPr lang="en-US" dirty="0"/>
              <a:t> + 4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+ 5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</a:t>
            </a:r>
            <a:r>
              <a:rPr lang="en-US" dirty="0"/>
              <a:t> + 2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</a:t>
            </a:r>
            <a:r>
              <a:rPr lang="en-US" dirty="0"/>
              <a:t>    =                      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+ 0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 </a:t>
            </a:r>
            <a:r>
              <a:rPr lang="en-US" dirty="0"/>
              <a:t>+ 1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i="1" dirty="0"/>
              <a:t>We deal in power of 2s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111</a:t>
            </a:r>
            <a:r>
              <a:rPr lang="en-US" dirty="0"/>
              <a:t>   =               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1010 </a:t>
            </a:r>
            <a:r>
              <a:rPr lang="en-US" dirty="0"/>
              <a:t>=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8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5666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653AF-4DCF-5D83-F4FD-272465A13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binary </a:t>
            </a:r>
            <a:r>
              <a:rPr lang="en-US" dirty="0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D19918D-74D4-3820-44F9-8BBF95FA1A1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88250292"/>
              </p:ext>
            </p:extLst>
          </p:nvPr>
        </p:nvGraphicFramePr>
        <p:xfrm>
          <a:off x="838198" y="1501628"/>
          <a:ext cx="10642136" cy="4978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2452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2 x 10^3 = 2000</a:t>
                      </a:r>
                    </a:p>
                    <a:p>
                      <a:r>
                        <a:rPr lang="en-US" dirty="0"/>
                        <a:t>                   4 x 10^2 =    400</a:t>
                      </a:r>
                    </a:p>
                    <a:p>
                      <a:r>
                        <a:rPr lang="en-US" dirty="0"/>
                        <a:t>                   5 x 10^1 =       50  </a:t>
                      </a:r>
                    </a:p>
                    <a:p>
                      <a:r>
                        <a:rPr lang="en-US" dirty="0"/>
                        <a:t>                   2 x 10^0 =          2</a:t>
                      </a:r>
                    </a:p>
                    <a:p>
                      <a:r>
                        <a:rPr lang="en-US" dirty="0"/>
                        <a:t>                                      = 2452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2^2 = 1 x 4 =   4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2^1 = 1 x 2 =   2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2^0 = 1 x 1 =   1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                       =   7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10^2 =    100</a:t>
                      </a:r>
                    </a:p>
                    <a:p>
                      <a:r>
                        <a:rPr lang="en-US" dirty="0"/>
                        <a:t>                   0 x 10^1 =         0  </a:t>
                      </a:r>
                    </a:p>
                    <a:p>
                      <a:r>
                        <a:rPr lang="en-US" dirty="0"/>
                        <a:t>                   1 x 10^0 =          1</a:t>
                      </a:r>
                    </a:p>
                    <a:p>
                      <a:r>
                        <a:rPr lang="en-US" dirty="0"/>
                        <a:t>                                      =    101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1 x 2^ 3 = 1 x 8 =   8</a:t>
                      </a:r>
                    </a:p>
                    <a:p>
                      <a:r>
                        <a:rPr lang="en-US" dirty="0"/>
                        <a:t>            0 x 2^ 2 = 0 x 4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1 x 2^ 1 = 0 x 2 =   2</a:t>
                      </a:r>
                      <a:br>
                        <a:rPr lang="en-US" dirty="0"/>
                      </a:br>
                      <a:r>
                        <a:rPr lang="en-US" dirty="0"/>
                        <a:t>            0 x 2^ 0 = 0 x 1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                               =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1000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858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45474-E3A9-E1C2-833E-1CEBF32A4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Binary to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E40F9-9581-C2BC-5B88-6F1FA10EB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1      0      0     1      0      0     1   =     64 + 16 + 1 = 81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0       0      0     0      1      1     1   = 128 + 4 + 2 + 1 = 135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1       1      0      0     0     0     0     = ?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C0A94F0-7818-1B6D-64C3-C894020E204C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3777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90C36-D410-83DF-929D-84FA7D541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B1B7D-BAC5-FEE4-4486-F4E90BC4D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Binary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0CBA1-A2D0-1059-8DA4-FA156A007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22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33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130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8BE95D4-FCA2-7AB1-568B-79F46AD9C1FF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5915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2429B-6C6D-B1C6-ECE1-CB36B6B5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0DA09-B148-4228-9B76-3FA17F9BB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binary </a:t>
            </a:r>
          </a:p>
          <a:p>
            <a:pPr lvl="1"/>
            <a:r>
              <a:rPr lang="en-US" dirty="0"/>
              <a:t>127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128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129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Binary numbers to Decimal</a:t>
            </a:r>
          </a:p>
          <a:p>
            <a:pPr lvl="1"/>
            <a:r>
              <a:rPr lang="en-US" dirty="0"/>
              <a:t>101101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0110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82401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03946-F61B-42B0-4D7C-AAF0808EB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3C2EE-2437-1760-3168-B24BD6AF9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binary addition and subtraction work ?</a:t>
            </a:r>
          </a:p>
        </p:txBody>
      </p:sp>
    </p:spTree>
    <p:extLst>
      <p:ext uri="{BB962C8B-B14F-4D97-AF65-F5344CB8AC3E}">
        <p14:creationId xmlns:p14="http://schemas.microsoft.com/office/powerpoint/2010/main" val="20177007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7C36A-D445-ACDC-D463-8E79266F1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C0B8B-27E7-8109-A350-5C882F253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</a:t>
            </a:r>
            <a:r>
              <a:rPr lang="en-US" dirty="0" err="1"/>
              <a:t>octal,hexadecimal</a:t>
            </a:r>
            <a:r>
              <a:rPr lang="en-US" dirty="0" err="1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4A2D640-C25D-13E6-D0E4-1BE5615BB99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1214255"/>
              </p:ext>
            </p:extLst>
          </p:nvPr>
        </p:nvGraphicFramePr>
        <p:xfrm>
          <a:off x="838198" y="1501628"/>
          <a:ext cx="10642136" cy="47943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Octal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HexaDecimal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777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7 x 8^2 = 7 x 64 = 448 </a:t>
                      </a:r>
                    </a:p>
                    <a:p>
                      <a:r>
                        <a:rPr lang="en-US" dirty="0"/>
                        <a:t>                   7 x 8^1 = 7 x    8 =    56</a:t>
                      </a:r>
                    </a:p>
                    <a:p>
                      <a:r>
                        <a:rPr lang="en-US" dirty="0"/>
                        <a:t>                   7 x 8^0 = 7 x    1 =       7</a:t>
                      </a:r>
                    </a:p>
                    <a:p>
                      <a:r>
                        <a:rPr lang="en-US" dirty="0"/>
                        <a:t>                                                    =  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2AB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2</a:t>
                      </a:r>
                      <a:r>
                        <a:rPr lang="en-US" dirty="0"/>
                        <a:t> x 16^2 =    2 x 256 = 512 </a:t>
                      </a:r>
                    </a:p>
                    <a:p>
                      <a:r>
                        <a:rPr lang="en-US" dirty="0"/>
                        <a:t>                   A x 16^1 = 10 x    16 = 160</a:t>
                      </a:r>
                    </a:p>
                    <a:p>
                      <a:r>
                        <a:rPr lang="en-US" dirty="0"/>
                        <a:t>                   B x 16^0 = 11 x       1 =    11</a:t>
                      </a:r>
                    </a:p>
                    <a:p>
                      <a:r>
                        <a:rPr lang="en-US" dirty="0"/>
                        <a:t>                                                             =  683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137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8^2 = 1 x 64 =  64 </a:t>
                      </a:r>
                    </a:p>
                    <a:p>
                      <a:r>
                        <a:rPr lang="en-US" dirty="0"/>
                        <a:t>                   3 x 8^1 = 3 x    8 =  24</a:t>
                      </a:r>
                    </a:p>
                    <a:p>
                      <a:r>
                        <a:rPr lang="en-US" dirty="0"/>
                        <a:t>                   7 x 8^0 = 7 x    1 =     7</a:t>
                      </a:r>
                    </a:p>
                    <a:p>
                      <a:r>
                        <a:rPr lang="en-US" dirty="0"/>
                        <a:t>                                                    =  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     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1</a:t>
                      </a:r>
                      <a:r>
                        <a:rPr lang="en-US" dirty="0"/>
                        <a:t> x 16^2 =    1 x 256 = 256 </a:t>
                      </a:r>
                    </a:p>
                    <a:p>
                      <a:r>
                        <a:rPr lang="en-US" dirty="0"/>
                        <a:t>                   0 x 16^1 =    0 x    16 =       0</a:t>
                      </a:r>
                    </a:p>
                    <a:p>
                      <a:r>
                        <a:rPr lang="en-US" dirty="0"/>
                        <a:t>                   1 x 16^0 =    1 x       1 =       1</a:t>
                      </a:r>
                    </a:p>
                    <a:p>
                      <a:r>
                        <a:rPr lang="en-US" dirty="0"/>
                        <a:t>                                                             = 257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  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4A3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4112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B1EAA-B8DD-26EC-19FF-8608881D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DFBE1-1F09-4E5C-D356-458DFA421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Octal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1B172-61D5-6887-D73A-F28BD6074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8    quotient : 39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39 / 8    quotient :    4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4 / 8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4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470)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8    quotient : 14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14 / 8    quotient :    1   , Remainder 6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 1 / 8 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(160)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2234949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D12BF-ADDA-0C33-F381-FCCB19EDC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732C9-397E-270E-3178-40150E971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E31D5-323B-E1FF-6193-D91249E243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Octal</a:t>
            </a:r>
          </a:p>
          <a:p>
            <a:pPr lvl="1"/>
            <a:r>
              <a:rPr lang="en-US" dirty="0"/>
              <a:t>111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88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511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512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513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Octal numbers to Decimal</a:t>
            </a:r>
          </a:p>
          <a:p>
            <a:pPr lvl="1"/>
            <a:r>
              <a:rPr lang="en-US" dirty="0"/>
              <a:t>45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77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79725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A6EE4-432F-5935-FB55-C980748F4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81EAC-639E-4B61-800D-0736AC708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Hexadecimal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5F8D8-D8F2-9044-6B8D-B583A4F81A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16    quotient : 19   , Remainder 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19 / 16    quotient :    1   , Remainder 3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1 / 16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138)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16    quotient :    7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  7 / 16    quotient :    0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4050805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DA0DF-0428-A16C-932D-6D90D9749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Hexadecimal </a:t>
            </a:r>
            <a:r>
              <a:rPr lang="en-US" dirty="0">
                <a:sym typeface="Wingdings" panose="05000000000000000000" pitchFamily="2" charset="2"/>
              </a:rPr>
              <a:t> Octal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7D1FC0-0FC1-E666-D418-54A07F448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(AC)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16 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 //Replace </a:t>
            </a:r>
            <a:r>
              <a:rPr lang="en-US" dirty="0" err="1">
                <a:sym typeface="Wingdings" panose="05000000000000000000" pitchFamily="2" charset="2"/>
              </a:rPr>
              <a:t>hexa</a:t>
            </a:r>
            <a:r>
              <a:rPr lang="en-US" dirty="0">
                <a:sym typeface="Wingdings" panose="05000000000000000000" pitchFamily="2" charset="2"/>
              </a:rPr>
              <a:t> with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1010 1100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010 101 100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3s , added extra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br>
              <a:rPr lang="en-US" dirty="0">
                <a:sym typeface="Wingdings" panose="05000000000000000000" pitchFamily="2" charset="2"/>
              </a:rPr>
            </a:b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/>
              <a:t>(1EF)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0001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256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16 + (1111) x 1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(0001 1110 1111)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strike="sngStrike" dirty="0">
                <a:sym typeface="Wingdings" panose="05000000000000000000" pitchFamily="2" charset="2"/>
              </a:rPr>
              <a:t>000</a:t>
            </a:r>
            <a:r>
              <a:rPr lang="en-US" dirty="0">
                <a:sym typeface="Wingdings" panose="05000000000000000000" pitchFamily="2" charset="2"/>
              </a:rPr>
              <a:t> 111 101 111)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 , removed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89231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7F378-FBC4-B785-4606-55327891B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Octal </a:t>
            </a:r>
            <a:r>
              <a:rPr lang="en-US" dirty="0">
                <a:sym typeface="Wingdings" panose="05000000000000000000" pitchFamily="2" charset="2"/>
              </a:rPr>
              <a:t> Hexadecimal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9DCD8-512B-7888-2854-B8DFA4AED5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</a:p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04834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7E173-48F1-8AE4-B589-9212969F0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4FDA8-A7C8-160E-58B2-F46D3A27F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E79C7-6903-EF1D-ABED-3A14B271B6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Convert following Decimal numbers to </a:t>
            </a:r>
            <a:r>
              <a:rPr lang="en-US" dirty="0" err="1"/>
              <a:t>HexaDecimal</a:t>
            </a:r>
            <a:r>
              <a:rPr lang="en-US" dirty="0"/>
              <a:t>/Octal</a:t>
            </a:r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257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</a:t>
            </a:r>
            <a:r>
              <a:rPr lang="en-US" dirty="0" err="1"/>
              <a:t>HexaDecimal</a:t>
            </a:r>
            <a:r>
              <a:rPr lang="en-US" dirty="0"/>
              <a:t> numbers to Decimal, Octal</a:t>
            </a:r>
          </a:p>
          <a:p>
            <a:pPr lvl="1"/>
            <a:r>
              <a:rPr lang="en-US" dirty="0"/>
              <a:t>99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5874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F8B1A-215C-B042-EA28-08D3F948D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 : programming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A67A3-EB34-AD47-4E4D-D1BF4F6A5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factorial</a:t>
            </a:r>
          </a:p>
          <a:p>
            <a:pPr lvl="1"/>
            <a:r>
              <a:rPr lang="en-US" dirty="0"/>
              <a:t>5! = 5 x 4 x 3 x 2 x 1 = </a:t>
            </a:r>
            <a:r>
              <a:rPr lang="en-US" b="1" dirty="0"/>
              <a:t>120</a:t>
            </a:r>
          </a:p>
          <a:p>
            <a:pPr lvl="1"/>
            <a:r>
              <a:rPr lang="en-US" dirty="0"/>
              <a:t>2! = </a:t>
            </a:r>
            <a:r>
              <a:rPr lang="en-US" b="1" dirty="0"/>
              <a:t>2</a:t>
            </a:r>
          </a:p>
          <a:p>
            <a:r>
              <a:rPr lang="en-US" dirty="0"/>
              <a:t>Provide sum of Fibonacci numbers using recursion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(13) </a:t>
            </a:r>
          </a:p>
          <a:p>
            <a:pPr lvl="2"/>
            <a:r>
              <a:rPr lang="en-US" dirty="0"/>
              <a:t>0 + 1 + 1 + 2 + 3 + 5 + 8 + 13  = </a:t>
            </a:r>
            <a:r>
              <a:rPr lang="en-US" b="1" dirty="0"/>
              <a:t>33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(3)</a:t>
            </a:r>
          </a:p>
          <a:p>
            <a:pPr lvl="2"/>
            <a:r>
              <a:rPr lang="en-US" dirty="0"/>
              <a:t>0 + 1 + 1 + 2 + 3 = </a:t>
            </a:r>
            <a:r>
              <a:rPr lang="en-US" b="1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6974645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35361-C439-F244-59BE-387062C3B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D45C0-F44A-0C13-FFC8-529E49204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: connection/mapping between elements of two or more sets, Some characteristics …</a:t>
            </a:r>
          </a:p>
          <a:p>
            <a:pPr lvl="1"/>
            <a:r>
              <a:rPr lang="en-US" dirty="0"/>
              <a:t>It is a </a:t>
            </a:r>
            <a:r>
              <a:rPr lang="en-US" b="1" dirty="0"/>
              <a:t>mapping</a:t>
            </a:r>
            <a:r>
              <a:rPr lang="en-US" dirty="0"/>
              <a:t> as </a:t>
            </a:r>
            <a:r>
              <a:rPr lang="en-US" i="1" dirty="0"/>
              <a:t>shown in figure</a:t>
            </a:r>
          </a:p>
          <a:p>
            <a:pPr lvl="1"/>
            <a:r>
              <a:rPr lang="en-US" dirty="0"/>
              <a:t>Can be written as </a:t>
            </a:r>
            <a:r>
              <a:rPr lang="en-US" b="1" dirty="0"/>
              <a:t>Ordered pairs </a:t>
            </a:r>
          </a:p>
          <a:p>
            <a:pPr lvl="2"/>
            <a:r>
              <a:rPr lang="en-US" dirty="0"/>
              <a:t>{(1,c), (2,n),(5,a),(7,n)}</a:t>
            </a:r>
          </a:p>
          <a:p>
            <a:pPr lvl="1"/>
            <a:r>
              <a:rPr lang="en-US" dirty="0"/>
              <a:t>Not always unique</a:t>
            </a:r>
          </a:p>
          <a:p>
            <a:pPr lvl="2"/>
            <a:r>
              <a:rPr lang="en-US" dirty="0"/>
              <a:t>E.g. y</a:t>
            </a:r>
            <a:r>
              <a:rPr lang="en-US" baseline="30000" dirty="0"/>
              <a:t>2</a:t>
            </a:r>
            <a:r>
              <a:rPr lang="en-US" dirty="0"/>
              <a:t> = 4 has multiple solutions (how many?)</a:t>
            </a:r>
          </a:p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Numerical relationship : 4+3 = 7</a:t>
            </a:r>
          </a:p>
          <a:p>
            <a:pPr lvl="1"/>
            <a:r>
              <a:rPr lang="en-US" dirty="0"/>
              <a:t>Equation : y = 2x+3</a:t>
            </a:r>
          </a:p>
          <a:p>
            <a:pPr lvl="1"/>
            <a:r>
              <a:rPr lang="en-US" dirty="0"/>
              <a:t>Geometry : two congruent triangles</a:t>
            </a:r>
          </a:p>
          <a:p>
            <a:pPr lvl="1"/>
            <a:r>
              <a:rPr lang="en-US" dirty="0"/>
              <a:t>Set theory : A is a subset of B </a:t>
            </a:r>
          </a:p>
          <a:p>
            <a:pPr lvl="2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6BF3F3-E264-E655-5183-8CDB033A4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624" y="2247774"/>
            <a:ext cx="3429176" cy="1790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1120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656C5-174E-2FB6-65E4-CA2111D70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, mathematical kind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4E198-62A9-A7DA-7EB7-D2E9BE70DA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that gives exactly </a:t>
            </a:r>
            <a:r>
              <a:rPr lang="en-US" b="1" dirty="0"/>
              <a:t>one unique output for each input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  y     :this is a function as you always get one answer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              :Not a function as you get multiple answers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/>
              <a:t>Representation </a:t>
            </a:r>
          </a:p>
          <a:p>
            <a:pPr lvl="1"/>
            <a:r>
              <a:rPr lang="en-US" dirty="0"/>
              <a:t>f(x)  = 2x+1 : this is a function </a:t>
            </a:r>
          </a:p>
          <a:p>
            <a:pPr lvl="1"/>
            <a:r>
              <a:rPr lang="en-US" dirty="0"/>
              <a:t>g(x) = ± 3x  : this is </a:t>
            </a:r>
            <a:r>
              <a:rPr lang="en-US" b="1" dirty="0"/>
              <a:t>not </a:t>
            </a:r>
            <a:r>
              <a:rPr lang="en-US" dirty="0"/>
              <a:t>a function , why?</a:t>
            </a:r>
          </a:p>
          <a:p>
            <a:r>
              <a:rPr lang="en-US" dirty="0"/>
              <a:t>Follow up reading </a:t>
            </a:r>
            <a:r>
              <a:rPr lang="en-US" sz="1600" dirty="0"/>
              <a:t>(optional)</a:t>
            </a:r>
            <a:r>
              <a:rPr lang="en-US" dirty="0"/>
              <a:t>: </a:t>
            </a:r>
            <a:r>
              <a:rPr lang="en-US" dirty="0" err="1"/>
              <a:t>pg</a:t>
            </a:r>
            <a:r>
              <a:rPr lang="en-US" dirty="0"/>
              <a:t> 11-13 : </a:t>
            </a:r>
            <a:r>
              <a:rPr lang="en-US" dirty="0">
                <a:hlinkClick r:id="rId2"/>
              </a:rPr>
              <a:t>functions</a:t>
            </a:r>
            <a:endParaRPr lang="en-US" dirty="0"/>
          </a:p>
          <a:p>
            <a:endParaRPr lang="en-US" b="1" dirty="0"/>
          </a:p>
          <a:p>
            <a:pPr lvl="1"/>
            <a:endParaRPr lang="en-US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151C7A-8B6C-8009-415E-F91BB003110A}"/>
              </a:ext>
            </a:extLst>
          </p:cNvPr>
          <p:cNvSpPr/>
          <p:nvPr/>
        </p:nvSpPr>
        <p:spPr>
          <a:xfrm>
            <a:off x="1838880" y="234828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6B4BE5-A952-1A8B-54BC-63ED314339FD}"/>
              </a:ext>
            </a:extLst>
          </p:cNvPr>
          <p:cNvSpPr txBox="1"/>
          <p:nvPr/>
        </p:nvSpPr>
        <p:spPr>
          <a:xfrm>
            <a:off x="1860641" y="2348280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9EF14B-CA2E-6982-AF5C-489BC285D936}"/>
              </a:ext>
            </a:extLst>
          </p:cNvPr>
          <p:cNvSpPr txBox="1"/>
          <p:nvPr/>
        </p:nvSpPr>
        <p:spPr>
          <a:xfrm>
            <a:off x="1838880" y="2882925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40DAEC3-6CB2-B53A-492C-9AF9FB397D56}"/>
              </a:ext>
            </a:extLst>
          </p:cNvPr>
          <p:cNvSpPr/>
          <p:nvPr/>
        </p:nvSpPr>
        <p:spPr>
          <a:xfrm>
            <a:off x="1842120" y="290916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14:cNvPr>
              <p14:cNvContentPartPr/>
              <p14:nvPr/>
            </p14:nvContentPartPr>
            <p14:xfrm>
              <a:off x="2936679" y="2998246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927679" y="2989246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9C0F5BCF-D0F2-30A7-9946-861FA1711ABA}"/>
              </a:ext>
            </a:extLst>
          </p:cNvPr>
          <p:cNvGrpSpPr/>
          <p:nvPr/>
        </p:nvGrpSpPr>
        <p:grpSpPr>
          <a:xfrm>
            <a:off x="2721039" y="2857126"/>
            <a:ext cx="445320" cy="303840"/>
            <a:chOff x="2721039" y="2857126"/>
            <a:chExt cx="445320" cy="30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14:cNvPr>
                <p14:cNvContentPartPr/>
                <p14:nvPr/>
              </p14:nvContentPartPr>
              <p14:xfrm>
                <a:off x="2721039" y="2908246"/>
                <a:ext cx="376920" cy="104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712039" y="2899246"/>
                  <a:ext cx="3945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14:cNvPr>
                <p14:cNvContentPartPr/>
                <p14:nvPr/>
              </p14:nvContentPartPr>
              <p14:xfrm>
                <a:off x="2985639" y="2857126"/>
                <a:ext cx="149040" cy="141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976639" y="2848486"/>
                  <a:ext cx="1666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14:cNvPr>
                <p14:cNvContentPartPr/>
                <p14:nvPr/>
              </p14:nvContentPartPr>
              <p14:xfrm>
                <a:off x="2769279" y="3081766"/>
                <a:ext cx="349200" cy="45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760639" y="3073126"/>
                  <a:ext cx="3668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14:cNvPr>
                <p14:cNvContentPartPr/>
                <p14:nvPr/>
              </p14:nvContentPartPr>
              <p14:xfrm>
                <a:off x="3015519" y="3041806"/>
                <a:ext cx="150840" cy="119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006879" y="3033166"/>
                  <a:ext cx="16848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FCD7125-712B-D955-04CB-A6D6EA861E7E}"/>
              </a:ext>
            </a:extLst>
          </p:cNvPr>
          <p:cNvGrpSpPr/>
          <p:nvPr/>
        </p:nvGrpSpPr>
        <p:grpSpPr>
          <a:xfrm>
            <a:off x="2769279" y="3244126"/>
            <a:ext cx="389520" cy="255240"/>
            <a:chOff x="2769279" y="3244126"/>
            <a:chExt cx="389520" cy="25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14:cNvPr>
                <p14:cNvContentPartPr/>
                <p14:nvPr/>
              </p14:nvContentPartPr>
              <p14:xfrm>
                <a:off x="2769279" y="3244126"/>
                <a:ext cx="338400" cy="176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760639" y="3235126"/>
                  <a:ext cx="3560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14:cNvPr>
                <p14:cNvContentPartPr/>
                <p14:nvPr/>
              </p14:nvContentPartPr>
              <p14:xfrm>
                <a:off x="2954679" y="3353926"/>
                <a:ext cx="204120" cy="145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45679" y="3345286"/>
                  <a:ext cx="221760" cy="1630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80D0CA2-9126-FD7A-E450-E50AFF13D531}"/>
              </a:ext>
            </a:extLst>
          </p:cNvPr>
          <p:cNvSpPr txBox="1"/>
          <p:nvPr/>
        </p:nvSpPr>
        <p:spPr>
          <a:xfrm>
            <a:off x="3201639" y="2714040"/>
            <a:ext cx="5275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</a:t>
            </a:r>
          </a:p>
          <a:p>
            <a:r>
              <a:rPr lang="en-US" dirty="0"/>
              <a:t>b</a:t>
            </a:r>
          </a:p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7757691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02945-0AC2-97D6-21F3-4A5D08BD2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889C3-04D9-9556-4A46-311203061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Solving </a:t>
            </a:r>
          </a:p>
          <a:p>
            <a:pPr lvl="1"/>
            <a:r>
              <a:rPr lang="en-US" dirty="0"/>
              <a:t>Substitute variables with numerals</a:t>
            </a:r>
          </a:p>
          <a:p>
            <a:pPr lvl="1"/>
            <a:r>
              <a:rPr lang="en-US" dirty="0"/>
              <a:t>Evaluate</a:t>
            </a:r>
          </a:p>
          <a:p>
            <a:pPr lvl="2"/>
            <a:r>
              <a:rPr lang="en-US" dirty="0"/>
              <a:t>Follow PEMDAS/BODMAS</a:t>
            </a:r>
          </a:p>
          <a:p>
            <a:r>
              <a:rPr lang="en-US" dirty="0"/>
              <a:t>Solve for x = 0,1,2,3</a:t>
            </a:r>
          </a:p>
          <a:p>
            <a:pPr lvl="1"/>
            <a:r>
              <a:rPr lang="en-US" dirty="0"/>
              <a:t>f(x) = 3x + 1</a:t>
            </a:r>
          </a:p>
          <a:p>
            <a:pPr lvl="1"/>
            <a:r>
              <a:rPr lang="en-US" dirty="0"/>
              <a:t>g(x) = 2x</a:t>
            </a:r>
            <a:r>
              <a:rPr lang="en-US" baseline="30000" dirty="0"/>
              <a:t>2 </a:t>
            </a:r>
            <a:r>
              <a:rPr lang="en-US" dirty="0"/>
              <a:t>+ 3</a:t>
            </a:r>
          </a:p>
          <a:p>
            <a:pPr lvl="1"/>
            <a:r>
              <a:rPr lang="en-US" dirty="0"/>
              <a:t>h(x) = x</a:t>
            </a:r>
            <a:r>
              <a:rPr lang="en-US" baseline="30000" dirty="0"/>
              <a:t>2</a:t>
            </a:r>
            <a:r>
              <a:rPr lang="en-US" dirty="0"/>
              <a:t> + 2x +1</a:t>
            </a:r>
          </a:p>
        </p:txBody>
      </p:sp>
    </p:spTree>
    <p:extLst>
      <p:ext uri="{BB962C8B-B14F-4D97-AF65-F5344CB8AC3E}">
        <p14:creationId xmlns:p14="http://schemas.microsoft.com/office/powerpoint/2010/main" val="24198639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BAF36-C99B-4C0F-D9A1-F97EBF1C3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1E908-BFA9-6149-6F25-D118365B8B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Functions calling themselves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/>
          </a:p>
          <a:p>
            <a:r>
              <a:rPr lang="en-US" dirty="0"/>
              <a:t>Evaluate for ‘n’ = 2 , 4, 5, 6</a:t>
            </a:r>
          </a:p>
          <a:p>
            <a:r>
              <a:rPr lang="en-US" dirty="0"/>
              <a:t>Follow up reading </a:t>
            </a:r>
            <a:r>
              <a:rPr lang="en-US" sz="1500" dirty="0"/>
              <a:t>(optional)</a:t>
            </a:r>
            <a:r>
              <a:rPr lang="en-US" dirty="0"/>
              <a:t>: </a:t>
            </a:r>
            <a:r>
              <a:rPr lang="en-US" dirty="0">
                <a:hlinkClick r:id="rId2"/>
              </a:rPr>
              <a:t>nested functions visualized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3B07FF-705F-B2EE-4909-718D1ECDC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5136" y="2233628"/>
            <a:ext cx="3333921" cy="1124008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ED924A9-7C44-EBC3-DDF7-0205456CDC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7114464"/>
              </p:ext>
            </p:extLst>
          </p:nvPr>
        </p:nvGraphicFramePr>
        <p:xfrm>
          <a:off x="1071459" y="2316479"/>
          <a:ext cx="8861106" cy="28217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30553">
                  <a:extLst>
                    <a:ext uri="{9D8B030D-6E8A-4147-A177-3AD203B41FA5}">
                      <a16:colId xmlns:a16="http://schemas.microsoft.com/office/drawing/2014/main" val="2496394709"/>
                    </a:ext>
                  </a:extLst>
                </a:gridCol>
                <a:gridCol w="4430553">
                  <a:extLst>
                    <a:ext uri="{9D8B030D-6E8A-4147-A177-3AD203B41FA5}">
                      <a16:colId xmlns:a16="http://schemas.microsoft.com/office/drawing/2014/main" val="1375899388"/>
                    </a:ext>
                  </a:extLst>
                </a:gridCol>
              </a:tblGrid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Fibonacci </a:t>
                      </a:r>
                      <a:r>
                        <a:rPr lang="en-US" b="0" dirty="0"/>
                        <a:t>numbers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8360927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Factorial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fact(n) = n * fact(n-1)</a:t>
                      </a:r>
                    </a:p>
                    <a:p>
                      <a:r>
                        <a:rPr lang="en-US" dirty="0"/>
                        <a:t>    {given, </a:t>
                      </a:r>
                      <a:r>
                        <a:rPr lang="en-US" i="1" dirty="0"/>
                        <a:t> fact(1) = fact(0) =1}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9044372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Lucas </a:t>
                      </a:r>
                      <a:r>
                        <a:rPr lang="en-US" b="0" dirty="0"/>
                        <a:t>numbers</a:t>
                      </a:r>
                      <a:br>
                        <a:rPr lang="en-US" b="0" dirty="0"/>
                      </a:br>
                      <a:r>
                        <a:rPr lang="en-US" dirty="0"/>
                        <a:t>(</a:t>
                      </a:r>
                      <a:r>
                        <a:rPr lang="en-US" i="1" dirty="0"/>
                        <a:t>same rule as Fibonacci but with different starting values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l (n) = l(n-1) + l(n-2)</a:t>
                      </a:r>
                    </a:p>
                    <a:p>
                      <a:r>
                        <a:rPr lang="en-US" dirty="0"/>
                        <a:t>    {given , </a:t>
                      </a:r>
                      <a:r>
                        <a:rPr lang="en-US" i="1" dirty="0"/>
                        <a:t>l(0) = 2, l(1) = 1}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6291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29212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EB84F-B0DC-79D2-7C5F-8C3A6D23B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Programming, , Test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BEA891-9323-41D9-4413-E83293264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Need to know </a:t>
            </a:r>
          </a:p>
          <a:p>
            <a:pPr lvl="1"/>
            <a:r>
              <a:rPr lang="en-US" dirty="0"/>
              <a:t>Data types</a:t>
            </a:r>
          </a:p>
          <a:p>
            <a:pPr lvl="1"/>
            <a:r>
              <a:rPr lang="en-US" dirty="0"/>
              <a:t>Conditionals : If/else</a:t>
            </a:r>
          </a:p>
          <a:p>
            <a:pPr lvl="1"/>
            <a:r>
              <a:rPr lang="en-US" dirty="0"/>
              <a:t>Loops : for</a:t>
            </a:r>
          </a:p>
          <a:p>
            <a:pPr lvl="1"/>
            <a:r>
              <a:rPr lang="en-US" dirty="0"/>
              <a:t>Arrays : 2 dimensional</a:t>
            </a:r>
          </a:p>
          <a:p>
            <a:r>
              <a:rPr lang="en-US" dirty="0"/>
              <a:t>Practice </a:t>
            </a:r>
          </a:p>
          <a:p>
            <a:pPr lvl="1"/>
            <a:r>
              <a:rPr lang="en-US" dirty="0">
                <a:hlinkClick r:id="rId2"/>
              </a:rPr>
              <a:t>Arrays- DS (</a:t>
            </a:r>
            <a:r>
              <a:rPr lang="en-US" dirty="0" err="1">
                <a:hlinkClick r:id="rId2"/>
              </a:rPr>
              <a:t>Hackerrank</a:t>
            </a:r>
            <a:r>
              <a:rPr lang="en-US" dirty="0">
                <a:hlinkClick r:id="rId2"/>
              </a:rPr>
              <a:t>)</a:t>
            </a:r>
            <a:r>
              <a:rPr lang="en-US" dirty="0"/>
              <a:t> </a:t>
            </a:r>
          </a:p>
          <a:p>
            <a:pPr lvl="2"/>
            <a:r>
              <a:rPr lang="en-US"/>
              <a:t>Do the 4 </a:t>
            </a:r>
            <a:r>
              <a:rPr lang="en-US" dirty="0"/>
              <a:t>problems marked “easy”</a:t>
            </a:r>
          </a:p>
          <a:p>
            <a:pPr lvl="2"/>
            <a:r>
              <a:rPr lang="en-US" dirty="0"/>
              <a:t>Optional :“hard”, “medium” one are for extra challenge</a:t>
            </a:r>
          </a:p>
        </p:txBody>
      </p:sp>
    </p:spTree>
    <p:extLst>
      <p:ext uri="{BB962C8B-B14F-4D97-AF65-F5344CB8AC3E}">
        <p14:creationId xmlns:p14="http://schemas.microsoft.com/office/powerpoint/2010/main" val="6335465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39C56-5A5D-4E4D-4D8E-F37DFB3CA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1, 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D378D-5E4D-E294-B700-72DCD213F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8847"/>
            <a:ext cx="10515600" cy="4351338"/>
          </a:xfrm>
        </p:spPr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Great participation, nearly everyone attempted!</a:t>
            </a:r>
          </a:p>
          <a:p>
            <a:r>
              <a:rPr lang="en-US" dirty="0"/>
              <a:t>Overall students did better in quiz</a:t>
            </a:r>
          </a:p>
          <a:p>
            <a:pPr lvl="1"/>
            <a:r>
              <a:rPr lang="en-US" dirty="0"/>
              <a:t>8x full marks in quiz vs 5x full marks in programming</a:t>
            </a:r>
          </a:p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4 students got a zero in programming </a:t>
            </a:r>
            <a:r>
              <a:rPr lang="en-US" dirty="0"/>
              <a:t>( with 1 not attempted)</a:t>
            </a:r>
          </a:p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F89DCDD-2254-1A30-3A13-C6AB2863E4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2243" y="3707934"/>
            <a:ext cx="3174403" cy="261859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8624B3F-D128-6B7B-1206-8E41B254F3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1719" y="3683515"/>
            <a:ext cx="3233606" cy="2667433"/>
          </a:xfrm>
          <a:prstGeom prst="rect">
            <a:avLst/>
          </a:prstGeom>
        </p:spPr>
      </p:pic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F5B24662-16BA-0617-641E-BE5B6C1B1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2688751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64546-56C5-F32B-B7B4-0BB3361D7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2 ,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6DBCF-54D6-390D-D097-F17F350240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The quizzes </a:t>
            </a:r>
          </a:p>
          <a:p>
            <a:pPr lvl="1"/>
            <a:r>
              <a:rPr lang="en-US" dirty="0"/>
              <a:t>seem to be easier for students to master</a:t>
            </a:r>
          </a:p>
          <a:p>
            <a:pPr lvl="1"/>
            <a:r>
              <a:rPr lang="en-US" dirty="0"/>
              <a:t>Success cause everyone attempted, next we figure out how to raise scores there</a:t>
            </a:r>
          </a:p>
          <a:p>
            <a:pPr lvl="2"/>
            <a:r>
              <a:rPr lang="en-US" dirty="0"/>
              <a:t>Suggestions ?</a:t>
            </a:r>
          </a:p>
          <a:p>
            <a:r>
              <a:rPr lang="en-US" dirty="0"/>
              <a:t>Programming </a:t>
            </a:r>
          </a:p>
          <a:p>
            <a:pPr lvl="1"/>
            <a:r>
              <a:rPr lang="en-US" dirty="0"/>
              <a:t>It was amazing attempt</a:t>
            </a:r>
          </a:p>
          <a:p>
            <a:pPr lvl="1"/>
            <a:r>
              <a:rPr lang="en-US" dirty="0"/>
              <a:t>The codes generally worked</a:t>
            </a:r>
          </a:p>
          <a:p>
            <a:pPr lvl="1"/>
            <a:r>
              <a:rPr lang="en-US" dirty="0"/>
              <a:t>But 4/15 students had zeroes.</a:t>
            </a:r>
          </a:p>
          <a:p>
            <a:pPr lvl="1"/>
            <a:r>
              <a:rPr lang="en-US" dirty="0"/>
              <a:t>Suggestions ?</a:t>
            </a:r>
          </a:p>
          <a:p>
            <a:r>
              <a:rPr lang="en-US" dirty="0"/>
              <a:t>Goal :We need raise scores for everyone and move some in attempted stage</a:t>
            </a:r>
          </a:p>
          <a:p>
            <a:pPr lvl="1"/>
            <a:r>
              <a:rPr lang="en-US" dirty="0"/>
              <a:t>Note</a:t>
            </a:r>
          </a:p>
          <a:p>
            <a:pPr lvl="2"/>
            <a:r>
              <a:rPr lang="en-US" dirty="0"/>
              <a:t>Compete with yourself , Do better than your last attempt </a:t>
            </a:r>
          </a:p>
          <a:p>
            <a:pPr lvl="2"/>
            <a:r>
              <a:rPr lang="en-US" dirty="0"/>
              <a:t>Ask for help </a:t>
            </a:r>
          </a:p>
          <a:p>
            <a:pPr lvl="3"/>
            <a:r>
              <a:rPr lang="en-US" dirty="0"/>
              <a:t>on what you don’t know, to learn it.</a:t>
            </a:r>
          </a:p>
          <a:p>
            <a:pPr lvl="3"/>
            <a:r>
              <a:rPr lang="en-US" dirty="0"/>
              <a:t>And even on what you know , i.e. to master it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7F394-AD18-1EC7-38C3-9A61FEB14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9084285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10063-C526-EA6B-3D7A-9BD910729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for Test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8505C-A605-E7E4-9046-72C419C36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Mathematical expressions</a:t>
            </a:r>
          </a:p>
          <a:p>
            <a:pPr lvl="1"/>
            <a:r>
              <a:rPr lang="en-US" dirty="0"/>
              <a:t>Representations ( infix, prefix, postfix)</a:t>
            </a:r>
          </a:p>
          <a:p>
            <a:pPr lvl="1"/>
            <a:r>
              <a:rPr lang="en-US" dirty="0"/>
              <a:t>Evaluation or expression</a:t>
            </a:r>
          </a:p>
          <a:p>
            <a:r>
              <a:rPr lang="en-US" dirty="0"/>
              <a:t>Discrete Mathematics</a:t>
            </a:r>
          </a:p>
          <a:p>
            <a:pPr lvl="1"/>
            <a:r>
              <a:rPr lang="en-US" dirty="0"/>
              <a:t>Logical Operators (AND , OR , NOT, SHIFT,…)</a:t>
            </a:r>
          </a:p>
          <a:p>
            <a:pPr lvl="1"/>
            <a:r>
              <a:rPr lang="en-US" dirty="0"/>
              <a:t>Boolean logic</a:t>
            </a:r>
          </a:p>
          <a:p>
            <a:r>
              <a:rPr lang="en-US" dirty="0"/>
              <a:t>Programming </a:t>
            </a:r>
          </a:p>
          <a:p>
            <a:pPr lvl="1"/>
            <a:r>
              <a:rPr lang="en-US" dirty="0"/>
              <a:t>char, string ,arrays</a:t>
            </a:r>
          </a:p>
          <a:p>
            <a:pPr lvl="1"/>
            <a:r>
              <a:rPr lang="en-US" dirty="0"/>
              <a:t>Loops </a:t>
            </a:r>
          </a:p>
          <a:p>
            <a:pPr lvl="1"/>
            <a:r>
              <a:rPr lang="en-US" dirty="0"/>
              <a:t>Conditionals</a:t>
            </a:r>
          </a:p>
          <a:p>
            <a:pPr lvl="2"/>
            <a:r>
              <a:rPr lang="en-US" dirty="0"/>
              <a:t>If/else</a:t>
            </a:r>
          </a:p>
          <a:p>
            <a:pPr lvl="2"/>
            <a:r>
              <a:rPr lang="en-US" dirty="0"/>
              <a:t>switch/case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FCFCBD-DCB6-DA2A-15CD-C1320C57B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3695369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09036-DB73-EF71-EE0A-E0F5D254B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Infix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A8B8B-A6D4-B8E0-9265-7EBCA0EDA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Encounter them in grade </a:t>
            </a:r>
            <a:r>
              <a:rPr lang="en-US" dirty="0" err="1"/>
              <a:t>maths</a:t>
            </a:r>
            <a:r>
              <a:rPr lang="en-US" dirty="0"/>
              <a:t>. e.g. </a:t>
            </a:r>
          </a:p>
          <a:p>
            <a:pPr lvl="1"/>
            <a:r>
              <a:rPr lang="en-US" dirty="0"/>
              <a:t>(11+14)/(9 - 3) + 2</a:t>
            </a:r>
          </a:p>
          <a:p>
            <a:pPr lvl="1"/>
            <a:r>
              <a:rPr lang="en-US" dirty="0"/>
              <a:t>3+7 / (4 * 5 - 6)</a:t>
            </a:r>
          </a:p>
          <a:p>
            <a:pPr lvl="1"/>
            <a:r>
              <a:rPr lang="en-US" dirty="0"/>
              <a:t>- 2 + 8 / 2</a:t>
            </a:r>
          </a:p>
          <a:p>
            <a:r>
              <a:rPr lang="en-US" dirty="0"/>
              <a:t>Can also be written using variables</a:t>
            </a:r>
          </a:p>
          <a:p>
            <a:pPr lvl="1"/>
            <a:r>
              <a:rPr lang="en-US" dirty="0"/>
              <a:t>(a + b) / (c – d ) + e </a:t>
            </a:r>
          </a:p>
          <a:p>
            <a:pPr lvl="1"/>
            <a:r>
              <a:rPr lang="en-US" dirty="0"/>
              <a:t>x + y  / (g * h – k)</a:t>
            </a:r>
          </a:p>
          <a:p>
            <a:r>
              <a:rPr lang="en-US" dirty="0"/>
              <a:t>Evaluated using </a:t>
            </a:r>
          </a:p>
          <a:p>
            <a:pPr lvl="1"/>
            <a:r>
              <a:rPr lang="en-US" dirty="0"/>
              <a:t>PEMDAS / BODMAS</a:t>
            </a:r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4BE138-382D-4140-3301-E9A9F4B74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3730643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8543D-4AED-1560-6020-DBDF03CC2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: anatomy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6B474B-E50F-9A75-FDCD-ECE8C37DB9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Expression is made of</a:t>
            </a:r>
          </a:p>
          <a:p>
            <a:pPr lvl="1"/>
            <a:r>
              <a:rPr lang="en-US" dirty="0"/>
              <a:t>Operators ( + , - , * , /)</a:t>
            </a:r>
          </a:p>
          <a:p>
            <a:pPr lvl="1"/>
            <a:r>
              <a:rPr lang="en-US" dirty="0"/>
              <a:t>Operands (numbers, variables)</a:t>
            </a:r>
          </a:p>
          <a:p>
            <a:r>
              <a:rPr lang="en-US" dirty="0"/>
              <a:t>Unary operators :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-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a</a:t>
            </a:r>
          </a:p>
          <a:p>
            <a:pPr lvl="1"/>
            <a:r>
              <a:rPr lang="en-US" dirty="0"/>
              <a:t>&lt;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operator</a:t>
            </a:r>
            <a:r>
              <a:rPr lang="en-US" dirty="0"/>
              <a:t>&gt;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</a:t>
            </a:r>
          </a:p>
          <a:p>
            <a:r>
              <a:rPr lang="en-US" dirty="0"/>
              <a:t> Binary operators (infix) :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a</a:t>
            </a:r>
            <a:r>
              <a:rPr lang="en-US" dirty="0"/>
              <a:t>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b </a:t>
            </a:r>
          </a:p>
          <a:p>
            <a:pPr lvl="1"/>
            <a:r>
              <a:rPr lang="en-US" dirty="0"/>
              <a:t>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 &lt;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BB1C1A-17CA-D188-02EC-25677E359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3983034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98428-71F3-9434-03CF-F3DD0692B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Prefix/Postfix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E221BA-4008-7A96-D38C-705D413BB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Remove ambiguity( i.e. can  forget PEMDAS, BODMAS) </a:t>
            </a:r>
          </a:p>
          <a:p>
            <a:pPr lvl="1"/>
            <a:r>
              <a:rPr lang="en-US" dirty="0"/>
              <a:t>Computer friendly </a:t>
            </a:r>
          </a:p>
          <a:p>
            <a:pPr lvl="1"/>
            <a:r>
              <a:rPr lang="en-US" dirty="0"/>
              <a:t>Works with both unary/binary</a:t>
            </a:r>
          </a:p>
          <a:p>
            <a:pPr lvl="1"/>
            <a:r>
              <a:rPr lang="en-US" dirty="0"/>
              <a:t>Faster evaluation </a:t>
            </a:r>
          </a:p>
          <a:p>
            <a:r>
              <a:rPr lang="en-US" dirty="0"/>
              <a:t>Expression styles</a:t>
            </a:r>
          </a:p>
          <a:p>
            <a:pPr lvl="1"/>
            <a:r>
              <a:rPr lang="en-US" dirty="0"/>
              <a:t>Infix : operator in </a:t>
            </a:r>
            <a:r>
              <a:rPr lang="en-US" b="1" dirty="0"/>
              <a:t>middle</a:t>
            </a:r>
            <a:r>
              <a:rPr lang="en-US" dirty="0"/>
              <a:t> of operands</a:t>
            </a:r>
          </a:p>
          <a:p>
            <a:pPr lvl="2"/>
            <a:r>
              <a:rPr lang="en-US" dirty="0"/>
              <a:t>(5+6)*3  </a:t>
            </a:r>
          </a:p>
          <a:p>
            <a:pPr lvl="2"/>
            <a:r>
              <a:rPr lang="en-US" dirty="0"/>
              <a:t>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: operator </a:t>
            </a:r>
            <a:r>
              <a:rPr lang="en-US" b="1" dirty="0">
                <a:sym typeface="Wingdings" panose="05000000000000000000" pitchFamily="2" charset="2"/>
              </a:rPr>
              <a:t>before</a:t>
            </a:r>
            <a:r>
              <a:rPr lang="en-US" dirty="0">
                <a:sym typeface="Wingdings" panose="05000000000000000000" pitchFamily="2" charset="2"/>
              </a:rPr>
              <a:t>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* + 5 6 3</a:t>
            </a:r>
          </a:p>
          <a:p>
            <a:pPr lvl="2"/>
            <a:r>
              <a:rPr lang="en-US" dirty="0"/>
              <a:t>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operator </a:t>
            </a:r>
            <a:r>
              <a:rPr lang="en-US" b="1" dirty="0">
                <a:sym typeface="Wingdings" panose="05000000000000000000" pitchFamily="2" charset="2"/>
              </a:rPr>
              <a:t>after</a:t>
            </a:r>
            <a:r>
              <a:rPr lang="en-US" dirty="0">
                <a:sym typeface="Wingdings" panose="05000000000000000000" pitchFamily="2" charset="2"/>
              </a:rPr>
              <a:t>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5 6 + 3 *</a:t>
            </a:r>
          </a:p>
          <a:p>
            <a:pPr lvl="2"/>
            <a:r>
              <a:rPr lang="en-US" dirty="0"/>
              <a:t>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96621B-5CCF-4F7B-2238-5B2FA2BBC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40459883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9DA08-124C-F08B-AE2A-330F62990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expression, </a:t>
            </a:r>
            <a:br>
              <a:rPr lang="en-US" dirty="0"/>
            </a:br>
            <a:r>
              <a:rPr lang="en-US" sz="3200" i="1" dirty="0"/>
              <a:t>but first </a:t>
            </a:r>
            <a:r>
              <a:rPr lang="en-US" sz="3200" b="1" i="1" dirty="0"/>
              <a:t>Stacks</a:t>
            </a:r>
            <a:r>
              <a:rPr lang="en-US" sz="3200" i="1" dirty="0"/>
              <a:t> and </a:t>
            </a:r>
            <a:r>
              <a:rPr lang="en-US" sz="3200" b="1" i="1" dirty="0"/>
              <a:t>Queues</a:t>
            </a:r>
            <a:r>
              <a:rPr lang="en-US" sz="3200" i="1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435E2-ED41-222B-756A-12721F4F2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What is a </a:t>
            </a:r>
            <a:r>
              <a:rPr lang="en-US" b="1" dirty="0"/>
              <a:t>Stack</a:t>
            </a:r>
            <a:r>
              <a:rPr lang="en-US" dirty="0"/>
              <a:t> ?</a:t>
            </a:r>
          </a:p>
          <a:p>
            <a:pPr lvl="1"/>
            <a:r>
              <a:rPr lang="en-US" dirty="0"/>
              <a:t>This is a sequential structure of </a:t>
            </a:r>
            <a:r>
              <a:rPr lang="en-US" b="1" dirty="0"/>
              <a:t>items</a:t>
            </a:r>
          </a:p>
          <a:p>
            <a:pPr lvl="1"/>
            <a:r>
              <a:rPr lang="en-US" dirty="0"/>
              <a:t>That are </a:t>
            </a:r>
            <a:r>
              <a:rPr lang="en-US" b="1" dirty="0"/>
              <a:t>pushed at one end </a:t>
            </a:r>
          </a:p>
          <a:p>
            <a:pPr lvl="1"/>
            <a:r>
              <a:rPr lang="en-US" b="1" dirty="0"/>
              <a:t>Pulled </a:t>
            </a:r>
            <a:r>
              <a:rPr lang="en-US" dirty="0"/>
              <a:t>via the</a:t>
            </a:r>
            <a:r>
              <a:rPr lang="en-US" b="1" dirty="0"/>
              <a:t> same end</a:t>
            </a:r>
          </a:p>
          <a:p>
            <a:pPr lvl="1"/>
            <a:r>
              <a:rPr lang="en-US" b="1" dirty="0"/>
              <a:t>LIFO </a:t>
            </a:r>
            <a:r>
              <a:rPr lang="en-US" dirty="0"/>
              <a:t>: Last in First Out </a:t>
            </a:r>
          </a:p>
          <a:p>
            <a:pPr lvl="1"/>
            <a:r>
              <a:rPr lang="en-US" dirty="0"/>
              <a:t>Examples </a:t>
            </a:r>
          </a:p>
          <a:p>
            <a:pPr lvl="2"/>
            <a:r>
              <a:rPr lang="en-US" dirty="0"/>
              <a:t>Stack of plates </a:t>
            </a:r>
          </a:p>
          <a:p>
            <a:pPr lvl="2"/>
            <a:r>
              <a:rPr lang="en-US" dirty="0"/>
              <a:t>Your turned in paper assignments</a:t>
            </a:r>
          </a:p>
          <a:p>
            <a:r>
              <a:rPr lang="en-US" dirty="0"/>
              <a:t>What is a </a:t>
            </a:r>
            <a:r>
              <a:rPr lang="en-US" b="1" dirty="0"/>
              <a:t>Queue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Another sequential structure of </a:t>
            </a:r>
            <a:r>
              <a:rPr lang="en-US" b="1" dirty="0"/>
              <a:t>items</a:t>
            </a:r>
          </a:p>
          <a:p>
            <a:pPr lvl="1"/>
            <a:r>
              <a:rPr lang="en-US" dirty="0"/>
              <a:t>that are</a:t>
            </a:r>
            <a:r>
              <a:rPr lang="en-US" b="1" dirty="0"/>
              <a:t> pushed at one end</a:t>
            </a:r>
          </a:p>
          <a:p>
            <a:pPr lvl="1"/>
            <a:r>
              <a:rPr lang="en-US" b="1" dirty="0"/>
              <a:t>Pulled </a:t>
            </a:r>
            <a:r>
              <a:rPr lang="en-US" dirty="0"/>
              <a:t>via</a:t>
            </a:r>
            <a:r>
              <a:rPr lang="en-US" b="1" dirty="0"/>
              <a:t> </a:t>
            </a:r>
            <a:r>
              <a:rPr lang="en-US" dirty="0"/>
              <a:t>the</a:t>
            </a:r>
            <a:r>
              <a:rPr lang="en-US" b="1" dirty="0"/>
              <a:t> opposite end</a:t>
            </a:r>
          </a:p>
          <a:p>
            <a:pPr lvl="1"/>
            <a:r>
              <a:rPr lang="en-US" b="1" dirty="0"/>
              <a:t>FIFO</a:t>
            </a:r>
            <a:r>
              <a:rPr lang="en-US" dirty="0"/>
              <a:t> : First In First Out</a:t>
            </a:r>
          </a:p>
          <a:p>
            <a:pPr lvl="1"/>
            <a:r>
              <a:rPr lang="en-US" dirty="0"/>
              <a:t>Examples</a:t>
            </a:r>
          </a:p>
          <a:p>
            <a:pPr lvl="2"/>
            <a:r>
              <a:rPr lang="en-US" dirty="0"/>
              <a:t>Queue for buying tickets</a:t>
            </a:r>
          </a:p>
          <a:p>
            <a:pPr lvl="2"/>
            <a:r>
              <a:rPr lang="en-US" dirty="0"/>
              <a:t>Traffic in one way single lane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7C3E84-BAA0-4755-B397-ECE0CB002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7102939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67EB7-FC80-227F-6B6C-0D979456D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</a:t>
            </a:r>
            <a:r>
              <a:rPr lang="en-US" b="1" dirty="0"/>
              <a:t>prefix</a:t>
            </a:r>
            <a:r>
              <a:rPr lang="en-US" dirty="0"/>
              <a:t>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56AB4-1F51-A74F-12F5-061A8D8B33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Infix : (5+6)*3 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* + 5 6 3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- + 2 * 3 4 / 16 ^ 2 3</a:t>
            </a:r>
          </a:p>
          <a:p>
            <a:r>
              <a:rPr lang="en-US" dirty="0">
                <a:sym typeface="Wingdings" panose="05000000000000000000" pitchFamily="2" charset="2"/>
              </a:rPr>
              <a:t>Algorithm (harder way)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Scan from right to left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Anytime you find an operator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Evaluate the operation using the previous 2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Replace the </a:t>
            </a:r>
            <a:r>
              <a:rPr lang="en-US" dirty="0"/>
              <a:t>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with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result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in the expression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Repeat the steps till only 1 operand is left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FA5EA8-8E52-3BA2-1D1B-5AE6B9294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2010043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D9CCC-B73A-534F-54B8-DDB86625D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postfix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A0144-D9A8-B144-B5F0-B30C28CF73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Evaluate </a:t>
            </a:r>
          </a:p>
          <a:p>
            <a:pPr lvl="1"/>
            <a:r>
              <a:rPr lang="en-US" dirty="0"/>
              <a:t>2 3 1 * + 9 –</a:t>
            </a:r>
          </a:p>
          <a:p>
            <a:pPr lvl="1"/>
            <a:r>
              <a:rPr lang="en-US" dirty="0"/>
              <a:t>5 3 + 6 2 / * 3 5 * +</a:t>
            </a:r>
          </a:p>
          <a:p>
            <a:r>
              <a:rPr lang="en-US" i="1" dirty="0"/>
              <a:t>Algorithm to evaluate (use </a:t>
            </a:r>
            <a:r>
              <a:rPr lang="en-US" b="1" i="1" dirty="0"/>
              <a:t>stack</a:t>
            </a:r>
            <a:r>
              <a:rPr lang="en-US" i="1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Push the operands in a stack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When you encounter a operator </a:t>
            </a:r>
          </a:p>
          <a:p>
            <a:pPr lvl="2"/>
            <a:r>
              <a:rPr lang="en-US" dirty="0"/>
              <a:t>Pop 2 operands</a:t>
            </a:r>
          </a:p>
          <a:p>
            <a:pPr lvl="2"/>
            <a:r>
              <a:rPr lang="en-US" dirty="0"/>
              <a:t>Perform the operation on operands</a:t>
            </a:r>
          </a:p>
          <a:p>
            <a:pPr lvl="2"/>
            <a:r>
              <a:rPr lang="en-US" dirty="0"/>
              <a:t>Push the result in stack </a:t>
            </a:r>
          </a:p>
          <a:p>
            <a:pPr lvl="1"/>
            <a:r>
              <a:rPr lang="en-US" dirty="0"/>
              <a:t>Repeat from 1 until expression is parsed</a:t>
            </a:r>
          </a:p>
          <a:p>
            <a:pPr lvl="1"/>
            <a:r>
              <a:rPr lang="en-US" dirty="0"/>
              <a:t>The last item in stack is the answer</a:t>
            </a:r>
          </a:p>
          <a:p>
            <a:pPr lvl="2"/>
            <a:r>
              <a:rPr lang="en-US" dirty="0"/>
              <a:t>There would be only 1 item left when done correctly</a:t>
            </a:r>
          </a:p>
          <a:p>
            <a:r>
              <a:rPr lang="en-US" dirty="0"/>
              <a:t>* prefix expr can also be evaluated in this way ( </a:t>
            </a:r>
            <a:r>
              <a:rPr lang="en-US" i="1" dirty="0"/>
              <a:t>just in </a:t>
            </a:r>
            <a:r>
              <a:rPr lang="en-US" b="1" i="1" dirty="0"/>
              <a:t>reverse</a:t>
            </a:r>
            <a:r>
              <a:rPr lang="en-US" dirty="0"/>
              <a:t>)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A1BEF0-D4B5-79D3-99C5-AE3F44B40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37017684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43874-CB60-DB45-CE8B-7A74B5117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17527-44D3-CD21-C2E1-0160D8339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Prefix </a:t>
            </a:r>
          </a:p>
          <a:p>
            <a:pPr lvl="1"/>
            <a:r>
              <a:rPr lang="en-US" dirty="0"/>
              <a:t>- * 5 + - 4 2 2 / 6 3</a:t>
            </a:r>
          </a:p>
          <a:p>
            <a:pPr lvl="1"/>
            <a:r>
              <a:rPr lang="en-US" dirty="0"/>
              <a:t>- * + 3 5 7 + / 4 2 1</a:t>
            </a:r>
          </a:p>
          <a:p>
            <a:pPr lvl="1"/>
            <a:r>
              <a:rPr lang="en-US" dirty="0"/>
              <a:t>- + 10 * 2 3 + 4 / 5 5</a:t>
            </a:r>
          </a:p>
          <a:p>
            <a:r>
              <a:rPr lang="en-US" dirty="0"/>
              <a:t>Postfix </a:t>
            </a:r>
          </a:p>
          <a:p>
            <a:pPr lvl="1"/>
            <a:r>
              <a:rPr lang="en-US" dirty="0"/>
              <a:t>1 2 + 3 4 + * 5 6 - / 7 +</a:t>
            </a:r>
          </a:p>
          <a:p>
            <a:pPr lvl="1"/>
            <a:r>
              <a:rPr lang="en-US" dirty="0"/>
              <a:t>8 2 / 3 4 + * 5 1 + 2 / -</a:t>
            </a:r>
          </a:p>
          <a:p>
            <a:pPr lvl="1"/>
            <a:r>
              <a:rPr lang="en-US" dirty="0"/>
              <a:t>9 8 4 2 1 ^ * / - 3 +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330C2C-A857-2CE9-4877-556490D84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0735027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49718-FD7B-BBC3-1D54-780109F2D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7F6AF-3B4E-C1A2-4EB1-34DC6F5AA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EC4B36-8522-51F2-8F37-212F894EF5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Prefix </a:t>
            </a:r>
          </a:p>
          <a:p>
            <a:pPr lvl="1"/>
            <a:r>
              <a:rPr lang="en-US" dirty="0"/>
              <a:t>- * 5 + - 4 2 2 / 6 3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18</a:t>
            </a:r>
          </a:p>
          <a:p>
            <a:pPr lvl="1"/>
            <a:r>
              <a:rPr lang="en-US" dirty="0"/>
              <a:t>- * + 3 5 7 + / 4 2 1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53</a:t>
            </a:r>
          </a:p>
          <a:p>
            <a:pPr lvl="1"/>
            <a:r>
              <a:rPr lang="en-US" dirty="0"/>
              <a:t>- + 10 * 2 3 + 4 / 5 5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</a:t>
            </a:r>
          </a:p>
          <a:p>
            <a:r>
              <a:rPr lang="en-US" dirty="0"/>
              <a:t>Postfix </a:t>
            </a:r>
          </a:p>
          <a:p>
            <a:pPr lvl="1"/>
            <a:r>
              <a:rPr lang="en-US" dirty="0"/>
              <a:t>1 2 + 3 4 + * 5 6 - / 7 +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-14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</a:p>
          <a:p>
            <a:pPr lvl="1"/>
            <a:r>
              <a:rPr lang="en-US" dirty="0"/>
              <a:t>8 2 / 3 4 + * 5 1 + 2 / -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25</a:t>
            </a:r>
          </a:p>
          <a:p>
            <a:pPr lvl="1"/>
            <a:r>
              <a:rPr lang="en-US" dirty="0"/>
              <a:t>9 8 4 2 1 ^ * / - 3 +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017D47-227F-8158-DD87-C6DC14A78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35803686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E714B-546B-8601-A89D-A057C4A1A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Practice: Programming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06790-5F81-C6BD-1C95-31862CB356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Write a function that takes a string and checks if it is a palindrome</a:t>
            </a:r>
          </a:p>
          <a:p>
            <a:pPr lvl="1"/>
            <a:r>
              <a:rPr lang="en-US" dirty="0"/>
              <a:t>Returns true if palindrome is found else false</a:t>
            </a:r>
          </a:p>
          <a:p>
            <a:pPr lvl="1"/>
            <a:r>
              <a:rPr lang="en-US" dirty="0"/>
              <a:t>Hints:  string indexing, loops, if , comparing characters</a:t>
            </a:r>
          </a:p>
          <a:p>
            <a:r>
              <a:rPr lang="en-US" dirty="0"/>
              <a:t>Count the number of vowels, consonants in a sentence.</a:t>
            </a:r>
          </a:p>
          <a:p>
            <a:pPr lvl="1"/>
            <a:r>
              <a:rPr lang="en-US" dirty="0"/>
              <a:t>Vowels : </a:t>
            </a:r>
            <a:r>
              <a:rPr lang="en-US" dirty="0" err="1"/>
              <a:t>a,e,i,o,u</a:t>
            </a:r>
            <a:endParaRPr lang="en-US" dirty="0"/>
          </a:p>
          <a:p>
            <a:pPr lvl="1"/>
            <a:r>
              <a:rPr lang="en-US" dirty="0"/>
              <a:t>Consonant : everything else other than vowels</a:t>
            </a:r>
          </a:p>
          <a:p>
            <a:pPr lvl="1"/>
            <a:r>
              <a:rPr lang="en-US" dirty="0"/>
              <a:t>Ignore : spaces (‘ ’,) comma(,) dash(-),semicolon(;),colon(</a:t>
            </a:r>
            <a:r>
              <a:rPr lang="en-US" dirty="0">
                <a:sym typeface="Wingdings" panose="05000000000000000000" pitchFamily="2" charset="2"/>
              </a:rPr>
              <a:t> : )</a:t>
            </a:r>
            <a:r>
              <a:rPr lang="en-US" dirty="0"/>
              <a:t> </a:t>
            </a:r>
          </a:p>
          <a:p>
            <a:r>
              <a:rPr lang="en-US" dirty="0"/>
              <a:t>Find the most frequent word in a sentence</a:t>
            </a:r>
          </a:p>
          <a:p>
            <a:pPr lvl="1"/>
            <a:r>
              <a:rPr lang="en-US" dirty="0"/>
              <a:t>If more than 1 word has same frequency return the lexicographically smaller one.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3A4E3D-D25E-39BB-AC3F-07C40080F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7766526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61EBE-94BF-8DC3-7A70-133273508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Evaluating Prefix/Postfix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F04C8D-ACC2-700D-8DC8-D1E3DF8913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last week </a:t>
            </a:r>
          </a:p>
          <a:p>
            <a:pPr lvl="1"/>
            <a:r>
              <a:rPr lang="en-US" dirty="0"/>
              <a:t>Operator</a:t>
            </a:r>
          </a:p>
          <a:p>
            <a:pPr lvl="1"/>
            <a:r>
              <a:rPr lang="en-US" dirty="0"/>
              <a:t>Operand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Queue</a:t>
            </a:r>
          </a:p>
          <a:p>
            <a:r>
              <a:rPr lang="en-US" dirty="0"/>
              <a:t>Evaluating Prefix/Postfix</a:t>
            </a:r>
          </a:p>
          <a:p>
            <a:pPr lvl="1"/>
            <a:r>
              <a:rPr lang="en-US" dirty="0"/>
              <a:t>&lt;3 questions each&gt;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819EF1-EA0B-AAC3-0AF3-6004E6147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809239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759E1-3328-9C22-3B68-54F39695F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63C0C-0E13-B399-DFBF-3C1B931E61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Precedence ( highest priority first)</a:t>
            </a:r>
          </a:p>
          <a:p>
            <a:pPr lvl="1"/>
            <a:r>
              <a:rPr lang="en-US" dirty="0"/>
              <a:t>()</a:t>
            </a:r>
          </a:p>
          <a:p>
            <a:pPr lvl="1"/>
            <a:r>
              <a:rPr lang="en-US" dirty="0"/>
              <a:t>^</a:t>
            </a:r>
          </a:p>
          <a:p>
            <a:pPr lvl="1"/>
            <a:r>
              <a:rPr lang="en-US" dirty="0"/>
              <a:t>/ * </a:t>
            </a:r>
          </a:p>
          <a:p>
            <a:pPr lvl="1"/>
            <a:r>
              <a:rPr lang="en-US" dirty="0"/>
              <a:t>- +</a:t>
            </a:r>
          </a:p>
          <a:p>
            <a:r>
              <a:rPr lang="en-US" dirty="0"/>
              <a:t>Associativity</a:t>
            </a:r>
          </a:p>
          <a:p>
            <a:pPr lvl="1"/>
            <a:r>
              <a:rPr lang="en-US" dirty="0"/>
              <a:t>Right to left : ^ </a:t>
            </a:r>
          </a:p>
          <a:p>
            <a:pPr lvl="1"/>
            <a:r>
              <a:rPr lang="en-US" dirty="0"/>
              <a:t>Left to right : + , - , * , /</a:t>
            </a:r>
          </a:p>
          <a:p>
            <a:r>
              <a:rPr lang="en-US" dirty="0"/>
              <a:t>Notes </a:t>
            </a:r>
          </a:p>
          <a:p>
            <a:pPr lvl="1"/>
            <a:r>
              <a:rPr lang="en-US" dirty="0"/>
              <a:t>() not categorized as associative, they represent grouping mechanism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497326-75CB-1EC7-7EDC-E27BCF231E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7865725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06A23-6060-2190-0369-68E869C5B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C35DB-2FC0-BEB4-4F1A-943AC9E39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EA6B0-A3AC-84B7-F071-7B7A8C5BA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</a:t>
            </a:r>
          </a:p>
          <a:p>
            <a:pPr lvl="1"/>
            <a:r>
              <a:rPr lang="en-US" dirty="0"/>
              <a:t>10 + 20 / 2 * 3 – 5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10 +((20 / 2) * 3)-5   // added parenthesis for denoting precedence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10 + (10 * 3 ) -5 // interior most precedence first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10 + 30 - 5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 </a:t>
            </a:r>
            <a:r>
              <a:rPr lang="en-US" b="1" dirty="0">
                <a:sym typeface="Wingdings" panose="05000000000000000000" pitchFamily="2" charset="2"/>
              </a:rPr>
              <a:t>35</a:t>
            </a:r>
            <a:endParaRPr lang="en-US" b="1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E80B3E-D3F4-B6F0-D0A1-8630AB300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561952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AB0D3-9A93-3387-68DE-0B08CE7BF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 </a:t>
            </a:r>
            <a:r>
              <a:rPr lang="en-US" sz="2000" dirty="0"/>
              <a:t>(lets 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89DA9E-1EE2-4F6F-68A9-7032500D0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2 + 3 * 4 ^2  </a:t>
            </a:r>
          </a:p>
          <a:p>
            <a:r>
              <a:rPr lang="en-US" dirty="0">
                <a:sym typeface="Wingdings" panose="05000000000000000000" pitchFamily="2" charset="2"/>
              </a:rPr>
              <a:t>2 ^ 3 ^ 2 </a:t>
            </a:r>
          </a:p>
          <a:p>
            <a:r>
              <a:rPr lang="en-US" dirty="0">
                <a:sym typeface="Wingdings" panose="05000000000000000000" pitchFamily="2" charset="2"/>
              </a:rPr>
              <a:t>100 / 2 * 5 ^ 2 ^ 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1B0676-9EC8-6524-C686-59ECD7A16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631713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BB090-BF7B-301A-B062-E97BFE4C4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582A2-AB54-D133-9974-37E13F35B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 </a:t>
            </a:r>
            <a:r>
              <a:rPr lang="en-US" sz="2000" dirty="0"/>
              <a:t>(answers)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AC9B0-991C-C5D4-CE00-383566D4A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2 + 3 * 4 ^2 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+ 3 * 16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+ 48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</a:t>
            </a:r>
            <a:r>
              <a:rPr lang="en-US" b="1" dirty="0">
                <a:sym typeface="Wingdings" panose="05000000000000000000" pitchFamily="2" charset="2"/>
              </a:rPr>
              <a:t>50</a:t>
            </a:r>
          </a:p>
          <a:p>
            <a:r>
              <a:rPr lang="en-US" dirty="0">
                <a:sym typeface="Wingdings" panose="05000000000000000000" pitchFamily="2" charset="2"/>
              </a:rPr>
              <a:t>2 ^ 3 ^ 2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^ 9 // ^ is evaluated from right to left , so 3 ^ 2 goes first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</a:t>
            </a:r>
            <a:r>
              <a:rPr lang="en-US" b="1" dirty="0">
                <a:sym typeface="Wingdings" panose="05000000000000000000" pitchFamily="2" charset="2"/>
              </a:rPr>
              <a:t>512</a:t>
            </a:r>
          </a:p>
          <a:p>
            <a:pPr lvl="1"/>
            <a:r>
              <a:rPr lang="en-US" strike="sngStrike" dirty="0">
                <a:sym typeface="Wingdings" panose="05000000000000000000" pitchFamily="2" charset="2"/>
              </a:rPr>
              <a:t>Not 64</a:t>
            </a:r>
          </a:p>
          <a:p>
            <a:r>
              <a:rPr lang="en-US" dirty="0">
                <a:sym typeface="Wingdings" panose="05000000000000000000" pitchFamily="2" charset="2"/>
              </a:rPr>
              <a:t>100 / 2 * 5 ^ 2 ^ 1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100 / 2 * 25 // Again 2 ^ 1 goes first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50 x 25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</a:t>
            </a:r>
            <a:r>
              <a:rPr lang="en-US" b="1" dirty="0">
                <a:sym typeface="Wingdings" panose="05000000000000000000" pitchFamily="2" charset="2"/>
              </a:rPr>
              <a:t>1250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13E5C7-992D-9036-31F0-DE97F948E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33644821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193FB-B92E-805D-C84A-070CBB1B0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Prefix/Postfix </a:t>
            </a:r>
            <a:r>
              <a:rPr lang="en-US" sz="2000" dirty="0"/>
              <a:t>(examples)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3DC8AB-5242-ADA9-A503-4ECC2166F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 * C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</a:t>
            </a:r>
            <a:r>
              <a:rPr lang="en-US" b="1" dirty="0">
                <a:sym typeface="Wingdings" panose="05000000000000000000" pitchFamily="2" charset="2"/>
              </a:rPr>
              <a:t>* B C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</a:t>
            </a:r>
            <a:r>
              <a:rPr lang="en-US" b="1" dirty="0">
                <a:sym typeface="Wingdings" panose="05000000000000000000" pitchFamily="2" charset="2"/>
              </a:rPr>
              <a:t>B C *</a:t>
            </a:r>
            <a:endParaRPr lang="en-US" b="1" dirty="0"/>
          </a:p>
          <a:p>
            <a:r>
              <a:rPr lang="en-US" dirty="0"/>
              <a:t>A + B * C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+</a:t>
            </a:r>
            <a:r>
              <a:rPr lang="en-US" b="1" dirty="0">
                <a:sym typeface="Wingdings" panose="05000000000000000000" pitchFamily="2" charset="2"/>
              </a:rPr>
              <a:t>A</a:t>
            </a:r>
            <a:r>
              <a:rPr lang="en-US" b="1" dirty="0"/>
              <a:t>*BC</a:t>
            </a:r>
          </a:p>
          <a:p>
            <a:pPr lvl="1"/>
            <a:r>
              <a:rPr lang="en-US" dirty="0"/>
              <a:t>Postfix :  </a:t>
            </a:r>
            <a:r>
              <a:rPr lang="en-US" b="1" dirty="0"/>
              <a:t>ABC*+</a:t>
            </a:r>
          </a:p>
          <a:p>
            <a:r>
              <a:rPr lang="en-US" dirty="0"/>
              <a:t>(5 + 6) * 3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</a:t>
            </a:r>
            <a:r>
              <a:rPr lang="en-US" b="1" dirty="0">
                <a:sym typeface="Wingdings" panose="05000000000000000000" pitchFamily="2" charset="2"/>
              </a:rPr>
              <a:t>* + 5 6 3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</a:t>
            </a:r>
            <a:r>
              <a:rPr lang="en-US" b="1" dirty="0">
                <a:sym typeface="Wingdings" panose="05000000000000000000" pitchFamily="2" charset="2"/>
              </a:rPr>
              <a:t>5 6 + 3 *</a:t>
            </a:r>
            <a:endParaRPr lang="en-US" b="1" dirty="0"/>
          </a:p>
          <a:p>
            <a:endParaRPr lang="en-US" dirty="0"/>
          </a:p>
          <a:p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779E42-5809-59FE-951E-7B455BB7C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7023236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BE059-48D8-260A-BA41-3E35FB9DE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F769B-CC51-FA9F-B19F-9F5AA32C8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How to convert! </a:t>
            </a:r>
          </a:p>
          <a:p>
            <a:pPr lvl="1"/>
            <a:r>
              <a:rPr lang="pt-BR" dirty="0"/>
              <a:t>Convert the highest precedence/priority first </a:t>
            </a:r>
          </a:p>
          <a:p>
            <a:pPr lvl="1"/>
            <a:r>
              <a:rPr lang="pt-BR" dirty="0"/>
              <a:t>( do paranthesize for mental ease) </a:t>
            </a:r>
          </a:p>
          <a:p>
            <a:r>
              <a:rPr lang="pt-BR" dirty="0"/>
              <a:t>(a + b) / (c – d ) + e </a:t>
            </a:r>
          </a:p>
          <a:p>
            <a:r>
              <a:rPr lang="pt-BR" dirty="0"/>
              <a:t>x + y  / (g * h – k)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A02D68-CC18-2522-08A7-07B93CCBF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1629761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C564D-B638-9D95-941D-AD0146783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6BDC7-1CB3-8A4F-F288-9B357273A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24EB7-0DC5-B135-34E7-7DD2D49E85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How to convert! </a:t>
            </a:r>
          </a:p>
          <a:p>
            <a:pPr lvl="1"/>
            <a:r>
              <a:rPr lang="pt-BR" dirty="0"/>
              <a:t>Convert the highest priority first </a:t>
            </a:r>
          </a:p>
          <a:p>
            <a:pPr lvl="1"/>
            <a:r>
              <a:rPr lang="pt-BR" dirty="0"/>
              <a:t>( and paranthesize for mental ease) </a:t>
            </a:r>
          </a:p>
          <a:p>
            <a:r>
              <a:rPr lang="pt-BR" dirty="0"/>
              <a:t>(a + b) / (c – d ) + e </a:t>
            </a:r>
          </a:p>
          <a:p>
            <a:pPr lvl="1"/>
            <a:r>
              <a:rPr lang="pt-BR" dirty="0"/>
              <a:t>Prefix : </a:t>
            </a:r>
            <a:r>
              <a:rPr lang="pt-BR" b="1" dirty="0"/>
              <a:t>+ / + a b – c d e</a:t>
            </a:r>
          </a:p>
          <a:p>
            <a:pPr lvl="1"/>
            <a:r>
              <a:rPr lang="pt-BR" dirty="0"/>
              <a:t>Postfix : </a:t>
            </a:r>
            <a:r>
              <a:rPr lang="pt-BR" b="1" dirty="0"/>
              <a:t>a b + c d - / e +</a:t>
            </a:r>
          </a:p>
          <a:p>
            <a:r>
              <a:rPr lang="pt-BR" dirty="0"/>
              <a:t>x + y  / (g * h – k)</a:t>
            </a:r>
          </a:p>
          <a:p>
            <a:pPr lvl="1"/>
            <a:r>
              <a:rPr lang="pt-BR" dirty="0"/>
              <a:t>Prefix : </a:t>
            </a:r>
            <a:r>
              <a:rPr lang="pt-BR" b="1" dirty="0"/>
              <a:t>+ x / y - * g h k</a:t>
            </a:r>
          </a:p>
          <a:p>
            <a:pPr lvl="1"/>
            <a:r>
              <a:rPr lang="pt-BR" dirty="0"/>
              <a:t>Postfix : </a:t>
            </a:r>
            <a:r>
              <a:rPr lang="pt-BR" b="1" dirty="0"/>
              <a:t>x y g h * k - / +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0253A3-2553-8CEE-4FC1-99E0B3F04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606561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75F4E-FDCD-0164-1335-A362235F7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 and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E457E-39D3-7BBE-282F-FB8240E444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+ b - c * d + e ^ f	</a:t>
            </a:r>
          </a:p>
          <a:p>
            <a:r>
              <a:rPr lang="pt-BR" dirty="0"/>
              <a:t>(a + b) * c - (d - e) * (f + g)	</a:t>
            </a:r>
          </a:p>
          <a:p>
            <a:r>
              <a:rPr lang="pt-BR" dirty="0"/>
              <a:t>((a + b) * (c + d) / (e - f)) + g	</a:t>
            </a:r>
          </a:p>
          <a:p>
            <a:r>
              <a:rPr lang="pt-BR" dirty="0"/>
              <a:t>a * (b + c) / (d - e) </a:t>
            </a:r>
          </a:p>
          <a:p>
            <a:r>
              <a:rPr lang="pt-BR" dirty="0"/>
              <a:t>a - b / (c * d ^ e)	 </a:t>
            </a:r>
          </a:p>
          <a:p>
            <a:r>
              <a:rPr lang="pt-BR" dirty="0"/>
              <a:t>(a + b) * (c + d) - 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81B0BD-44A6-01E4-B569-E440DFAAC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8075155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508BA-925D-B446-6102-4DD2DE59B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FCC50-372A-1FA3-A515-CD0B5B7E5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 and Postfix </a:t>
            </a:r>
            <a:r>
              <a:rPr lang="en-US" sz="2000" dirty="0"/>
              <a:t>(answers)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BFE5F1B-9892-BDB6-3128-731DCED46B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8198065"/>
              </p:ext>
            </p:extLst>
          </p:nvPr>
        </p:nvGraphicFramePr>
        <p:xfrm>
          <a:off x="838200" y="1825625"/>
          <a:ext cx="1051559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836379473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236984820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7295000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Postfix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4912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+ b - c * d + e ^ f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+ - + a b * c d ^ e 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* - e f ^ +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2006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(a + b) * c - (d - e) * (f + g)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* + a b c * - d e + f 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* d e - f g + *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8681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((a + b) * (c + d) / (e - f)) + g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+ / * + a b + c d - e f 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+ * e f - / g +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03615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* (b + c) / (d - e)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/ * a + b c -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c + * d e - /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7974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- b / (c * d ^ e)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a / b * c ^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c d e ^ * /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57538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(a + b) * (c + d) -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* + a b + c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+ * e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12593"/>
                  </a:ext>
                </a:extLst>
              </a:tr>
            </a:tbl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CB4F96-5862-C493-CA94-3E72FA84E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41095443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81F6A-4CC1-7603-9C25-803B7E6FF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Logical operators (for bits/bytes)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78BBB-41E3-F605-A10E-B187C7B10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Bitwise </a:t>
            </a:r>
          </a:p>
          <a:p>
            <a:pPr lvl="1"/>
            <a:r>
              <a:rPr lang="en-US" dirty="0"/>
              <a:t>NOT, AND,  XOR , OR</a:t>
            </a:r>
          </a:p>
          <a:p>
            <a:r>
              <a:rPr lang="en-US" dirty="0"/>
              <a:t>Shift</a:t>
            </a:r>
          </a:p>
          <a:p>
            <a:pPr lvl="1"/>
            <a:r>
              <a:rPr lang="en-US" dirty="0"/>
              <a:t>Linear : LSHIFT, RSHIFT,</a:t>
            </a:r>
          </a:p>
          <a:p>
            <a:pPr lvl="1"/>
            <a:r>
              <a:rPr lang="en-US" dirty="0"/>
              <a:t>Circular : RCIRC, LCIRC</a:t>
            </a:r>
          </a:p>
          <a:p>
            <a:r>
              <a:rPr lang="en-US" dirty="0"/>
              <a:t>Precedence</a:t>
            </a:r>
          </a:p>
          <a:p>
            <a:pPr lvl="1"/>
            <a:r>
              <a:rPr lang="en-US" dirty="0"/>
              <a:t>NOT, </a:t>
            </a:r>
          </a:p>
          <a:p>
            <a:pPr lvl="1"/>
            <a:r>
              <a:rPr lang="en-US" dirty="0"/>
              <a:t>SHIFT, CIRC, </a:t>
            </a:r>
          </a:p>
          <a:p>
            <a:pPr lvl="1"/>
            <a:r>
              <a:rPr lang="en-US" dirty="0"/>
              <a:t>AND , </a:t>
            </a:r>
          </a:p>
          <a:p>
            <a:pPr lvl="1"/>
            <a:r>
              <a:rPr lang="en-US" dirty="0"/>
              <a:t>XOR,</a:t>
            </a:r>
          </a:p>
          <a:p>
            <a:pPr lvl="1"/>
            <a:r>
              <a:rPr lang="en-US" dirty="0"/>
              <a:t>OR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D11172-56A8-1F96-728C-10483E87F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65411207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CFA9C-7881-D44C-FBD7-3646B0711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48E6D5F-744D-F45D-7743-881CDF0120E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27131913"/>
              </p:ext>
            </p:extLst>
          </p:nvPr>
        </p:nvGraphicFramePr>
        <p:xfrm>
          <a:off x="950310" y="3429000"/>
          <a:ext cx="8784895" cy="189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979">
                  <a:extLst>
                    <a:ext uri="{9D8B030D-6E8A-4147-A177-3AD203B41FA5}">
                      <a16:colId xmlns:a16="http://schemas.microsoft.com/office/drawing/2014/main" val="4184432793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1084674688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2121035788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1496895670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4230776581"/>
                    </a:ext>
                  </a:extLst>
                </a:gridCol>
              </a:tblGrid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AND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OR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XOR 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4535812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725689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471183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658174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125282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35928E5-3976-66FD-A576-965DC0DB5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9788260"/>
              </p:ext>
            </p:extLst>
          </p:nvPr>
        </p:nvGraphicFramePr>
        <p:xfrm>
          <a:off x="950310" y="1839017"/>
          <a:ext cx="3619938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969">
                  <a:extLst>
                    <a:ext uri="{9D8B030D-6E8A-4147-A177-3AD203B41FA5}">
                      <a16:colId xmlns:a16="http://schemas.microsoft.com/office/drawing/2014/main" val="923450553"/>
                    </a:ext>
                  </a:extLst>
                </a:gridCol>
                <a:gridCol w="1809969">
                  <a:extLst>
                    <a:ext uri="{9D8B030D-6E8A-4147-A177-3AD203B41FA5}">
                      <a16:colId xmlns:a16="http://schemas.microsoft.com/office/drawing/2014/main" val="3015741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 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48649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7463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4500155"/>
                  </a:ext>
                </a:extLst>
              </a:tr>
            </a:tbl>
          </a:graphicData>
        </a:graphic>
      </p:graphicFrame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ED0B632-E3BD-4605-A56F-29BD0298B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13089335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2B2F3-3653-AB0D-1E39-97D458927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10AC6-5722-EADC-4BF4-254281F6B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5F6501D-1166-2DB8-5AE6-864FFE39E7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306533"/>
              </p:ext>
            </p:extLst>
          </p:nvPr>
        </p:nvGraphicFramePr>
        <p:xfrm>
          <a:off x="1117600" y="400129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56521852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5300491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4649717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751085645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3698897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(LSHIFT-2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(RSHIFT-3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(LCIRC-3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(RCIRC-1 X)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80463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01101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00001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10110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0878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9421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1110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0001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0111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63665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1011011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1101100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0001011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1011101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1101101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4033125"/>
                  </a:ext>
                </a:extLst>
              </a:tr>
            </a:tbl>
          </a:graphicData>
        </a:graphic>
      </p:graphicFrame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E2945A-A5F3-713F-EBD6-F32D5F84E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Linear shift , add 0s as padding ( either left or right)</a:t>
            </a:r>
          </a:p>
          <a:p>
            <a:pPr lvl="1"/>
            <a:r>
              <a:rPr lang="en-US" dirty="0"/>
              <a:t>Shifting by word size (or more) would result in all 0s</a:t>
            </a:r>
          </a:p>
          <a:p>
            <a:r>
              <a:rPr lang="en-US" dirty="0"/>
              <a:t>Circular shift just rolls over the bits ( as per direction)</a:t>
            </a:r>
          </a:p>
          <a:p>
            <a:pPr lvl="1"/>
            <a:r>
              <a:rPr lang="en-US" dirty="0"/>
              <a:t>Shifting by the number of word size , same bit sequence would be produced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4F85C7-8DDD-6F3E-CA30-012F6CABA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38665307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3AB4E-F19A-BB7D-F60A-959E8419E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85BE8-1CBF-4C83-9A22-9C383BD5EF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0110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1011 </a:t>
            </a:r>
          </a:p>
          <a:p>
            <a:r>
              <a:rPr lang="en-US" dirty="0"/>
              <a:t>1100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0101</a:t>
            </a:r>
          </a:p>
          <a:p>
            <a:r>
              <a:rPr lang="en-US" dirty="0"/>
              <a:t>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1111</a:t>
            </a:r>
          </a:p>
          <a:p>
            <a:r>
              <a:rPr lang="en-US" dirty="0"/>
              <a:t> 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1100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0001</a:t>
            </a:r>
          </a:p>
          <a:p>
            <a:r>
              <a:rPr lang="en-US" dirty="0"/>
              <a:t> 0011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1010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r>
              <a:rPr lang="en-US" dirty="0"/>
              <a:t>(1100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1010)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0039F9-4927-C643-FB68-EC0CF26E0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97238540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F13F6-DCD3-F70A-99B5-3DCB19518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07715-F916-4B95-F4FF-7837E4663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10971-A49D-885C-875C-44C95655F3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0110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1011 </a:t>
            </a:r>
          </a:p>
          <a:p>
            <a:r>
              <a:rPr lang="en-US" dirty="0"/>
              <a:t>1100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0101</a:t>
            </a:r>
          </a:p>
          <a:p>
            <a:r>
              <a:rPr lang="en-US" dirty="0"/>
              <a:t>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1111</a:t>
            </a:r>
          </a:p>
          <a:p>
            <a:r>
              <a:rPr lang="en-US" dirty="0"/>
              <a:t> 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1100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0001</a:t>
            </a:r>
          </a:p>
          <a:p>
            <a:r>
              <a:rPr lang="en-US" dirty="0"/>
              <a:t> 0011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1010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r>
              <a:rPr lang="en-US" dirty="0"/>
              <a:t>(1100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1010)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E09262-8A0F-6858-976A-183276173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103398990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7676B-DF2F-0D75-1F2F-D5706E969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: Shift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903CD-CB6C-2FEA-F395-0E130814EA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10101)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11010)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RCIRC-2</a:t>
            </a:r>
            <a:r>
              <a:rPr lang="en-US" dirty="0"/>
              <a:t> 01111)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LSHIFT-3</a:t>
            </a:r>
            <a:r>
              <a:rPr lang="en-US" dirty="0"/>
              <a:t> 10010)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11100)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XOR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LCIRC-2</a:t>
            </a:r>
            <a:r>
              <a:rPr lang="en-US" dirty="0"/>
              <a:t> 01011)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RCIRC-1</a:t>
            </a:r>
            <a:r>
              <a:rPr lang="en-US" dirty="0"/>
              <a:t> 10101)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11101)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LCIRC-3</a:t>
            </a:r>
            <a:r>
              <a:rPr lang="en-US" dirty="0"/>
              <a:t> 11001)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10110)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RCIRC-4</a:t>
            </a:r>
            <a:r>
              <a:rPr lang="en-US" dirty="0"/>
              <a:t> 10011)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01101)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LCIRC-1</a:t>
            </a:r>
            <a:r>
              <a:rPr lang="en-US" dirty="0"/>
              <a:t> 00111)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RCIRC-3</a:t>
            </a:r>
            <a:r>
              <a:rPr lang="en-US" dirty="0"/>
              <a:t> 10110)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11011)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421984-CC99-1FD5-74F2-4C5D7F940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85571696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BB2FC-C20D-29F2-EA67-7864CD433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Answsers</a:t>
            </a:r>
            <a:r>
              <a:rPr lang="en-US" dirty="0"/>
              <a:t> 1..3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C4EEE-6173-2D24-0658-2C120397B9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10101)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11010)</a:t>
            </a:r>
          </a:p>
          <a:p>
            <a:pPr lvl="1"/>
            <a:r>
              <a:rPr lang="en-US" dirty="0"/>
              <a:t>→ 01010 AND 00110 </a:t>
            </a:r>
          </a:p>
          <a:p>
            <a:pPr lvl="1"/>
            <a:r>
              <a:rPr lang="en-US" dirty="0"/>
              <a:t>→ </a:t>
            </a:r>
            <a:r>
              <a:rPr lang="en-US" b="1" dirty="0"/>
              <a:t>00010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RCIRC-2</a:t>
            </a:r>
            <a:r>
              <a:rPr lang="en-US" dirty="0"/>
              <a:t> 01111)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LSHIFT-3</a:t>
            </a:r>
            <a:r>
              <a:rPr lang="en-US" dirty="0"/>
              <a:t> 10010)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11011 OR 10000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</a:t>
            </a:r>
            <a:r>
              <a:rPr lang="en-US" b="1" dirty="0"/>
              <a:t>11011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11100)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XOR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LCIRC-2</a:t>
            </a:r>
            <a:r>
              <a:rPr lang="en-US" dirty="0"/>
              <a:t> 01011)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01110 XOR 01101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</a:t>
            </a:r>
            <a:r>
              <a:rPr lang="en-US" b="1" dirty="0"/>
              <a:t>00011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374131-785E-2A52-4D45-ED3F02C6C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8605638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9BD7F-A798-35AE-793C-868D060F5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4..6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7ECD0-8B39-0692-C574-6ABB3CEA7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RCIRC-1</a:t>
            </a:r>
            <a:r>
              <a:rPr lang="en-US" dirty="0"/>
              <a:t> 10101)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11101)</a:t>
            </a:r>
          </a:p>
          <a:p>
            <a:pPr lvl="1"/>
            <a:r>
              <a:rPr lang="en-US" dirty="0"/>
              <a:t>11000 OR 11010 AND 00011 </a:t>
            </a:r>
            <a:r>
              <a:rPr lang="en-US" i="1" dirty="0"/>
              <a:t>//parenthesis evaluated first</a:t>
            </a:r>
          </a:p>
          <a:p>
            <a:pPr lvl="1"/>
            <a:r>
              <a:rPr lang="en-US" dirty="0"/>
              <a:t>11000 OR 00010 </a:t>
            </a:r>
            <a:r>
              <a:rPr lang="en-US" i="1" dirty="0"/>
              <a:t>// And has higher precedence so evaluated first</a:t>
            </a:r>
          </a:p>
          <a:p>
            <a:pPr lvl="1"/>
            <a:r>
              <a:rPr lang="en-US" b="1" dirty="0"/>
              <a:t>11010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LCIRC-3</a:t>
            </a:r>
            <a:r>
              <a:rPr lang="en-US" dirty="0"/>
              <a:t> 11001)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10110)</a:t>
            </a:r>
          </a:p>
          <a:p>
            <a:pPr lvl="1"/>
            <a:r>
              <a:rPr lang="en-US" dirty="0"/>
              <a:t>01110 AND (RSHIFT-2 10110)</a:t>
            </a:r>
          </a:p>
          <a:p>
            <a:pPr lvl="1"/>
            <a:r>
              <a:rPr lang="en-US" dirty="0"/>
              <a:t>01110 AND 00101</a:t>
            </a:r>
          </a:p>
          <a:p>
            <a:pPr lvl="1"/>
            <a:r>
              <a:rPr lang="en-US" b="1" dirty="0"/>
              <a:t>00100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RCIRC-4</a:t>
            </a:r>
            <a:r>
              <a:rPr lang="en-US" dirty="0"/>
              <a:t> 10011)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01101)</a:t>
            </a:r>
          </a:p>
          <a:p>
            <a:pPr lvl="1"/>
            <a:r>
              <a:rPr lang="en-US" dirty="0"/>
              <a:t>00111 OR 11010</a:t>
            </a:r>
          </a:p>
          <a:p>
            <a:pPr lvl="1"/>
            <a:r>
              <a:rPr lang="en-US" b="1" dirty="0"/>
              <a:t>11111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01B45D-8860-0D15-A406-C0C4369BC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42750708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75B44-46CD-74DE-1EC2-6C3ABA92D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7..8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A9FC4-3A4E-8667-749A-CA557659A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7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LCIRC-1</a:t>
            </a:r>
            <a:r>
              <a:rPr lang="en-US" dirty="0"/>
              <a:t> 00111)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01010)</a:t>
            </a:r>
          </a:p>
          <a:p>
            <a:pPr lvl="1"/>
            <a:r>
              <a:rPr lang="en-US" dirty="0"/>
              <a:t>00011 AND 01110 OR (01000)</a:t>
            </a:r>
          </a:p>
          <a:p>
            <a:pPr lvl="1"/>
            <a:r>
              <a:rPr lang="en-US" dirty="0"/>
              <a:t>00010 OR 01000</a:t>
            </a:r>
          </a:p>
          <a:p>
            <a:pPr lvl="1"/>
            <a:r>
              <a:rPr lang="en-US" b="1" dirty="0"/>
              <a:t>01010</a:t>
            </a:r>
          </a:p>
          <a:p>
            <a:pPr marL="514350" indent="-514350">
              <a:buFont typeface="+mj-lt"/>
              <a:buAutoNum type="arabicPeriod" startAt="7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RCIRC-3</a:t>
            </a:r>
            <a:r>
              <a:rPr lang="en-US" dirty="0"/>
              <a:t> 10110)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11011)</a:t>
            </a:r>
          </a:p>
          <a:p>
            <a:pPr lvl="1"/>
            <a:r>
              <a:rPr lang="en-US" dirty="0"/>
              <a:t>11010 OR 11010 AND 01101</a:t>
            </a:r>
          </a:p>
          <a:p>
            <a:pPr lvl="1"/>
            <a:r>
              <a:rPr lang="en-US" dirty="0"/>
              <a:t>11010 OR 01000</a:t>
            </a:r>
          </a:p>
          <a:p>
            <a:pPr lvl="1"/>
            <a:r>
              <a:rPr lang="en-US" b="1" dirty="0"/>
              <a:t>11010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4BA331-E1C7-68C8-C5A0-75B2600E0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93034691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E72D7-0D7A-A4BC-D0BB-73DEB2298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Q1.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221D368-6BAD-6E79-AA4D-81A97D91F4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18414" y="1690688"/>
            <a:ext cx="4367986" cy="4220906"/>
          </a:xfrm>
        </p:spPr>
      </p:pic>
    </p:spTree>
    <p:extLst>
      <p:ext uri="{BB962C8B-B14F-4D97-AF65-F5344CB8AC3E}">
        <p14:creationId xmlns:p14="http://schemas.microsoft.com/office/powerpoint/2010/main" val="13660297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1F38E-FE26-1480-0E2C-4C0A63BA2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91228-AC4D-366F-3D99-F517F0A72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A1.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1D49E56-D5D1-6578-D76A-29A85AAE67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3490" y="1777399"/>
            <a:ext cx="10515600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i = 2 </a:t>
            </a:r>
          </a:p>
          <a:p>
            <a:pPr lvl="1"/>
            <a:r>
              <a:rPr lang="en-US" dirty="0"/>
              <a:t>num = 72</a:t>
            </a:r>
          </a:p>
          <a:p>
            <a:pPr lvl="1"/>
            <a:r>
              <a:rPr lang="en-US" dirty="0"/>
              <a:t>72 % 2 == 0 → yes</a:t>
            </a:r>
          </a:p>
          <a:p>
            <a:pPr lvl="2"/>
            <a:r>
              <a:rPr lang="en-US" dirty="0"/>
              <a:t>num = 36, count = 1</a:t>
            </a:r>
          </a:p>
          <a:p>
            <a:pPr lvl="1"/>
            <a:r>
              <a:rPr lang="en-US" dirty="0"/>
              <a:t>36 % 2 == 0 → yes</a:t>
            </a:r>
          </a:p>
          <a:p>
            <a:pPr lvl="2"/>
            <a:r>
              <a:rPr lang="en-US" dirty="0"/>
              <a:t>num = 18, count = 2</a:t>
            </a:r>
          </a:p>
          <a:p>
            <a:pPr lvl="1"/>
            <a:r>
              <a:rPr lang="en-US" dirty="0"/>
              <a:t>18 % 2 == 0 → yes</a:t>
            </a:r>
          </a:p>
          <a:p>
            <a:pPr lvl="2"/>
            <a:r>
              <a:rPr lang="en-US" dirty="0"/>
              <a:t>num = 9, count = 3</a:t>
            </a:r>
          </a:p>
          <a:p>
            <a:pPr lvl="1"/>
            <a:r>
              <a:rPr lang="en-US" dirty="0"/>
              <a:t>9 % 2 != 0 → stop</a:t>
            </a:r>
          </a:p>
          <a:p>
            <a:pPr lvl="1"/>
            <a:r>
              <a:rPr lang="en-US" dirty="0"/>
              <a:t>output → 2 3</a:t>
            </a:r>
          </a:p>
          <a:p>
            <a:r>
              <a:rPr lang="en-US" dirty="0"/>
              <a:t>I =3 </a:t>
            </a:r>
          </a:p>
          <a:p>
            <a:pPr lvl="1"/>
            <a:r>
              <a:rPr lang="en-US" dirty="0"/>
              <a:t>output → 3 2</a:t>
            </a:r>
          </a:p>
          <a:p>
            <a:r>
              <a:rPr lang="en-US" dirty="0"/>
              <a:t>I = 4 ,5, 6</a:t>
            </a:r>
          </a:p>
          <a:p>
            <a:pPr lvl="1"/>
            <a:r>
              <a:rPr lang="en-US" dirty="0"/>
              <a:t>num = 1  ( not divisible by any)</a:t>
            </a:r>
          </a:p>
          <a:p>
            <a:pPr lvl="1"/>
            <a:r>
              <a:rPr lang="en-US" dirty="0"/>
              <a:t>no output</a:t>
            </a:r>
          </a:p>
          <a:p>
            <a:pPr lvl="1"/>
            <a:endParaRPr lang="en-US" dirty="0"/>
          </a:p>
        </p:txBody>
      </p:sp>
      <p:pic>
        <p:nvPicPr>
          <p:cNvPr id="8" name="Content Placeholder 8">
            <a:extLst>
              <a:ext uri="{FF2B5EF4-FFF2-40B4-BE49-F238E27FC236}">
                <a16:creationId xmlns:a16="http://schemas.microsoft.com/office/drawing/2014/main" id="{2E061E9E-3254-CD26-4930-FE889E90EF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524" y="1777399"/>
            <a:ext cx="4367986" cy="4220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539927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19F7C-64A8-6BBF-B7BD-831EE9353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Q2.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B231ECF-E15A-8953-C520-04A6C2401B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4692" y="2030998"/>
            <a:ext cx="5260464" cy="3455402"/>
          </a:xfrm>
        </p:spPr>
      </p:pic>
    </p:spTree>
    <p:extLst>
      <p:ext uri="{BB962C8B-B14F-4D97-AF65-F5344CB8AC3E}">
        <p14:creationId xmlns:p14="http://schemas.microsoft.com/office/powerpoint/2010/main" val="22073187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CE9ED-6524-DC6A-EE50-03751C9CC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B9C47-A844-8024-1E13-0A333A267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A2.</a:t>
            </a:r>
          </a:p>
        </p:txBody>
      </p:sp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FB000280-F639-4E1F-E662-FF837C26BC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1906" y="1896991"/>
            <a:ext cx="5260464" cy="3455402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C5B5EE5-1473-E2E4-2C3B-DBE0CE8CD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Nested loop sum : 35</a:t>
            </a:r>
            <a:br>
              <a:rPr lang="en-US" dirty="0"/>
            </a:br>
            <a:endParaRPr lang="en-US" dirty="0"/>
          </a:p>
        </p:txBody>
      </p:sp>
      <p:graphicFrame>
        <p:nvGraphicFramePr>
          <p:cNvPr id="10" name="Content Placeholder 5">
            <a:extLst>
              <a:ext uri="{FF2B5EF4-FFF2-40B4-BE49-F238E27FC236}">
                <a16:creationId xmlns:a16="http://schemas.microsoft.com/office/drawing/2014/main" id="{29C28563-5938-2EFF-BD4F-B2A285E2A72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37903152"/>
              </p:ext>
            </p:extLst>
          </p:nvPr>
        </p:nvGraphicFramePr>
        <p:xfrm>
          <a:off x="1103654" y="2385301"/>
          <a:ext cx="4766441" cy="3526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610">
                  <a:extLst>
                    <a:ext uri="{9D8B030D-6E8A-4147-A177-3AD203B41FA5}">
                      <a16:colId xmlns:a16="http://schemas.microsoft.com/office/drawing/2014/main" val="2829498307"/>
                    </a:ext>
                  </a:extLst>
                </a:gridCol>
                <a:gridCol w="1470135">
                  <a:extLst>
                    <a:ext uri="{9D8B030D-6E8A-4147-A177-3AD203B41FA5}">
                      <a16:colId xmlns:a16="http://schemas.microsoft.com/office/drawing/2014/main" val="2236824969"/>
                    </a:ext>
                  </a:extLst>
                </a:gridCol>
                <a:gridCol w="913086">
                  <a:extLst>
                    <a:ext uri="{9D8B030D-6E8A-4147-A177-3AD203B41FA5}">
                      <a16:colId xmlns:a16="http://schemas.microsoft.com/office/drawing/2014/main" val="2084030851"/>
                    </a:ext>
                  </a:extLst>
                </a:gridCol>
                <a:gridCol w="1191610">
                  <a:extLst>
                    <a:ext uri="{9D8B030D-6E8A-4147-A177-3AD203B41FA5}">
                      <a16:colId xmlns:a16="http://schemas.microsoft.com/office/drawing/2014/main" val="1456409771"/>
                    </a:ext>
                  </a:extLst>
                </a:gridCol>
              </a:tblGrid>
              <a:tr h="587795">
                <a:tc>
                  <a:txBody>
                    <a:bodyPr/>
                    <a:lstStyle/>
                    <a:p>
                      <a:r>
                        <a:rPr lang="en-US" dirty="0" err="1"/>
                        <a:t>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i="1" dirty="0"/>
                        <a:t>Added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576104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1388876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3299306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53527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1+2+3+4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5088139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1+2+3+4+5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75966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458966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98296-BCFA-A4FD-8C84-FABA67255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Q3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B306B037-9002-F85B-D8E9-FE58D03DA7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84885" y="1887466"/>
            <a:ext cx="7176049" cy="361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1811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85DBA-9053-3108-1DE3-ACD6F7314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DE529-7D4D-7996-8BA8-098B84D61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A3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3988ECD-FF80-8C71-0489-3A4ED4542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want </a:t>
            </a:r>
          </a:p>
          <a:p>
            <a:pPr lvl="1"/>
            <a:r>
              <a:rPr lang="en-US" dirty="0"/>
              <a:t>Divisible by 3</a:t>
            </a:r>
          </a:p>
          <a:p>
            <a:pPr lvl="1"/>
            <a:r>
              <a:rPr lang="en-US" dirty="0"/>
              <a:t>NOT divisible by 4</a:t>
            </a:r>
          </a:p>
          <a:p>
            <a:r>
              <a:rPr lang="en-US" dirty="0"/>
              <a:t>15 + 18 = 33</a:t>
            </a:r>
          </a:p>
          <a:p>
            <a:endParaRPr lang="en-US" dirty="0"/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6AD4C6A4-CD8E-35B8-ED9E-5CDCED20B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8858" y="2022694"/>
            <a:ext cx="6049308" cy="3047141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D247C17-E352-B075-5C45-0F11A18FF056}"/>
              </a:ext>
            </a:extLst>
          </p:cNvPr>
          <p:cNvGraphicFramePr>
            <a:graphicFrameLocks noGrp="1"/>
          </p:cNvGraphicFramePr>
          <p:nvPr/>
        </p:nvGraphicFramePr>
        <p:xfrm>
          <a:off x="1086068" y="4001294"/>
          <a:ext cx="406925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7314">
                  <a:extLst>
                    <a:ext uri="{9D8B030D-6E8A-4147-A177-3AD203B41FA5}">
                      <a16:colId xmlns:a16="http://schemas.microsoft.com/office/drawing/2014/main" val="2572898738"/>
                    </a:ext>
                  </a:extLst>
                </a:gridCol>
                <a:gridCol w="1017314">
                  <a:extLst>
                    <a:ext uri="{9D8B030D-6E8A-4147-A177-3AD203B41FA5}">
                      <a16:colId xmlns:a16="http://schemas.microsoft.com/office/drawing/2014/main" val="3945718912"/>
                    </a:ext>
                  </a:extLst>
                </a:gridCol>
                <a:gridCol w="899511">
                  <a:extLst>
                    <a:ext uri="{9D8B030D-6E8A-4147-A177-3AD203B41FA5}">
                      <a16:colId xmlns:a16="http://schemas.microsoft.com/office/drawing/2014/main" val="126023410"/>
                    </a:ext>
                  </a:extLst>
                </a:gridCol>
                <a:gridCol w="1135117">
                  <a:extLst>
                    <a:ext uri="{9D8B030D-6E8A-4147-A177-3AD203B41FA5}">
                      <a16:colId xmlns:a16="http://schemas.microsoft.com/office/drawing/2014/main" val="9841564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%3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%4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Include?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8893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262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8857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00883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328217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8A494-CB44-23E6-6167-3B208E662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1C93A-4A24-101D-372C-39870A974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Q4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51F3A36-ABAF-E830-D679-95EBF73FA0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6462" y="1867741"/>
            <a:ext cx="5128799" cy="3975081"/>
          </a:xfrm>
        </p:spPr>
      </p:pic>
    </p:spTree>
    <p:extLst>
      <p:ext uri="{BB962C8B-B14F-4D97-AF65-F5344CB8AC3E}">
        <p14:creationId xmlns:p14="http://schemas.microsoft.com/office/powerpoint/2010/main" val="47296894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0E92F-AF49-7D7B-050E-B52B454BF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DE6CA-C955-4AC7-D595-48528D43D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0B678F-4154-33E1-671D-916FE686C7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9860"/>
            <a:ext cx="10515600" cy="4351338"/>
          </a:xfrm>
        </p:spPr>
        <p:txBody>
          <a:bodyPr/>
          <a:lstStyle/>
          <a:p>
            <a:r>
              <a:rPr lang="en-US" dirty="0"/>
              <a:t>Output 4</a:t>
            </a:r>
          </a:p>
        </p:txBody>
      </p:sp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A9B3C22B-857E-640E-DCC7-9205A3777F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144" y="1749500"/>
            <a:ext cx="5128799" cy="397508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9BEE48A-F157-1798-7EAE-1B4D145A2EED}"/>
              </a:ext>
            </a:extLst>
          </p:cNvPr>
          <p:cNvSpPr txBox="1"/>
          <p:nvPr/>
        </p:nvSpPr>
        <p:spPr>
          <a:xfrm>
            <a:off x="1062201" y="3545471"/>
            <a:ext cx="449514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/>
              <a:t>Step	digit	even?	count</a:t>
            </a:r>
          </a:p>
          <a:p>
            <a:r>
              <a:rPr lang="en-US" dirty="0"/>
              <a:t>8	yes	1	1</a:t>
            </a:r>
          </a:p>
          <a:p>
            <a:r>
              <a:rPr lang="en-US" dirty="0"/>
              <a:t>6	yes	2	2</a:t>
            </a:r>
          </a:p>
          <a:p>
            <a:r>
              <a:rPr lang="en-US" dirty="0"/>
              <a:t>4	yes	3	3</a:t>
            </a:r>
          </a:p>
          <a:p>
            <a:r>
              <a:rPr lang="en-US" dirty="0"/>
              <a:t>2	yes	4	4</a:t>
            </a:r>
          </a:p>
        </p:txBody>
      </p:sp>
    </p:spTree>
    <p:extLst>
      <p:ext uri="{BB962C8B-B14F-4D97-AF65-F5344CB8AC3E}">
        <p14:creationId xmlns:p14="http://schemas.microsoft.com/office/powerpoint/2010/main" val="152632207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1662D-56D1-A890-3A90-E5804BAF2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A77DD-319B-B8CB-067B-809A82565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Q5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C0C0A05-4862-B677-A23E-72B3ADC719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80142" y="1974397"/>
            <a:ext cx="5115858" cy="3761236"/>
          </a:xfrm>
        </p:spPr>
      </p:pic>
    </p:spTree>
    <p:extLst>
      <p:ext uri="{BB962C8B-B14F-4D97-AF65-F5344CB8AC3E}">
        <p14:creationId xmlns:p14="http://schemas.microsoft.com/office/powerpoint/2010/main" val="223730074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0BD29-74FC-E5C5-470F-3990F5AAC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79C6D-9E88-105F-5872-247603B44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A5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34BE19-7D70-249A-4EC2-6DAB233B06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Divide every element by 3</a:t>
            </a:r>
          </a:p>
          <a:p>
            <a:r>
              <a:rPr lang="en-US" dirty="0"/>
              <a:t>Output 1,2,3,4,5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sz="2000" b="1" u="sng" dirty="0"/>
              <a:t>Index	Original		New</a:t>
            </a:r>
          </a:p>
          <a:p>
            <a:pPr marL="0" indent="0">
              <a:buNone/>
            </a:pPr>
            <a:r>
              <a:rPr lang="en-US" sz="2000" dirty="0"/>
              <a:t>0	3		1</a:t>
            </a:r>
          </a:p>
          <a:p>
            <a:pPr marL="0" indent="0">
              <a:buNone/>
            </a:pPr>
            <a:r>
              <a:rPr lang="en-US" sz="2000" dirty="0"/>
              <a:t>1	6		2</a:t>
            </a:r>
          </a:p>
          <a:p>
            <a:pPr marL="0" indent="0">
              <a:buNone/>
            </a:pPr>
            <a:r>
              <a:rPr lang="en-US" sz="2000" dirty="0"/>
              <a:t>2	9		3</a:t>
            </a:r>
          </a:p>
          <a:p>
            <a:pPr marL="0" indent="0">
              <a:buNone/>
            </a:pPr>
            <a:r>
              <a:rPr lang="en-US" sz="2000" dirty="0"/>
              <a:t>3	12		4</a:t>
            </a:r>
          </a:p>
          <a:p>
            <a:pPr marL="0" indent="0">
              <a:buNone/>
            </a:pPr>
            <a:r>
              <a:rPr lang="en-US" sz="2000" dirty="0"/>
              <a:t>4	15		5</a:t>
            </a:r>
          </a:p>
        </p:txBody>
      </p:sp>
      <p:pic>
        <p:nvPicPr>
          <p:cNvPr id="5" name="Content Placeholder 8">
            <a:extLst>
              <a:ext uri="{FF2B5EF4-FFF2-40B4-BE49-F238E27FC236}">
                <a16:creationId xmlns:a16="http://schemas.microsoft.com/office/drawing/2014/main" id="{F3508B81-D07D-9A2E-711A-108335FFF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4391" y="1825625"/>
            <a:ext cx="5115858" cy="3761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37938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9EAE1-601F-A56C-2093-29AE055F3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DAB8B-D489-C7C1-2756-DEA23A56D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Q6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72843AFF-E13C-780D-9B6E-B591AD0F02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6549" y="1797789"/>
            <a:ext cx="4429201" cy="3822618"/>
          </a:xfrm>
        </p:spPr>
      </p:pic>
    </p:spTree>
    <p:extLst>
      <p:ext uri="{BB962C8B-B14F-4D97-AF65-F5344CB8AC3E}">
        <p14:creationId xmlns:p14="http://schemas.microsoft.com/office/powerpoint/2010/main" val="56950522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62DFB-A262-168F-C564-5942A84A8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8F048-1DC8-9E32-EFE2-3C47F27D6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021129-1CA9-751A-B267-B30A3E1BF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pass swap</a:t>
            </a:r>
          </a:p>
          <a:p>
            <a:pPr lvl="1"/>
            <a:r>
              <a:rPr lang="en-US" dirty="0"/>
              <a:t>Output  : 1,4,2,5</a:t>
            </a:r>
          </a:p>
          <a:p>
            <a:pPr lvl="1"/>
            <a:r>
              <a:rPr lang="en-US" b="1" dirty="0"/>
              <a:t>Note : not sorted</a:t>
            </a:r>
          </a:p>
          <a:p>
            <a:r>
              <a:rPr lang="en-US" dirty="0"/>
              <a:t>i =0 </a:t>
            </a:r>
          </a:p>
          <a:p>
            <a:pPr lvl="1"/>
            <a:r>
              <a:rPr lang="en-US" dirty="0"/>
              <a:t>5 &gt; 1 → swap → [1, 5, 4, 2]</a:t>
            </a:r>
          </a:p>
          <a:p>
            <a:r>
              <a:rPr lang="en-US" dirty="0"/>
              <a:t>i =1 </a:t>
            </a:r>
          </a:p>
          <a:p>
            <a:pPr lvl="1"/>
            <a:r>
              <a:rPr lang="en-US" dirty="0"/>
              <a:t>5 &gt; 4 → swap → [1, 4, 5, 2]</a:t>
            </a:r>
          </a:p>
          <a:p>
            <a:r>
              <a:rPr lang="en-US" dirty="0"/>
              <a:t>i = 2</a:t>
            </a:r>
          </a:p>
          <a:p>
            <a:pPr lvl="1"/>
            <a:r>
              <a:rPr lang="en-US" dirty="0"/>
              <a:t>5 &gt; 2 → swap → [1, 4, 2, 5]</a:t>
            </a:r>
          </a:p>
        </p:txBody>
      </p:sp>
      <p:pic>
        <p:nvPicPr>
          <p:cNvPr id="5" name="Content Placeholder 10">
            <a:extLst>
              <a:ext uri="{FF2B5EF4-FFF2-40B4-BE49-F238E27FC236}">
                <a16:creationId xmlns:a16="http://schemas.microsoft.com/office/drawing/2014/main" id="{8FF07BF5-47E4-D416-E383-A4DE39565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3763" y="1794094"/>
            <a:ext cx="4429201" cy="3822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00530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41701-2B07-168C-3CE8-98E848A82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690C7-DB50-C566-790E-BA6542271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Q7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25D88EB9-52CD-71F3-E0F2-B1C3E81007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3579" y="1865448"/>
            <a:ext cx="6035752" cy="3857435"/>
          </a:xfrm>
        </p:spPr>
      </p:pic>
    </p:spTree>
    <p:extLst>
      <p:ext uri="{BB962C8B-B14F-4D97-AF65-F5344CB8AC3E}">
        <p14:creationId xmlns:p14="http://schemas.microsoft.com/office/powerpoint/2010/main" val="223439823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F3EA2-E343-1A42-A5E7-A2086BD5E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C3823-B7E6-19CD-407F-88073F85E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B6A43E-791C-1ED0-32A3-D7FAA0FD79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Output 5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r>
              <a:rPr lang="pt-BR" sz="2000" b="1" u="sng" dirty="0"/>
              <a:t>Step  i	result	action</a:t>
            </a:r>
          </a:p>
          <a:p>
            <a:pPr marL="457200" lvl="1" indent="0">
              <a:buNone/>
            </a:pPr>
            <a:r>
              <a:rPr lang="pt-BR" sz="2000" dirty="0"/>
              <a:t>1	   1	1	result &lt; 50 continue</a:t>
            </a:r>
          </a:p>
          <a:p>
            <a:pPr marL="457200" lvl="1" indent="0">
              <a:buNone/>
            </a:pPr>
            <a:r>
              <a:rPr lang="pt-BR" sz="2000" dirty="0"/>
              <a:t>2	   2	2	result &lt; 50 continue</a:t>
            </a:r>
          </a:p>
          <a:p>
            <a:pPr marL="457200" lvl="1" indent="0">
              <a:buNone/>
            </a:pPr>
            <a:r>
              <a:rPr lang="pt-BR" sz="2000" dirty="0"/>
              <a:t>3	   3	6	result &lt; 50 continue</a:t>
            </a:r>
          </a:p>
          <a:p>
            <a:pPr marL="457200" lvl="1" indent="0">
              <a:buNone/>
            </a:pPr>
            <a:r>
              <a:rPr lang="pt-BR" sz="2000" dirty="0"/>
              <a:t>4	   4	24	result &lt; 50 continue</a:t>
            </a:r>
          </a:p>
          <a:p>
            <a:pPr marL="457200" lvl="1" indent="0">
              <a:buNone/>
            </a:pPr>
            <a:r>
              <a:rPr lang="pt-BR" sz="2000" dirty="0"/>
              <a:t>5	   5	120	</a:t>
            </a:r>
            <a:r>
              <a:rPr lang="pt-BR" sz="2000" b="1" dirty="0"/>
              <a:t>result &gt; 50 break</a:t>
            </a:r>
          </a:p>
          <a:p>
            <a:pPr marL="457200" lvl="1" indent="0">
              <a:buNone/>
            </a:pPr>
            <a:endParaRPr lang="pt-BR" sz="2000" dirty="0"/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7A3A6A90-E3AB-179D-99A4-778692989F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2648" y="2072576"/>
            <a:ext cx="6035752" cy="3857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037848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B562B-2D71-9CBF-878B-99DEB2172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Boolean Logic/Algebra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D7531D-AC28-E02E-BDE8-C3CB0B3830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inputs are    : 0,1 {only}</a:t>
                </a:r>
              </a:p>
              <a:p>
                <a:r>
                  <a:rPr lang="en-US" dirty="0"/>
                  <a:t>The outputs are : 0,1 {only}</a:t>
                </a:r>
              </a:p>
              <a:p>
                <a:r>
                  <a:rPr lang="en-US" dirty="0"/>
                  <a:t>Operators </a:t>
                </a:r>
              </a:p>
              <a:p>
                <a:pPr lvl="1"/>
                <a:r>
                  <a:rPr lang="en-US" dirty="0"/>
                  <a:t>()</a:t>
                </a:r>
              </a:p>
              <a:p>
                <a:pPr lvl="1"/>
                <a:r>
                  <a:rPr lang="en-US" dirty="0"/>
                  <a:t>NOT </a:t>
                </a:r>
                <a:r>
                  <a:rPr lang="en-US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𝐴</m:t>
                        </m:r>
                      </m:e>
                    </m:acc>
                  </m:oMath>
                </a14:m>
                <a:endParaRPr lang="en-US" dirty="0">
                  <a:sym typeface="Wingdings" panose="05000000000000000000" pitchFamily="2" charset="2"/>
                </a:endParaRPr>
              </a:p>
              <a:p>
                <a:pPr lvl="1"/>
                <a:r>
                  <a:rPr lang="en-US" dirty="0"/>
                  <a:t>AND</a:t>
                </a:r>
                <a:r>
                  <a:rPr lang="en-US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.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𝐵</m:t>
                    </m:r>
                  </m:oMath>
                </a14:m>
                <a:endParaRPr lang="en-US" dirty="0">
                  <a:sym typeface="Wingdings" panose="05000000000000000000" pitchFamily="2" charset="2"/>
                </a:endParaRPr>
              </a:p>
              <a:p>
                <a:pPr lvl="1"/>
                <a:r>
                  <a:rPr lang="en-US" dirty="0"/>
                  <a:t>XOR </a:t>
                </a:r>
                <a:r>
                  <a:rPr lang="en-US" dirty="0">
                    <a:sym typeface="Wingdings" panose="05000000000000000000" pitchFamily="2" charset="2"/>
                  </a:rPr>
                  <a:t>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𝐴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⊕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𝐵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XNOR </a:t>
                </a:r>
                <a:r>
                  <a:rPr lang="en-US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dirty="0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𝐴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⊕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𝐵</m:t>
                        </m:r>
                      </m:e>
                    </m:acc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OR    </a:t>
                </a:r>
                <a:r>
                  <a:rPr lang="en-US" dirty="0">
                    <a:sym typeface="Wingdings" panose="05000000000000000000" pitchFamily="2" charset="2"/>
                  </a:rPr>
                  <a:t>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𝐵</m:t>
                    </m:r>
                  </m:oMath>
                </a14:m>
                <a:endParaRPr lang="en-US" dirty="0"/>
              </a:p>
              <a:p>
                <a:pPr lvl="2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D7531D-AC28-E02E-BDE8-C3CB0B3830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231486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EF463-8E69-9B0E-5E1E-A8A4361A3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9F375-B6F2-5C4F-0378-385B893AA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 </a:t>
            </a:r>
            <a:r>
              <a:rPr lang="en-US" sz="2000" dirty="0"/>
              <a:t>( same as bitwise operations </a:t>
            </a:r>
            <a:r>
              <a:rPr lang="en-US" sz="2000" dirty="0">
                <a:sym typeface="Wingdings" panose="05000000000000000000" pitchFamily="2" charset="2"/>
              </a:rPr>
              <a:t> easy</a:t>
            </a:r>
            <a:r>
              <a:rPr lang="en-US" sz="20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85C206E2-06FC-C7B2-FAED-73E2B11D88E4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83151470"/>
                  </p:ext>
                </p:extLst>
              </p:nvPr>
            </p:nvGraphicFramePr>
            <p:xfrm>
              <a:off x="950310" y="3429000"/>
              <a:ext cx="8784895" cy="1899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6979">
                      <a:extLst>
                        <a:ext uri="{9D8B030D-6E8A-4147-A177-3AD203B41FA5}">
                          <a16:colId xmlns:a16="http://schemas.microsoft.com/office/drawing/2014/main" val="4184432793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0846746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21210357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496895670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4230776581"/>
                        </a:ext>
                      </a:extLst>
                    </a:gridCol>
                  </a:tblGrid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  <a:sym typeface="Wingdings" panose="05000000000000000000" pitchFamily="2" charset="2"/>
                                  </a:rPr>
                                  <m:t>⊕</m:t>
                                </m:r>
                                <m:r>
                                  <m:rPr>
                                    <m:nor/>
                                  </m:rPr>
                                  <a:rPr lang="en-US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en-US" dirty="0"/>
                                  <m:t>Y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4535812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8725689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9471183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8658174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7125282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85C206E2-06FC-C7B2-FAED-73E2B11D88E4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83151470"/>
                  </p:ext>
                </p:extLst>
              </p:nvPr>
            </p:nvGraphicFramePr>
            <p:xfrm>
              <a:off x="950310" y="3429000"/>
              <a:ext cx="8784895" cy="1899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6979">
                      <a:extLst>
                        <a:ext uri="{9D8B030D-6E8A-4147-A177-3AD203B41FA5}">
                          <a16:colId xmlns:a16="http://schemas.microsoft.com/office/drawing/2014/main" val="4184432793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0846746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21210357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496895670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4230776581"/>
                        </a:ext>
                      </a:extLst>
                    </a:gridCol>
                  </a:tblGrid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694" t="-6349" r="-202083" b="-4190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99654" t="-6349" r="-101384" b="-4190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1042" t="-6349" r="-1736" b="-4190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94535812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8725689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9471183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8658174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7125282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04EA78DC-E72B-AA3F-DD05-4D1D66508E4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60588175"/>
                  </p:ext>
                </p:extLst>
              </p:nvPr>
            </p:nvGraphicFramePr>
            <p:xfrm>
              <a:off x="950310" y="1839017"/>
              <a:ext cx="3619938" cy="1112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09969">
                      <a:extLst>
                        <a:ext uri="{9D8B030D-6E8A-4147-A177-3AD203B41FA5}">
                          <a16:colId xmlns:a16="http://schemas.microsoft.com/office/drawing/2014/main" val="923450553"/>
                        </a:ext>
                      </a:extLst>
                    </a:gridCol>
                    <a:gridCol w="1809969">
                      <a:extLst>
                        <a:ext uri="{9D8B030D-6E8A-4147-A177-3AD203B41FA5}">
                          <a16:colId xmlns:a16="http://schemas.microsoft.com/office/drawing/2014/main" val="30157419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486493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374631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8450015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04EA78DC-E72B-AA3F-DD05-4D1D66508E4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60588175"/>
                  </p:ext>
                </p:extLst>
              </p:nvPr>
            </p:nvGraphicFramePr>
            <p:xfrm>
              <a:off x="950310" y="1839017"/>
              <a:ext cx="3619938" cy="1112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09969">
                      <a:extLst>
                        <a:ext uri="{9D8B030D-6E8A-4147-A177-3AD203B41FA5}">
                          <a16:colId xmlns:a16="http://schemas.microsoft.com/office/drawing/2014/main" val="923450553"/>
                        </a:ext>
                      </a:extLst>
                    </a:gridCol>
                    <a:gridCol w="1809969">
                      <a:extLst>
                        <a:ext uri="{9D8B030D-6E8A-4147-A177-3AD203B41FA5}">
                          <a16:colId xmlns:a16="http://schemas.microsoft.com/office/drawing/2014/main" val="30157419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673" t="-6557" r="-1347" b="-2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1486493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374631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8450015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AD3397B-377F-7A84-0DDF-99BD55E4C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38060965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3C287-FA78-3AE8-013F-3406E803B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expressions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F2FEC-2754-1535-B2D9-82B5447468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Evaluate for A = 1 , B = 0 , C =0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dirty="0"/>
                  <a:t>.B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F2FEC-2754-1535-B2D9-82B5447468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880967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E6A50-A7B2-0EAB-DAA1-4E6F7C1B0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Rules/Discovery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09C67C-D956-457B-6C5F-D3356D10E3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Identity</a:t>
                </a:r>
              </a:p>
              <a:p>
                <a:pPr lvl="1"/>
                <a:r>
                  <a:rPr lang="en-US" dirty="0"/>
                  <a:t>A + 0 = A</a:t>
                </a:r>
              </a:p>
              <a:p>
                <a:pPr lvl="1"/>
                <a:r>
                  <a:rPr lang="en-US" dirty="0"/>
                  <a:t>A  . 1 = A</a:t>
                </a:r>
              </a:p>
              <a:p>
                <a:pPr lvl="1"/>
                <a:r>
                  <a:rPr lang="en-US" dirty="0"/>
                  <a:t>A + 1 = 1</a:t>
                </a:r>
              </a:p>
              <a:p>
                <a:pPr lvl="1"/>
                <a:r>
                  <a:rPr lang="en-US" dirty="0"/>
                  <a:t>A  . 0 = 0 </a:t>
                </a:r>
              </a:p>
              <a:p>
                <a:r>
                  <a:rPr lang="en-US" dirty="0"/>
                  <a:t>Idempotent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= A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.  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= A</a:t>
                </a:r>
              </a:p>
              <a:p>
                <a:r>
                  <a:rPr lang="en-US" dirty="0"/>
                  <a:t>Complement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dirty="0"/>
                  <a:t> = 1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m:rPr>
                        <m:nor/>
                      </m:rPr>
                      <a:rPr lang="en-US" dirty="0"/>
                      <m:t> = </m:t>
                    </m:r>
                    <m:r>
                      <m:rPr>
                        <m:nor/>
                      </m:rPr>
                      <a:rPr lang="en-US" b="0" i="0" dirty="0" smtClean="0"/>
                      <m:t>0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09C67C-D956-457B-6C5F-D3356D10E3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 b="-4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800727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FF6AD-9969-0048-8C5F-54BA5AA34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more rules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CA680E-8CFC-1B8B-7486-EFBB399E03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Double Negation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̿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  <a:p>
                <a:r>
                  <a:rPr lang="en-US" b="0" dirty="0"/>
                  <a:t>Absorption law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b="0" dirty="0"/>
              </a:p>
              <a:p>
                <a:r>
                  <a:rPr lang="en-US" b="1" dirty="0"/>
                  <a:t>Distribution law </a:t>
                </a:r>
                <a:br>
                  <a:rPr lang="en-US" b="1" dirty="0"/>
                </a:br>
                <a:r>
                  <a:rPr lang="en-US" dirty="0"/>
                  <a:t>(symmetrical to both . and +)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)+(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CA680E-8CFC-1B8B-7486-EFBB399E03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460900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4F640-25A8-B0E4-213D-D5B78CE0B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it yourself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EB442C-84D6-F51D-7B8F-DF5C3E1F83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Hint : These may be actual theorems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=?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=?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b="0" dirty="0"/>
              </a:p>
              <a:p>
                <a:pPr lvl="1"/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EB442C-84D6-F51D-7B8F-DF5C3E1F83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164920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A1F26-A2A5-5B10-3A4B-5A4D0A63B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8C453-735D-9943-1D52-9282A0E3A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Solved </a:t>
            </a:r>
            <a:r>
              <a:rPr lang="en-US" sz="2000" dirty="0"/>
              <a:t>(and named)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6A9DC8-04AF-13CC-E010-C4639C34E1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Hint : These may be actual theorems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dirty="0"/>
              </a:p>
              <a:p>
                <a:pPr lvl="2"/>
                <a:r>
                  <a:rPr lang="en-US" dirty="0" err="1"/>
                  <a:t>DeMorgan’s</a:t>
                </a:r>
                <a:r>
                  <a:rPr lang="en-US" dirty="0"/>
                  <a:t> law 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2"/>
                <a:r>
                  <a:rPr lang="en-US" dirty="0" err="1"/>
                  <a:t>DeMorgan’s</a:t>
                </a:r>
                <a:r>
                  <a:rPr lang="en-US" dirty="0"/>
                  <a:t> law (again)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Consensus theorem </a:t>
                </a:r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Redundancy law</a:t>
                </a:r>
              </a:p>
              <a:p>
                <a:pPr lvl="2"/>
                <a:r>
                  <a:rPr lang="en-US" dirty="0"/>
                  <a:t>Also called, Second Absorption law</a:t>
                </a:r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Redundancy law (again)</a:t>
                </a:r>
              </a:p>
              <a:p>
                <a:pPr lvl="2"/>
                <a:r>
                  <a:rPr lang="en-US" b="0" dirty="0"/>
                  <a:t>Also called , Third distributive law</a:t>
                </a:r>
              </a:p>
              <a:p>
                <a:pPr lvl="2"/>
                <a:endParaRPr lang="en-US" b="0" dirty="0"/>
              </a:p>
              <a:p>
                <a:pPr lvl="2"/>
                <a:endParaRPr lang="en-US" b="0" dirty="0"/>
              </a:p>
              <a:p>
                <a:pPr lvl="1"/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6A9DC8-04AF-13CC-E010-C4639C34E1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2801" b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0965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2A8DE-70D1-F0C4-50B6-932DB537A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Lets Simplify 1..4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F0D293-2E99-8E01-9D02-C3EB766841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b="0" dirty="0"/>
              </a:p>
              <a:p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F0D293-2E99-8E01-9D02-C3EB766841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952882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B0124-F2C3-D388-3D32-C9F41B159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0C5AF-27A6-2DE7-E719-D9C62BD3D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Lets Simplify 1..4 : answers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0895C6-0364-139E-297D-2D74CFF1C0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By Absorption law = A, OR</a:t>
                </a:r>
              </a:p>
              <a:p>
                <a:pPr lvl="2"/>
                <a:r>
                  <a:rPr lang="en-US" dirty="0"/>
                  <a:t>A.A + A.B</a:t>
                </a:r>
              </a:p>
              <a:p>
                <a:pPr lvl="2"/>
                <a:r>
                  <a:rPr lang="en-US" dirty="0"/>
                  <a:t>A + AB  </a:t>
                </a:r>
                <a:r>
                  <a:rPr lang="en-US" dirty="0">
                    <a:solidFill>
                      <a:srgbClr val="00B050"/>
                    </a:solidFill>
                  </a:rPr>
                  <a:t>//(A.A = A), Idempotent Law</a:t>
                </a:r>
              </a:p>
              <a:p>
                <a:pPr lvl="2"/>
                <a:r>
                  <a:rPr lang="en-US" dirty="0"/>
                  <a:t>A (1+ B) </a:t>
                </a:r>
                <a:r>
                  <a:rPr lang="en-US" dirty="0">
                    <a:solidFill>
                      <a:srgbClr val="00B050"/>
                    </a:solidFill>
                  </a:rPr>
                  <a:t>// factor A out</a:t>
                </a:r>
              </a:p>
              <a:p>
                <a:pPr lvl="2"/>
                <a:r>
                  <a:rPr lang="en-US" dirty="0"/>
                  <a:t>A </a:t>
                </a:r>
                <a:r>
                  <a:rPr lang="en-US" dirty="0">
                    <a:solidFill>
                      <a:srgbClr val="00B050"/>
                    </a:solidFill>
                  </a:rPr>
                  <a:t>// By null law 1+B = 1 and A.1 = 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B) </a:t>
                </a:r>
                <a:r>
                  <a:rPr lang="en-US" dirty="0">
                    <a:solidFill>
                      <a:srgbClr val="00B050"/>
                    </a:solidFill>
                  </a:rPr>
                  <a:t>//Distribution law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i="1" dirty="0">
                    <a:latin typeface="Cambria Math" panose="02040503050406030204" pitchFamily="18" charset="0"/>
                  </a:rPr>
                  <a:t>1.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B) </a:t>
                </a:r>
                <a:r>
                  <a:rPr lang="en-US" dirty="0">
                    <a:solidFill>
                      <a:srgbClr val="00B050"/>
                    </a:solidFill>
                  </a:rPr>
                  <a:t>// By Complement law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>
                  <a:solidFill>
                    <a:srgbClr val="00B050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b="0" dirty="0"/>
                  <a:t> B </a:t>
                </a:r>
              </a:p>
              <a:p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)+(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rgbClr val="00B050"/>
                    </a:solidFill>
                  </a:rPr>
                  <a:t>//Distribution law</a:t>
                </a:r>
              </a:p>
              <a:p>
                <a:pPr lvl="1"/>
                <a:r>
                  <a:rPr lang="en-US" b="0" dirty="0"/>
                  <a:t>A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+0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rgbClr val="00B050"/>
                    </a:solidFill>
                  </a:rPr>
                  <a:t>//Idempotent law + Complement law</a:t>
                </a:r>
              </a:p>
              <a:p>
                <a:pPr lvl="1"/>
                <a:r>
                  <a:rPr lang="en-US" b="0" dirty="0"/>
                  <a:t>A</a:t>
                </a:r>
                <a:endParaRPr lang="en-US" dirty="0">
                  <a:solidFill>
                    <a:srgbClr val="00B050"/>
                  </a:solidFill>
                </a:endParaRP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0895C6-0364-139E-297D-2D74CFF1C0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120" b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827030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01777-7C6F-76BE-45C2-4D03B4DC5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Lets Simplify 5..11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2C71F2-ACC9-E416-C317-D9E32AD458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These are hard , think of them as puzzles,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.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2C71F2-ACC9-E416-C317-D9E32AD458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123137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C7ACA-4DBD-62AB-39CA-F2A3B56B9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CED5D-CF97-64FD-7F0B-F9E29704E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Create truth table for each and </a:t>
                </a:r>
                <a:r>
                  <a:rPr lang="en-US" dirty="0" err="1"/>
                  <a:t>validat</a:t>
                </a:r>
                <a:r>
                  <a:rPr lang="en-US" dirty="0"/>
                  <a:t>/discover simplifications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 = A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= 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b="0" dirty="0"/>
                  <a:t> =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/>
                  <a:t> B </a:t>
                </a:r>
                <a:endParaRPr lang="en-US" b="0" dirty="0"/>
              </a:p>
              <a:p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r>
                  <a:rPr lang="en-US" b="0" dirty="0"/>
                  <a:t> </a:t>
                </a:r>
                <a:r>
                  <a:rPr lang="en-US" dirty="0"/>
                  <a:t>= A</a:t>
                </a:r>
                <a:endParaRPr lang="en-US" b="0" dirty="0"/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=?</a:t>
                </a:r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CED5D-CF97-64FD-7F0B-F9E29704E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006066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434AD-E6F7-D00B-CB66-20747A08B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Practice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15EE43-FFCC-BF84-FE5A-6984F2C469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Specific to Test2 ,</a:t>
            </a:r>
            <a:r>
              <a:rPr lang="en-US" i="1" dirty="0"/>
              <a:t>(skip if you are already done with test 2)</a:t>
            </a:r>
          </a:p>
          <a:p>
            <a:pPr lvl="1"/>
            <a:r>
              <a:rPr lang="en-US" dirty="0">
                <a:hlinkClick r:id="rId2"/>
              </a:rPr>
              <a:t>https://www.hackerrank.com/acsltest2practise</a:t>
            </a:r>
            <a:r>
              <a:rPr lang="en-US" dirty="0"/>
              <a:t> </a:t>
            </a:r>
          </a:p>
          <a:p>
            <a:r>
              <a:rPr lang="en-US" dirty="0"/>
              <a:t>Specific to Test 3</a:t>
            </a:r>
          </a:p>
          <a:p>
            <a:pPr lvl="1"/>
            <a:r>
              <a:rPr lang="en-US" dirty="0">
                <a:hlinkClick r:id="rId3"/>
              </a:rPr>
              <a:t>https://www.hackerrank.com/acsltest3practise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Knowledge needed</a:t>
            </a:r>
          </a:p>
          <a:p>
            <a:pPr lvl="2"/>
            <a:r>
              <a:rPr lang="en-US" dirty="0"/>
              <a:t>New: Stacks and Queues</a:t>
            </a:r>
          </a:p>
          <a:p>
            <a:pPr lvl="2"/>
            <a:r>
              <a:rPr lang="en-US"/>
              <a:t>Existing</a:t>
            </a:r>
            <a:r>
              <a:rPr lang="en-US" dirty="0"/>
              <a:t>: if else, loops, arrays, functions, …</a:t>
            </a:r>
          </a:p>
        </p:txBody>
      </p:sp>
    </p:spTree>
    <p:extLst>
      <p:ext uri="{BB962C8B-B14F-4D97-AF65-F5344CB8AC3E}">
        <p14:creationId xmlns:p14="http://schemas.microsoft.com/office/powerpoint/2010/main" val="20533296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3266</TotalTime>
  <Words>4949</Words>
  <Application>Microsoft Office PowerPoint</Application>
  <PresentationFormat>Widescreen</PresentationFormat>
  <Paragraphs>1024</Paragraphs>
  <Slides>81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91" baseType="lpstr">
      <vt:lpstr>Aptos</vt:lpstr>
      <vt:lpstr>Aptos Display</vt:lpstr>
      <vt:lpstr>Aptos Narrow</vt:lpstr>
      <vt:lpstr>Arial</vt:lpstr>
      <vt:lpstr>Bahnschrift SemiBold</vt:lpstr>
      <vt:lpstr>Cambria Math</vt:lpstr>
      <vt:lpstr>Cascadia Code</vt:lpstr>
      <vt:lpstr>Consolas</vt:lpstr>
      <vt:lpstr>Wingdings</vt:lpstr>
      <vt:lpstr>Office Theme</vt:lpstr>
      <vt:lpstr>Exploring Computer Science Concepts</vt:lpstr>
      <vt:lpstr>Number Systems</vt:lpstr>
      <vt:lpstr>Digits per base</vt:lpstr>
      <vt:lpstr>Counting in Decimal </vt:lpstr>
      <vt:lpstr>Counting in other bases</vt:lpstr>
      <vt:lpstr>Place Values </vt:lpstr>
      <vt:lpstr>Place values Converting binary decimal</vt:lpstr>
      <vt:lpstr>Converting Binary to Decimal</vt:lpstr>
      <vt:lpstr>Converting Decimal to Binary </vt:lpstr>
      <vt:lpstr>Exercises</vt:lpstr>
      <vt:lpstr>Challenge</vt:lpstr>
      <vt:lpstr>Place values Converting octal,hexadecimaldecimal</vt:lpstr>
      <vt:lpstr>Converting Decimal to Octal </vt:lpstr>
      <vt:lpstr>Exercises</vt:lpstr>
      <vt:lpstr>Converting Decimal to Hexadecimal </vt:lpstr>
      <vt:lpstr> Hexadecimal  Octal </vt:lpstr>
      <vt:lpstr>Octal  Hexadecimal</vt:lpstr>
      <vt:lpstr>Exercises</vt:lpstr>
      <vt:lpstr>Recursion : programming</vt:lpstr>
      <vt:lpstr>Relations</vt:lpstr>
      <vt:lpstr>Functions , mathematical kind</vt:lpstr>
      <vt:lpstr>Evaluating functions</vt:lpstr>
      <vt:lpstr>Recursive Functions</vt:lpstr>
      <vt:lpstr>Programming, , Test #1</vt:lpstr>
      <vt:lpstr>Test 1, observations</vt:lpstr>
      <vt:lpstr>Test 2 , analysis</vt:lpstr>
      <vt:lpstr>Topics for Test 2</vt:lpstr>
      <vt:lpstr>Infix expressions</vt:lpstr>
      <vt:lpstr>Expression : anatomy </vt:lpstr>
      <vt:lpstr>Prefix/Postfix expressions</vt:lpstr>
      <vt:lpstr>Evaluating expression,  but first Stacks and Queues </vt:lpstr>
      <vt:lpstr>Evaluating prefix expression</vt:lpstr>
      <vt:lpstr>Evaluating postfix expression</vt:lpstr>
      <vt:lpstr>Evaluate </vt:lpstr>
      <vt:lpstr>Answers </vt:lpstr>
      <vt:lpstr>Practice: Programming </vt:lpstr>
      <vt:lpstr>Review Evaluating Prefix/Postfix</vt:lpstr>
      <vt:lpstr>Precedence and associativity</vt:lpstr>
      <vt:lpstr>Precedence and associativity</vt:lpstr>
      <vt:lpstr>Precedence and associativity (lets evaluate)</vt:lpstr>
      <vt:lpstr>Precedence and associativity (answers)</vt:lpstr>
      <vt:lpstr>Convert to Prefix/Postfix (examples)</vt:lpstr>
      <vt:lpstr>Convert to Postfix</vt:lpstr>
      <vt:lpstr>Convert to Postfix</vt:lpstr>
      <vt:lpstr>Convert to Prefix and Postfix</vt:lpstr>
      <vt:lpstr>Convert to Prefix and Postfix (answers)</vt:lpstr>
      <vt:lpstr>Logical operators (for bits/bytes)</vt:lpstr>
      <vt:lpstr>Truth Tables</vt:lpstr>
      <vt:lpstr>Truth Tables</vt:lpstr>
      <vt:lpstr>Operations (evaluate)</vt:lpstr>
      <vt:lpstr>Operations (evaluate)</vt:lpstr>
      <vt:lpstr>Operations : Shift (evaluate)</vt:lpstr>
      <vt:lpstr>Answsers 1..3</vt:lpstr>
      <vt:lpstr>Answers 4..6</vt:lpstr>
      <vt:lpstr>Answers 7..8</vt:lpstr>
      <vt:lpstr>What does this Program do ? Q1.</vt:lpstr>
      <vt:lpstr>What does this Program do ? A1.</vt:lpstr>
      <vt:lpstr>What does this Program do ? Q2.</vt:lpstr>
      <vt:lpstr>What does this Program do ? A2.</vt:lpstr>
      <vt:lpstr>What does this Program do ? Q3</vt:lpstr>
      <vt:lpstr>What does this Program do ? A3</vt:lpstr>
      <vt:lpstr>What does this Program do ? Q4</vt:lpstr>
      <vt:lpstr>What does this Program do ? A4</vt:lpstr>
      <vt:lpstr>What does this Program do ? Q5</vt:lpstr>
      <vt:lpstr>What does this Program do ? A5</vt:lpstr>
      <vt:lpstr>What does this Program do ? Q6</vt:lpstr>
      <vt:lpstr>What does this Program do ? A6</vt:lpstr>
      <vt:lpstr>What does this Program do ? Q7</vt:lpstr>
      <vt:lpstr>What does this Program do ? A7</vt:lpstr>
      <vt:lpstr>Boolean Logic/Algebra</vt:lpstr>
      <vt:lpstr>Truth Tables ( same as bitwise operations  easy)</vt:lpstr>
      <vt:lpstr>Some expressions</vt:lpstr>
      <vt:lpstr>Rules/Discovery</vt:lpstr>
      <vt:lpstr>Some more rules</vt:lpstr>
      <vt:lpstr>Do it yourself </vt:lpstr>
      <vt:lpstr>Solved (and named)</vt:lpstr>
      <vt:lpstr>Lets Simplify 1..4</vt:lpstr>
      <vt:lpstr>Lets Simplify 1..4 : answers</vt:lpstr>
      <vt:lpstr>Lets Simplify 5..11</vt:lpstr>
      <vt:lpstr>Truth Tables</vt:lpstr>
      <vt:lpstr>Programming Practice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Sankalp Gupta</dc:creator>
  <cp:lastModifiedBy>Sankalp Gupta</cp:lastModifiedBy>
  <cp:revision>44</cp:revision>
  <dcterms:created xsi:type="dcterms:W3CDTF">2025-12-04T21:37:48Z</dcterms:created>
  <dcterms:modified xsi:type="dcterms:W3CDTF">2026-02-27T00:14:28Z</dcterms:modified>
</cp:coreProperties>
</file>