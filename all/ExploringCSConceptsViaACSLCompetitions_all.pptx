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1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300" r:id="rId38"/>
    <p:sldId id="301" r:id="rId39"/>
    <p:sldId id="310" r:id="rId40"/>
    <p:sldId id="307" r:id="rId41"/>
    <p:sldId id="308" r:id="rId42"/>
    <p:sldId id="302" r:id="rId43"/>
    <p:sldId id="303" r:id="rId44"/>
    <p:sldId id="311" r:id="rId45"/>
    <p:sldId id="297" r:id="rId46"/>
    <p:sldId id="312" r:id="rId47"/>
    <p:sldId id="305" r:id="rId48"/>
    <p:sldId id="313" r:id="rId49"/>
    <p:sldId id="315" r:id="rId50"/>
    <p:sldId id="314" r:id="rId51"/>
    <p:sldId id="316" r:id="rId52"/>
    <p:sldId id="317" r:id="rId53"/>
    <p:sldId id="318" r:id="rId54"/>
    <p:sldId id="319" r:id="rId55"/>
    <p:sldId id="320" r:id="rId56"/>
    <p:sldId id="321" r:id="rId57"/>
    <p:sldId id="329" r:id="rId58"/>
    <p:sldId id="322" r:id="rId59"/>
    <p:sldId id="330" r:id="rId60"/>
    <p:sldId id="323" r:id="rId61"/>
    <p:sldId id="331" r:id="rId62"/>
    <p:sldId id="324" r:id="rId63"/>
    <p:sldId id="332" r:id="rId64"/>
    <p:sldId id="326" r:id="rId65"/>
    <p:sldId id="333" r:id="rId66"/>
    <p:sldId id="327" r:id="rId67"/>
    <p:sldId id="334" r:id="rId68"/>
    <p:sldId id="328" r:id="rId69"/>
    <p:sldId id="335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81" d="100"/>
          <a:sy n="81" d="100"/>
        </p:scale>
        <p:origin x="64" y="16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 3 have outputs</a:t>
            </a:r>
            <a:br>
              <a:rPr lang="en-US" dirty="0"/>
            </a:br>
            <a:r>
              <a:rPr lang="en-US" dirty="0"/>
              <a:t>4,5,6 don’t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764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61EBE-94BF-8DC3-7A70-13327350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Evaluating Prefix/Postfix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4C8D-ACC2-700D-8DC8-D1E3DF891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 </a:t>
            </a:r>
          </a:p>
          <a:p>
            <a:pPr lvl="1"/>
            <a:r>
              <a:rPr lang="en-US" dirty="0"/>
              <a:t>Operator</a:t>
            </a:r>
          </a:p>
          <a:p>
            <a:pPr lvl="1"/>
            <a:r>
              <a:rPr lang="en-US" dirty="0"/>
              <a:t>Operand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</a:t>
            </a:r>
          </a:p>
          <a:p>
            <a:r>
              <a:rPr lang="en-US" dirty="0"/>
              <a:t>Evaluating Prefix/Postfix</a:t>
            </a:r>
          </a:p>
          <a:p>
            <a:pPr lvl="1"/>
            <a:r>
              <a:rPr lang="en-US" dirty="0"/>
              <a:t>&lt;3 questions each&gt;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19EF1-EA0B-AAC3-0AF3-6004E614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92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759E1-3328-9C22-3B68-54F3969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63C0C-0E13-B399-DFBF-3C1B931E6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Precedence ( highest priority first)</a:t>
            </a:r>
          </a:p>
          <a:p>
            <a:pPr lvl="1"/>
            <a:r>
              <a:rPr lang="en-US" dirty="0"/>
              <a:t>()</a:t>
            </a:r>
          </a:p>
          <a:p>
            <a:pPr lvl="1"/>
            <a:r>
              <a:rPr lang="en-US" dirty="0"/>
              <a:t>^</a:t>
            </a:r>
          </a:p>
          <a:p>
            <a:pPr lvl="1"/>
            <a:r>
              <a:rPr lang="en-US" dirty="0"/>
              <a:t>/ * </a:t>
            </a:r>
          </a:p>
          <a:p>
            <a:pPr lvl="1"/>
            <a:r>
              <a:rPr lang="en-US" dirty="0"/>
              <a:t>- +</a:t>
            </a:r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Right to left : ^ </a:t>
            </a:r>
          </a:p>
          <a:p>
            <a:pPr lvl="1"/>
            <a:r>
              <a:rPr lang="en-US" dirty="0"/>
              <a:t>Left to right : + , - , * , /</a:t>
            </a:r>
          </a:p>
          <a:p>
            <a:r>
              <a:rPr lang="en-US" dirty="0"/>
              <a:t>Notes </a:t>
            </a:r>
          </a:p>
          <a:p>
            <a:pPr lvl="1"/>
            <a:r>
              <a:rPr lang="en-US" dirty="0"/>
              <a:t>() not categorized as associative, they represent grouping mechanism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97326-75CB-1EC7-7EDC-E27BCF23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8657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06A23-6060-2190-0369-68E869C5B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35DB-2FC0-BEB4-4F1A-943AC9E39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A6B0-A3AC-84B7-F071-7B7A8C5B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10 + 20 / 2 * 3 –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+((20 / 2) * 3)-5   // added parenthesis for denoting precedence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 (10 * 3 ) -5 // interior most precedence first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10 + 30 - 5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 </a:t>
            </a:r>
            <a:r>
              <a:rPr lang="en-US" b="1" dirty="0">
                <a:sym typeface="Wingdings" panose="05000000000000000000" pitchFamily="2" charset="2"/>
              </a:rPr>
              <a:t>35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80B3E-D3F4-B6F0-D0A1-8630AB30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56195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AB0D3-9A93-3387-68DE-0B08CE7B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(lets 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9DA9E-1EE2-4F6F-68A9-7032500D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+ 3 * 4 ^2  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B0676-9EC8-6524-C686-59ECD7A1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63171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BB090-BF7B-301A-B062-E97BFE4C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82A2-AB54-D133-9974-37E13F35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(answers)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AC9B0-991C-C5D4-CE00-383566D4A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 + 3 * 4 ^2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+ 3 * 16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+ 48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50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^ 9 // ^ is evaluated from right to left , so 3 ^ 2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512</a:t>
            </a:r>
          </a:p>
          <a:p>
            <a:pPr lvl="1"/>
            <a:r>
              <a:rPr lang="en-US" strike="sngStrike" dirty="0">
                <a:sym typeface="Wingdings" panose="05000000000000000000" pitchFamily="2" charset="2"/>
              </a:rPr>
              <a:t>Not 64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100 / 2 * 25 // Again 2 ^ 1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50 x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b="1" dirty="0">
                <a:sym typeface="Wingdings" panose="05000000000000000000" pitchFamily="2" charset="2"/>
              </a:rPr>
              <a:t>1250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13E5C7-992D-9036-31F0-DE97F948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64482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93FB-B92E-805D-C84A-070CBB1B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Prefix/Postfix </a:t>
            </a:r>
            <a:r>
              <a:rPr lang="en-US" sz="2000" dirty="0"/>
              <a:t>(examples)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DC8AB-5242-ADA9-A503-4ECC2166F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B 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B C *</a:t>
            </a:r>
            <a:endParaRPr lang="en-US" b="1" dirty="0"/>
          </a:p>
          <a:p>
            <a:r>
              <a:rPr lang="en-US" dirty="0"/>
              <a:t>A + 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+</a:t>
            </a:r>
            <a:r>
              <a:rPr lang="en-US" b="1" dirty="0">
                <a:sym typeface="Wingdings" panose="05000000000000000000" pitchFamily="2" charset="2"/>
              </a:rPr>
              <a:t>A</a:t>
            </a:r>
            <a:r>
              <a:rPr lang="en-US" b="1" dirty="0"/>
              <a:t>*BC</a:t>
            </a:r>
          </a:p>
          <a:p>
            <a:pPr lvl="1"/>
            <a:r>
              <a:rPr lang="en-US" dirty="0"/>
              <a:t>Postfix :  </a:t>
            </a:r>
            <a:r>
              <a:rPr lang="en-US" b="1" dirty="0"/>
              <a:t>ABC*+</a:t>
            </a:r>
          </a:p>
          <a:p>
            <a:r>
              <a:rPr lang="en-US" dirty="0"/>
              <a:t>(5 + 6) * 3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5 6 + 3 *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779E42-5809-59FE-951E-7B455BB7C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023236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E059-48D8-260A-BA41-3E35FB9D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769B-CC51-FA9F-B19F-9F5AA32C8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precedence/priority first </a:t>
            </a:r>
          </a:p>
          <a:p>
            <a:pPr lvl="1"/>
            <a:r>
              <a:rPr lang="pt-BR" dirty="0"/>
              <a:t>( do paranthesize for mental ease) </a:t>
            </a:r>
          </a:p>
          <a:p>
            <a:r>
              <a:rPr lang="pt-BR" dirty="0"/>
              <a:t>(a + b) / (c – d ) + e </a:t>
            </a:r>
          </a:p>
          <a:p>
            <a:r>
              <a:rPr lang="pt-BR" dirty="0"/>
              <a:t>x + y  / (g * h – k)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A02D68-CC18-2522-08A7-07B93CC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162976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564D-B638-9D95-941D-AD014678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6BDC7-1CB3-8A4F-F288-9B357273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24EB7-0DC5-B135-34E7-7DD2D49E8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/ + a b – c d e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a b + c d - / e +</a:t>
            </a:r>
          </a:p>
          <a:p>
            <a:r>
              <a:rPr lang="pt-BR" dirty="0"/>
              <a:t>x + y  / (g * h – k)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x / y - * g h k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x y g h * k - / +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253A3-2553-8CEE-4FC1-99E0B3F0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60656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1B0BD-44A6-01E4-B569-E440DFAA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08BA-925D-B446-6102-4DD2DE59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FCC50-372A-1FA3-A515-CD0B5B7E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 </a:t>
            </a:r>
            <a:r>
              <a:rPr lang="en-US" sz="2000" dirty="0"/>
              <a:t>(answers)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FE5F1B-9892-BDB6-3128-731DCED46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19806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83637947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3698482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29500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91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+ b - c * d + e ^ f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- + a b * c d ^ e 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* - e f ^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006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c - (d - e) * (f + g)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c * - d e +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* d e - f g + *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81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((a + b) * (c + d) / (e - f)) + g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/ * + a b + c d - e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f - / g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36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* (b + c) / (d - e)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/ * a + b c -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+ * d e - 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97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- b / (c * d ^ e)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a / b * c ^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d e ^ * /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5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(c + d) -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+ c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125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B4F96-5862-C493-CA94-3E72FA8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4109544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1F6A-4CC1-7603-9C25-803B7E6F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 (for bits/bytes)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8BBB-41E3-F605-A10E-B187C7B1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Bitwise </a:t>
            </a:r>
          </a:p>
          <a:p>
            <a:pPr lvl="1"/>
            <a:r>
              <a:rPr lang="en-US" dirty="0"/>
              <a:t>NOT, AND,  XOR , OR</a:t>
            </a:r>
          </a:p>
          <a:p>
            <a:r>
              <a:rPr lang="en-US" dirty="0"/>
              <a:t>Shift</a:t>
            </a:r>
          </a:p>
          <a:p>
            <a:pPr lvl="1"/>
            <a:r>
              <a:rPr lang="en-US" dirty="0"/>
              <a:t>Linear : LSHIFT, RSHIFT,</a:t>
            </a:r>
          </a:p>
          <a:p>
            <a:pPr lvl="1"/>
            <a:r>
              <a:rPr lang="en-US" dirty="0"/>
              <a:t>Circular : RCIRC, LCIRC</a:t>
            </a:r>
          </a:p>
          <a:p>
            <a:r>
              <a:rPr lang="en-US" dirty="0"/>
              <a:t>Precedence</a:t>
            </a:r>
          </a:p>
          <a:p>
            <a:pPr lvl="1"/>
            <a:r>
              <a:rPr lang="en-US" dirty="0"/>
              <a:t>NOT, </a:t>
            </a:r>
          </a:p>
          <a:p>
            <a:pPr lvl="1"/>
            <a:r>
              <a:rPr lang="en-US" dirty="0"/>
              <a:t>SHIFT, CIRC, </a:t>
            </a:r>
          </a:p>
          <a:p>
            <a:pPr lvl="1"/>
            <a:r>
              <a:rPr lang="en-US" dirty="0"/>
              <a:t>AND , </a:t>
            </a:r>
          </a:p>
          <a:p>
            <a:pPr lvl="1"/>
            <a:r>
              <a:rPr lang="en-US" dirty="0"/>
              <a:t>XOR,</a:t>
            </a:r>
          </a:p>
          <a:p>
            <a:pPr lvl="1"/>
            <a:r>
              <a:rPr lang="en-US" dirty="0"/>
              <a:t>OR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11172-56A8-1F96-728C-10483E87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6541120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FA9C-7881-D44C-FBD7-3646B071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E6D5F-744D-F45D-7743-881CDF0120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7131913"/>
              </p:ext>
            </p:extLst>
          </p:nvPr>
        </p:nvGraphicFramePr>
        <p:xfrm>
          <a:off x="950310" y="3429000"/>
          <a:ext cx="8784895" cy="18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979">
                  <a:extLst>
                    <a:ext uri="{9D8B030D-6E8A-4147-A177-3AD203B41FA5}">
                      <a16:colId xmlns:a16="http://schemas.microsoft.com/office/drawing/2014/main" val="4184432793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0846746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21210357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496895670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4230776581"/>
                    </a:ext>
                  </a:extLst>
                </a:gridCol>
              </a:tblGrid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AND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OR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XOR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535812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25689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71183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58174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5282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5928E5-3976-66FD-A576-965DC0DB5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788260"/>
              </p:ext>
            </p:extLst>
          </p:nvPr>
        </p:nvGraphicFramePr>
        <p:xfrm>
          <a:off x="950310" y="1839017"/>
          <a:ext cx="36199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969">
                  <a:extLst>
                    <a:ext uri="{9D8B030D-6E8A-4147-A177-3AD203B41FA5}">
                      <a16:colId xmlns:a16="http://schemas.microsoft.com/office/drawing/2014/main" val="923450553"/>
                    </a:ext>
                  </a:extLst>
                </a:gridCol>
                <a:gridCol w="1809969">
                  <a:extLst>
                    <a:ext uri="{9D8B030D-6E8A-4147-A177-3AD203B41FA5}">
                      <a16:colId xmlns:a16="http://schemas.microsoft.com/office/drawing/2014/main" val="301574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864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463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00155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ED0B632-E3BD-4605-A56F-29BD029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3089335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B2F3-3653-AB0D-1E39-97D45892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0AC6-5722-EADC-4BF4-254281F6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F6501D-1166-2DB8-5AE6-864FFE39E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306533"/>
              </p:ext>
            </p:extLst>
          </p:nvPr>
        </p:nvGraphicFramePr>
        <p:xfrm>
          <a:off x="1117600" y="40012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6521852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530049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4649717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10856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69889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(LSHIFT-2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(RSHIFT-3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(LCIRC-3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(RCIRC-1 X)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46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87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942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636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1011011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1101100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1101101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03312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E2945A-A5F3-713F-EBD6-F32D5F84E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shift , add 0s as padding ( either left or right)</a:t>
            </a:r>
          </a:p>
          <a:p>
            <a:pPr lvl="1"/>
            <a:r>
              <a:rPr lang="en-US" dirty="0"/>
              <a:t>Shifting by word size (or more) would result in all 0s</a:t>
            </a:r>
          </a:p>
          <a:p>
            <a:r>
              <a:rPr lang="en-US" dirty="0"/>
              <a:t>Circular shift just rolls over the bits ( as per direction)</a:t>
            </a:r>
          </a:p>
          <a:p>
            <a:pPr lvl="1"/>
            <a:r>
              <a:rPr lang="en-US" dirty="0"/>
              <a:t>Shifting by the number of word size , same bit sequence would be produced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4F85C7-8DDD-6F3E-CA30-012F6CABA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386653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AB4E-F19A-BB7D-F60A-959E8419E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5BE8-1CBF-4C83-9A22-9C383BD5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039F9-4927-C643-FB68-EC0CF26E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723854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F13F6-DCD3-F70A-99B5-3DCB1951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7715-F916-4B95-F4FF-7837E4663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10971-A49D-885C-875C-44C95655F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09262-8A0F-6858-976A-183276173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0339899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676B-DF2F-0D75-1F2F-D5706E96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: Shift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903CD-CB6C-2FEA-F395-0E130814E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21984-CC99-1FD5-74F2-4C5D7F940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557169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B2FC-C20D-29F2-EA67-7864CD43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Answsers</a:t>
            </a:r>
            <a:r>
              <a:rPr lang="en-US" dirty="0"/>
              <a:t> 1..3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C4EEE-6173-2D24-0658-2C120397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lvl="1"/>
            <a:r>
              <a:rPr lang="en-US" dirty="0"/>
              <a:t>→ 01010 AND 00110 </a:t>
            </a:r>
          </a:p>
          <a:p>
            <a:pPr lvl="1"/>
            <a:r>
              <a:rPr lang="en-US" dirty="0"/>
              <a:t>→ </a:t>
            </a:r>
            <a:r>
              <a:rPr lang="en-US" b="1" dirty="0"/>
              <a:t>00010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11011 OR 10000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11011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01110 XOR 01101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00011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74131-785E-2A52-4D45-ED3F02C6C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605638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9BD7F-A798-35AE-793C-868D060F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4..6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7ECD0-8B39-0692-C574-6ABB3CEA7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lvl="1"/>
            <a:r>
              <a:rPr lang="en-US" dirty="0"/>
              <a:t>11000 OR 11010 AND 00011 </a:t>
            </a:r>
            <a:r>
              <a:rPr lang="en-US" i="1" dirty="0"/>
              <a:t>//parenthesis evaluated first</a:t>
            </a:r>
          </a:p>
          <a:p>
            <a:pPr lvl="1"/>
            <a:r>
              <a:rPr lang="en-US" dirty="0"/>
              <a:t>11000 OR 00010 </a:t>
            </a:r>
            <a:r>
              <a:rPr lang="en-US" i="1" dirty="0"/>
              <a:t>// And has higher precedence so evaluated first</a:t>
            </a:r>
          </a:p>
          <a:p>
            <a:pPr lvl="1"/>
            <a:r>
              <a:rPr lang="en-US" b="1" dirty="0"/>
              <a:t>11010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lvl="1"/>
            <a:r>
              <a:rPr lang="en-US" dirty="0"/>
              <a:t>01110 AND (RSHIFT-2 10110)</a:t>
            </a:r>
          </a:p>
          <a:p>
            <a:pPr lvl="1"/>
            <a:r>
              <a:rPr lang="en-US" dirty="0"/>
              <a:t>01110 AND 00101</a:t>
            </a:r>
          </a:p>
          <a:p>
            <a:pPr lvl="1"/>
            <a:r>
              <a:rPr lang="en-US" b="1" dirty="0"/>
              <a:t>00100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lvl="1"/>
            <a:r>
              <a:rPr lang="en-US" dirty="0"/>
              <a:t>00111 OR 11010</a:t>
            </a:r>
          </a:p>
          <a:p>
            <a:pPr lvl="1"/>
            <a:r>
              <a:rPr lang="en-US" b="1" dirty="0"/>
              <a:t>11111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1B45D-8860-0D15-A406-C0C4369B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42750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75B44-46CD-74DE-1EC2-6C3ABA92D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7..8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A9FC4-3A4E-8667-749A-CA557659A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lvl="1"/>
            <a:r>
              <a:rPr lang="en-US" dirty="0"/>
              <a:t>00011 AND 01110 OR (01000)</a:t>
            </a:r>
          </a:p>
          <a:p>
            <a:pPr lvl="1"/>
            <a:r>
              <a:rPr lang="en-US" dirty="0"/>
              <a:t>00010 OR 01000</a:t>
            </a:r>
          </a:p>
          <a:p>
            <a:pPr lvl="1"/>
            <a:r>
              <a:rPr lang="en-US" b="1" dirty="0"/>
              <a:t>01010</a:t>
            </a:r>
          </a:p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  <a:p>
            <a:pPr lvl="1"/>
            <a:r>
              <a:rPr lang="en-US" dirty="0"/>
              <a:t>11010 OR 11010 AND 01101</a:t>
            </a:r>
          </a:p>
          <a:p>
            <a:pPr lvl="1"/>
            <a:r>
              <a:rPr lang="en-US" dirty="0"/>
              <a:t>11010 OR 01000</a:t>
            </a:r>
          </a:p>
          <a:p>
            <a:pPr lvl="1"/>
            <a:r>
              <a:rPr lang="en-US" b="1" dirty="0"/>
              <a:t>11010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4BA331-E1C7-68C8-C5A0-75B2600E0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30346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E72D7-0D7A-A4BC-D0BB-73DEB2298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221D368-6BAD-6E79-AA4D-81A97D91F4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18414" y="1690688"/>
            <a:ext cx="4367986" cy="4220906"/>
          </a:xfrm>
        </p:spPr>
      </p:pic>
    </p:spTree>
    <p:extLst>
      <p:ext uri="{BB962C8B-B14F-4D97-AF65-F5344CB8AC3E}">
        <p14:creationId xmlns:p14="http://schemas.microsoft.com/office/powerpoint/2010/main" val="13660297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1F38E-FE26-1480-0E2C-4C0A63BA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91228-AC4D-366F-3D99-F517F0A72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1D49E56-D5D1-6578-D76A-29A85AAE6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490" y="1777399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 = 2 </a:t>
            </a:r>
          </a:p>
          <a:p>
            <a:pPr lvl="1"/>
            <a:r>
              <a:rPr lang="en-US" dirty="0"/>
              <a:t>num = 72</a:t>
            </a:r>
          </a:p>
          <a:p>
            <a:pPr lvl="1"/>
            <a:r>
              <a:rPr lang="en-US" dirty="0"/>
              <a:t>72 % 2 == 0 → yes</a:t>
            </a:r>
          </a:p>
          <a:p>
            <a:pPr lvl="2"/>
            <a:r>
              <a:rPr lang="en-US" dirty="0"/>
              <a:t>num = 36, count = 1</a:t>
            </a:r>
          </a:p>
          <a:p>
            <a:pPr lvl="1"/>
            <a:r>
              <a:rPr lang="en-US" dirty="0"/>
              <a:t>36 % 2 == 0 → yes</a:t>
            </a:r>
          </a:p>
          <a:p>
            <a:pPr lvl="2"/>
            <a:r>
              <a:rPr lang="en-US" dirty="0"/>
              <a:t>num = 18, count = 2</a:t>
            </a:r>
          </a:p>
          <a:p>
            <a:pPr lvl="1"/>
            <a:r>
              <a:rPr lang="en-US" dirty="0"/>
              <a:t>18 % 2 == 0 → yes</a:t>
            </a:r>
          </a:p>
          <a:p>
            <a:pPr lvl="2"/>
            <a:r>
              <a:rPr lang="en-US" dirty="0"/>
              <a:t>num = 9, count = 3</a:t>
            </a:r>
          </a:p>
          <a:p>
            <a:pPr lvl="1"/>
            <a:r>
              <a:rPr lang="en-US" dirty="0"/>
              <a:t>9 % 2 != 0 → stop</a:t>
            </a:r>
          </a:p>
          <a:p>
            <a:pPr lvl="1"/>
            <a:r>
              <a:rPr lang="en-US" dirty="0"/>
              <a:t>output → 2 3</a:t>
            </a:r>
          </a:p>
          <a:p>
            <a:r>
              <a:rPr lang="en-US" dirty="0"/>
              <a:t>I =3 </a:t>
            </a:r>
          </a:p>
          <a:p>
            <a:pPr lvl="1"/>
            <a:r>
              <a:rPr lang="en-US" dirty="0"/>
              <a:t>output → 3 2</a:t>
            </a:r>
          </a:p>
          <a:p>
            <a:r>
              <a:rPr lang="en-US" dirty="0"/>
              <a:t>I = 4 ,5, 6</a:t>
            </a:r>
          </a:p>
          <a:p>
            <a:pPr lvl="1"/>
            <a:r>
              <a:rPr lang="en-US" dirty="0"/>
              <a:t>num = 1  ( not divisible by any)</a:t>
            </a:r>
          </a:p>
          <a:p>
            <a:pPr lvl="1"/>
            <a:r>
              <a:rPr lang="en-US" dirty="0"/>
              <a:t>no output</a:t>
            </a:r>
          </a:p>
          <a:p>
            <a:pPr lvl="1"/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2E061E9E-3254-CD26-4930-FE889E90E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524" y="1777399"/>
            <a:ext cx="4367986" cy="422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3992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19F7C-64A8-6BBF-B7BD-831EE9353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B231ECF-E15A-8953-C520-04A6C2401B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692" y="2030998"/>
            <a:ext cx="5260464" cy="3455402"/>
          </a:xfrm>
        </p:spPr>
      </p:pic>
    </p:spTree>
    <p:extLst>
      <p:ext uri="{BB962C8B-B14F-4D97-AF65-F5344CB8AC3E}">
        <p14:creationId xmlns:p14="http://schemas.microsoft.com/office/powerpoint/2010/main" val="220731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CE9ED-6524-DC6A-EE50-03751C9CC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9C47-A844-8024-1E13-0A333A267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A2.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FB000280-F639-4E1F-E662-FF837C26B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906" y="1896991"/>
            <a:ext cx="5260464" cy="345540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5B5EE5-1473-E2E4-2C3B-DBE0CE8CD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Nested loop sum : 35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10" name="Content Placeholder 5">
            <a:extLst>
              <a:ext uri="{FF2B5EF4-FFF2-40B4-BE49-F238E27FC236}">
                <a16:creationId xmlns:a16="http://schemas.microsoft.com/office/drawing/2014/main" id="{29C28563-5938-2EFF-BD4F-B2A285E2A7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37903152"/>
              </p:ext>
            </p:extLst>
          </p:nvPr>
        </p:nvGraphicFramePr>
        <p:xfrm>
          <a:off x="1103654" y="2385301"/>
          <a:ext cx="4766441" cy="3526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610">
                  <a:extLst>
                    <a:ext uri="{9D8B030D-6E8A-4147-A177-3AD203B41FA5}">
                      <a16:colId xmlns:a16="http://schemas.microsoft.com/office/drawing/2014/main" val="2829498307"/>
                    </a:ext>
                  </a:extLst>
                </a:gridCol>
                <a:gridCol w="1470135">
                  <a:extLst>
                    <a:ext uri="{9D8B030D-6E8A-4147-A177-3AD203B41FA5}">
                      <a16:colId xmlns:a16="http://schemas.microsoft.com/office/drawing/2014/main" val="2236824969"/>
                    </a:ext>
                  </a:extLst>
                </a:gridCol>
                <a:gridCol w="913086">
                  <a:extLst>
                    <a:ext uri="{9D8B030D-6E8A-4147-A177-3AD203B41FA5}">
                      <a16:colId xmlns:a16="http://schemas.microsoft.com/office/drawing/2014/main" val="2084030851"/>
                    </a:ext>
                  </a:extLst>
                </a:gridCol>
                <a:gridCol w="1191610">
                  <a:extLst>
                    <a:ext uri="{9D8B030D-6E8A-4147-A177-3AD203B41FA5}">
                      <a16:colId xmlns:a16="http://schemas.microsoft.com/office/drawing/2014/main" val="1456409771"/>
                    </a:ext>
                  </a:extLst>
                </a:gridCol>
              </a:tblGrid>
              <a:tr h="587795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Added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576104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38887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29930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53527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088139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596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45896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98296-BCFA-A4FD-8C84-FABA67255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B306B037-9002-F85B-D8E9-FE58D03DA7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4885" y="1887466"/>
            <a:ext cx="7176049" cy="36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181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85DBA-9053-3108-1DE3-ACD6F731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E529-7D4D-7996-8BA8-098B84D61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3988ECD-FF80-8C71-0489-3A4ED4542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</a:t>
            </a:r>
          </a:p>
          <a:p>
            <a:pPr lvl="1"/>
            <a:r>
              <a:rPr lang="en-US" dirty="0"/>
              <a:t>Divisible by 3</a:t>
            </a:r>
          </a:p>
          <a:p>
            <a:pPr lvl="1"/>
            <a:r>
              <a:rPr lang="en-US" dirty="0"/>
              <a:t>NOT divisible by 4</a:t>
            </a:r>
          </a:p>
          <a:p>
            <a:r>
              <a:rPr lang="en-US" dirty="0"/>
              <a:t>15 + 18 = 33</a:t>
            </a:r>
          </a:p>
          <a:p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6AD4C6A4-CD8E-35B8-ED9E-5CDCED20B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58" y="2022694"/>
            <a:ext cx="6049308" cy="3047141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D247C17-E352-B075-5C45-0F11A18FF056}"/>
              </a:ext>
            </a:extLst>
          </p:cNvPr>
          <p:cNvGraphicFramePr>
            <a:graphicFrameLocks noGrp="1"/>
          </p:cNvGraphicFramePr>
          <p:nvPr/>
        </p:nvGraphicFramePr>
        <p:xfrm>
          <a:off x="1086068" y="4001294"/>
          <a:ext cx="406925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314">
                  <a:extLst>
                    <a:ext uri="{9D8B030D-6E8A-4147-A177-3AD203B41FA5}">
                      <a16:colId xmlns:a16="http://schemas.microsoft.com/office/drawing/2014/main" val="2572898738"/>
                    </a:ext>
                  </a:extLst>
                </a:gridCol>
                <a:gridCol w="1017314">
                  <a:extLst>
                    <a:ext uri="{9D8B030D-6E8A-4147-A177-3AD203B41FA5}">
                      <a16:colId xmlns:a16="http://schemas.microsoft.com/office/drawing/2014/main" val="3945718912"/>
                    </a:ext>
                  </a:extLst>
                </a:gridCol>
                <a:gridCol w="899511">
                  <a:extLst>
                    <a:ext uri="{9D8B030D-6E8A-4147-A177-3AD203B41FA5}">
                      <a16:colId xmlns:a16="http://schemas.microsoft.com/office/drawing/2014/main" val="126023410"/>
                    </a:ext>
                  </a:extLst>
                </a:gridCol>
                <a:gridCol w="1135117">
                  <a:extLst>
                    <a:ext uri="{9D8B030D-6E8A-4147-A177-3AD203B41FA5}">
                      <a16:colId xmlns:a16="http://schemas.microsoft.com/office/drawing/2014/main" val="984156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Include?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893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262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8857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0088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32821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A494-CB44-23E6-6167-3B208E66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1C93A-4A24-101D-372C-39870A974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51F3A36-ABAF-E830-D679-95EBF73FA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6462" y="1867741"/>
            <a:ext cx="5128799" cy="3975081"/>
          </a:xfrm>
        </p:spPr>
      </p:pic>
    </p:spTree>
    <p:extLst>
      <p:ext uri="{BB962C8B-B14F-4D97-AF65-F5344CB8AC3E}">
        <p14:creationId xmlns:p14="http://schemas.microsoft.com/office/powerpoint/2010/main" val="4729689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0E92F-AF49-7D7B-050E-B52B454B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DE6CA-C955-4AC7-D595-48528D43D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B678F-4154-33E1-671D-916FE686C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9860"/>
            <a:ext cx="10515600" cy="4351338"/>
          </a:xfrm>
        </p:spPr>
        <p:txBody>
          <a:bodyPr/>
          <a:lstStyle/>
          <a:p>
            <a:r>
              <a:rPr lang="en-US" dirty="0"/>
              <a:t>Output 4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A9B3C22B-857E-640E-DCC7-9205A3777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144" y="1749500"/>
            <a:ext cx="5128799" cy="39750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EE48A-F157-1798-7EAE-1B4D145A2EED}"/>
              </a:ext>
            </a:extLst>
          </p:cNvPr>
          <p:cNvSpPr txBox="1"/>
          <p:nvPr/>
        </p:nvSpPr>
        <p:spPr>
          <a:xfrm>
            <a:off x="1062201" y="3545471"/>
            <a:ext cx="44951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Step	digit	even?	count</a:t>
            </a:r>
          </a:p>
          <a:p>
            <a:r>
              <a:rPr lang="en-US" dirty="0"/>
              <a:t>8	yes	1	1</a:t>
            </a:r>
          </a:p>
          <a:p>
            <a:r>
              <a:rPr lang="en-US" dirty="0"/>
              <a:t>6	yes	2	2</a:t>
            </a:r>
          </a:p>
          <a:p>
            <a:r>
              <a:rPr lang="en-US" dirty="0"/>
              <a:t>4	yes	3	3</a:t>
            </a:r>
          </a:p>
          <a:p>
            <a:r>
              <a:rPr lang="en-US" dirty="0"/>
              <a:t>2	yes	4	4</a:t>
            </a:r>
          </a:p>
        </p:txBody>
      </p:sp>
    </p:spTree>
    <p:extLst>
      <p:ext uri="{BB962C8B-B14F-4D97-AF65-F5344CB8AC3E}">
        <p14:creationId xmlns:p14="http://schemas.microsoft.com/office/powerpoint/2010/main" val="15263220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1662D-56D1-A890-3A90-E5804BAF2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A77DD-319B-B8CB-067B-809A8256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C0C0A05-4862-B677-A23E-72B3ADC719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0142" y="1974397"/>
            <a:ext cx="5115858" cy="3761236"/>
          </a:xfrm>
        </p:spPr>
      </p:pic>
    </p:spTree>
    <p:extLst>
      <p:ext uri="{BB962C8B-B14F-4D97-AF65-F5344CB8AC3E}">
        <p14:creationId xmlns:p14="http://schemas.microsoft.com/office/powerpoint/2010/main" val="22373007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BD29-74FC-E5C5-470F-3990F5AA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C6D-9E88-105F-5872-247603B44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4BE19-7D70-249A-4EC2-6DAB233B0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Divide every element by 3</a:t>
            </a:r>
          </a:p>
          <a:p>
            <a:r>
              <a:rPr lang="en-US" dirty="0"/>
              <a:t>Output 1,2,3,4,5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b="1" u="sng" dirty="0"/>
              <a:t>Index	Original		New</a:t>
            </a:r>
          </a:p>
          <a:p>
            <a:pPr marL="0" indent="0">
              <a:buNone/>
            </a:pPr>
            <a:r>
              <a:rPr lang="en-US" sz="2000" dirty="0"/>
              <a:t>0	3		1</a:t>
            </a:r>
          </a:p>
          <a:p>
            <a:pPr marL="0" indent="0">
              <a:buNone/>
            </a:pPr>
            <a:r>
              <a:rPr lang="en-US" sz="2000" dirty="0"/>
              <a:t>1	6		2</a:t>
            </a:r>
          </a:p>
          <a:p>
            <a:pPr marL="0" indent="0">
              <a:buNone/>
            </a:pPr>
            <a:r>
              <a:rPr lang="en-US" sz="2000" dirty="0"/>
              <a:t>2	9		3</a:t>
            </a:r>
          </a:p>
          <a:p>
            <a:pPr marL="0" indent="0">
              <a:buNone/>
            </a:pPr>
            <a:r>
              <a:rPr lang="en-US" sz="2000" dirty="0"/>
              <a:t>3	12		4</a:t>
            </a:r>
          </a:p>
          <a:p>
            <a:pPr marL="0" indent="0">
              <a:buNone/>
            </a:pPr>
            <a:r>
              <a:rPr lang="en-US" sz="2000" dirty="0"/>
              <a:t>4	15		5</a:t>
            </a:r>
          </a:p>
        </p:txBody>
      </p:sp>
      <p:pic>
        <p:nvPicPr>
          <p:cNvPr id="5" name="Content Placeholder 8">
            <a:extLst>
              <a:ext uri="{FF2B5EF4-FFF2-40B4-BE49-F238E27FC236}">
                <a16:creationId xmlns:a16="http://schemas.microsoft.com/office/drawing/2014/main" id="{F3508B81-D07D-9A2E-711A-108335FFF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391" y="1825625"/>
            <a:ext cx="5115858" cy="376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3793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9EAE1-601F-A56C-2093-29AE055F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DAB8B-D489-C7C1-2756-DEA23A56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2843AFF-E13C-780D-9B6E-B591AD0F02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6549" y="1797789"/>
            <a:ext cx="4429201" cy="3822618"/>
          </a:xfrm>
        </p:spPr>
      </p:pic>
    </p:spTree>
    <p:extLst>
      <p:ext uri="{BB962C8B-B14F-4D97-AF65-F5344CB8AC3E}">
        <p14:creationId xmlns:p14="http://schemas.microsoft.com/office/powerpoint/2010/main" val="569505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62DFB-A262-168F-C564-5942A84A8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8F048-1DC8-9E32-EFE2-3C47F27D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021129-1CA9-751A-B267-B30A3E1B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pass swap</a:t>
            </a:r>
          </a:p>
          <a:p>
            <a:pPr lvl="1"/>
            <a:r>
              <a:rPr lang="en-US" dirty="0"/>
              <a:t>Output  : 1,4,2,5</a:t>
            </a:r>
          </a:p>
          <a:p>
            <a:pPr lvl="1"/>
            <a:r>
              <a:rPr lang="en-US" b="1" dirty="0"/>
              <a:t>Note : not sorted</a:t>
            </a:r>
          </a:p>
          <a:p>
            <a:r>
              <a:rPr lang="en-US" dirty="0"/>
              <a:t>i =0 </a:t>
            </a:r>
          </a:p>
          <a:p>
            <a:pPr lvl="1"/>
            <a:r>
              <a:rPr lang="en-US" dirty="0"/>
              <a:t>5 &gt; 1 → swap → [1, 5, 4, 2]</a:t>
            </a:r>
          </a:p>
          <a:p>
            <a:r>
              <a:rPr lang="en-US" dirty="0"/>
              <a:t>i =1 </a:t>
            </a:r>
          </a:p>
          <a:p>
            <a:pPr lvl="1"/>
            <a:r>
              <a:rPr lang="en-US" dirty="0"/>
              <a:t>5 &gt; 4 → swap → [1, 4, 5, 2]</a:t>
            </a:r>
          </a:p>
          <a:p>
            <a:r>
              <a:rPr lang="en-US" dirty="0"/>
              <a:t>i = 2</a:t>
            </a:r>
          </a:p>
          <a:p>
            <a:pPr lvl="1"/>
            <a:r>
              <a:rPr lang="en-US" dirty="0"/>
              <a:t>5 &gt; 2 → swap → [1, 4, 2, 5]</a:t>
            </a:r>
          </a:p>
        </p:txBody>
      </p:sp>
      <p:pic>
        <p:nvPicPr>
          <p:cNvPr id="5" name="Content Placeholder 10">
            <a:extLst>
              <a:ext uri="{FF2B5EF4-FFF2-40B4-BE49-F238E27FC236}">
                <a16:creationId xmlns:a16="http://schemas.microsoft.com/office/drawing/2014/main" id="{8FF07BF5-47E4-D416-E383-A4DE39565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763" y="1794094"/>
            <a:ext cx="4429201" cy="382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053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41701-2B07-168C-3CE8-98E848A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690C7-DB50-C566-790E-BA6542271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Q7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5D88EB9-52CD-71F3-E0F2-B1C3E81007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3579" y="1865448"/>
            <a:ext cx="6035752" cy="3857435"/>
          </a:xfrm>
        </p:spPr>
      </p:pic>
    </p:spTree>
    <p:extLst>
      <p:ext uri="{BB962C8B-B14F-4D97-AF65-F5344CB8AC3E}">
        <p14:creationId xmlns:p14="http://schemas.microsoft.com/office/powerpoint/2010/main" val="22343982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F3EA2-E343-1A42-A5E7-A2086BD5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C3823-B7E6-19CD-407F-88073F85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B6A43E-791C-1ED0-32A3-D7FAA0FD7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Print prime factors </a:t>
            </a:r>
          </a:p>
          <a:p>
            <a:pPr lvl="1"/>
            <a:r>
              <a:rPr lang="en-US" dirty="0"/>
              <a:t>Output 2 2 5 5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pt-BR" sz="2000" b="1" u="sng" dirty="0"/>
              <a:t>Step  x	num	action</a:t>
            </a:r>
          </a:p>
          <a:p>
            <a:pPr marL="457200" lvl="1" indent="0">
              <a:buNone/>
            </a:pPr>
            <a:r>
              <a:rPr lang="pt-BR" sz="2000" dirty="0"/>
              <a:t>1	   2	100	print 2 → num=50</a:t>
            </a:r>
          </a:p>
          <a:p>
            <a:pPr marL="457200" lvl="1" indent="0">
              <a:buNone/>
            </a:pPr>
            <a:r>
              <a:rPr lang="pt-BR" sz="2000" dirty="0"/>
              <a:t>2	   2	50	print 2 → num=25</a:t>
            </a:r>
          </a:p>
          <a:p>
            <a:pPr marL="457200" lvl="1" indent="0">
              <a:buNone/>
            </a:pPr>
            <a:r>
              <a:rPr lang="pt-BR" sz="2000" dirty="0"/>
              <a:t>3	   2	25	no → x=3</a:t>
            </a:r>
          </a:p>
          <a:p>
            <a:pPr marL="457200" lvl="1" indent="0">
              <a:buNone/>
            </a:pPr>
            <a:r>
              <a:rPr lang="pt-BR" sz="2000" dirty="0"/>
              <a:t>4	   3	25	no → x=4</a:t>
            </a:r>
          </a:p>
          <a:p>
            <a:pPr marL="457200" lvl="1" indent="0">
              <a:buNone/>
            </a:pPr>
            <a:r>
              <a:rPr lang="pt-BR" sz="2000" dirty="0"/>
              <a:t>5	   4	25	no → x=5</a:t>
            </a:r>
          </a:p>
          <a:p>
            <a:pPr marL="457200" lvl="1" indent="0">
              <a:buNone/>
            </a:pPr>
            <a:r>
              <a:rPr lang="pt-BR" sz="2000" dirty="0"/>
              <a:t>6	   5	25	print 5 → num=5</a:t>
            </a:r>
          </a:p>
          <a:p>
            <a:pPr marL="457200" lvl="1" indent="0">
              <a:buNone/>
            </a:pPr>
            <a:r>
              <a:rPr lang="pt-BR" sz="2000" dirty="0"/>
              <a:t>7	   5	5	print 5 → num=1</a:t>
            </a:r>
            <a:endParaRPr lang="en-US" sz="2000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7A3A6A90-E3AB-179D-99A4-778692989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48" y="2072576"/>
            <a:ext cx="6035752" cy="3857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378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2496</TotalTime>
  <Words>4293</Words>
  <Application>Microsoft Office PowerPoint</Application>
  <PresentationFormat>Widescreen</PresentationFormat>
  <Paragraphs>869</Paragraphs>
  <Slides>69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8" baseType="lpstr">
      <vt:lpstr>Aptos</vt:lpstr>
      <vt:lpstr>Aptos Display</vt:lpstr>
      <vt:lpstr>Aptos Narrow</vt:lpstr>
      <vt:lpstr>Arial</vt:lpstr>
      <vt:lpstr>Bahnschrift SemiBold</vt:lpstr>
      <vt:lpstr>Cascadia Code</vt:lpstr>
      <vt:lpstr>Consolas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Review Evaluating Prefix/Postfix</vt:lpstr>
      <vt:lpstr>Precedence and associativity</vt:lpstr>
      <vt:lpstr>Precedence and associativity</vt:lpstr>
      <vt:lpstr>Precedence and associativity (lets evaluate)</vt:lpstr>
      <vt:lpstr>Precedence and associativity (answers)</vt:lpstr>
      <vt:lpstr>Convert to Prefix/Postfix (examples)</vt:lpstr>
      <vt:lpstr>Convert to Postfix</vt:lpstr>
      <vt:lpstr>Convert to Postfix</vt:lpstr>
      <vt:lpstr>Convert to Prefix and Postfix</vt:lpstr>
      <vt:lpstr>Convert to Prefix and Postfix (answers)</vt:lpstr>
      <vt:lpstr>Logical operators (for bits/bytes)</vt:lpstr>
      <vt:lpstr>Truth Tables</vt:lpstr>
      <vt:lpstr>Truth Tables</vt:lpstr>
      <vt:lpstr>Operations (evaluate)</vt:lpstr>
      <vt:lpstr>Operations (evaluate)</vt:lpstr>
      <vt:lpstr>Operations : Shift (evaluate)</vt:lpstr>
      <vt:lpstr>Answsers 1..3</vt:lpstr>
      <vt:lpstr>Answers 4..6</vt:lpstr>
      <vt:lpstr>Answers 7..8</vt:lpstr>
      <vt:lpstr>What does this Program do ? Q1.</vt:lpstr>
      <vt:lpstr>What does this Program do ? A1.</vt:lpstr>
      <vt:lpstr>What does this Program do ? Q2.</vt:lpstr>
      <vt:lpstr>What does this Program do ? A2.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A5</vt:lpstr>
      <vt:lpstr>What does this Program do ? Q6</vt:lpstr>
      <vt:lpstr>What does this Program do ? A6</vt:lpstr>
      <vt:lpstr>What does this Program do ? Q7</vt:lpstr>
      <vt:lpstr>What does this Program do ? A7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34</cp:revision>
  <dcterms:created xsi:type="dcterms:W3CDTF">2025-12-04T21:37:48Z</dcterms:created>
  <dcterms:modified xsi:type="dcterms:W3CDTF">2026-02-05T23:52:40Z</dcterms:modified>
</cp:coreProperties>
</file>