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6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57" r:id="rId81"/>
    <p:sldId id="349" r:id="rId82"/>
    <p:sldId id="351" r:id="rId83"/>
    <p:sldId id="353" r:id="rId84"/>
    <p:sldId id="352" r:id="rId85"/>
    <p:sldId id="354" r:id="rId86"/>
    <p:sldId id="350" r:id="rId87"/>
    <p:sldId id="355" r:id="rId88"/>
    <p:sldId id="356" r:id="rId89"/>
    <p:sldId id="358" r:id="rId90"/>
    <p:sldId id="367" r:id="rId91"/>
    <p:sldId id="359" r:id="rId92"/>
    <p:sldId id="368" r:id="rId93"/>
    <p:sldId id="360" r:id="rId94"/>
    <p:sldId id="369" r:id="rId95"/>
    <p:sldId id="361" r:id="rId96"/>
    <p:sldId id="370" r:id="rId97"/>
    <p:sldId id="363" r:id="rId98"/>
    <p:sldId id="371" r:id="rId99"/>
    <p:sldId id="366" r:id="rId100"/>
    <p:sldId id="372" r:id="rId101"/>
    <p:sldId id="373" r:id="rId102"/>
    <p:sldId id="374" r:id="rId103"/>
    <p:sldId id="375" r:id="rId104"/>
    <p:sldId id="376" r:id="rId105"/>
    <p:sldId id="377" r:id="rId106"/>
    <p:sldId id="378" r:id="rId107"/>
    <p:sldId id="379" r:id="rId108"/>
    <p:sldId id="380" r:id="rId109"/>
    <p:sldId id="381" r:id="rId110"/>
    <p:sldId id="382" r:id="rId111"/>
    <p:sldId id="383" r:id="rId112"/>
    <p:sldId id="384" r:id="rId113"/>
    <p:sldId id="385" r:id="rId114"/>
    <p:sldId id="386" r:id="rId1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7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2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9B2-45AB-787B-5C91-05A5B55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DC5A-141E-6F8B-7CFB-CAA9C873B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423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D11A-E375-E71D-07F3-EE29E1111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AE1CA-0CED-FC52-B3A9-B263513E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62" y="1690688"/>
            <a:ext cx="4036690" cy="4213159"/>
          </a:xfrm>
        </p:spPr>
      </p:pic>
    </p:spTree>
    <p:extLst>
      <p:ext uri="{BB962C8B-B14F-4D97-AF65-F5344CB8AC3E}">
        <p14:creationId xmlns:p14="http://schemas.microsoft.com/office/powerpoint/2010/main" val="35109705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178D-935B-AAEE-36BA-F87AA98B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6CD-D406-A389-02FF-0BA92261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ECFA53-052C-D6F6-6B28-122C1A2DB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3421758"/>
              </p:ext>
            </p:extLst>
          </p:nvPr>
        </p:nvGraphicFramePr>
        <p:xfrm>
          <a:off x="1224455" y="2948151"/>
          <a:ext cx="4001814" cy="2774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938">
                  <a:extLst>
                    <a:ext uri="{9D8B030D-6E8A-4147-A177-3AD203B41FA5}">
                      <a16:colId xmlns:a16="http://schemas.microsoft.com/office/drawing/2014/main" val="563773428"/>
                    </a:ext>
                  </a:extLst>
                </a:gridCol>
                <a:gridCol w="1453930">
                  <a:extLst>
                    <a:ext uri="{9D8B030D-6E8A-4147-A177-3AD203B41FA5}">
                      <a16:colId xmlns:a16="http://schemas.microsoft.com/office/drawing/2014/main" val="2982123843"/>
                    </a:ext>
                  </a:extLst>
                </a:gridCol>
                <a:gridCol w="1213946">
                  <a:extLst>
                    <a:ext uri="{9D8B030D-6E8A-4147-A177-3AD203B41FA5}">
                      <a16:colId xmlns:a16="http://schemas.microsoft.com/office/drawing/2014/main" val="905214871"/>
                    </a:ext>
                  </a:extLst>
                </a:gridCol>
              </a:tblGrid>
              <a:tr h="462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037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11627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4521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189348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260239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806729"/>
                  </a:ext>
                </a:extLst>
              </a:tr>
            </a:tbl>
          </a:graphicData>
        </a:graphic>
      </p:graphicFrame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0E50695-BDC5-0370-1DB9-2A32436F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48" y="1675557"/>
            <a:ext cx="4036690" cy="4213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5E9F79-29BB-4CDA-46A4-57558B564644}"/>
              </a:ext>
            </a:extLst>
          </p:cNvPr>
          <p:cNvSpPr txBox="1"/>
          <p:nvPr/>
        </p:nvSpPr>
        <p:spPr>
          <a:xfrm>
            <a:off x="1224455" y="2088587"/>
            <a:ext cx="41246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9 7 5 3 1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72070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0C2-3FE9-DE1C-F670-2471C69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A649AB-679F-53E7-0286-70971B8EF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4934" y="1690688"/>
            <a:ext cx="4516662" cy="4142553"/>
          </a:xfrm>
        </p:spPr>
      </p:pic>
    </p:spTree>
    <p:extLst>
      <p:ext uri="{BB962C8B-B14F-4D97-AF65-F5344CB8AC3E}">
        <p14:creationId xmlns:p14="http://schemas.microsoft.com/office/powerpoint/2010/main" val="16743241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532A-6F5A-F03B-491E-8D861097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C87-8A76-0A64-FF44-67BE47DD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8AF0C-177A-2287-B125-733572E3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2 4 6 8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This program tried to sort</a:t>
            </a:r>
          </a:p>
          <a:p>
            <a:pPr>
              <a:buFontTx/>
              <a:buChar char="-"/>
            </a:pPr>
            <a:r>
              <a:rPr lang="en-US" dirty="0"/>
              <a:t>Already sorted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Nothing happens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58DBF8-59D4-4A3D-CD6D-54C16CC7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599" y="1825625"/>
            <a:ext cx="4212021" cy="38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79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C7EA-2D17-DA29-7BE7-A16B9FCC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385F-E344-2CA5-16FD-C3C3301D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75DD1A-FC8B-A807-42A0-48613AC90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313" y="1690688"/>
            <a:ext cx="5064006" cy="4071609"/>
          </a:xfrm>
        </p:spPr>
      </p:pic>
    </p:spTree>
    <p:extLst>
      <p:ext uri="{BB962C8B-B14F-4D97-AF65-F5344CB8AC3E}">
        <p14:creationId xmlns:p14="http://schemas.microsoft.com/office/powerpoint/2010/main" val="19672751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86C3-3556-C4E4-2F98-34D72C0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13A8-03DC-CAC0-8256-B67ADE32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127C6-BB4E-AE59-83D7-ECD64EB85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13</a:t>
            </a:r>
          </a:p>
          <a:p>
            <a:r>
              <a:rPr lang="en-US" dirty="0"/>
              <a:t>Add j only when (</a:t>
            </a:r>
            <a:r>
              <a:rPr lang="en-US" dirty="0" err="1"/>
              <a:t>i+j</a:t>
            </a:r>
            <a:r>
              <a:rPr lang="en-US" dirty="0"/>
              <a:t>) is even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=1</a:t>
            </a:r>
          </a:p>
          <a:p>
            <a:pPr lvl="2"/>
            <a:r>
              <a:rPr lang="en-US" dirty="0"/>
              <a:t>j=1 → 2 (even) → +1 → sum=1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=2</a:t>
            </a:r>
          </a:p>
          <a:p>
            <a:pPr lvl="2"/>
            <a:r>
              <a:rPr lang="en-US" dirty="0"/>
              <a:t>j=1 → 3</a:t>
            </a:r>
          </a:p>
          <a:p>
            <a:pPr lvl="2"/>
            <a:r>
              <a:rPr lang="en-US" dirty="0"/>
              <a:t>j=2 → 4(even) → +2 → sum=3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=3</a:t>
            </a:r>
          </a:p>
          <a:p>
            <a:pPr lvl="2"/>
            <a:r>
              <a:rPr lang="en-US" dirty="0"/>
              <a:t>j=1 → 4 (even) → +1 → sum=4</a:t>
            </a:r>
          </a:p>
          <a:p>
            <a:pPr lvl="2"/>
            <a:r>
              <a:rPr lang="en-US" dirty="0"/>
              <a:t>j=2 → 5 (odd)</a:t>
            </a:r>
          </a:p>
          <a:p>
            <a:pPr lvl="2"/>
            <a:r>
              <a:rPr lang="en-US" dirty="0"/>
              <a:t>j=3 → 6 (even) → +3 → sum=7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=4</a:t>
            </a:r>
          </a:p>
          <a:p>
            <a:pPr lvl="2"/>
            <a:r>
              <a:rPr lang="en-US" dirty="0"/>
              <a:t>j=1 → 5 (odd)</a:t>
            </a:r>
          </a:p>
          <a:p>
            <a:pPr lvl="2"/>
            <a:r>
              <a:rPr lang="en-US" dirty="0"/>
              <a:t>j=2 → 6 (even) → +2 → sum=9</a:t>
            </a:r>
          </a:p>
          <a:p>
            <a:pPr lvl="2"/>
            <a:r>
              <a:rPr lang="en-US" dirty="0"/>
              <a:t>j=3 → 7 (odd)</a:t>
            </a:r>
          </a:p>
          <a:p>
            <a:pPr lvl="2"/>
            <a:r>
              <a:rPr lang="en-US" dirty="0"/>
              <a:t>j=4 → 8 (even) → +4 → sum=13</a:t>
            </a:r>
          </a:p>
          <a:p>
            <a:pPr lvl="2"/>
            <a:endParaRPr lang="en-U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AD373F5-91BE-5532-CE2F-4C5A2A454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661" y="1990233"/>
            <a:ext cx="4855249" cy="390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390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4A83-F873-72A7-C405-8ABD45D0B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68C33-D8B7-9D19-DBFD-BAAA6B1E4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2788" y="1799728"/>
            <a:ext cx="4100645" cy="4563898"/>
          </a:xfrm>
        </p:spPr>
      </p:pic>
    </p:spTree>
    <p:extLst>
      <p:ext uri="{BB962C8B-B14F-4D97-AF65-F5344CB8AC3E}">
        <p14:creationId xmlns:p14="http://schemas.microsoft.com/office/powerpoint/2010/main" val="3622320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A11-13A6-13EA-2BBF-E3F325435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73A9-D3A1-EA46-9965-88D8075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F4CA66-2E1D-A65D-96B1-7D63B9B6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</a:t>
            </a:r>
          </a:p>
          <a:p>
            <a:r>
              <a:rPr lang="en-US" dirty="0"/>
              <a:t>Count how many times A[</a:t>
            </a:r>
            <a:r>
              <a:rPr lang="en-US" dirty="0" err="1"/>
              <a:t>i</a:t>
            </a:r>
            <a:r>
              <a:rPr lang="en-US" dirty="0"/>
              <a:t>] &lt; A[j]</a:t>
            </a:r>
          </a:p>
          <a:p>
            <a:pPr lvl="1"/>
            <a:r>
              <a:rPr lang="it-IT" dirty="0"/>
              <a:t>1 &lt; 3,5,7 → 3</a:t>
            </a:r>
          </a:p>
          <a:p>
            <a:pPr lvl="1"/>
            <a:r>
              <a:rPr lang="it-IT" dirty="0"/>
              <a:t>3 &lt; 5,7 → 2</a:t>
            </a:r>
          </a:p>
          <a:p>
            <a:pPr lvl="1"/>
            <a:r>
              <a:rPr lang="it-IT" dirty="0"/>
              <a:t>5 &lt; 7 → 1</a:t>
            </a:r>
          </a:p>
          <a:p>
            <a:pPr lvl="1"/>
            <a:r>
              <a:rPr lang="it-IT" dirty="0"/>
              <a:t>7 &lt; none → 0</a:t>
            </a:r>
            <a:endParaRPr lang="en-US" dirty="0"/>
          </a:p>
          <a:p>
            <a:r>
              <a:rPr lang="en-US" dirty="0"/>
              <a:t>Total = 3 + 2 + 1 = 6</a:t>
            </a:r>
            <a:endParaRPr lang="it-IT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65AAB9F-0F4E-0B93-A910-68451237E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37" y="1690687"/>
            <a:ext cx="390965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95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58E75-5553-324F-5B48-028B76B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274CD-93BF-0487-A229-2394EC9B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3C46BAF-D801-5E6F-3276-708F9CF1C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1615" y="1616107"/>
            <a:ext cx="2220578" cy="474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554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9693-7FD9-47E4-BA86-B97EB940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0844-6D66-B048-A14A-CE67FE9B5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FC1A9-4F46-A34B-EC6F-15BA81F9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5 2 1</a:t>
            </a:r>
          </a:p>
          <a:p>
            <a:pPr lvl="1"/>
            <a:r>
              <a:rPr lang="en-US" dirty="0"/>
              <a:t>Push 1,2,3,4</a:t>
            </a:r>
          </a:p>
          <a:p>
            <a:pPr lvl="1"/>
            <a:r>
              <a:rPr lang="en-US" dirty="0"/>
              <a:t>Pop twice </a:t>
            </a:r>
          </a:p>
          <a:p>
            <a:pPr lvl="2"/>
            <a:r>
              <a:rPr lang="en-US" dirty="0"/>
              <a:t>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1,2,3</a:t>
            </a:r>
          </a:p>
          <a:p>
            <a:pPr lvl="2"/>
            <a:r>
              <a:rPr lang="en-US" dirty="0"/>
              <a:t>3 </a:t>
            </a:r>
            <a:r>
              <a:rPr lang="en-US" dirty="0">
                <a:sym typeface="Wingdings" panose="05000000000000000000" pitchFamily="2" charset="2"/>
              </a:rPr>
              <a:t> 1,2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Push 5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1,2,5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Pop all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5,2,1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4979409-7BA8-5D3F-228C-B55060B2B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690688"/>
            <a:ext cx="2039275" cy="43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034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AF1E-B94B-B679-DF50-9B417918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0D29-E26E-CC89-ED61-E18E39F86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0711A-4624-D6E5-76BF-5063A92FA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8" y="1690688"/>
            <a:ext cx="5122423" cy="4260795"/>
          </a:xfrm>
        </p:spPr>
      </p:pic>
    </p:spTree>
    <p:extLst>
      <p:ext uri="{BB962C8B-B14F-4D97-AF65-F5344CB8AC3E}">
        <p14:creationId xmlns:p14="http://schemas.microsoft.com/office/powerpoint/2010/main" val="3862328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78AA-FE52-CD93-522C-CD1CAD6E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0B23-C7DE-7BD3-3432-914ED568A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</a:t>
            </a:r>
            <a:r>
              <a:rPr lang="en-US"/>
              <a:t>A6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1FF15-17C3-E624-760A-CCA518D19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1 2 3 4</a:t>
            </a:r>
          </a:p>
          <a:p>
            <a:pPr lvl="1"/>
            <a:r>
              <a:rPr lang="en-US" dirty="0"/>
              <a:t>Bubble sort</a:t>
            </a:r>
          </a:p>
          <a:p>
            <a:pPr lvl="2"/>
            <a:r>
              <a:rPr lang="en-US" dirty="0"/>
              <a:t>Pass 1 </a:t>
            </a:r>
            <a:r>
              <a:rPr lang="en-US" dirty="0">
                <a:sym typeface="Wingdings" panose="05000000000000000000" pitchFamily="2" charset="2"/>
              </a:rPr>
              <a:t> 1,3,2,4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2  1,2,3,4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3  (No Change)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4  (No Change)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81A62B2-389D-56BD-B428-9D0DBD6C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469" y="1943866"/>
            <a:ext cx="4660660" cy="38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4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7288-A3E9-2E4B-1CFA-A9FE653B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86A02-254A-2D1D-68EE-6C2694AC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the green/woody kind </a:t>
            </a:r>
          </a:p>
          <a:p>
            <a:pPr lvl="1"/>
            <a:r>
              <a:rPr lang="en-US" dirty="0"/>
              <a:t>But they actually look like upside down trees </a:t>
            </a:r>
          </a:p>
          <a:p>
            <a:r>
              <a:rPr lang="en-US" dirty="0"/>
              <a:t>Trees are data structures that represents data in parent/child relationships</a:t>
            </a:r>
          </a:p>
          <a:p>
            <a:pPr lvl="1"/>
            <a:r>
              <a:rPr lang="en-US" dirty="0"/>
              <a:t>Start with a </a:t>
            </a:r>
            <a:r>
              <a:rPr lang="en-US" b="1" dirty="0"/>
              <a:t>root</a:t>
            </a:r>
            <a:r>
              <a:rPr lang="en-US" dirty="0"/>
              <a:t> node </a:t>
            </a:r>
          </a:p>
          <a:p>
            <a:pPr lvl="1"/>
            <a:r>
              <a:rPr lang="en-US" dirty="0"/>
              <a:t>(May) point to other nodes </a:t>
            </a:r>
          </a:p>
          <a:p>
            <a:pPr lvl="2"/>
            <a:r>
              <a:rPr lang="en-US" dirty="0"/>
              <a:t>This is </a:t>
            </a:r>
            <a:r>
              <a:rPr lang="en-US" b="1" dirty="0"/>
              <a:t>parent</a:t>
            </a:r>
            <a:r>
              <a:rPr lang="en-US" dirty="0"/>
              <a:t> pointing to </a:t>
            </a:r>
            <a:r>
              <a:rPr lang="en-US" b="1" dirty="0"/>
              <a:t>child</a:t>
            </a:r>
            <a:r>
              <a:rPr lang="en-US" dirty="0"/>
              <a:t> ( generally) or vice versa</a:t>
            </a:r>
          </a:p>
          <a:p>
            <a:pPr lvl="1"/>
            <a:r>
              <a:rPr lang="en-US" dirty="0"/>
              <a:t>The nodes with no children are </a:t>
            </a:r>
            <a:r>
              <a:rPr lang="en-US" b="1" dirty="0"/>
              <a:t>leaf</a:t>
            </a:r>
            <a:r>
              <a:rPr lang="en-US" dirty="0"/>
              <a:t> nodes</a:t>
            </a:r>
          </a:p>
        </p:txBody>
      </p:sp>
    </p:spTree>
    <p:extLst>
      <p:ext uri="{BB962C8B-B14F-4D97-AF65-F5344CB8AC3E}">
        <p14:creationId xmlns:p14="http://schemas.microsoft.com/office/powerpoint/2010/main" val="32869819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D1CE6-1DED-8A20-394D-424C73A1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Tree: Visuals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807D5B-BD36-72DB-EF4C-02875547A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29D248-619E-F8D5-1EB5-7C1366A17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87" y="2540719"/>
            <a:ext cx="8820603" cy="292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034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C887-3C8C-169D-F409-469D624A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B5F16-DAD5-744D-2F75-11549F6B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child count</a:t>
            </a:r>
          </a:p>
          <a:p>
            <a:pPr lvl="1"/>
            <a:r>
              <a:rPr lang="en-US" dirty="0"/>
              <a:t>Binary trees (most popular)</a:t>
            </a:r>
          </a:p>
          <a:p>
            <a:pPr lvl="2"/>
            <a:r>
              <a:rPr lang="en-US" dirty="0"/>
              <a:t>Each node max 2 children (</a:t>
            </a:r>
            <a:r>
              <a:rPr lang="en-US" dirty="0" err="1"/>
              <a:t>i.e</a:t>
            </a:r>
            <a:r>
              <a:rPr lang="en-US" dirty="0"/>
              <a:t> 0,1 or 2 )</a:t>
            </a:r>
          </a:p>
          <a:p>
            <a:pPr lvl="1"/>
            <a:r>
              <a:rPr lang="en-US" dirty="0"/>
              <a:t>Ternary trees</a:t>
            </a:r>
          </a:p>
          <a:p>
            <a:pPr lvl="2"/>
            <a:r>
              <a:rPr lang="en-US" dirty="0"/>
              <a:t>Max 3 children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ary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Max N children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260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42CB8-C999-0471-92B1-89909ABF7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502A5-1746-0B16-F272-087655FC8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Based on data organization</a:t>
            </a:r>
          </a:p>
          <a:p>
            <a:pPr lvl="1"/>
            <a:r>
              <a:rPr lang="en-US" dirty="0"/>
              <a:t>Binary Tree</a:t>
            </a:r>
          </a:p>
          <a:p>
            <a:pPr lvl="2"/>
            <a:r>
              <a:rPr lang="en-US" dirty="0"/>
              <a:t>No organization requirement</a:t>
            </a:r>
          </a:p>
          <a:p>
            <a:pPr lvl="1"/>
            <a:r>
              <a:rPr lang="en-US" dirty="0"/>
              <a:t>Binary Search trees , </a:t>
            </a:r>
          </a:p>
          <a:p>
            <a:pPr lvl="2"/>
            <a:r>
              <a:rPr lang="en-US" dirty="0"/>
              <a:t>Left child is smaller ( or equal to) the root</a:t>
            </a:r>
          </a:p>
          <a:p>
            <a:pPr lvl="2"/>
            <a:r>
              <a:rPr lang="en-US" dirty="0"/>
              <a:t>Right child is bigger than the root</a:t>
            </a:r>
          </a:p>
          <a:p>
            <a:pPr lvl="1"/>
            <a:r>
              <a:rPr lang="en-US" b="1" dirty="0"/>
              <a:t>AVL tree </a:t>
            </a:r>
            <a:r>
              <a:rPr lang="en-US" dirty="0"/>
              <a:t>(Adelson-</a:t>
            </a:r>
            <a:r>
              <a:rPr lang="en-US" dirty="0" err="1"/>
              <a:t>Velsky</a:t>
            </a:r>
            <a:r>
              <a:rPr lang="en-US" dirty="0"/>
              <a:t> and Landis)</a:t>
            </a:r>
          </a:p>
          <a:p>
            <a:pPr lvl="2"/>
            <a:r>
              <a:rPr lang="en-US" dirty="0"/>
              <a:t>Binary search tree with limits on height </a:t>
            </a:r>
          </a:p>
          <a:p>
            <a:pPr lvl="2"/>
            <a:r>
              <a:rPr lang="en-US" dirty="0"/>
              <a:t>No one leaf can be more than a 1 distance </a:t>
            </a:r>
            <a:r>
              <a:rPr lang="en-US" dirty="0" err="1"/>
              <a:t>logner</a:t>
            </a:r>
            <a:r>
              <a:rPr lang="en-US" dirty="0"/>
              <a:t> than any other leaf node</a:t>
            </a:r>
          </a:p>
          <a:p>
            <a:pPr lvl="1"/>
            <a:r>
              <a:rPr lang="en-US" dirty="0"/>
              <a:t>Red black tree</a:t>
            </a:r>
          </a:p>
          <a:p>
            <a:pPr lvl="2"/>
            <a:r>
              <a:rPr lang="en-US" dirty="0"/>
              <a:t>A representation of AVL tree that color codes the nodes ( red/black) to organize info.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62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DF003-F9A9-1475-DB83-84CB2D60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: 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C6801-7726-EB38-A181-96B8F89CC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Root : there is only 1 root( 0 for empty tree)</a:t>
            </a:r>
          </a:p>
          <a:p>
            <a:r>
              <a:rPr lang="en-US" dirty="0"/>
              <a:t>Parent </a:t>
            </a:r>
          </a:p>
          <a:p>
            <a:pPr lvl="1"/>
            <a:r>
              <a:rPr lang="en-US" dirty="0"/>
              <a:t>All other nodes have one parent (except the root node)</a:t>
            </a:r>
          </a:p>
          <a:p>
            <a:r>
              <a:rPr lang="en-US" dirty="0"/>
              <a:t>Children </a:t>
            </a:r>
          </a:p>
          <a:p>
            <a:pPr lvl="1"/>
            <a:r>
              <a:rPr lang="en-US" dirty="0"/>
              <a:t>In Binary Tree : there can be at most 2 children</a:t>
            </a:r>
          </a:p>
          <a:p>
            <a:pPr lvl="1"/>
            <a:r>
              <a:rPr lang="en-US" dirty="0"/>
              <a:t>The 2 children are also referred as siblings</a:t>
            </a:r>
          </a:p>
          <a:p>
            <a:r>
              <a:rPr lang="en-US" dirty="0"/>
              <a:t>Leaf nodes : nodes with no children are leaf nodes</a:t>
            </a:r>
          </a:p>
          <a:p>
            <a:r>
              <a:rPr lang="en-US" dirty="0"/>
              <a:t>Height : the distance from the root to furthest leaf node is height of the tree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613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6E64-3C52-4650-4748-F1D6527BB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F3575-C8F7-080A-D3E0-6D7604D24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child must be smaller than or equal to the  parent</a:t>
            </a:r>
          </a:p>
          <a:p>
            <a:r>
              <a:rPr lang="en-US" dirty="0"/>
              <a:t>Right child must be larger than the parent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C87756-9D75-31B8-6253-ECE1FBD69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17" y="2768028"/>
            <a:ext cx="5164154" cy="304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07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1B119-127E-62DE-A543-B9405E52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F40EE-91EE-F334-EACC-374919DC7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52, 18, 74, 5, 33, 61, 89, 25, 42, 67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579547-A6B0-EB11-4B61-2AEB9D57A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015" y="2348917"/>
            <a:ext cx="6417578" cy="358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5667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9B443-40AD-BC01-446B-D41711F9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EE65A-AAAA-2D72-CFD9-35F9EE48E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tree for </a:t>
            </a:r>
          </a:p>
          <a:p>
            <a:pPr lvl="1"/>
            <a:r>
              <a:rPr lang="en-US" dirty="0"/>
              <a:t>S U P E R N A T U R A L </a:t>
            </a:r>
          </a:p>
          <a:p>
            <a:pPr lvl="1"/>
            <a:r>
              <a:rPr lang="en-US" dirty="0"/>
              <a:t>16  93  81  37  98  84 </a:t>
            </a:r>
          </a:p>
          <a:p>
            <a:pPr lvl="1"/>
            <a:r>
              <a:rPr lang="en-US" dirty="0"/>
              <a:t>0  9  2  6  2  3  5  1  4  2  9  7  6  8   9   2   7</a:t>
            </a:r>
          </a:p>
          <a:p>
            <a:pPr lvl="1"/>
            <a:r>
              <a:rPr lang="en-US" dirty="0"/>
              <a:t>C O N I O S I S</a:t>
            </a:r>
          </a:p>
          <a:p>
            <a:pPr lvl="1"/>
            <a:r>
              <a:rPr lang="en-US" dirty="0"/>
              <a:t>A L P H A B E T I C A L</a:t>
            </a:r>
          </a:p>
          <a:p>
            <a:pPr lvl="1"/>
            <a:r>
              <a:rPr lang="en-US" dirty="0"/>
              <a:t>M A T H E M A T I C S</a:t>
            </a:r>
          </a:p>
        </p:txBody>
      </p:sp>
    </p:spTree>
    <p:extLst>
      <p:ext uri="{BB962C8B-B14F-4D97-AF65-F5344CB8AC3E}">
        <p14:creationId xmlns:p14="http://schemas.microsoft.com/office/powerpoint/2010/main" val="278483957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FBD44-EBD1-07DC-DF8E-F30552C65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9665F-B850-FB04-2549-9B4B1250F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Graphs are data structure that can represent complex relationships between items. They are made of </a:t>
            </a:r>
          </a:p>
          <a:p>
            <a:pPr lvl="1"/>
            <a:r>
              <a:rPr lang="en-US" dirty="0"/>
              <a:t>Vertices( also called nodes)</a:t>
            </a:r>
          </a:p>
          <a:p>
            <a:pPr lvl="1"/>
            <a:r>
              <a:rPr lang="en-US" dirty="0"/>
              <a:t>Edges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DAD95-1C7C-BBBF-5940-31D7F0581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790" y="2842243"/>
            <a:ext cx="4107401" cy="3167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818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99F5-A503-C753-D924-BDEF6972D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BA19D-0D87-CD7F-2436-A90504790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Major part of day to day life </a:t>
            </a:r>
          </a:p>
          <a:p>
            <a:pPr lvl="1"/>
            <a:r>
              <a:rPr lang="en-US" dirty="0"/>
              <a:t>Maps</a:t>
            </a:r>
          </a:p>
          <a:p>
            <a:pPr lvl="2"/>
            <a:r>
              <a:rPr lang="en-US" dirty="0"/>
              <a:t>Shortest/fastest routes</a:t>
            </a:r>
          </a:p>
          <a:p>
            <a:pPr lvl="1"/>
            <a:r>
              <a:rPr lang="en-US" dirty="0"/>
              <a:t>Internet/Computer networks</a:t>
            </a:r>
          </a:p>
          <a:p>
            <a:pPr lvl="2"/>
            <a:r>
              <a:rPr lang="en-US" dirty="0"/>
              <a:t>Communication over internet</a:t>
            </a:r>
          </a:p>
          <a:p>
            <a:pPr lvl="1"/>
            <a:r>
              <a:rPr lang="en-US" dirty="0"/>
              <a:t>Commerce</a:t>
            </a:r>
          </a:p>
          <a:p>
            <a:pPr lvl="2"/>
            <a:r>
              <a:rPr lang="en-US" dirty="0"/>
              <a:t>Stocks</a:t>
            </a:r>
          </a:p>
          <a:p>
            <a:pPr lvl="2"/>
            <a:r>
              <a:rPr lang="en-US" dirty="0"/>
              <a:t>goods</a:t>
            </a:r>
          </a:p>
          <a:p>
            <a:pPr lvl="1"/>
            <a:r>
              <a:rPr lang="en-US" dirty="0"/>
              <a:t>Social Networks </a:t>
            </a:r>
          </a:p>
          <a:p>
            <a:pPr lvl="2"/>
            <a:r>
              <a:rPr lang="en-US" dirty="0"/>
              <a:t>Friends</a:t>
            </a:r>
          </a:p>
          <a:p>
            <a:pPr lvl="2"/>
            <a:r>
              <a:rPr lang="en-US" dirty="0"/>
              <a:t>Ads</a:t>
            </a:r>
          </a:p>
          <a:p>
            <a:pPr lvl="1"/>
            <a:r>
              <a:rPr lang="en-US" dirty="0"/>
              <a:t>Circuits</a:t>
            </a:r>
          </a:p>
          <a:p>
            <a:pPr lvl="2"/>
            <a:r>
              <a:rPr lang="en-US" dirty="0"/>
              <a:t>Computer</a:t>
            </a:r>
          </a:p>
          <a:p>
            <a:pPr lvl="1"/>
            <a:r>
              <a:rPr lang="en-US" dirty="0"/>
              <a:t>Schedules</a:t>
            </a:r>
          </a:p>
          <a:p>
            <a:pPr lvl="2"/>
            <a:r>
              <a:rPr lang="en-US" dirty="0"/>
              <a:t>dependency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69135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594CF-E56D-9A6C-E3FF-4352F59F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29D19-9EC9-463D-5938-7DFED8B7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Directed </a:t>
            </a:r>
            <a:r>
              <a:rPr lang="en-US" dirty="0"/>
              <a:t>: think one way</a:t>
            </a:r>
          </a:p>
          <a:p>
            <a:pPr lvl="1"/>
            <a:r>
              <a:rPr lang="en-US" dirty="0"/>
              <a:t>The edges have a </a:t>
            </a:r>
            <a:r>
              <a:rPr lang="en-US" b="1" dirty="0"/>
              <a:t>source</a:t>
            </a:r>
            <a:r>
              <a:rPr lang="en-US" dirty="0"/>
              <a:t> where they begin from </a:t>
            </a:r>
          </a:p>
          <a:p>
            <a:pPr lvl="1"/>
            <a:r>
              <a:rPr lang="en-US" dirty="0"/>
              <a:t>And a </a:t>
            </a:r>
            <a:r>
              <a:rPr lang="en-US" b="1" dirty="0"/>
              <a:t>destination</a:t>
            </a:r>
            <a:r>
              <a:rPr lang="en-US" dirty="0"/>
              <a:t> where they end.</a:t>
            </a:r>
          </a:p>
          <a:p>
            <a:pPr lvl="1"/>
            <a:r>
              <a:rPr lang="en-US" b="1" i="1" dirty="0"/>
              <a:t>Think of this as one way connection</a:t>
            </a:r>
          </a:p>
          <a:p>
            <a:r>
              <a:rPr lang="en-US" i="1" dirty="0"/>
              <a:t>Undirected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376AB-227B-DBD3-7622-5859089D7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453" y="377361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36445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FF23-6F34-7ED0-BAD1-7D662ED2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8A1DF-487F-705B-EEB9-D66C72F2A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8D58B-0329-19D7-2F29-84ACB5C9D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</a:t>
            </a:r>
          </a:p>
          <a:p>
            <a:r>
              <a:rPr lang="en-US" b="1" dirty="0"/>
              <a:t>Undirected</a:t>
            </a:r>
          </a:p>
          <a:p>
            <a:pPr lvl="1"/>
            <a:r>
              <a:rPr lang="en-US" dirty="0"/>
              <a:t>The edges do not have direction</a:t>
            </a:r>
          </a:p>
          <a:p>
            <a:pPr lvl="1"/>
            <a:r>
              <a:rPr lang="en-US" dirty="0"/>
              <a:t>The edge connects vertices in both direction</a:t>
            </a:r>
          </a:p>
          <a:p>
            <a:pPr lvl="1"/>
            <a:r>
              <a:rPr lang="en-US" b="1" i="1" dirty="0"/>
              <a:t>Think of this as two way connection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555328-ED29-B541-3570-7CDE3FDBC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284" y="400129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5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377F6-CB3C-29C3-E593-4C149CA5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representation(s)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AFD61-5580-96EB-7E35-D315B16E5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20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Assuming </a:t>
            </a:r>
            <a:r>
              <a:rPr lang="en-US" b="1" dirty="0"/>
              <a:t>graph with ‘V’ vertices and ‘E’ edges</a:t>
            </a:r>
          </a:p>
          <a:p>
            <a:r>
              <a:rPr lang="en-US" dirty="0"/>
              <a:t>Adjacency matrix </a:t>
            </a:r>
            <a:r>
              <a:rPr lang="en-US" i="1" dirty="0"/>
              <a:t>(double dimension array)</a:t>
            </a:r>
          </a:p>
          <a:p>
            <a:pPr lvl="1"/>
            <a:r>
              <a:rPr lang="en-US" dirty="0" err="1"/>
              <a:t>VxV</a:t>
            </a:r>
            <a:r>
              <a:rPr lang="en-US" dirty="0"/>
              <a:t> array, entry in row ‘</a:t>
            </a:r>
            <a:r>
              <a:rPr lang="en-US" dirty="0" err="1"/>
              <a:t>i</a:t>
            </a:r>
            <a:r>
              <a:rPr lang="en-US" dirty="0"/>
              <a:t>’ column ‘j’ denotes connectivity between node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: j</a:t>
            </a:r>
          </a:p>
          <a:p>
            <a:pPr lvl="1"/>
            <a:r>
              <a:rPr lang="en-US" i="1" dirty="0">
                <a:sym typeface="Wingdings" panose="05000000000000000000" pitchFamily="2" charset="2"/>
              </a:rPr>
              <a:t>Very useful and efficient representation</a:t>
            </a:r>
            <a:endParaRPr lang="en-US" i="1" dirty="0"/>
          </a:p>
          <a:p>
            <a:r>
              <a:rPr lang="en-US" dirty="0"/>
              <a:t>array of edges</a:t>
            </a:r>
          </a:p>
          <a:p>
            <a:pPr lvl="1"/>
            <a:r>
              <a:rPr lang="en-US" dirty="0"/>
              <a:t>Array of size ‘E’ containing source and destination of edges</a:t>
            </a:r>
          </a:p>
          <a:p>
            <a:pPr lvl="1"/>
            <a:r>
              <a:rPr lang="en-US" i="1" dirty="0"/>
              <a:t>Simple but slower representation</a:t>
            </a:r>
          </a:p>
          <a:p>
            <a:r>
              <a:rPr lang="en-US" dirty="0"/>
              <a:t>Array of adjacency lists </a:t>
            </a:r>
          </a:p>
          <a:p>
            <a:pPr lvl="1"/>
            <a:r>
              <a:rPr lang="en-US" dirty="0"/>
              <a:t>Vertex indexed array of edges. </a:t>
            </a:r>
          </a:p>
          <a:p>
            <a:pPr lvl="1"/>
            <a:r>
              <a:rPr lang="en-US" i="1" dirty="0"/>
              <a:t>Flexible and quite efficient </a:t>
            </a:r>
            <a:r>
              <a:rPr lang="en-US" dirty="0"/>
              <a:t>(the goat)</a:t>
            </a:r>
          </a:p>
          <a:p>
            <a:r>
              <a:rPr lang="en-US" dirty="0"/>
              <a:t>…(and there are more representations)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801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E521D-C6E0-32CE-A5F4-A5A5C1BA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class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1CB59-8274-EDDE-2358-516BE319A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28088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4305</TotalTime>
  <Words>6654</Words>
  <Application>Microsoft Office PowerPoint</Application>
  <PresentationFormat>Widescreen</PresentationFormat>
  <Paragraphs>1291</Paragraphs>
  <Slides>114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24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Lets Simplify 5..11 : answers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  <vt:lpstr>What does this program do ? Q1</vt:lpstr>
      <vt:lpstr>What does this program do ? A1</vt:lpstr>
      <vt:lpstr>What does this program do ? Q2</vt:lpstr>
      <vt:lpstr>What does this program do ? A2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Q5</vt:lpstr>
      <vt:lpstr>What does this program do ? Q6</vt:lpstr>
      <vt:lpstr>What does this program do ? A6</vt:lpstr>
      <vt:lpstr>Data structure : Trees</vt:lpstr>
      <vt:lpstr>Tree: Visuals </vt:lpstr>
      <vt:lpstr>Trees : types</vt:lpstr>
      <vt:lpstr>Trees: Types</vt:lpstr>
      <vt:lpstr>Binary Tree : Key terms</vt:lpstr>
      <vt:lpstr>Binary Search tree : Examples</vt:lpstr>
      <vt:lpstr>Creation of a BST</vt:lpstr>
      <vt:lpstr>Binary Search Tree : exercise</vt:lpstr>
      <vt:lpstr>Data Structure : Graphs</vt:lpstr>
      <vt:lpstr>Graphs : uses</vt:lpstr>
      <vt:lpstr>Graphs : by Edge types</vt:lpstr>
      <vt:lpstr>Graphs : by Edge types</vt:lpstr>
      <vt:lpstr>Graph representation(s)</vt:lpstr>
      <vt:lpstr>In class 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57</cp:revision>
  <dcterms:created xsi:type="dcterms:W3CDTF">2025-12-04T21:37:48Z</dcterms:created>
  <dcterms:modified xsi:type="dcterms:W3CDTF">2026-04-02T22:05:55Z</dcterms:modified>
</cp:coreProperties>
</file>