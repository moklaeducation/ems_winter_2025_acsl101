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9"/>
  </p:notesMasterIdLst>
  <p:sldIdLst>
    <p:sldId id="256" r:id="rId2"/>
    <p:sldId id="257" r:id="rId3"/>
    <p:sldId id="258" r:id="rId4"/>
    <p:sldId id="259" r:id="rId5"/>
    <p:sldId id="262" r:id="rId6"/>
    <p:sldId id="264" r:id="rId7"/>
    <p:sldId id="263" r:id="rId8"/>
    <p:sldId id="267" r:id="rId9"/>
    <p:sldId id="269" r:id="rId10"/>
    <p:sldId id="270" r:id="rId11"/>
    <p:sldId id="271" r:id="rId12"/>
    <p:sldId id="273" r:id="rId13"/>
    <p:sldId id="275" r:id="rId14"/>
    <p:sldId id="277" r:id="rId15"/>
    <p:sldId id="278" r:id="rId16"/>
    <p:sldId id="276" r:id="rId17"/>
    <p:sldId id="280" r:id="rId18"/>
    <p:sldId id="279" r:id="rId19"/>
    <p:sldId id="281" r:id="rId20"/>
    <p:sldId id="282" r:id="rId21"/>
    <p:sldId id="283" r:id="rId22"/>
    <p:sldId id="284" r:id="rId23"/>
    <p:sldId id="285" r:id="rId24"/>
    <p:sldId id="286" r:id="rId25"/>
    <p:sldId id="295" r:id="rId26"/>
    <p:sldId id="296" r:id="rId27"/>
    <p:sldId id="287" r:id="rId28"/>
    <p:sldId id="288" r:id="rId29"/>
    <p:sldId id="289" r:id="rId30"/>
    <p:sldId id="290" r:id="rId31"/>
    <p:sldId id="293" r:id="rId32"/>
    <p:sldId id="291" r:id="rId33"/>
    <p:sldId id="292" r:id="rId34"/>
    <p:sldId id="294" r:id="rId35"/>
    <p:sldId id="298" r:id="rId36"/>
    <p:sldId id="299" r:id="rId37"/>
    <p:sldId id="300" r:id="rId38"/>
    <p:sldId id="301" r:id="rId39"/>
    <p:sldId id="310" r:id="rId40"/>
    <p:sldId id="307" r:id="rId41"/>
    <p:sldId id="308" r:id="rId42"/>
    <p:sldId id="302" r:id="rId43"/>
    <p:sldId id="303" r:id="rId44"/>
    <p:sldId id="311" r:id="rId45"/>
    <p:sldId id="297" r:id="rId46"/>
    <p:sldId id="312" r:id="rId47"/>
    <p:sldId id="305" r:id="rId48"/>
    <p:sldId id="313" r:id="rId49"/>
    <p:sldId id="315" r:id="rId50"/>
    <p:sldId id="314" r:id="rId51"/>
    <p:sldId id="316" r:id="rId52"/>
    <p:sldId id="317" r:id="rId53"/>
    <p:sldId id="318" r:id="rId54"/>
    <p:sldId id="319" r:id="rId55"/>
    <p:sldId id="320" r:id="rId56"/>
    <p:sldId id="321" r:id="rId57"/>
    <p:sldId id="329" r:id="rId58"/>
    <p:sldId id="322" r:id="rId59"/>
    <p:sldId id="330" r:id="rId60"/>
    <p:sldId id="323" r:id="rId61"/>
    <p:sldId id="331" r:id="rId62"/>
    <p:sldId id="324" r:id="rId63"/>
    <p:sldId id="332" r:id="rId64"/>
    <p:sldId id="326" r:id="rId65"/>
    <p:sldId id="333" r:id="rId66"/>
    <p:sldId id="327" r:id="rId67"/>
    <p:sldId id="334" r:id="rId68"/>
    <p:sldId id="328" r:id="rId69"/>
    <p:sldId id="335" r:id="rId70"/>
    <p:sldId id="336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45" r:id="rId79"/>
    <p:sldId id="347" r:id="rId80"/>
    <p:sldId id="357" r:id="rId81"/>
    <p:sldId id="349" r:id="rId82"/>
    <p:sldId id="351" r:id="rId83"/>
    <p:sldId id="353" r:id="rId84"/>
    <p:sldId id="352" r:id="rId85"/>
    <p:sldId id="354" r:id="rId86"/>
    <p:sldId id="350" r:id="rId87"/>
    <p:sldId id="355" r:id="rId88"/>
    <p:sldId id="356" r:id="rId89"/>
    <p:sldId id="358" r:id="rId90"/>
    <p:sldId id="367" r:id="rId91"/>
    <p:sldId id="359" r:id="rId92"/>
    <p:sldId id="368" r:id="rId93"/>
    <p:sldId id="360" r:id="rId94"/>
    <p:sldId id="369" r:id="rId95"/>
    <p:sldId id="361" r:id="rId96"/>
    <p:sldId id="370" r:id="rId97"/>
    <p:sldId id="363" r:id="rId98"/>
    <p:sldId id="371" r:id="rId99"/>
    <p:sldId id="366" r:id="rId100"/>
    <p:sldId id="372" r:id="rId101"/>
    <p:sldId id="373" r:id="rId102"/>
    <p:sldId id="374" r:id="rId103"/>
    <p:sldId id="375" r:id="rId104"/>
    <p:sldId id="376" r:id="rId105"/>
    <p:sldId id="377" r:id="rId106"/>
    <p:sldId id="378" r:id="rId107"/>
    <p:sldId id="379" r:id="rId108"/>
    <p:sldId id="380" r:id="rId109"/>
    <p:sldId id="381" r:id="rId110"/>
    <p:sldId id="382" r:id="rId111"/>
    <p:sldId id="383" r:id="rId112"/>
    <p:sldId id="384" r:id="rId113"/>
    <p:sldId id="385" r:id="rId114"/>
    <p:sldId id="386" r:id="rId115"/>
    <p:sldId id="387" r:id="rId116"/>
    <p:sldId id="388" r:id="rId117"/>
    <p:sldId id="389" r:id="rId1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19:5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0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0 262 24575,'3'0'0,"0"1"0,-1-1 0,1 1 0,-1 0 0,1 0 0,-1 0 0,1 0 0,-1 0 0,4 3 0,16 6 0,-15-8 0,0-1 0,1 0 0,0 0 0,-1-1 0,1 0 0,-1-1 0,1 1 0,-1-1 0,1-1 0,9-2 0,1-3 0,1 0 0,26-17 0,-35 19 0,33-15 0,2 2 0,92-24 0,-70 23 0,-3 3 0,-45 12 0,-1 0 0,0-1 0,0-1 0,0-1 0,20-11 0,-25 11 0,0 0 0,1 0 0,0 2 0,0 0 0,1 0 0,-1 1 0,1 1 0,0 1 0,0 0 0,27 0 0,-37 2 0,9 1 0,0-1 0,0 0 0,0-1 0,-1-1 0,1 0 0,0-1 0,-1 0 0,14-6 0,-53 2-1365,14 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24575,'1'4'0,"0"0"0,1 0 0,0 0 0,-1 0 0,2 0 0,-1 0 0,0-1 0,1 1 0,0-1 0,-1 0 0,8 6 0,-7-7 0,0 0 0,0 0 0,1-1 0,-1 1 0,0-1 0,1 0 0,0 0 0,-1 0 0,1 0 0,-1-1 0,8 1 0,48-3 0,-28 0 0,-19 2 0,-4-1 0,-1 1 0,0 0 0,0 1 0,0 0 0,8 1 0,-13-1 0,0-1 0,-1 1 0,1 0 0,0 0 0,0 0 0,-1 0 0,1 0 0,-1 0 0,1 0 0,-1 0 0,0 0 0,1 1 0,-1-1 0,0 1 0,0-1 0,0 1 0,0-1 0,0 1 0,0 0 0,0-1 0,0 1 0,-1 0 0,1 0 0,0 2 0,0 0 0,-1-1 0,1 1 0,0 0 0,-1-1 0,0 1 0,0-1 0,0 1 0,0 0 0,-1-1 0,0 1 0,1 0 0,-1-1 0,0 1 0,-3 4 0,1-4 0,1 0 0,-1 0 0,0-1 0,-1 1 0,1-1 0,-1 0 0,1 0 0,-1 0 0,0 0 0,0-1 0,-5 3 0,-18 10 0,5-2 0,-2 0 0,0-1 0,-48 15 0,57-22 0,-1 1 0,2 1 0,-1 0 0,1 1 0,0 0 0,0 1 0,-22 20 0,0-1 0,35-27 27,1-1-59,-1 0 1,1 1-1,0-1 0,0 0 1,-1 1-1,1-1 0,0 0 1,0 0-1,-1 1 1,1-1-1,0 0 0,-1 0 1,1 0-1,0 1 0,-1-1 1,1 0-1,0 0 0,-1 0 1,1 0-1,-1 0 1,1 0-1,0 0 0,-1 0 1,1 0-1,0 0 0,-1 0 1,1 0-1,-1 0 0,1 0 1,0 0-1,-1 0 1,1 0-1,0-1 0,-1 1 1,1 0-1,0 0 0,-1 0 1,1 0-1,0-1 0,-1 1 1,1 0-1,0-1 1,-1 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24575,'3'2'0,"0"0"0,1 0 0,-1-1 0,0 0 0,1 1 0,0-1 0,-1-1 0,1 1 0,0 0 0,-1-1 0,1 0 0,0 0 0,5 0 0,7 0 0,383 4 0,-385-5 0,216-3 0,-174-2 0,14 0 0,-54 5 0,0-1 0,-1 0 0,1-1 0,20-7 0,-20 5 0,-15 5 7,0 0-1,-1 0 0,1 0 1,-1 0-1,1-1 1,0 1-1,-1 0 0,1 0 1,-1-1-1,1 1 1,-1-1-1,1 1 1,-1 0-1,1-1 0,-1 1 1,1-1-1,-1 1 1,1-1-1,-1 1 0,0-1 1,1 1-1,-1-1 1,0 0-1,0 1 0,1-1 1,-1 1-1,0-1 1,0 0-1,0 1 0,0-1 1,0 0-1,0 1 1,0-1-1,0 0 0,0 1 1,0-1-1,0 1 1,0-1-1,0 0 0,-1 1 1,1-1-1,0 0 1,0 1-1,-1-1 1,1 1-1,0-1 0,-1 1 1,1-1-1,-1 0 1,-26-31-717,20 24-266,-11-12-5850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2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24575,'8'1'0,"-1"1"0,0 0 0,0 0 0,0 1 0,0 0 0,-1 0 0,1 1 0,-1-1 0,0 2 0,7 4 0,0 0 0,12 9 0,0 1 0,29 32 0,-5-5 0,-46-44 0,-1 0 0,1 0 0,-1 0 0,1 1 0,-1-1 0,0 1 0,0-1 0,3 6 0,-5-7 0,0 0 0,0-1 0,0 1 0,1 0 0,-1 0 0,0 0 0,0 0 0,-1-1 0,1 1 0,0 0 0,0 0 0,0 0 0,-1 0 0,1-1 0,0 1 0,-1 0 0,1 0 0,0-1 0,-1 1 0,1 0 0,-1-1 0,1 1 0,-1 0 0,0-1 0,1 1 0,-1-1 0,1 1 0,-1-1 0,0 1 0,0-1 0,1 0 0,-1 1 0,0-1 0,0 0 0,1 1 0,-3-1 0,-25 12 0,-2-2 0,0-1 0,0-1 0,-45 5 0,-36 10 0,87-18 0,17-4 0,-1 1 0,0 0 0,1 1 0,-1-1 0,-9 6 0,16-7 0,1-1 0,0 0-1,0 0 1,-1 0 0,1 0-1,0 0 1,0 0-1,-1 1 1,1-1 0,0 0-1,0 0 1,-1 0 0,1 0-1,0 0 1,-1 0 0,1 0-1,0 0 1,0 0 0,-1 0-1,1 0 1,0 0 0,-1-1-1,1 1 1,0 0 0,0 0-1,-1 0 1,1 0 0,0 0-1,0 0 1,-1-1 0,1 1-1,0 0 1,0 0-1,0 0 1,-1-1 0,1 1-1,0 0 1,0 0 0,0-1-1,0 1 1,0 0 0,-1 0-1,1-1 1,0 1 0,0 0-1,0 0 1,0-1 0,0 1-1,0 0 1,0-1 0,0 1-1,-2-5-1346,-3-4-5479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3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24575,'24'1'0,"0"1"0,0 1 0,0 2 0,-1 0 0,1 1 0,-1 1 0,0 1 0,-1 2 0,0 0 0,-1 1 0,0 1 0,39 29 0,-39-25 0,275 230 0,-281-234 0,1-1 0,1-1 0,-1 0 0,1-1 0,1-1 0,0 0 0,0-2 0,23 6 0,-31-9 0,0-2 0,19 2 0,-22-2 0,1-1 0,-1 1 0,0 0 0,1 1 0,-1 0 0,11 4 0,-22-9 21,1 1 0,0 0 1,0-1-1,0 0 0,0 1 0,1-1 0,-5-6 0,-4-4-1555,-5-4-5292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4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24575,'4'1'0,"1"0"0,-1 1 0,1-1 0,-1 1 0,0 0 0,1 1 0,-1-1 0,0 1 0,-1 0 0,1 0 0,0 0 0,-1 0 0,6 7 0,13 10 0,108 88 0,-106-89 0,-19-17 0,0 1 0,-1 0 0,0 1 0,0-1 0,0 1 0,5 7 0,-8-11 0,-1 1 0,0-1 0,0 1 0,0-1 0,0 1 0,0-1 0,0 1 0,0-1 0,0 1 0,0 0 0,0-1 0,0 1 0,0-1 0,-1 1 0,1-1 0,0 1 0,0-1 0,0 1 0,-1-1 0,1 1 0,0-1 0,-1 1 0,1-1 0,0 0 0,-1 1 0,1-1 0,-1 1 0,1-1 0,0 0 0,-1 1 0,1-1 0,-1 0 0,1 0 0,-1 1 0,1-1 0,-1 0 0,0 0 0,1 0 0,-2 0 0,-23 8 0,-97 15 0,-118 31 0,222-48 0,1 2 0,0 0 0,-27 18 0,24-14 0,-29 14 0,48-27-2,1 1-1,0-1 0,0 1 1,0-1-1,0 1 1,-1-1-1,1 1 1,0-1-1,0 1 0,0-1 1,0 1-1,0-1 1,0 1-1,1-1 0,-1 1 1,0-1-1,0 1 1,0-1-1,0 1 0,0-1 1,1 1-1,-1 0 1,0-1-1,1 0 0,0-4-1297,2-5-5526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5653688-98A8-4F3B-A740-8E6568AE1BC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4216765-C83A-46F1-AE07-8E4F9D1ED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4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16765-C83A-46F1-AE07-8E4F9D1EDA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1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BE1C-5242-F3AB-FAB7-2C60DCC6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F9C86-8BD7-D89B-3647-1E2326E2F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48978-E736-BB7A-C2B2-1C0F3412E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56E3B-A427-F36C-F340-20964451E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16765-C83A-46F1-AE07-8E4F9D1EDA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3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 3 have outputs</a:t>
            </a:r>
            <a:br>
              <a:rPr lang="en-US" dirty="0"/>
            </a:br>
            <a:r>
              <a:rPr lang="en-US" dirty="0"/>
              <a:t>4,5,6 don’t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16765-C83A-46F1-AE07-8E4F9D1EDA9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6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65887" lvl="1" defTabSz="931774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(𝐴+𝐵).(𝐴 ̅+𝐶)=𝐴𝐶+𝐴 ̅B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0">
                    <a:latin typeface="Cambria Math" panose="02040503050406030204" pitchFamily="18" charset="0"/>
                  </a:rPr>
                  <a:t>        𝐴(𝐴 ̅+𝐵 )=𝐴.𝐵</a:t>
                </a:r>
                <a:endParaRPr lang="en-US" b="0" dirty="0"/>
              </a:p>
              <a:p>
                <a:pPr lvl="1"/>
                <a:r>
                  <a:rPr lang="en-US" b="0" i="0">
                    <a:latin typeface="Cambria Math" panose="02040503050406030204" pitchFamily="18" charset="0"/>
                  </a:rPr>
                  <a:t>𝐴+𝐴 ̅𝐵=𝐴+𝐵</a:t>
                </a:r>
                <a:endParaRPr lang="en-US" b="0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16765-C83A-46F1-AE07-8E4F9D1EDA94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2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A952E-9927-1087-C198-76B6E209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C7705-C938-649D-740E-28D1AAD8C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F9E5F5B-B72E-DD3D-016C-BFF5597DEF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65887" lvl="1" defTabSz="931774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F9E5F5B-B72E-DD3D-016C-BFF5597DEF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(𝐴+𝐵).(𝐴 ̅+𝐶)=𝐴𝐶+𝐴 ̅B </a:t>
                </a:r>
                <a:br>
                  <a:rPr lang="en-US" b="0" i="0" dirty="0">
                    <a:latin typeface="Cambria Math" panose="02040503050406030204" pitchFamily="18" charset="0"/>
                  </a:rPr>
                </a:br>
                <a:r>
                  <a:rPr lang="en-US" b="0" i="0">
                    <a:latin typeface="Cambria Math" panose="02040503050406030204" pitchFamily="18" charset="0"/>
                  </a:rPr>
                  <a:t>        𝐴(𝐴 ̅+𝐵 )=𝐴.𝐵</a:t>
                </a:r>
                <a:endParaRPr lang="en-US" b="0" dirty="0"/>
              </a:p>
              <a:p>
                <a:pPr lvl="1"/>
                <a:r>
                  <a:rPr lang="en-US" b="0" i="0">
                    <a:latin typeface="Cambria Math" panose="02040503050406030204" pitchFamily="18" charset="0"/>
                  </a:rPr>
                  <a:t>𝐴+𝐴 ̅𝐵=𝐴+𝐵</a:t>
                </a:r>
                <a:endParaRPr lang="en-US" b="0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4519E-BC79-07F8-39D4-1C6BABAB4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16765-C83A-46F1-AE07-8E4F9D1EDA94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88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16765-C83A-46F1-AE07-8E4F9D1EDA94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1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A094-8FF7-972C-BAAE-99F40FE45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0CA27-926A-40A9-EDE4-2642234DD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30D44-6D9F-D9C9-934E-1B2403DE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05128-3533-A992-8CE5-6E4766508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D845D-F098-341F-958A-B8E24683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8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C067-CC2D-34FB-4336-E199FD6B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16F61-ED0C-EB25-5321-0FD580AC2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9DAA7-FC13-4D1B-F2BE-06D43C3D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E07BE-ED07-1C67-3D9B-6B9BA45F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3BD72-AEC0-7574-D49B-C08E123A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44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94D0-2554-CB82-AB44-3441BC67B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B23FD-C516-9866-2CC2-FED8EB296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80210-F129-4B24-BB14-5C1B9B0B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700D7-A769-FBA0-EDD4-4105D8EE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F88D0-D023-1A82-19D9-E047FC1A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3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559F-866B-752C-3654-B5D2DB9D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7DF7D-C812-5CB3-1058-5E6219DAD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4CD83-5F30-A379-A403-E36E37AED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F4C34-5187-7189-8EAD-A28D8CBA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69AC8-BFBE-6B74-CC5E-4CFEBAF0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7E9D0-D50F-D112-BFBA-F3A9A82B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1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8476-BEF9-77BC-A341-AB2955E3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C7042-DA62-42AD-912A-980E24B30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E5677-4D00-AC69-3257-B9F812B6C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53C5D-745D-F3A9-45DB-2572599F8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97C56-33AA-9D2A-8C22-C2E0B0807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61478C-3EB0-624A-5735-D6FD4830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2A1B1-B3F1-F824-8324-AD2ABC1F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92A1E-149A-8D8E-85BB-2C3594CF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3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D167-9FE6-5BAC-23F6-05A6E9E5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46D61-F4C2-06F0-3F32-A15D9AA7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A2F24-5D1A-BA17-A501-616D683F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BBE9C-852C-5999-A647-D07EA01F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2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083C6-FF62-1742-AE64-F8ACE6B3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FB856-5B25-E3AD-2CBA-8DACEC0C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C541F-E44C-9BAD-6FC5-6EC82D2B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5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2E7B-47C4-2F88-DB03-87C8C3C1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8C8A6-2420-D516-FA94-778076015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546E0-93F8-BB16-02B5-FAEB313D3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DF9D7-AF07-D6FB-F398-ED3CB41D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F7F0F-B5E4-7897-2EDA-E97C70C1A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BA672-AAA9-00A9-371B-B3880C87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29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9CA6-C640-CC3B-25DC-E7317121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273641-12E1-7FCD-0ED4-22D917569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D13C-584D-2FD6-EA25-3D552F4A7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2E968-5D7A-9371-D1D3-36FDD53D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847DA-3911-AC61-E16A-51E732C4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EA42D-2EE6-D711-93FD-5F42F0D1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F60B-CBA3-4333-0D58-3E8CA75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DA668-22FB-DC28-8949-EFE202D97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16147-F5EE-D687-28FE-6ECFD36A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66BA-F157-13E0-8BDA-492CD6A1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FE2B5-594A-A28E-F40D-F10FC014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5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6B02F-69ED-609C-15A5-A27DC9930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A4F67-0837-5751-2410-213CAAA0E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6F4A0-3F80-3CF9-D997-9E0107E4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662CD-1E71-D904-1EC7-EFCA9461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5EC73-0654-2B9C-BE3D-9C78C367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7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9F88F3-441E-6109-5B60-4720AB29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B489A-3C59-2749-430B-157F18F26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6EE25-8FC0-3EC3-5765-380EE3A0C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B266D-A331-4A79-AB46-FEF40B16CF9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55A1F-2039-2D50-C82D-36D1A6ADD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99653-6689-0951-6610-A21828865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0386C-6F0C-44EB-B795-59C91BEF1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hyperlink" Target="https://storage.googleapis.com/content-resources/Math%20unit%20guides/CCSS/CCSS%20Algebra%201/Unit%20guide%20_%20CCSS%20Algebra%201%20_%20Unit%208_%20Functions.pdf" TargetMode="Externa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ritings.stephenwolfram.com/2024/09/nestedly-recursive-functions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ckerrank.com/domains/data-structures?filters%5Bsubdomains%5D%5B%5D=array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kerrank.com/acsltest3practise" TargetMode="External"/><Relationship Id="rId2" Type="http://schemas.openxmlformats.org/officeDocument/2006/relationships/hyperlink" Target="https://www.hackerrank.com/acsltest2practise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5DF9-A4F9-FA18-916B-B242CAADA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Exploring Computer Science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8D661-0AFA-99D4-F749-4F399DEF6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Via ACSL Competitions</a:t>
            </a:r>
          </a:p>
        </p:txBody>
      </p:sp>
    </p:spTree>
    <p:extLst>
      <p:ext uri="{BB962C8B-B14F-4D97-AF65-F5344CB8AC3E}">
        <p14:creationId xmlns:p14="http://schemas.microsoft.com/office/powerpoint/2010/main" val="2777413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6A93-0DC5-C1EA-5F18-8E3BE1C1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B5AA-6F01-1B7B-3ADC-6E7DE191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Decimal </a:t>
            </a:r>
          </a:p>
          <a:p>
            <a:pPr lvl="1"/>
            <a:r>
              <a:rPr lang="en-US" dirty="0"/>
              <a:t>base 10</a:t>
            </a:r>
          </a:p>
          <a:p>
            <a:r>
              <a:rPr lang="en-US" dirty="0"/>
              <a:t>Binary </a:t>
            </a:r>
          </a:p>
          <a:p>
            <a:pPr lvl="1"/>
            <a:r>
              <a:rPr lang="en-US" dirty="0"/>
              <a:t>base 2</a:t>
            </a:r>
          </a:p>
          <a:p>
            <a:r>
              <a:rPr lang="en-US" dirty="0"/>
              <a:t>Octal </a:t>
            </a:r>
          </a:p>
          <a:p>
            <a:pPr lvl="1"/>
            <a:r>
              <a:rPr lang="en-US" dirty="0"/>
              <a:t>base 8</a:t>
            </a:r>
          </a:p>
          <a:p>
            <a:r>
              <a:rPr lang="en-US" dirty="0" err="1"/>
              <a:t>HexaDecimal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base 16</a:t>
            </a:r>
          </a:p>
        </p:txBody>
      </p:sp>
    </p:spTree>
    <p:extLst>
      <p:ext uri="{BB962C8B-B14F-4D97-AF65-F5344CB8AC3E}">
        <p14:creationId xmlns:p14="http://schemas.microsoft.com/office/powerpoint/2010/main" val="1764282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0258-22AE-B1D6-966E-1DF59E8E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Digits per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F3F30-4463-B560-E41B-9E2FFF001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Decimal </a:t>
            </a:r>
          </a:p>
          <a:p>
            <a:pPr lvl="1"/>
            <a:r>
              <a:rPr lang="en-US" dirty="0"/>
              <a:t>Ten digits </a:t>
            </a:r>
          </a:p>
          <a:p>
            <a:pPr lvl="1"/>
            <a:r>
              <a:rPr lang="en-US" dirty="0"/>
              <a:t>0 1 2 3 4 5 6 7 8 9 </a:t>
            </a:r>
          </a:p>
          <a:p>
            <a:r>
              <a:rPr lang="en-US" dirty="0"/>
              <a:t>Binary </a:t>
            </a:r>
          </a:p>
          <a:p>
            <a:pPr lvl="1"/>
            <a:r>
              <a:rPr lang="en-US" dirty="0"/>
              <a:t>Two Digits</a:t>
            </a:r>
          </a:p>
          <a:p>
            <a:pPr lvl="1"/>
            <a:r>
              <a:rPr lang="en-US" dirty="0"/>
              <a:t>0 1</a:t>
            </a:r>
          </a:p>
          <a:p>
            <a:r>
              <a:rPr lang="en-US" dirty="0"/>
              <a:t>Octal </a:t>
            </a:r>
          </a:p>
          <a:p>
            <a:pPr lvl="1"/>
            <a:r>
              <a:rPr lang="en-US" dirty="0"/>
              <a:t>8 digits</a:t>
            </a:r>
          </a:p>
          <a:p>
            <a:pPr lvl="1"/>
            <a:r>
              <a:rPr lang="en-US" dirty="0"/>
              <a:t>0 1 2 3 4 5 6 7 </a:t>
            </a:r>
          </a:p>
          <a:p>
            <a:r>
              <a:rPr lang="en-US" dirty="0"/>
              <a:t>Hexadecimal </a:t>
            </a:r>
          </a:p>
          <a:p>
            <a:pPr lvl="1"/>
            <a:r>
              <a:rPr lang="en-US" dirty="0"/>
              <a:t>16 digits</a:t>
            </a:r>
          </a:p>
          <a:p>
            <a:pPr lvl="1"/>
            <a:r>
              <a:rPr lang="en-US" dirty="0"/>
              <a:t>0 1 2 3 4 5 6 7 8 9 A B C D E 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7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AFF5-4CBA-4A8E-8480-C396D07A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in 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6E79-FF3C-8801-7E97-9E6176DCC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Increment the lowest place value ( right most digit)</a:t>
            </a:r>
          </a:p>
          <a:p>
            <a:r>
              <a:rPr lang="en-US" dirty="0"/>
              <a:t>When last digit is reached</a:t>
            </a:r>
          </a:p>
          <a:p>
            <a:pPr lvl="1"/>
            <a:r>
              <a:rPr lang="en-US" dirty="0"/>
              <a:t>Set the current column to 0 </a:t>
            </a:r>
          </a:p>
          <a:p>
            <a:pPr lvl="1"/>
            <a:r>
              <a:rPr lang="en-US" dirty="0"/>
              <a:t>Increment the column on the left by 1</a:t>
            </a:r>
          </a:p>
          <a:p>
            <a:r>
              <a:rPr lang="en-US" dirty="0"/>
              <a:t>Lets count with decimal </a:t>
            </a:r>
          </a:p>
          <a:p>
            <a:pPr lvl="1"/>
            <a:r>
              <a:rPr lang="en-US" dirty="0"/>
              <a:t>0 to 10</a:t>
            </a:r>
          </a:p>
          <a:p>
            <a:pPr lvl="1"/>
            <a:r>
              <a:rPr lang="en-US" dirty="0"/>
              <a:t>95 to105</a:t>
            </a:r>
          </a:p>
          <a:p>
            <a:r>
              <a:rPr lang="en-US" dirty="0"/>
              <a:t>How frequently do we add a new digit ?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E4FAB2-9F0E-284D-CEBB-CE9E304BA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979008"/>
              </p:ext>
            </p:extLst>
          </p:nvPr>
        </p:nvGraphicFramePr>
        <p:xfrm>
          <a:off x="7266905" y="2324099"/>
          <a:ext cx="2862801" cy="3468504"/>
        </p:xfrm>
        <a:graphic>
          <a:graphicData uri="http://schemas.openxmlformats.org/drawingml/2006/table">
            <a:tbl>
              <a:tblPr/>
              <a:tblGrid>
                <a:gridCol w="1416643">
                  <a:extLst>
                    <a:ext uri="{9D8B030D-6E8A-4147-A177-3AD203B41FA5}">
                      <a16:colId xmlns:a16="http://schemas.microsoft.com/office/drawing/2014/main" val="3193197147"/>
                    </a:ext>
                  </a:extLst>
                </a:gridCol>
                <a:gridCol w="1446158">
                  <a:extLst>
                    <a:ext uri="{9D8B030D-6E8A-4147-A177-3AD203B41FA5}">
                      <a16:colId xmlns:a16="http://schemas.microsoft.com/office/drawing/2014/main" val="1376048237"/>
                    </a:ext>
                  </a:extLst>
                </a:gridCol>
              </a:tblGrid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Decimal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Decimal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395944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32623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587604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25980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190043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509285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794389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71007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70641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57029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003880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118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41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1C3D-9409-A178-58C3-4C72CCAF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in other 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73C8F-B7A4-E2F1-2733-967CFAD94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Counting in binary </a:t>
            </a:r>
          </a:p>
          <a:p>
            <a:pPr lvl="1"/>
            <a:r>
              <a:rPr lang="en-US" dirty="0"/>
              <a:t>We add a new digit frequently </a:t>
            </a:r>
          </a:p>
          <a:p>
            <a:pPr lvl="2"/>
            <a:r>
              <a:rPr lang="en-US" dirty="0"/>
              <a:t>At 2 , 4, 8, 16 … decimal values</a:t>
            </a:r>
          </a:p>
          <a:p>
            <a:r>
              <a:rPr lang="en-US" dirty="0"/>
              <a:t>Counting in Octal</a:t>
            </a:r>
          </a:p>
          <a:p>
            <a:pPr lvl="1"/>
            <a:r>
              <a:rPr lang="en-US" dirty="0"/>
              <a:t>We add a new digit at every</a:t>
            </a:r>
          </a:p>
          <a:p>
            <a:pPr lvl="2"/>
            <a:r>
              <a:rPr lang="en-US" dirty="0"/>
              <a:t>At 8, 64,128 …</a:t>
            </a:r>
          </a:p>
          <a:p>
            <a:r>
              <a:rPr lang="en-US" dirty="0"/>
              <a:t>Counting in </a:t>
            </a:r>
            <a:r>
              <a:rPr lang="en-US" dirty="0" err="1"/>
              <a:t>HexaDecimal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We add a new digit at every </a:t>
            </a:r>
          </a:p>
          <a:p>
            <a:pPr lvl="2"/>
            <a:r>
              <a:rPr lang="en-US" dirty="0"/>
              <a:t>At 16, 256 … values</a:t>
            </a:r>
          </a:p>
          <a:p>
            <a:pPr lvl="2"/>
            <a:endParaRPr lang="en-US" dirty="0"/>
          </a:p>
          <a:p>
            <a:endParaRPr lang="en-US" baseline="30000" dirty="0"/>
          </a:p>
          <a:p>
            <a:pPr lvl="2"/>
            <a:endParaRPr lang="en-US" dirty="0"/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E8E78130-726D-374A-AFCF-C54987DAD7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296934"/>
              </p:ext>
            </p:extLst>
          </p:nvPr>
        </p:nvGraphicFramePr>
        <p:xfrm>
          <a:off x="6723777" y="1825625"/>
          <a:ext cx="3938164" cy="3771719"/>
        </p:xfrm>
        <a:graphic>
          <a:graphicData uri="http://schemas.openxmlformats.org/drawingml/2006/table">
            <a:tbl>
              <a:tblPr/>
              <a:tblGrid>
                <a:gridCol w="984541">
                  <a:extLst>
                    <a:ext uri="{9D8B030D-6E8A-4147-A177-3AD203B41FA5}">
                      <a16:colId xmlns:a16="http://schemas.microsoft.com/office/drawing/2014/main" val="1475462977"/>
                    </a:ext>
                  </a:extLst>
                </a:gridCol>
                <a:gridCol w="984541">
                  <a:extLst>
                    <a:ext uri="{9D8B030D-6E8A-4147-A177-3AD203B41FA5}">
                      <a16:colId xmlns:a16="http://schemas.microsoft.com/office/drawing/2014/main" val="1475054408"/>
                    </a:ext>
                  </a:extLst>
                </a:gridCol>
                <a:gridCol w="984541">
                  <a:extLst>
                    <a:ext uri="{9D8B030D-6E8A-4147-A177-3AD203B41FA5}">
                      <a16:colId xmlns:a16="http://schemas.microsoft.com/office/drawing/2014/main" val="923081006"/>
                    </a:ext>
                  </a:extLst>
                </a:gridCol>
                <a:gridCol w="984541">
                  <a:extLst>
                    <a:ext uri="{9D8B030D-6E8A-4147-A177-3AD203B41FA5}">
                      <a16:colId xmlns:a16="http://schemas.microsoft.com/office/drawing/2014/main" val="3248402632"/>
                    </a:ext>
                  </a:extLst>
                </a:gridCol>
              </a:tblGrid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Decimal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Binary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HexaDecimal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054357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097036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379696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234856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020869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243755"/>
                  </a:ext>
                </a:extLst>
              </a:tr>
              <a:tr h="21802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990883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85239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851579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93307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75144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23302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451974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25880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172534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30223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397521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22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43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490B-DA55-CC9D-B2B9-C557BBD4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Values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7FFD3-8283-2BEB-7491-131EE4D26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Decimal</a:t>
            </a:r>
          </a:p>
          <a:p>
            <a:pPr lvl="1"/>
            <a:r>
              <a:rPr lang="en-US" i="1" dirty="0"/>
              <a:t>We deal in power of 10s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2452</a:t>
            </a:r>
            <a:r>
              <a:rPr lang="en-US" dirty="0"/>
              <a:t> = 2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1000</a:t>
            </a:r>
            <a:r>
              <a:rPr lang="en-US" dirty="0"/>
              <a:t> + 4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100</a:t>
            </a:r>
            <a:r>
              <a:rPr lang="en-US" dirty="0"/>
              <a:t> + 5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r>
              <a:rPr lang="en-US" dirty="0"/>
              <a:t> + 2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101</a:t>
            </a:r>
            <a:r>
              <a:rPr lang="en-US" dirty="0"/>
              <a:t>    =                       1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100</a:t>
            </a:r>
            <a:r>
              <a:rPr lang="en-US" dirty="0"/>
              <a:t> + 0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 </a:t>
            </a:r>
            <a:r>
              <a:rPr lang="en-US" dirty="0"/>
              <a:t>+ 1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US" dirty="0"/>
              <a:t> </a:t>
            </a:r>
          </a:p>
          <a:p>
            <a:r>
              <a:rPr lang="en-US" dirty="0"/>
              <a:t>Binary </a:t>
            </a:r>
          </a:p>
          <a:p>
            <a:pPr lvl="1"/>
            <a:r>
              <a:rPr lang="en-US" i="1" dirty="0"/>
              <a:t>We deal in power of 2s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111</a:t>
            </a:r>
            <a:r>
              <a:rPr lang="en-US" dirty="0"/>
              <a:t>   =               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r>
              <a:rPr lang="en-US" dirty="0"/>
              <a:t> + 1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dirty="0"/>
              <a:t> + 1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1010 </a:t>
            </a:r>
            <a:r>
              <a:rPr lang="en-US" dirty="0"/>
              <a:t>=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8</a:t>
            </a:r>
            <a:r>
              <a:rPr lang="en-US" dirty="0"/>
              <a:t> + 0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r>
              <a:rPr lang="en-US" dirty="0"/>
              <a:t> + 1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dirty="0"/>
              <a:t> + 0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666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53AF-4DCF-5D83-F4FD-272465A13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1003"/>
          </a:xfrm>
        </p:spPr>
        <p:txBody>
          <a:bodyPr>
            <a:normAutofit fontScale="90000"/>
          </a:bodyPr>
          <a:lstStyle/>
          <a:p>
            <a:r>
              <a:rPr lang="en-US" dirty="0"/>
              <a:t>Place values</a:t>
            </a:r>
            <a:br>
              <a:rPr lang="en-US" dirty="0"/>
            </a:br>
            <a:r>
              <a:rPr lang="en-US" dirty="0"/>
              <a:t>Converting binary </a:t>
            </a:r>
            <a:r>
              <a:rPr lang="en-US" dirty="0">
                <a:sym typeface="Wingdings" panose="05000000000000000000" pitchFamily="2" charset="2"/>
              </a:rPr>
              <a:t>decimal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D19918D-74D4-3820-44F9-8BBF95FA1A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250292"/>
              </p:ext>
            </p:extLst>
          </p:nvPr>
        </p:nvGraphicFramePr>
        <p:xfrm>
          <a:off x="838198" y="1501628"/>
          <a:ext cx="10642136" cy="4978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068">
                  <a:extLst>
                    <a:ext uri="{9D8B030D-6E8A-4147-A177-3AD203B41FA5}">
                      <a16:colId xmlns:a16="http://schemas.microsoft.com/office/drawing/2014/main" val="3982428962"/>
                    </a:ext>
                  </a:extLst>
                </a:gridCol>
                <a:gridCol w="5321068">
                  <a:extLst>
                    <a:ext uri="{9D8B030D-6E8A-4147-A177-3AD203B41FA5}">
                      <a16:colId xmlns:a16="http://schemas.microsoft.com/office/drawing/2014/main" val="185785752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925158"/>
                  </a:ext>
                </a:extLst>
              </a:tr>
              <a:tr h="1645448">
                <a:tc>
                  <a:txBody>
                    <a:bodyPr/>
                    <a:lstStyle/>
                    <a:p>
                      <a:r>
                        <a:rPr lang="en-US" dirty="0"/>
                        <a:t>2452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dirty="0"/>
                        <a:t>                                               </a:t>
                      </a:r>
                    </a:p>
                    <a:p>
                      <a:r>
                        <a:rPr lang="en-US" dirty="0"/>
                        <a:t>                   2 x 10^3 = 2000</a:t>
                      </a:r>
                    </a:p>
                    <a:p>
                      <a:r>
                        <a:rPr lang="en-US" dirty="0"/>
                        <a:t>                   4 x 10^2 =    400</a:t>
                      </a:r>
                    </a:p>
                    <a:p>
                      <a:r>
                        <a:rPr lang="en-US" dirty="0"/>
                        <a:t>                   5 x 10^1 =       50  </a:t>
                      </a:r>
                    </a:p>
                    <a:p>
                      <a:r>
                        <a:rPr lang="en-US" dirty="0"/>
                        <a:t>                   2 x 10^0 =          2</a:t>
                      </a:r>
                    </a:p>
                    <a:p>
                      <a:r>
                        <a:rPr lang="en-US" dirty="0"/>
                        <a:t>                                      = 2452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 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1 x 2^2 = 1 x 4 =   4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1 x 2^1 = 1 x 2 =   2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1 x 2^0 = 1 x 1 =   1 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                              =   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29210"/>
                  </a:ext>
                </a:extLst>
              </a:tr>
              <a:tr h="1645448">
                <a:tc>
                  <a:txBody>
                    <a:bodyPr/>
                    <a:lstStyle/>
                    <a:p>
                      <a:r>
                        <a:rPr lang="en-US" dirty="0"/>
                        <a:t>101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       1</a:t>
                      </a:r>
                      <a:r>
                        <a:rPr lang="en-US" dirty="0"/>
                        <a:t> x 10^2 =    100</a:t>
                      </a:r>
                    </a:p>
                    <a:p>
                      <a:r>
                        <a:rPr lang="en-US" dirty="0"/>
                        <a:t>                   0 x 10^1 =         0  </a:t>
                      </a:r>
                    </a:p>
                    <a:p>
                      <a:r>
                        <a:rPr lang="en-US" dirty="0"/>
                        <a:t>                   1 x 10^0 =          1</a:t>
                      </a:r>
                    </a:p>
                    <a:p>
                      <a:r>
                        <a:rPr lang="en-US" dirty="0"/>
                        <a:t>                                      =    101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1010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  <a:p>
                      <a:r>
                        <a:rPr lang="en-US" dirty="0"/>
                        <a:t>            1 x 2^ 3 = 1 x 8 =   8</a:t>
                      </a:r>
                    </a:p>
                    <a:p>
                      <a:r>
                        <a:rPr lang="en-US" dirty="0"/>
                        <a:t>            0 x 2^ 2 = 0 x 4 =   0</a:t>
                      </a:r>
                      <a:br>
                        <a:rPr lang="en-US" dirty="0"/>
                      </a:br>
                      <a:r>
                        <a:rPr lang="en-US" dirty="0"/>
                        <a:t>            1 x 2^ 1 = 0 x 2 =   2</a:t>
                      </a:r>
                      <a:br>
                        <a:rPr lang="en-US" dirty="0"/>
                      </a:br>
                      <a:r>
                        <a:rPr lang="en-US" dirty="0"/>
                        <a:t>            0 x 2^ 0 = 0 x 1 =   0</a:t>
                      </a:r>
                      <a:br>
                        <a:rPr lang="en-US" dirty="0"/>
                      </a:br>
                      <a:r>
                        <a:rPr lang="en-US" dirty="0"/>
                        <a:t>                                           =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098279"/>
                  </a:ext>
                </a:extLst>
              </a:tr>
              <a:tr h="1071365">
                <a:tc>
                  <a:txBody>
                    <a:bodyPr/>
                    <a:lstStyle/>
                    <a:p>
                      <a:r>
                        <a:rPr lang="en-US" dirty="0"/>
                        <a:t>756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1000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093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85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5474-E3A9-E1C2-833E-1CEBF32A4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Binary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E40F9-9581-C2BC-5B88-6F1FA10EB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128    64    32   16     8     4     2     1</a:t>
            </a: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1      0      0     1      0      0     1   =     64 + 16 + 1 = 81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1        0       0      0     0      1      1     1   = 128 + 4 + 2 + 1 = 135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1        1       1      0      0     0     0     0     = ?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0A94F0-7818-1B6D-64C3-C894020E204C}"/>
              </a:ext>
            </a:extLst>
          </p:cNvPr>
          <p:cNvCxnSpPr>
            <a:cxnSpLocks/>
          </p:cNvCxnSpPr>
          <p:nvPr/>
        </p:nvCxnSpPr>
        <p:spPr>
          <a:xfrm>
            <a:off x="989901" y="2290194"/>
            <a:ext cx="472070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7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0C36-D410-83DF-929D-84FA7D54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1B7D-BAC5-FEE4-4486-F4E90BC4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Decimal to Binary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0CBA1-A2D0-1059-8DA4-FA156A007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128    64    32   16     8     4     2     1</a:t>
            </a: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 =      22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 =      33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 =   130                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BE95D4-FCA2-7AB1-568B-79F46AD9C1FF}"/>
              </a:ext>
            </a:extLst>
          </p:cNvPr>
          <p:cNvCxnSpPr>
            <a:cxnSpLocks/>
          </p:cNvCxnSpPr>
          <p:nvPr/>
        </p:nvCxnSpPr>
        <p:spPr>
          <a:xfrm>
            <a:off x="989901" y="2290194"/>
            <a:ext cx="472070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91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429B-6C6D-B1C6-ECE1-CB36B6B5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DA09-B148-4228-9B76-3FA17F9BB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Convert following Decimal numbers to binary </a:t>
            </a:r>
          </a:p>
          <a:p>
            <a:pPr lvl="1"/>
            <a:r>
              <a:rPr lang="en-US" dirty="0"/>
              <a:t>127</a:t>
            </a:r>
            <a:r>
              <a:rPr lang="en-US" baseline="-25000" dirty="0"/>
              <a:t>10</a:t>
            </a:r>
          </a:p>
          <a:p>
            <a:pPr lvl="1"/>
            <a:r>
              <a:rPr lang="en-US" dirty="0"/>
              <a:t>128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129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255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256</a:t>
            </a:r>
            <a:r>
              <a:rPr lang="en-US" baseline="-25000" dirty="0"/>
              <a:t>10</a:t>
            </a:r>
            <a:endParaRPr lang="en-US" dirty="0"/>
          </a:p>
          <a:p>
            <a:r>
              <a:rPr lang="en-US" dirty="0"/>
              <a:t>Convert following Binary numbers to Decimal</a:t>
            </a:r>
          </a:p>
          <a:p>
            <a:pPr lvl="1"/>
            <a:r>
              <a:rPr lang="en-US" dirty="0"/>
              <a:t>101101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r>
              <a:rPr lang="en-US" dirty="0"/>
              <a:t>1110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r>
              <a:rPr lang="en-US" dirty="0"/>
              <a:t>1111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r>
              <a:rPr lang="en-US" dirty="0"/>
              <a:t>0110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240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3946-F61B-42B0-4D7C-AAF0808E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3C2EE-2437-1760-3168-B24BD6AF9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binary addition and subtraction work ?</a:t>
            </a:r>
          </a:p>
        </p:txBody>
      </p:sp>
    </p:spTree>
    <p:extLst>
      <p:ext uri="{BB962C8B-B14F-4D97-AF65-F5344CB8AC3E}">
        <p14:creationId xmlns:p14="http://schemas.microsoft.com/office/powerpoint/2010/main" val="201770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7C36A-D445-ACDC-D463-8E79266F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0B8B-27E7-8109-A350-5C882F25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1003"/>
          </a:xfrm>
        </p:spPr>
        <p:txBody>
          <a:bodyPr>
            <a:normAutofit fontScale="90000"/>
          </a:bodyPr>
          <a:lstStyle/>
          <a:p>
            <a:r>
              <a:rPr lang="en-US" dirty="0"/>
              <a:t>Place values</a:t>
            </a:r>
            <a:br>
              <a:rPr lang="en-US" dirty="0"/>
            </a:br>
            <a:r>
              <a:rPr lang="en-US" dirty="0"/>
              <a:t>Converting </a:t>
            </a:r>
            <a:r>
              <a:rPr lang="en-US" dirty="0" err="1"/>
              <a:t>octal,hexadecimal</a:t>
            </a:r>
            <a:r>
              <a:rPr lang="en-US" dirty="0" err="1">
                <a:sym typeface="Wingdings" panose="05000000000000000000" pitchFamily="2" charset="2"/>
              </a:rPr>
              <a:t>decimal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A2D640-C25D-13E6-D0E4-1BE5615BB9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214255"/>
              </p:ext>
            </p:extLst>
          </p:nvPr>
        </p:nvGraphicFramePr>
        <p:xfrm>
          <a:off x="838198" y="1501628"/>
          <a:ext cx="10642136" cy="4794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068">
                  <a:extLst>
                    <a:ext uri="{9D8B030D-6E8A-4147-A177-3AD203B41FA5}">
                      <a16:colId xmlns:a16="http://schemas.microsoft.com/office/drawing/2014/main" val="3982428962"/>
                    </a:ext>
                  </a:extLst>
                </a:gridCol>
                <a:gridCol w="5321068">
                  <a:extLst>
                    <a:ext uri="{9D8B030D-6E8A-4147-A177-3AD203B41FA5}">
                      <a16:colId xmlns:a16="http://schemas.microsoft.com/office/drawing/2014/main" val="185785752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Octal 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Decimal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HexaDecimal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Decimal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925158"/>
                  </a:ext>
                </a:extLst>
              </a:tr>
              <a:tr h="1645448">
                <a:tc>
                  <a:txBody>
                    <a:bodyPr/>
                    <a:lstStyle/>
                    <a:p>
                      <a:r>
                        <a:rPr lang="en-US" dirty="0"/>
                        <a:t>777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dirty="0"/>
                        <a:t>                                               </a:t>
                      </a:r>
                    </a:p>
                    <a:p>
                      <a:r>
                        <a:rPr lang="en-US" dirty="0"/>
                        <a:t>                   7 x 8^2 = 7 x 64 = 448 </a:t>
                      </a:r>
                    </a:p>
                    <a:p>
                      <a:r>
                        <a:rPr lang="en-US" dirty="0"/>
                        <a:t>                   7 x 8^1 = 7 x    8 =    56</a:t>
                      </a:r>
                    </a:p>
                    <a:p>
                      <a:r>
                        <a:rPr lang="en-US" dirty="0"/>
                        <a:t>                   7 x 8^0 = 7 x    1 =       7</a:t>
                      </a:r>
                    </a:p>
                    <a:p>
                      <a:r>
                        <a:rPr lang="en-US" dirty="0"/>
                        <a:t>                                                    =  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2AB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 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       2</a:t>
                      </a:r>
                      <a:r>
                        <a:rPr lang="en-US" dirty="0"/>
                        <a:t> x 16^2 =    2 x 256 = 512 </a:t>
                      </a:r>
                    </a:p>
                    <a:p>
                      <a:r>
                        <a:rPr lang="en-US" dirty="0"/>
                        <a:t>                   A x 16^1 = 10 x    16 = 160</a:t>
                      </a:r>
                    </a:p>
                    <a:p>
                      <a:r>
                        <a:rPr lang="en-US" dirty="0"/>
                        <a:t>                   B x 16^0 = 11 x       1 =    11</a:t>
                      </a:r>
                    </a:p>
                    <a:p>
                      <a:r>
                        <a:rPr lang="en-US" dirty="0"/>
                        <a:t>                                                             =  683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29210"/>
                  </a:ext>
                </a:extLst>
              </a:tr>
              <a:tr h="1645448">
                <a:tc>
                  <a:txBody>
                    <a:bodyPr/>
                    <a:lstStyle/>
                    <a:p>
                      <a:r>
                        <a:rPr lang="en-US" dirty="0"/>
                        <a:t>137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       1</a:t>
                      </a:r>
                      <a:r>
                        <a:rPr lang="en-US" dirty="0"/>
                        <a:t> x 8^2 = 1 x 64 =  64 </a:t>
                      </a:r>
                    </a:p>
                    <a:p>
                      <a:r>
                        <a:rPr lang="en-US" dirty="0"/>
                        <a:t>                   3 x 8^1 = 3 x    8 =  24</a:t>
                      </a:r>
                    </a:p>
                    <a:p>
                      <a:r>
                        <a:rPr lang="en-US" dirty="0"/>
                        <a:t>                   7 x 8^0 = 7 x    1 =     7</a:t>
                      </a:r>
                    </a:p>
                    <a:p>
                      <a:r>
                        <a:rPr lang="en-US" dirty="0"/>
                        <a:t>                                                    =  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dirty="0"/>
                        <a:t> x 16^2 =    1 x 256 = 256 </a:t>
                      </a:r>
                    </a:p>
                    <a:p>
                      <a:r>
                        <a:rPr lang="en-US" dirty="0"/>
                        <a:t>                   0 x 16^1 =    0 x    16 =       0</a:t>
                      </a:r>
                    </a:p>
                    <a:p>
                      <a:r>
                        <a:rPr lang="en-US" dirty="0"/>
                        <a:t>                   1 x 16^0 =    1 x       1 =       1</a:t>
                      </a:r>
                    </a:p>
                    <a:p>
                      <a:r>
                        <a:rPr lang="en-US" dirty="0"/>
                        <a:t>                                                             = 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098279"/>
                  </a:ext>
                </a:extLst>
              </a:tr>
              <a:tr h="1071365">
                <a:tc>
                  <a:txBody>
                    <a:bodyPr/>
                    <a:lstStyle/>
                    <a:p>
                      <a:r>
                        <a:rPr lang="en-US" dirty="0"/>
                        <a:t>756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4A3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093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11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B1EAA-B8DD-26EC-19FF-8608881D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FBE1-1F09-4E5C-D356-458DFA421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Decimal to Octal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1B172-61D5-6887-D73A-F28BD6074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(312)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  (?)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312 / 8    quotient : 39   , Remainder 0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  39 / 8    quotient :    4   , Remainder 7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4 / 8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quotient :    0   , Remainder 4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(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470)</a:t>
            </a:r>
            <a:r>
              <a:rPr lang="en-US" sz="2400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</a:p>
          <a:p>
            <a:pPr marL="0" indent="0">
              <a:buNone/>
            </a:pP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(112)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(?)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112 / 8    quotient : 14   , Remainder 0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   14 / 8    quotient :    1   , Remainder 6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1 / 8 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quotient :    0   , Remainder 1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(160)</a:t>
            </a:r>
            <a:r>
              <a:rPr lang="en-US" sz="2400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3494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12BF-ADDA-0C33-F381-FCCB19ED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32C9-397E-270E-3178-40150E97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E31D5-323B-E1FF-6193-D91249E24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Convert following Decimal numbers to Octal</a:t>
            </a:r>
          </a:p>
          <a:p>
            <a:pPr lvl="1"/>
            <a:r>
              <a:rPr lang="en-US" dirty="0"/>
              <a:t>111</a:t>
            </a:r>
            <a:r>
              <a:rPr lang="en-US" baseline="-25000" dirty="0"/>
              <a:t>10</a:t>
            </a:r>
          </a:p>
          <a:p>
            <a:pPr lvl="1"/>
            <a:r>
              <a:rPr lang="en-US" dirty="0"/>
              <a:t>88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511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512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513</a:t>
            </a:r>
            <a:r>
              <a:rPr lang="en-US" baseline="-25000" dirty="0"/>
              <a:t>10</a:t>
            </a:r>
            <a:endParaRPr lang="en-US" dirty="0"/>
          </a:p>
          <a:p>
            <a:r>
              <a:rPr lang="en-US" dirty="0"/>
              <a:t>Convert following Octal numbers to Decimal</a:t>
            </a:r>
          </a:p>
          <a:p>
            <a:pPr lvl="1"/>
            <a:r>
              <a:rPr lang="en-US" dirty="0"/>
              <a:t>45</a:t>
            </a:r>
            <a:r>
              <a:rPr lang="en-US" baseline="-25000" dirty="0"/>
              <a:t>8</a:t>
            </a:r>
            <a:endParaRPr lang="en-US" dirty="0"/>
          </a:p>
          <a:p>
            <a:pPr lvl="1"/>
            <a:r>
              <a:rPr lang="en-US" dirty="0"/>
              <a:t>77</a:t>
            </a:r>
            <a:r>
              <a:rPr lang="en-US" baseline="-25000" dirty="0"/>
              <a:t>8</a:t>
            </a:r>
            <a:endParaRPr lang="en-US" dirty="0"/>
          </a:p>
          <a:p>
            <a:pPr lvl="1"/>
            <a:r>
              <a:rPr lang="en-US" dirty="0"/>
              <a:t>100</a:t>
            </a:r>
            <a:r>
              <a:rPr lang="en-US" baseline="-25000" dirty="0"/>
              <a:t>8</a:t>
            </a:r>
            <a:endParaRPr lang="en-US" dirty="0"/>
          </a:p>
          <a:p>
            <a:pPr lvl="1"/>
            <a:r>
              <a:rPr lang="en-US" dirty="0"/>
              <a:t>101</a:t>
            </a:r>
            <a:r>
              <a:rPr lang="en-US" baseline="-25000" dirty="0"/>
              <a:t>8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972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6EE4-432F-5935-FB55-C980748F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81EAC-639E-4B61-800D-0736AC70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Decimal to Hexadecimal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F8D8-D8F2-9044-6B8D-B583A4F81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(312)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  (?)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312 / 16    quotient : 19   , Remainder 8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  19 / 16    quotient :    1   , Remainder 3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1 / 16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quotient :    0   , Remainder 1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(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138)</a:t>
            </a:r>
            <a:r>
              <a:rPr lang="en-US" sz="2400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16</a:t>
            </a:r>
          </a:p>
          <a:p>
            <a:pPr marL="0" indent="0">
              <a:buNone/>
            </a:pP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(112)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(?)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112 / 16    quotient :    7   , Remainder 0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     7 / 16    quotient :    0   , Remainder 7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(70)</a:t>
            </a:r>
            <a:r>
              <a:rPr lang="en-US" sz="2400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16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5080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A0DF-0428-A16C-932D-6D90D974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Hexadecimal </a:t>
            </a:r>
            <a:r>
              <a:rPr lang="en-US" dirty="0">
                <a:sym typeface="Wingdings" panose="05000000000000000000" pitchFamily="2" charset="2"/>
              </a:rPr>
              <a:t> Octal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D1FC0-0FC1-E666-D418-54A07F448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(AC)</a:t>
            </a:r>
            <a:r>
              <a:rPr lang="en-US" baseline="-25000" dirty="0"/>
              <a:t>16</a:t>
            </a:r>
            <a:r>
              <a:rPr lang="en-US" dirty="0">
                <a:sym typeface="Wingdings" panose="05000000000000000000" pitchFamily="2" charset="2"/>
              </a:rPr>
              <a:t> 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1010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x 16  +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1100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x 1 //Replace </a:t>
            </a:r>
            <a:r>
              <a:rPr lang="en-US" dirty="0" err="1">
                <a:sym typeface="Wingdings" panose="05000000000000000000" pitchFamily="2" charset="2"/>
              </a:rPr>
              <a:t>hexa</a:t>
            </a:r>
            <a:r>
              <a:rPr lang="en-US" dirty="0">
                <a:sym typeface="Wingdings" panose="05000000000000000000" pitchFamily="2" charset="2"/>
              </a:rPr>
              <a:t> with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binary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            </a:t>
            </a:r>
            <a:r>
              <a:rPr lang="en-US" dirty="0">
                <a:sym typeface="Wingdings" panose="05000000000000000000" pitchFamily="2" charset="2"/>
              </a:rPr>
              <a:t> 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1010 1100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// Convert to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binary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            </a:t>
            </a:r>
            <a:r>
              <a:rPr lang="en-US" dirty="0">
                <a:sym typeface="Wingdings" panose="05000000000000000000" pitchFamily="2" charset="2"/>
              </a:rPr>
              <a:t> 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010 101 100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// group by 3s , added extra 0s in the front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      (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254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8</a:t>
            </a:r>
            <a:r>
              <a:rPr lang="en-US" dirty="0">
                <a:sym typeface="Wingdings" panose="05000000000000000000" pitchFamily="2" charset="2"/>
              </a:rPr>
              <a:t>// Replace each group by octal value</a:t>
            </a:r>
            <a:br>
              <a:rPr lang="en-US" dirty="0">
                <a:sym typeface="Wingdings" panose="05000000000000000000" pitchFamily="2" charset="2"/>
              </a:rPr>
            </a:b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(1EF)</a:t>
            </a:r>
            <a:r>
              <a:rPr lang="en-US" baseline="-25000" dirty="0"/>
              <a:t>16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0001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x 256 +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1110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x 16 + (1111) x 1</a:t>
            </a:r>
            <a:endParaRPr lang="en-US" dirty="0">
              <a:solidFill>
                <a:schemeClr val="accent5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            </a:t>
            </a:r>
            <a:r>
              <a:rPr lang="en-US" dirty="0">
                <a:sym typeface="Wingdings" panose="05000000000000000000" pitchFamily="2" charset="2"/>
              </a:rPr>
              <a:t>  (0001 1110 1111)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// Convert to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binary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            </a:t>
            </a:r>
            <a:r>
              <a:rPr lang="en-US" dirty="0">
                <a:sym typeface="Wingdings" panose="05000000000000000000" pitchFamily="2" charset="2"/>
              </a:rPr>
              <a:t>  (</a:t>
            </a:r>
            <a:r>
              <a:rPr lang="en-US" strike="sngStrike" dirty="0">
                <a:sym typeface="Wingdings" panose="05000000000000000000" pitchFamily="2" charset="2"/>
              </a:rPr>
              <a:t>000</a:t>
            </a:r>
            <a:r>
              <a:rPr lang="en-US" dirty="0">
                <a:sym typeface="Wingdings" panose="05000000000000000000" pitchFamily="2" charset="2"/>
              </a:rPr>
              <a:t> 111 101 111)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// group by 3 , removed 0s in the front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      (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757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8</a:t>
            </a:r>
            <a:r>
              <a:rPr lang="en-US" dirty="0">
                <a:sym typeface="Wingdings" panose="05000000000000000000" pitchFamily="2" charset="2"/>
              </a:rPr>
              <a:t>// Replace each group by octal value</a:t>
            </a:r>
            <a:endParaRPr lang="en-US" dirty="0">
              <a:solidFill>
                <a:schemeClr val="accent5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923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F378-FBC4-B785-4606-55327891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Octal </a:t>
            </a:r>
            <a:r>
              <a:rPr lang="en-US" dirty="0">
                <a:sym typeface="Wingdings" panose="05000000000000000000" pitchFamily="2" charset="2"/>
              </a:rPr>
              <a:t> Hexadecimal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9DCD8-512B-7888-2854-B8DFA4AED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(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757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8 </a:t>
            </a:r>
            <a:r>
              <a:rPr lang="en-US" dirty="0">
                <a:sym typeface="Wingdings" panose="05000000000000000000" pitchFamily="2" charset="2"/>
              </a:rPr>
              <a:t>  (?)</a:t>
            </a:r>
            <a:r>
              <a:rPr lang="en-US" baseline="-25000" dirty="0">
                <a:sym typeface="Wingdings" panose="05000000000000000000" pitchFamily="2" charset="2"/>
              </a:rPr>
              <a:t>16</a:t>
            </a:r>
          </a:p>
          <a:p>
            <a:r>
              <a:rPr lang="en-US" dirty="0">
                <a:sym typeface="Wingdings" panose="05000000000000000000" pitchFamily="2" charset="2"/>
              </a:rPr>
              <a:t>(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254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8 </a:t>
            </a:r>
            <a:r>
              <a:rPr lang="en-US" dirty="0">
                <a:sym typeface="Wingdings" panose="05000000000000000000" pitchFamily="2" charset="2"/>
              </a:rPr>
              <a:t>  (?)</a:t>
            </a:r>
            <a:r>
              <a:rPr lang="en-US" baseline="-25000" dirty="0">
                <a:sym typeface="Wingdings" panose="05000000000000000000" pitchFamily="2" charset="2"/>
              </a:rPr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83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E173-48F1-8AE4-B589-9212969F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FDA8-A7C8-160E-58B2-F46D3A27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E79C7-6903-EF1D-ABED-3A14B271B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 following Decimal numbers to </a:t>
            </a:r>
            <a:r>
              <a:rPr lang="en-US" dirty="0" err="1"/>
              <a:t>HexaDecimal</a:t>
            </a:r>
            <a:r>
              <a:rPr lang="en-US" dirty="0"/>
              <a:t>/Octal</a:t>
            </a:r>
          </a:p>
          <a:p>
            <a:pPr lvl="1"/>
            <a:r>
              <a:rPr lang="en-US" dirty="0"/>
              <a:t>255</a:t>
            </a:r>
            <a:r>
              <a:rPr lang="en-US" baseline="-25000" dirty="0"/>
              <a:t>10</a:t>
            </a:r>
          </a:p>
          <a:p>
            <a:pPr lvl="1"/>
            <a:r>
              <a:rPr lang="en-US" dirty="0"/>
              <a:t>256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257</a:t>
            </a:r>
            <a:r>
              <a:rPr lang="en-US" baseline="-25000" dirty="0"/>
              <a:t>10</a:t>
            </a:r>
            <a:endParaRPr lang="en-US" dirty="0"/>
          </a:p>
          <a:p>
            <a:r>
              <a:rPr lang="en-US" dirty="0"/>
              <a:t>Convert following </a:t>
            </a:r>
            <a:r>
              <a:rPr lang="en-US" dirty="0" err="1"/>
              <a:t>HexaDecimal</a:t>
            </a:r>
            <a:r>
              <a:rPr lang="en-US" dirty="0"/>
              <a:t> numbers to Decimal, Octal</a:t>
            </a:r>
          </a:p>
          <a:p>
            <a:pPr lvl="1"/>
            <a:r>
              <a:rPr lang="en-US" dirty="0"/>
              <a:t>99</a:t>
            </a:r>
            <a:r>
              <a:rPr lang="en-US" baseline="-25000" dirty="0"/>
              <a:t>16</a:t>
            </a:r>
            <a:endParaRPr lang="en-US" dirty="0"/>
          </a:p>
          <a:p>
            <a:pPr lvl="1"/>
            <a:r>
              <a:rPr lang="en-US" dirty="0"/>
              <a:t>100</a:t>
            </a:r>
            <a:r>
              <a:rPr lang="en-US" baseline="-25000" dirty="0"/>
              <a:t>16</a:t>
            </a:r>
            <a:endParaRPr lang="en-US" dirty="0"/>
          </a:p>
          <a:p>
            <a:pPr lvl="1"/>
            <a:r>
              <a:rPr lang="en-US" dirty="0"/>
              <a:t>101</a:t>
            </a:r>
            <a:r>
              <a:rPr lang="en-US" baseline="-25000" dirty="0"/>
              <a:t>16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74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8B1A-215C-B042-EA28-08D3F948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: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A67A3-EB34-AD47-4E4D-D1BF4F6A5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factorial</a:t>
            </a:r>
          </a:p>
          <a:p>
            <a:pPr lvl="1"/>
            <a:r>
              <a:rPr lang="en-US" dirty="0"/>
              <a:t>5! = 5 x 4 x 3 x 2 x 1 = </a:t>
            </a:r>
            <a:r>
              <a:rPr lang="en-US" b="1" dirty="0"/>
              <a:t>120</a:t>
            </a:r>
          </a:p>
          <a:p>
            <a:pPr lvl="1"/>
            <a:r>
              <a:rPr lang="en-US" dirty="0"/>
              <a:t>2! = </a:t>
            </a:r>
            <a:r>
              <a:rPr lang="en-US" b="1" dirty="0"/>
              <a:t>2</a:t>
            </a:r>
          </a:p>
          <a:p>
            <a:r>
              <a:rPr lang="en-US" dirty="0"/>
              <a:t>Provide sum of Fibonacci numbers using recursion</a:t>
            </a:r>
          </a:p>
          <a:p>
            <a:pPr lvl="1"/>
            <a:r>
              <a:rPr lang="en-US" dirty="0" err="1"/>
              <a:t>fibonacci</a:t>
            </a:r>
            <a:r>
              <a:rPr lang="en-US" dirty="0"/>
              <a:t>(13) </a:t>
            </a:r>
          </a:p>
          <a:p>
            <a:pPr lvl="2"/>
            <a:r>
              <a:rPr lang="en-US" dirty="0"/>
              <a:t>0 + 1 + 1 + 2 + 3 + 5 + 8 + 13  = </a:t>
            </a:r>
            <a:r>
              <a:rPr lang="en-US" b="1" dirty="0"/>
              <a:t>33</a:t>
            </a:r>
          </a:p>
          <a:p>
            <a:pPr lvl="1"/>
            <a:r>
              <a:rPr lang="en-US" dirty="0" err="1"/>
              <a:t>fibonacci</a:t>
            </a:r>
            <a:r>
              <a:rPr lang="en-US" dirty="0"/>
              <a:t>(3)</a:t>
            </a:r>
          </a:p>
          <a:p>
            <a:pPr lvl="2"/>
            <a:r>
              <a:rPr lang="en-US" dirty="0"/>
              <a:t>0 + 1 + 1 + 2 + 3 = </a:t>
            </a:r>
            <a:r>
              <a:rPr lang="en-US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97464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5361-C439-F244-59BE-387062C3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D45C0-F44A-0C13-FFC8-529E49204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relation</a:t>
            </a:r>
            <a:r>
              <a:rPr lang="en-US" dirty="0"/>
              <a:t> : connection/mapping between elements of two or more sets, Some characteristics …</a:t>
            </a:r>
          </a:p>
          <a:p>
            <a:pPr lvl="1"/>
            <a:r>
              <a:rPr lang="en-US" dirty="0"/>
              <a:t>It is a </a:t>
            </a:r>
            <a:r>
              <a:rPr lang="en-US" b="1" dirty="0"/>
              <a:t>mapping</a:t>
            </a:r>
            <a:r>
              <a:rPr lang="en-US" dirty="0"/>
              <a:t> as </a:t>
            </a:r>
            <a:r>
              <a:rPr lang="en-US" i="1" dirty="0"/>
              <a:t>shown in figure</a:t>
            </a:r>
          </a:p>
          <a:p>
            <a:pPr lvl="1"/>
            <a:r>
              <a:rPr lang="en-US" dirty="0"/>
              <a:t>Can be written as </a:t>
            </a:r>
            <a:r>
              <a:rPr lang="en-US" b="1" dirty="0"/>
              <a:t>Ordered pairs </a:t>
            </a:r>
          </a:p>
          <a:p>
            <a:pPr lvl="2"/>
            <a:r>
              <a:rPr lang="en-US" dirty="0"/>
              <a:t>{(1,c), (2,n),(5,a),(7,n)}</a:t>
            </a:r>
          </a:p>
          <a:p>
            <a:pPr lvl="1"/>
            <a:r>
              <a:rPr lang="en-US" dirty="0"/>
              <a:t>Not always unique</a:t>
            </a:r>
          </a:p>
          <a:p>
            <a:pPr lvl="2"/>
            <a:r>
              <a:rPr lang="en-US" dirty="0"/>
              <a:t>E.g. y</a:t>
            </a:r>
            <a:r>
              <a:rPr lang="en-US" baseline="30000" dirty="0"/>
              <a:t>2</a:t>
            </a:r>
            <a:r>
              <a:rPr lang="en-US" dirty="0"/>
              <a:t> = 4 has multiple solutions (how many?)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Numerical relationship : 4+3 = 7</a:t>
            </a:r>
          </a:p>
          <a:p>
            <a:pPr lvl="1"/>
            <a:r>
              <a:rPr lang="en-US" dirty="0"/>
              <a:t>Equation : y = 2x+3</a:t>
            </a:r>
          </a:p>
          <a:p>
            <a:pPr lvl="1"/>
            <a:r>
              <a:rPr lang="en-US" dirty="0"/>
              <a:t>Geometry : two congruent triangles</a:t>
            </a:r>
          </a:p>
          <a:p>
            <a:pPr lvl="1"/>
            <a:r>
              <a:rPr lang="en-US" dirty="0"/>
              <a:t>Set theory : A is a subset of B 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BF3F3-E264-E655-5183-8CDB033A4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624" y="2247774"/>
            <a:ext cx="3429176" cy="17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12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56C5-174E-2FB6-65E4-CA2111D70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, mathematical kind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4E198-62A9-A7DA-7EB7-D2E9BE70D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relation</a:t>
            </a:r>
            <a:r>
              <a:rPr lang="en-US" dirty="0"/>
              <a:t> that gives exactly </a:t>
            </a:r>
            <a:r>
              <a:rPr lang="en-US" b="1" dirty="0"/>
              <a:t>one unique output for each input</a:t>
            </a:r>
          </a:p>
          <a:p>
            <a:pPr marL="0" indent="0">
              <a:buNone/>
            </a:pPr>
            <a:r>
              <a:rPr lang="en-US" dirty="0"/>
              <a:t>x </a:t>
            </a:r>
            <a:r>
              <a:rPr lang="en-US" dirty="0">
                <a:sym typeface="Wingdings" panose="05000000000000000000" pitchFamily="2" charset="2"/>
              </a:rPr>
              <a:t>               y     :this is a function as you always get one answer</a:t>
            </a:r>
          </a:p>
          <a:p>
            <a:pPr marL="0" indent="0">
              <a:buNone/>
            </a:pPr>
            <a:r>
              <a:rPr lang="en-US" dirty="0"/>
              <a:t>x </a:t>
            </a:r>
            <a:r>
              <a:rPr lang="en-US" dirty="0">
                <a:sym typeface="Wingdings" panose="05000000000000000000" pitchFamily="2" charset="2"/>
              </a:rPr>
              <a:t>                           :Not a function as you get multiple answers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Representation </a:t>
            </a:r>
          </a:p>
          <a:p>
            <a:pPr lvl="1"/>
            <a:r>
              <a:rPr lang="en-US" dirty="0"/>
              <a:t>f(x)  = 2x+1 : this is a function </a:t>
            </a:r>
          </a:p>
          <a:p>
            <a:pPr lvl="1"/>
            <a:r>
              <a:rPr lang="en-US" dirty="0"/>
              <a:t>g(x) = ± 3x  : this is </a:t>
            </a:r>
            <a:r>
              <a:rPr lang="en-US" b="1" dirty="0"/>
              <a:t>not </a:t>
            </a:r>
            <a:r>
              <a:rPr lang="en-US" dirty="0"/>
              <a:t>a function , why?</a:t>
            </a:r>
          </a:p>
          <a:p>
            <a:r>
              <a:rPr lang="en-US" dirty="0"/>
              <a:t>Follow up reading </a:t>
            </a:r>
            <a:r>
              <a:rPr lang="en-US" sz="1600" dirty="0"/>
              <a:t>(optional)</a:t>
            </a:r>
            <a:r>
              <a:rPr lang="en-US" dirty="0"/>
              <a:t>: </a:t>
            </a:r>
            <a:r>
              <a:rPr lang="en-US" dirty="0" err="1"/>
              <a:t>pg</a:t>
            </a:r>
            <a:r>
              <a:rPr lang="en-US" dirty="0"/>
              <a:t> 11-13 : </a:t>
            </a:r>
            <a:r>
              <a:rPr lang="en-US" dirty="0">
                <a:hlinkClick r:id="rId2"/>
              </a:rPr>
              <a:t>functions</a:t>
            </a:r>
            <a:endParaRPr lang="en-US" dirty="0"/>
          </a:p>
          <a:p>
            <a:endParaRPr lang="en-US" b="1" dirty="0"/>
          </a:p>
          <a:p>
            <a:pPr lvl="1"/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51C7A-8B6C-8009-415E-F91BB003110A}"/>
              </a:ext>
            </a:extLst>
          </p:cNvPr>
          <p:cNvSpPr/>
          <p:nvPr/>
        </p:nvSpPr>
        <p:spPr>
          <a:xfrm>
            <a:off x="1838880" y="2348280"/>
            <a:ext cx="731520" cy="365760"/>
          </a:xfrm>
          <a:prstGeom prst="rect">
            <a:avLst/>
          </a:prstGeom>
          <a:solidFill>
            <a:srgbClr val="000000">
              <a:alpha val="5000"/>
            </a:srgbClr>
          </a:solidFill>
          <a:ln w="18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6B4BE5-A952-1A8B-54BC-63ED314339FD}"/>
              </a:ext>
            </a:extLst>
          </p:cNvPr>
          <p:cNvSpPr txBox="1"/>
          <p:nvPr/>
        </p:nvSpPr>
        <p:spPr>
          <a:xfrm>
            <a:off x="1860641" y="2348280"/>
            <a:ext cx="68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9EF14B-CA2E-6982-AF5C-489BC285D936}"/>
              </a:ext>
            </a:extLst>
          </p:cNvPr>
          <p:cNvSpPr txBox="1"/>
          <p:nvPr/>
        </p:nvSpPr>
        <p:spPr>
          <a:xfrm>
            <a:off x="1838880" y="2882925"/>
            <a:ext cx="68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0DAEC3-6CB2-B53A-492C-9AF9FB397D56}"/>
              </a:ext>
            </a:extLst>
          </p:cNvPr>
          <p:cNvSpPr/>
          <p:nvPr/>
        </p:nvSpPr>
        <p:spPr>
          <a:xfrm>
            <a:off x="1842120" y="2909160"/>
            <a:ext cx="731520" cy="365760"/>
          </a:xfrm>
          <a:prstGeom prst="rect">
            <a:avLst/>
          </a:prstGeom>
          <a:solidFill>
            <a:srgbClr val="000000">
              <a:alpha val="5000"/>
            </a:srgbClr>
          </a:solidFill>
          <a:ln w="18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875B4C7-A359-6018-2157-AE5ABA315C18}"/>
                  </a:ext>
                </a:extLst>
              </p14:cNvPr>
              <p14:cNvContentPartPr/>
              <p14:nvPr/>
            </p14:nvContentPartPr>
            <p14:xfrm>
              <a:off x="2936679" y="299824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875B4C7-A359-6018-2157-AE5ABA315C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7679" y="298924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C0F5BCF-D0F2-30A7-9946-861FA1711ABA}"/>
              </a:ext>
            </a:extLst>
          </p:cNvPr>
          <p:cNvGrpSpPr/>
          <p:nvPr/>
        </p:nvGrpSpPr>
        <p:grpSpPr>
          <a:xfrm>
            <a:off x="2721039" y="2857126"/>
            <a:ext cx="445320" cy="303840"/>
            <a:chOff x="2721039" y="2857126"/>
            <a:chExt cx="44532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C7FEF2-D3AE-3E3C-A68D-D3F43971E802}"/>
                    </a:ext>
                  </a:extLst>
                </p14:cNvPr>
                <p14:cNvContentPartPr/>
                <p14:nvPr/>
              </p14:nvContentPartPr>
              <p14:xfrm>
                <a:off x="2721039" y="2908246"/>
                <a:ext cx="376920" cy="104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C7FEF2-D3AE-3E3C-A68D-D3F43971E80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12039" y="2899246"/>
                  <a:ext cx="394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8ECC4D9-1F6F-1158-5D0B-145F4119AC69}"/>
                    </a:ext>
                  </a:extLst>
                </p14:cNvPr>
                <p14:cNvContentPartPr/>
                <p14:nvPr/>
              </p14:nvContentPartPr>
              <p14:xfrm>
                <a:off x="2985639" y="2857126"/>
                <a:ext cx="149040" cy="141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8ECC4D9-1F6F-1158-5D0B-145F4119AC6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76639" y="2848486"/>
                  <a:ext cx="166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6648FE-AFBB-2E70-8ED4-3195243117CC}"/>
                    </a:ext>
                  </a:extLst>
                </p14:cNvPr>
                <p14:cNvContentPartPr/>
                <p14:nvPr/>
              </p14:nvContentPartPr>
              <p14:xfrm>
                <a:off x="2769279" y="3081766"/>
                <a:ext cx="34920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6648FE-AFBB-2E70-8ED4-3195243117C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60639" y="3073126"/>
                  <a:ext cx="366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7090F1C-D55F-8CC3-89BB-7EB84048F0D5}"/>
                    </a:ext>
                  </a:extLst>
                </p14:cNvPr>
                <p14:cNvContentPartPr/>
                <p14:nvPr/>
              </p14:nvContentPartPr>
              <p14:xfrm>
                <a:off x="3015519" y="3041806"/>
                <a:ext cx="150840" cy="119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7090F1C-D55F-8CC3-89BB-7EB84048F0D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06879" y="3033166"/>
                  <a:ext cx="16848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FCD7125-712B-D955-04CB-A6D6EA861E7E}"/>
              </a:ext>
            </a:extLst>
          </p:cNvPr>
          <p:cNvGrpSpPr/>
          <p:nvPr/>
        </p:nvGrpSpPr>
        <p:grpSpPr>
          <a:xfrm>
            <a:off x="2769279" y="3244126"/>
            <a:ext cx="389520" cy="255240"/>
            <a:chOff x="2769279" y="3244126"/>
            <a:chExt cx="38952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AD88289-ECFD-B45F-2CF4-BB5A981B9584}"/>
                    </a:ext>
                  </a:extLst>
                </p14:cNvPr>
                <p14:cNvContentPartPr/>
                <p14:nvPr/>
              </p14:nvContentPartPr>
              <p14:xfrm>
                <a:off x="2769279" y="3244126"/>
                <a:ext cx="338400" cy="176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AD88289-ECFD-B45F-2CF4-BB5A981B958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60639" y="3235126"/>
                  <a:ext cx="356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0CC6CB1-5945-9D71-1B4F-5864922A7BD9}"/>
                    </a:ext>
                  </a:extLst>
                </p14:cNvPr>
                <p14:cNvContentPartPr/>
                <p14:nvPr/>
              </p14:nvContentPartPr>
              <p14:xfrm>
                <a:off x="2954679" y="3353926"/>
                <a:ext cx="204120" cy="145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0CC6CB1-5945-9D71-1B4F-5864922A7BD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45679" y="3345286"/>
                  <a:ext cx="221760" cy="163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80D0CA2-9126-FD7A-E450-E50AFF13D531}"/>
              </a:ext>
            </a:extLst>
          </p:cNvPr>
          <p:cNvSpPr txBox="1"/>
          <p:nvPr/>
        </p:nvSpPr>
        <p:spPr>
          <a:xfrm>
            <a:off x="3201639" y="2714040"/>
            <a:ext cx="527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</a:p>
          <a:p>
            <a:r>
              <a:rPr lang="en-US" dirty="0"/>
              <a:t>b</a:t>
            </a:r>
          </a:p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75769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2945-0AC2-97D6-21F3-4A5D08BD2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889C3-04D9-9556-4A46-311203061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Solving </a:t>
            </a:r>
          </a:p>
          <a:p>
            <a:pPr lvl="1"/>
            <a:r>
              <a:rPr lang="en-US" dirty="0"/>
              <a:t>Substitute variables with numerals</a:t>
            </a:r>
          </a:p>
          <a:p>
            <a:pPr lvl="1"/>
            <a:r>
              <a:rPr lang="en-US" dirty="0"/>
              <a:t>Evaluate</a:t>
            </a:r>
          </a:p>
          <a:p>
            <a:pPr lvl="2"/>
            <a:r>
              <a:rPr lang="en-US" dirty="0"/>
              <a:t>Follow PEMDAS/BODMAS</a:t>
            </a:r>
          </a:p>
          <a:p>
            <a:r>
              <a:rPr lang="en-US" dirty="0"/>
              <a:t>Solve for x = 0,1,2,3</a:t>
            </a:r>
          </a:p>
          <a:p>
            <a:pPr lvl="1"/>
            <a:r>
              <a:rPr lang="en-US" dirty="0"/>
              <a:t>f(x) = 3x + 1</a:t>
            </a:r>
          </a:p>
          <a:p>
            <a:pPr lvl="1"/>
            <a:r>
              <a:rPr lang="en-US" dirty="0"/>
              <a:t>g(x) = 2x</a:t>
            </a:r>
            <a:r>
              <a:rPr lang="en-US" baseline="30000" dirty="0"/>
              <a:t>2 </a:t>
            </a:r>
            <a:r>
              <a:rPr lang="en-US" dirty="0"/>
              <a:t>+ 3</a:t>
            </a:r>
          </a:p>
          <a:p>
            <a:pPr lvl="1"/>
            <a:r>
              <a:rPr lang="en-US" dirty="0"/>
              <a:t>h(x) = x</a:t>
            </a:r>
            <a:r>
              <a:rPr lang="en-US" baseline="30000" dirty="0"/>
              <a:t>2</a:t>
            </a:r>
            <a:r>
              <a:rPr lang="en-US" dirty="0"/>
              <a:t> + 2x +1</a:t>
            </a:r>
          </a:p>
        </p:txBody>
      </p:sp>
    </p:spTree>
    <p:extLst>
      <p:ext uri="{BB962C8B-B14F-4D97-AF65-F5344CB8AC3E}">
        <p14:creationId xmlns:p14="http://schemas.microsoft.com/office/powerpoint/2010/main" val="2419863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AF36-C99B-4C0F-D9A1-F97EBF1C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E908-BFA9-6149-6F25-D118365B8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Functions calling themselves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/>
          </a:p>
          <a:p>
            <a:r>
              <a:rPr lang="en-US" dirty="0"/>
              <a:t>Evaluate for ‘n’ = 2 , 4, 5, 6</a:t>
            </a:r>
          </a:p>
          <a:p>
            <a:r>
              <a:rPr lang="en-US" dirty="0"/>
              <a:t>Follow up reading </a:t>
            </a:r>
            <a:r>
              <a:rPr lang="en-US" sz="1500" dirty="0"/>
              <a:t>(optional)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nested functions visualized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B07FF-705F-B2EE-4909-718D1ECDC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136" y="2233628"/>
            <a:ext cx="3333921" cy="112400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D924A9-7C44-EBC3-DDF7-0205456CD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114464"/>
              </p:ext>
            </p:extLst>
          </p:nvPr>
        </p:nvGraphicFramePr>
        <p:xfrm>
          <a:off x="1071459" y="2316479"/>
          <a:ext cx="8861106" cy="2821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0553">
                  <a:extLst>
                    <a:ext uri="{9D8B030D-6E8A-4147-A177-3AD203B41FA5}">
                      <a16:colId xmlns:a16="http://schemas.microsoft.com/office/drawing/2014/main" val="2496394709"/>
                    </a:ext>
                  </a:extLst>
                </a:gridCol>
                <a:gridCol w="4430553">
                  <a:extLst>
                    <a:ext uri="{9D8B030D-6E8A-4147-A177-3AD203B41FA5}">
                      <a16:colId xmlns:a16="http://schemas.microsoft.com/office/drawing/2014/main" val="1375899388"/>
                    </a:ext>
                  </a:extLst>
                </a:gridCol>
              </a:tblGrid>
              <a:tr h="940592">
                <a:tc>
                  <a:txBody>
                    <a:bodyPr/>
                    <a:lstStyle/>
                    <a:p>
                      <a:r>
                        <a:rPr lang="en-US" b="1" dirty="0"/>
                        <a:t>Fibonacci </a:t>
                      </a:r>
                      <a:r>
                        <a:rPr lang="en-US" b="0" dirty="0"/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360927"/>
                  </a:ext>
                </a:extLst>
              </a:tr>
              <a:tr h="940592">
                <a:tc>
                  <a:txBody>
                    <a:bodyPr/>
                    <a:lstStyle/>
                    <a:p>
                      <a:r>
                        <a:rPr lang="en-US" b="1" dirty="0"/>
                        <a:t>Factorial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fact(n) = n * fact(n-1)</a:t>
                      </a:r>
                    </a:p>
                    <a:p>
                      <a:r>
                        <a:rPr lang="en-US" dirty="0"/>
                        <a:t>    {given, </a:t>
                      </a:r>
                      <a:r>
                        <a:rPr lang="en-US" i="1" dirty="0"/>
                        <a:t> fact(1) = fact(0) =1}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044372"/>
                  </a:ext>
                </a:extLst>
              </a:tr>
              <a:tr h="940592">
                <a:tc>
                  <a:txBody>
                    <a:bodyPr/>
                    <a:lstStyle/>
                    <a:p>
                      <a:r>
                        <a:rPr lang="en-US" b="1" dirty="0"/>
                        <a:t>Lucas </a:t>
                      </a:r>
                      <a:r>
                        <a:rPr lang="en-US" b="0" dirty="0"/>
                        <a:t>numbers</a:t>
                      </a:r>
                      <a:br>
                        <a:rPr lang="en-US" b="0" dirty="0"/>
                      </a:br>
                      <a:r>
                        <a:rPr lang="en-US" dirty="0"/>
                        <a:t>(</a:t>
                      </a:r>
                      <a:r>
                        <a:rPr lang="en-US" i="1" dirty="0"/>
                        <a:t>same rule as Fibonacci but with different starting values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l (n) = l(n-1) + l(n-2)</a:t>
                      </a:r>
                    </a:p>
                    <a:p>
                      <a:r>
                        <a:rPr lang="en-US" dirty="0"/>
                        <a:t>    {given , </a:t>
                      </a:r>
                      <a:r>
                        <a:rPr lang="en-US" i="1" dirty="0"/>
                        <a:t>l(0) = 2, l(1) = 1}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91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921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EB84F-B0DC-79D2-7C5F-8C3A6D23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Programming, , Test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EA891-9323-41D9-4413-E83293264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to know </a:t>
            </a:r>
          </a:p>
          <a:p>
            <a:pPr lvl="1"/>
            <a:r>
              <a:rPr lang="en-US" dirty="0"/>
              <a:t>Data types</a:t>
            </a:r>
          </a:p>
          <a:p>
            <a:pPr lvl="1"/>
            <a:r>
              <a:rPr lang="en-US" dirty="0"/>
              <a:t>Conditionals : If/else</a:t>
            </a:r>
          </a:p>
          <a:p>
            <a:pPr lvl="1"/>
            <a:r>
              <a:rPr lang="en-US" dirty="0"/>
              <a:t>Loops : for</a:t>
            </a:r>
          </a:p>
          <a:p>
            <a:pPr lvl="1"/>
            <a:r>
              <a:rPr lang="en-US" dirty="0"/>
              <a:t>Arrays : 2 dimensional</a:t>
            </a:r>
          </a:p>
          <a:p>
            <a:r>
              <a:rPr lang="en-US" dirty="0"/>
              <a:t>Practice </a:t>
            </a:r>
          </a:p>
          <a:p>
            <a:pPr lvl="1"/>
            <a:r>
              <a:rPr lang="en-US" dirty="0">
                <a:hlinkClick r:id="rId2"/>
              </a:rPr>
              <a:t>Arrays- DS (</a:t>
            </a:r>
            <a:r>
              <a:rPr lang="en-US" dirty="0" err="1">
                <a:hlinkClick r:id="rId2"/>
              </a:rPr>
              <a:t>Hackerrank</a:t>
            </a:r>
            <a:r>
              <a:rPr lang="en-US" dirty="0">
                <a:hlinkClick r:id="rId2"/>
              </a:rPr>
              <a:t>)</a:t>
            </a:r>
            <a:r>
              <a:rPr lang="en-US" dirty="0"/>
              <a:t> </a:t>
            </a:r>
          </a:p>
          <a:p>
            <a:pPr lvl="2"/>
            <a:r>
              <a:rPr lang="en-US"/>
              <a:t>Do the 4 </a:t>
            </a:r>
            <a:r>
              <a:rPr lang="en-US" dirty="0"/>
              <a:t>problems marked “easy”</a:t>
            </a:r>
          </a:p>
          <a:p>
            <a:pPr lvl="2"/>
            <a:r>
              <a:rPr lang="en-US" dirty="0"/>
              <a:t>Optional :“hard”, “medium” one are for extra challenge</a:t>
            </a:r>
          </a:p>
        </p:txBody>
      </p:sp>
    </p:spTree>
    <p:extLst>
      <p:ext uri="{BB962C8B-B14F-4D97-AF65-F5344CB8AC3E}">
        <p14:creationId xmlns:p14="http://schemas.microsoft.com/office/powerpoint/2010/main" val="633546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9C56-5A5D-4E4D-4D8E-F37DFB3C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1,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D378D-5E4D-E294-B700-72DCD213F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847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Great participation, nearly everyone attempted!</a:t>
            </a:r>
          </a:p>
          <a:p>
            <a:r>
              <a:rPr lang="en-US" dirty="0"/>
              <a:t>Overall students did better in quiz</a:t>
            </a:r>
          </a:p>
          <a:p>
            <a:pPr lvl="1"/>
            <a:r>
              <a:rPr lang="en-US" dirty="0"/>
              <a:t>8x full marks in quiz vs 5x full marks in programming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4 students got a zero in programming </a:t>
            </a:r>
            <a:r>
              <a:rPr lang="en-US" dirty="0"/>
              <a:t>( with 1 not attempted)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89DCDD-2254-1A30-3A13-C6AB2863E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43" y="3707934"/>
            <a:ext cx="3174403" cy="26185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624B3F-D128-6B7B-1206-8E41B254F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719" y="3683515"/>
            <a:ext cx="3233606" cy="2667433"/>
          </a:xfrm>
          <a:prstGeom prst="rect">
            <a:avLst/>
          </a:prstGeom>
        </p:spPr>
      </p:pic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5B24662-16BA-0617-641E-BE5B6C1B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268875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4546-56C5-F32B-B7B4-0BB3361D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2 ,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6DBCF-54D6-390D-D097-F17F35024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quizzes </a:t>
            </a:r>
          </a:p>
          <a:p>
            <a:pPr lvl="1"/>
            <a:r>
              <a:rPr lang="en-US" dirty="0"/>
              <a:t>seem to be easier for students to master</a:t>
            </a:r>
          </a:p>
          <a:p>
            <a:pPr lvl="1"/>
            <a:r>
              <a:rPr lang="en-US" dirty="0"/>
              <a:t>Success cause everyone attempted, next we figure out how to raise scores there</a:t>
            </a:r>
          </a:p>
          <a:p>
            <a:pPr lvl="2"/>
            <a:r>
              <a:rPr lang="en-US" dirty="0"/>
              <a:t>Suggestions ?</a:t>
            </a:r>
          </a:p>
          <a:p>
            <a:r>
              <a:rPr lang="en-US" dirty="0"/>
              <a:t>Programming </a:t>
            </a:r>
          </a:p>
          <a:p>
            <a:pPr lvl="1"/>
            <a:r>
              <a:rPr lang="en-US" dirty="0"/>
              <a:t>It was amazing attempt</a:t>
            </a:r>
          </a:p>
          <a:p>
            <a:pPr lvl="1"/>
            <a:r>
              <a:rPr lang="en-US" dirty="0"/>
              <a:t>The codes generally worked</a:t>
            </a:r>
          </a:p>
          <a:p>
            <a:pPr lvl="1"/>
            <a:r>
              <a:rPr lang="en-US" dirty="0"/>
              <a:t>But 4/15 students had zeroes.</a:t>
            </a:r>
          </a:p>
          <a:p>
            <a:pPr lvl="1"/>
            <a:r>
              <a:rPr lang="en-US" dirty="0"/>
              <a:t>Suggestions ?</a:t>
            </a:r>
          </a:p>
          <a:p>
            <a:r>
              <a:rPr lang="en-US" dirty="0"/>
              <a:t>Goal :We need raise scores for everyone and move some in attempted stage</a:t>
            </a:r>
          </a:p>
          <a:p>
            <a:pPr lvl="1"/>
            <a:r>
              <a:rPr lang="en-US" dirty="0"/>
              <a:t>Note</a:t>
            </a:r>
          </a:p>
          <a:p>
            <a:pPr lvl="2"/>
            <a:r>
              <a:rPr lang="en-US" dirty="0"/>
              <a:t>Compete with yourself , Do better than your last attempt </a:t>
            </a:r>
          </a:p>
          <a:p>
            <a:pPr lvl="2"/>
            <a:r>
              <a:rPr lang="en-US" dirty="0"/>
              <a:t>Ask for help </a:t>
            </a:r>
          </a:p>
          <a:p>
            <a:pPr lvl="3"/>
            <a:r>
              <a:rPr lang="en-US" dirty="0"/>
              <a:t>on what you don’t know, to learn it.</a:t>
            </a:r>
          </a:p>
          <a:p>
            <a:pPr lvl="3"/>
            <a:r>
              <a:rPr lang="en-US" dirty="0"/>
              <a:t>And even on what you know , i.e. to master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7F394-AD18-1EC7-38C3-9A61FEB1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908428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0063-C526-EA6B-3D7A-9BD91072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for Test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8505C-A605-E7E4-9046-72C419C36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Mathematical expressions</a:t>
            </a:r>
          </a:p>
          <a:p>
            <a:pPr lvl="1"/>
            <a:r>
              <a:rPr lang="en-US" dirty="0"/>
              <a:t>Representations ( infix, prefix, postfix)</a:t>
            </a:r>
          </a:p>
          <a:p>
            <a:pPr lvl="1"/>
            <a:r>
              <a:rPr lang="en-US" dirty="0"/>
              <a:t>Evaluation or expression</a:t>
            </a:r>
          </a:p>
          <a:p>
            <a:r>
              <a:rPr lang="en-US" dirty="0"/>
              <a:t>Discrete Mathematics</a:t>
            </a:r>
          </a:p>
          <a:p>
            <a:pPr lvl="1"/>
            <a:r>
              <a:rPr lang="en-US" dirty="0"/>
              <a:t>Logical Operators (AND , OR , NOT, SHIFT,…)</a:t>
            </a:r>
          </a:p>
          <a:p>
            <a:pPr lvl="1"/>
            <a:r>
              <a:rPr lang="en-US" dirty="0"/>
              <a:t>Boolean logic</a:t>
            </a:r>
          </a:p>
          <a:p>
            <a:r>
              <a:rPr lang="en-US" dirty="0"/>
              <a:t>Programming </a:t>
            </a:r>
          </a:p>
          <a:p>
            <a:pPr lvl="1"/>
            <a:r>
              <a:rPr lang="en-US" dirty="0"/>
              <a:t>char, string ,arrays</a:t>
            </a:r>
          </a:p>
          <a:p>
            <a:pPr lvl="1"/>
            <a:r>
              <a:rPr lang="en-US" dirty="0"/>
              <a:t>Loops </a:t>
            </a:r>
          </a:p>
          <a:p>
            <a:pPr lvl="1"/>
            <a:r>
              <a:rPr lang="en-US" dirty="0"/>
              <a:t>Conditionals</a:t>
            </a:r>
          </a:p>
          <a:p>
            <a:pPr lvl="2"/>
            <a:r>
              <a:rPr lang="en-US" dirty="0"/>
              <a:t>If/else</a:t>
            </a:r>
          </a:p>
          <a:p>
            <a:pPr lvl="2"/>
            <a:r>
              <a:rPr lang="en-US" dirty="0"/>
              <a:t>switch/case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CFCBD-DCB6-DA2A-15CD-C1320C57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369536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9036-DB73-EF71-EE0A-E0F5D254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8B8B-A6D4-B8E0-9265-7EBCA0EDA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Encounter them in grade </a:t>
            </a:r>
            <a:r>
              <a:rPr lang="en-US" dirty="0" err="1"/>
              <a:t>maths</a:t>
            </a:r>
            <a:r>
              <a:rPr lang="en-US" dirty="0"/>
              <a:t>. e.g. </a:t>
            </a:r>
          </a:p>
          <a:p>
            <a:pPr lvl="1"/>
            <a:r>
              <a:rPr lang="en-US" dirty="0"/>
              <a:t>(11+14)/(9 - 3) + 2</a:t>
            </a:r>
          </a:p>
          <a:p>
            <a:pPr lvl="1"/>
            <a:r>
              <a:rPr lang="en-US" dirty="0"/>
              <a:t>3+7 / (4 * 5 - 6)</a:t>
            </a:r>
          </a:p>
          <a:p>
            <a:pPr lvl="1"/>
            <a:r>
              <a:rPr lang="en-US" dirty="0"/>
              <a:t>- 2 + 8 / 2</a:t>
            </a:r>
          </a:p>
          <a:p>
            <a:r>
              <a:rPr lang="en-US" dirty="0"/>
              <a:t>Can also be written using variables</a:t>
            </a:r>
          </a:p>
          <a:p>
            <a:pPr lvl="1"/>
            <a:r>
              <a:rPr lang="en-US" dirty="0"/>
              <a:t>(a + b) / (c – d ) + e </a:t>
            </a:r>
          </a:p>
          <a:p>
            <a:pPr lvl="1"/>
            <a:r>
              <a:rPr lang="en-US" dirty="0"/>
              <a:t>x + y  / (g * h – k)</a:t>
            </a:r>
          </a:p>
          <a:p>
            <a:r>
              <a:rPr lang="en-US" dirty="0"/>
              <a:t>Evaluated using </a:t>
            </a:r>
          </a:p>
          <a:p>
            <a:pPr lvl="1"/>
            <a:r>
              <a:rPr lang="en-US" dirty="0"/>
              <a:t>PEMDAS / BODMAS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BE138-382D-4140-3301-E9A9F4B7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373064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543D-4AED-1560-6020-DBDF03CC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 : anatomy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B474B-E50F-9A75-FDCD-ECE8C37D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 is made of</a:t>
            </a:r>
          </a:p>
          <a:p>
            <a:pPr lvl="1"/>
            <a:r>
              <a:rPr lang="en-US" dirty="0"/>
              <a:t>Operators ( + , - , * , /)</a:t>
            </a:r>
          </a:p>
          <a:p>
            <a:pPr lvl="1"/>
            <a:r>
              <a:rPr lang="en-US" dirty="0"/>
              <a:t>Operands (numbers, variables)</a:t>
            </a:r>
          </a:p>
          <a:p>
            <a:r>
              <a:rPr lang="en-US" dirty="0"/>
              <a:t>Unary operators :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-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operator</a:t>
            </a:r>
            <a:r>
              <a:rPr lang="en-US" dirty="0"/>
              <a:t>&gt;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operand</a:t>
            </a:r>
            <a:r>
              <a:rPr lang="en-US" dirty="0"/>
              <a:t>&gt;</a:t>
            </a:r>
          </a:p>
          <a:p>
            <a:r>
              <a:rPr lang="en-US" dirty="0"/>
              <a:t> Binary operators (infix) 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b </a:t>
            </a:r>
          </a:p>
          <a:p>
            <a:pPr lvl="1"/>
            <a:r>
              <a:rPr lang="en-US" dirty="0"/>
              <a:t>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operand</a:t>
            </a:r>
            <a:r>
              <a:rPr lang="en-US" dirty="0"/>
              <a:t>&gt; &lt;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operand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B1C1A-17CA-D188-02EC-25677E35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398303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8428-71F3-9434-03CF-F3DD0692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Prefix/Postfix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21BA-4008-7A96-D38C-705D413BB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Remove ambiguity( i.e. can  forget PEMDAS, BODMAS) </a:t>
            </a:r>
          </a:p>
          <a:p>
            <a:pPr lvl="1"/>
            <a:r>
              <a:rPr lang="en-US" dirty="0"/>
              <a:t>Computer friendly </a:t>
            </a:r>
          </a:p>
          <a:p>
            <a:pPr lvl="1"/>
            <a:r>
              <a:rPr lang="en-US" dirty="0"/>
              <a:t>Works with both unary/binary</a:t>
            </a:r>
          </a:p>
          <a:p>
            <a:pPr lvl="1"/>
            <a:r>
              <a:rPr lang="en-US" dirty="0"/>
              <a:t>Faster evaluation </a:t>
            </a:r>
          </a:p>
          <a:p>
            <a:r>
              <a:rPr lang="en-US" dirty="0"/>
              <a:t>Expression styles</a:t>
            </a:r>
          </a:p>
          <a:p>
            <a:pPr lvl="1"/>
            <a:r>
              <a:rPr lang="en-US" dirty="0"/>
              <a:t>Infix : operator in </a:t>
            </a:r>
            <a:r>
              <a:rPr lang="en-US" b="1" dirty="0"/>
              <a:t>middle</a:t>
            </a:r>
            <a:r>
              <a:rPr lang="en-US" dirty="0"/>
              <a:t> of operands</a:t>
            </a:r>
          </a:p>
          <a:p>
            <a:pPr lvl="2"/>
            <a:r>
              <a:rPr lang="en-US" dirty="0"/>
              <a:t>(5+6)*3  </a:t>
            </a:r>
          </a:p>
          <a:p>
            <a:pPr lvl="2"/>
            <a:r>
              <a:rPr lang="en-US" dirty="0"/>
              <a:t>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Prefix : operator </a:t>
            </a:r>
            <a:r>
              <a:rPr lang="en-US" b="1" dirty="0">
                <a:sym typeface="Wingdings" panose="05000000000000000000" pitchFamily="2" charset="2"/>
              </a:rPr>
              <a:t>before</a:t>
            </a:r>
            <a:r>
              <a:rPr lang="en-US" dirty="0">
                <a:sym typeface="Wingdings" panose="05000000000000000000" pitchFamily="2" charset="2"/>
              </a:rPr>
              <a:t> operands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* + 5 6 3</a:t>
            </a:r>
          </a:p>
          <a:p>
            <a:pPr lvl="2"/>
            <a:r>
              <a:rPr lang="en-US" dirty="0"/>
              <a:t>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Postfix : operator </a:t>
            </a:r>
            <a:r>
              <a:rPr lang="en-US" b="1" dirty="0">
                <a:sym typeface="Wingdings" panose="05000000000000000000" pitchFamily="2" charset="2"/>
              </a:rPr>
              <a:t>after</a:t>
            </a:r>
            <a:r>
              <a:rPr lang="en-US" dirty="0">
                <a:sym typeface="Wingdings" panose="05000000000000000000" pitchFamily="2" charset="2"/>
              </a:rPr>
              <a:t> operands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5 6 + 3 *</a:t>
            </a:r>
          </a:p>
          <a:p>
            <a:pPr lvl="2"/>
            <a:r>
              <a:rPr lang="en-US" dirty="0"/>
              <a:t>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6621B-5CCF-4F7B-2238-5B2FA2BB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4045988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DA08-124C-F08B-AE2A-330F62990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expression, </a:t>
            </a:r>
            <a:br>
              <a:rPr lang="en-US" dirty="0"/>
            </a:br>
            <a:r>
              <a:rPr lang="en-US" sz="3200" i="1" dirty="0"/>
              <a:t>but first </a:t>
            </a:r>
            <a:r>
              <a:rPr lang="en-US" sz="3200" b="1" i="1" dirty="0"/>
              <a:t>Stacks</a:t>
            </a:r>
            <a:r>
              <a:rPr lang="en-US" sz="3200" i="1" dirty="0"/>
              <a:t> and </a:t>
            </a:r>
            <a:r>
              <a:rPr lang="en-US" sz="3200" b="1" i="1" dirty="0"/>
              <a:t>Queues</a:t>
            </a:r>
            <a:r>
              <a:rPr lang="en-US" sz="3200" i="1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35E2-ED41-222B-756A-12721F4F2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What is a </a:t>
            </a:r>
            <a:r>
              <a:rPr lang="en-US" b="1" dirty="0"/>
              <a:t>Stack</a:t>
            </a:r>
            <a:r>
              <a:rPr lang="en-US" dirty="0"/>
              <a:t> ?</a:t>
            </a:r>
          </a:p>
          <a:p>
            <a:pPr lvl="1"/>
            <a:r>
              <a:rPr lang="en-US" dirty="0"/>
              <a:t>This is a sequential structure of </a:t>
            </a:r>
            <a:r>
              <a:rPr lang="en-US" b="1" dirty="0"/>
              <a:t>items</a:t>
            </a:r>
          </a:p>
          <a:p>
            <a:pPr lvl="1"/>
            <a:r>
              <a:rPr lang="en-US" dirty="0"/>
              <a:t>That are </a:t>
            </a:r>
            <a:r>
              <a:rPr lang="en-US" b="1" dirty="0"/>
              <a:t>pushed at one end </a:t>
            </a:r>
          </a:p>
          <a:p>
            <a:pPr lvl="1"/>
            <a:r>
              <a:rPr lang="en-US" b="1" dirty="0"/>
              <a:t>Pulled </a:t>
            </a:r>
            <a:r>
              <a:rPr lang="en-US" dirty="0"/>
              <a:t>via the</a:t>
            </a:r>
            <a:r>
              <a:rPr lang="en-US" b="1" dirty="0"/>
              <a:t> same end</a:t>
            </a:r>
          </a:p>
          <a:p>
            <a:pPr lvl="1"/>
            <a:r>
              <a:rPr lang="en-US" b="1" dirty="0"/>
              <a:t>LIFO </a:t>
            </a:r>
            <a:r>
              <a:rPr lang="en-US" dirty="0"/>
              <a:t>: Last in First Out </a:t>
            </a:r>
          </a:p>
          <a:p>
            <a:pPr lvl="1"/>
            <a:r>
              <a:rPr lang="en-US" dirty="0"/>
              <a:t>Examples </a:t>
            </a:r>
          </a:p>
          <a:p>
            <a:pPr lvl="2"/>
            <a:r>
              <a:rPr lang="en-US" dirty="0"/>
              <a:t>Stack of plates </a:t>
            </a:r>
          </a:p>
          <a:p>
            <a:pPr lvl="2"/>
            <a:r>
              <a:rPr lang="en-US" dirty="0"/>
              <a:t>Your turned in paper assignments</a:t>
            </a:r>
          </a:p>
          <a:p>
            <a:r>
              <a:rPr lang="en-US" dirty="0"/>
              <a:t>What is a </a:t>
            </a:r>
            <a:r>
              <a:rPr lang="en-US" b="1" dirty="0"/>
              <a:t>Queue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Another sequential structure of </a:t>
            </a:r>
            <a:r>
              <a:rPr lang="en-US" b="1" dirty="0"/>
              <a:t>items</a:t>
            </a:r>
          </a:p>
          <a:p>
            <a:pPr lvl="1"/>
            <a:r>
              <a:rPr lang="en-US" dirty="0"/>
              <a:t>that are</a:t>
            </a:r>
            <a:r>
              <a:rPr lang="en-US" b="1" dirty="0"/>
              <a:t> pushed at one end</a:t>
            </a:r>
          </a:p>
          <a:p>
            <a:pPr lvl="1"/>
            <a:r>
              <a:rPr lang="en-US" b="1" dirty="0"/>
              <a:t>Pulled </a:t>
            </a:r>
            <a:r>
              <a:rPr lang="en-US" dirty="0"/>
              <a:t>via</a:t>
            </a:r>
            <a:r>
              <a:rPr lang="en-US" b="1" dirty="0"/>
              <a:t> </a:t>
            </a:r>
            <a:r>
              <a:rPr lang="en-US" dirty="0"/>
              <a:t>the</a:t>
            </a:r>
            <a:r>
              <a:rPr lang="en-US" b="1" dirty="0"/>
              <a:t> opposite end</a:t>
            </a:r>
          </a:p>
          <a:p>
            <a:pPr lvl="1"/>
            <a:r>
              <a:rPr lang="en-US" b="1" dirty="0"/>
              <a:t>FIFO</a:t>
            </a:r>
            <a:r>
              <a:rPr lang="en-US" dirty="0"/>
              <a:t> : First In First Out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Queue for buying tickets</a:t>
            </a:r>
          </a:p>
          <a:p>
            <a:pPr lvl="2"/>
            <a:r>
              <a:rPr lang="en-US" dirty="0"/>
              <a:t>Traffic in one way single lane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C3E84-BAA0-4755-B397-ECE0CB00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710293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7EB7-FC80-227F-6B6C-0D979456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</a:t>
            </a:r>
            <a:r>
              <a:rPr lang="en-US" b="1" dirty="0"/>
              <a:t>prefix</a:t>
            </a:r>
            <a:r>
              <a:rPr lang="en-US" dirty="0"/>
              <a:t>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6AB4-1F51-A74F-12F5-061A8D8B3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Infix : (5+6)*3 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* + 5 6 3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- + 2 * 3 4 / 16 ^ 2 3</a:t>
            </a:r>
          </a:p>
          <a:p>
            <a:r>
              <a:rPr lang="en-US" dirty="0">
                <a:sym typeface="Wingdings" panose="05000000000000000000" pitchFamily="2" charset="2"/>
              </a:rPr>
              <a:t>Algorithm (harder way)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Scan from right to left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Anytime you find an operator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Evaluate the operation using the previous 2 operands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Replace the </a:t>
            </a:r>
            <a:r>
              <a:rPr lang="en-US" dirty="0"/>
              <a:t>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with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result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in the expression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Repeat the steps till only 1 operand is left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A5EA8-8E52-3BA2-1D1B-5AE6B929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201004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9CCC-B73A-534F-54B8-DDB86625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postfix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A0144-D9A8-B144-B5F0-B30C28CF7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Evaluate </a:t>
            </a:r>
          </a:p>
          <a:p>
            <a:pPr lvl="1"/>
            <a:r>
              <a:rPr lang="en-US" dirty="0"/>
              <a:t>2 3 1 * + 9 –</a:t>
            </a:r>
          </a:p>
          <a:p>
            <a:pPr lvl="1"/>
            <a:r>
              <a:rPr lang="en-US" dirty="0"/>
              <a:t>5 3 + 6 2 / * 3 5 * +</a:t>
            </a:r>
          </a:p>
          <a:p>
            <a:r>
              <a:rPr lang="en-US" i="1" dirty="0"/>
              <a:t>Algorithm to evaluate (use </a:t>
            </a:r>
            <a:r>
              <a:rPr lang="en-US" b="1" i="1" dirty="0"/>
              <a:t>stack</a:t>
            </a:r>
            <a:r>
              <a:rPr lang="en-US" i="1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Push the operands in a stack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When you encounter a operator </a:t>
            </a:r>
          </a:p>
          <a:p>
            <a:pPr lvl="2"/>
            <a:r>
              <a:rPr lang="en-US" dirty="0"/>
              <a:t>Pop 2 operands</a:t>
            </a:r>
          </a:p>
          <a:p>
            <a:pPr lvl="2"/>
            <a:r>
              <a:rPr lang="en-US" dirty="0"/>
              <a:t>Perform the operation on operands</a:t>
            </a:r>
          </a:p>
          <a:p>
            <a:pPr lvl="2"/>
            <a:r>
              <a:rPr lang="en-US" dirty="0"/>
              <a:t>Push the result in stack </a:t>
            </a:r>
          </a:p>
          <a:p>
            <a:pPr lvl="1"/>
            <a:r>
              <a:rPr lang="en-US" dirty="0"/>
              <a:t>Repeat from 1 until expression is parsed</a:t>
            </a:r>
          </a:p>
          <a:p>
            <a:pPr lvl="1"/>
            <a:r>
              <a:rPr lang="en-US" dirty="0"/>
              <a:t>The last item in stack is the answer</a:t>
            </a:r>
          </a:p>
          <a:p>
            <a:pPr lvl="2"/>
            <a:r>
              <a:rPr lang="en-US" dirty="0"/>
              <a:t>There would be only 1 item left when done correctly</a:t>
            </a:r>
          </a:p>
          <a:p>
            <a:r>
              <a:rPr lang="en-US" dirty="0"/>
              <a:t>* prefix expr can also be evaluated in this way ( </a:t>
            </a:r>
            <a:r>
              <a:rPr lang="en-US" i="1" dirty="0"/>
              <a:t>just in </a:t>
            </a:r>
            <a:r>
              <a:rPr lang="en-US" b="1" i="1" dirty="0"/>
              <a:t>reverse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1BEF0-D4B5-79D3-99C5-AE3F44B40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370176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3874-CB60-DB45-CE8B-7A74B511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7527-44D3-CD21-C2E1-0160D833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Prefix </a:t>
            </a:r>
          </a:p>
          <a:p>
            <a:pPr lvl="1"/>
            <a:r>
              <a:rPr lang="en-US" dirty="0"/>
              <a:t>- * 5 + - 4 2 2 / 6 3</a:t>
            </a:r>
          </a:p>
          <a:p>
            <a:pPr lvl="1"/>
            <a:r>
              <a:rPr lang="en-US" dirty="0"/>
              <a:t>- * + 3 5 7 + / 4 2 1</a:t>
            </a:r>
          </a:p>
          <a:p>
            <a:pPr lvl="1"/>
            <a:r>
              <a:rPr lang="en-US" dirty="0"/>
              <a:t>- + 10 * 2 3 + 4 / 5 5</a:t>
            </a:r>
          </a:p>
          <a:p>
            <a:r>
              <a:rPr lang="en-US" dirty="0"/>
              <a:t>Postfix </a:t>
            </a:r>
          </a:p>
          <a:p>
            <a:pPr lvl="1"/>
            <a:r>
              <a:rPr lang="en-US" dirty="0"/>
              <a:t>1 2 + 3 4 + * 5 6 - / 7 +</a:t>
            </a:r>
          </a:p>
          <a:p>
            <a:pPr lvl="1"/>
            <a:r>
              <a:rPr lang="en-US" dirty="0"/>
              <a:t>8 2 / 3 4 + * 5 1 + 2 / -</a:t>
            </a:r>
          </a:p>
          <a:p>
            <a:pPr lvl="1"/>
            <a:r>
              <a:rPr lang="en-US" dirty="0"/>
              <a:t>9 8 4 2 1 ^ * / - 3 +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30C2C-A857-2CE9-4877-556490D8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073502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49718-FD7B-BBC3-1D54-780109F2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F6AF-3B4E-C1A2-4EB1-34DC6F5A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C4B36-8522-51F2-8F37-212F894EF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Prefix </a:t>
            </a:r>
          </a:p>
          <a:p>
            <a:pPr lvl="1"/>
            <a:r>
              <a:rPr lang="en-US" dirty="0"/>
              <a:t>- * 5 + - 4 2 2 / 6 3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18</a:t>
            </a:r>
          </a:p>
          <a:p>
            <a:pPr lvl="1"/>
            <a:r>
              <a:rPr lang="en-US" dirty="0"/>
              <a:t>- * + 3 5 7 + / 4 2 1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53</a:t>
            </a:r>
          </a:p>
          <a:p>
            <a:pPr lvl="1"/>
            <a:r>
              <a:rPr lang="en-US" dirty="0"/>
              <a:t>- + 10 * 2 3 + 4 / 5 5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</a:t>
            </a:r>
          </a:p>
          <a:p>
            <a:r>
              <a:rPr lang="en-US" dirty="0"/>
              <a:t>Postfix </a:t>
            </a:r>
          </a:p>
          <a:p>
            <a:pPr lvl="1"/>
            <a:r>
              <a:rPr lang="en-US" dirty="0"/>
              <a:t>1 2 + 3 4 + * 5 6 - / 7 +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-14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  <a:p>
            <a:pPr lvl="1"/>
            <a:r>
              <a:rPr lang="en-US" dirty="0"/>
              <a:t>8 2 / 3 4 + * 5 1 + 2 / -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25</a:t>
            </a:r>
          </a:p>
          <a:p>
            <a:pPr lvl="1"/>
            <a:r>
              <a:rPr lang="en-US" dirty="0"/>
              <a:t>9 8 4 2 1 ^ * / - 3 +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17D47-227F-8158-DD87-C6DC14A7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358036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714B-546B-8601-A89D-A057C4A1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06790-5F81-C6BD-1C95-31862CB35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that takes a string and checks if it is a palindrome</a:t>
            </a:r>
          </a:p>
          <a:p>
            <a:pPr lvl="1"/>
            <a:r>
              <a:rPr lang="en-US" dirty="0"/>
              <a:t>Returns true if palindrome is found else false</a:t>
            </a:r>
          </a:p>
          <a:p>
            <a:pPr lvl="1"/>
            <a:r>
              <a:rPr lang="en-US" dirty="0"/>
              <a:t>Hints:  string indexing, loops, if , comparing characters</a:t>
            </a:r>
          </a:p>
          <a:p>
            <a:r>
              <a:rPr lang="en-US" dirty="0"/>
              <a:t>Count the number of vowels, consonants in a sentence.</a:t>
            </a:r>
          </a:p>
          <a:p>
            <a:pPr lvl="1"/>
            <a:r>
              <a:rPr lang="en-US" dirty="0"/>
              <a:t>Vowels : </a:t>
            </a:r>
            <a:r>
              <a:rPr lang="en-US" dirty="0" err="1"/>
              <a:t>a,e,i,o,u</a:t>
            </a:r>
            <a:endParaRPr lang="en-US" dirty="0"/>
          </a:p>
          <a:p>
            <a:pPr lvl="1"/>
            <a:r>
              <a:rPr lang="en-US" dirty="0"/>
              <a:t>Consonant : everything else other than vowels</a:t>
            </a:r>
          </a:p>
          <a:p>
            <a:pPr lvl="1"/>
            <a:r>
              <a:rPr lang="en-US" dirty="0"/>
              <a:t>Ignore : spaces (‘ ’,) comma(,) dash(-),semicolon(;),colon(</a:t>
            </a:r>
            <a:r>
              <a:rPr lang="en-US" dirty="0">
                <a:sym typeface="Wingdings" panose="05000000000000000000" pitchFamily="2" charset="2"/>
              </a:rPr>
              <a:t> : )</a:t>
            </a:r>
            <a:r>
              <a:rPr lang="en-US" dirty="0"/>
              <a:t> </a:t>
            </a:r>
          </a:p>
          <a:p>
            <a:r>
              <a:rPr lang="en-US" dirty="0"/>
              <a:t>Find the most frequent word in a sentence</a:t>
            </a:r>
          </a:p>
          <a:p>
            <a:pPr lvl="1"/>
            <a:r>
              <a:rPr lang="en-US" dirty="0"/>
              <a:t>If more than 1 word has same frequency return the lexicographically smaller one.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A4E3D-D25E-39BB-AC3F-07C40080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776652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61EBE-94BF-8DC3-7A70-13327350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Evaluating Prefix/Postfix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4C8D-ACC2-700D-8DC8-D1E3DF891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last week </a:t>
            </a:r>
          </a:p>
          <a:p>
            <a:pPr lvl="1"/>
            <a:r>
              <a:rPr lang="en-US" dirty="0"/>
              <a:t>Operator</a:t>
            </a:r>
          </a:p>
          <a:p>
            <a:pPr lvl="1"/>
            <a:r>
              <a:rPr lang="en-US" dirty="0"/>
              <a:t>Operand</a:t>
            </a:r>
          </a:p>
          <a:p>
            <a:pPr lvl="1"/>
            <a:r>
              <a:rPr lang="en-US" dirty="0"/>
              <a:t>Stack</a:t>
            </a:r>
          </a:p>
          <a:p>
            <a:pPr lvl="1"/>
            <a:r>
              <a:rPr lang="en-US" dirty="0"/>
              <a:t>Queue</a:t>
            </a:r>
          </a:p>
          <a:p>
            <a:r>
              <a:rPr lang="en-US" dirty="0"/>
              <a:t>Evaluating Prefix/Postfix</a:t>
            </a:r>
          </a:p>
          <a:p>
            <a:pPr lvl="1"/>
            <a:r>
              <a:rPr lang="en-US" dirty="0"/>
              <a:t>&lt;3 questions each&gt;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19EF1-EA0B-AAC3-0AF3-6004E614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98092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59E1-3328-9C22-3B68-54F3969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63C0C-0E13-B399-DFBF-3C1B931E6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Precedence ( highest priority first)</a:t>
            </a:r>
          </a:p>
          <a:p>
            <a:pPr lvl="1"/>
            <a:r>
              <a:rPr lang="en-US" dirty="0"/>
              <a:t>()</a:t>
            </a:r>
          </a:p>
          <a:p>
            <a:pPr lvl="1"/>
            <a:r>
              <a:rPr lang="en-US" dirty="0"/>
              <a:t>^</a:t>
            </a:r>
          </a:p>
          <a:p>
            <a:pPr lvl="1"/>
            <a:r>
              <a:rPr lang="en-US" dirty="0"/>
              <a:t>/ * </a:t>
            </a:r>
          </a:p>
          <a:p>
            <a:pPr lvl="1"/>
            <a:r>
              <a:rPr lang="en-US" dirty="0"/>
              <a:t>- +</a:t>
            </a:r>
          </a:p>
          <a:p>
            <a:r>
              <a:rPr lang="en-US" dirty="0"/>
              <a:t>Associativity</a:t>
            </a:r>
          </a:p>
          <a:p>
            <a:pPr lvl="1"/>
            <a:r>
              <a:rPr lang="en-US" dirty="0"/>
              <a:t>Right to left : ^ </a:t>
            </a:r>
          </a:p>
          <a:p>
            <a:pPr lvl="1"/>
            <a:r>
              <a:rPr lang="en-US" dirty="0"/>
              <a:t>Left to right : + , - , * , /</a:t>
            </a:r>
          </a:p>
          <a:p>
            <a:r>
              <a:rPr lang="en-US" dirty="0"/>
              <a:t>Notes </a:t>
            </a:r>
          </a:p>
          <a:p>
            <a:pPr lvl="1"/>
            <a:r>
              <a:rPr lang="en-US" dirty="0"/>
              <a:t>() not categorized as associative, they represent grouping mechanism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97326-75CB-1EC7-7EDC-E27BCF23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786572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06A23-6060-2190-0369-68E869C5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35DB-2FC0-BEB4-4F1A-943AC9E3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EA6B0-A3AC-84B7-F071-7B7A8C5BA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</a:t>
            </a:r>
          </a:p>
          <a:p>
            <a:pPr lvl="1"/>
            <a:r>
              <a:rPr lang="en-US" dirty="0"/>
              <a:t>10 + 20 / 2 * 3 – 5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 10 +((20 / 2) * 3)-5   // added parenthesis for denoting precedence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 10 + (10 * 3 ) -5 // interior most precedence first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10 + 30 - 5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  </a:t>
            </a:r>
            <a:r>
              <a:rPr lang="en-US" b="1" dirty="0">
                <a:sym typeface="Wingdings" panose="05000000000000000000" pitchFamily="2" charset="2"/>
              </a:rPr>
              <a:t>35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80B3E-D3F4-B6F0-D0A1-8630AB30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1561952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B0D3-9A93-3387-68DE-0B08CE7B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 </a:t>
            </a:r>
            <a:r>
              <a:rPr lang="en-US" sz="2000" dirty="0"/>
              <a:t>(lets evaluate)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DA9E-1EE2-4F6F-68A9-7032500D0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 + 3 * 4 ^2  </a:t>
            </a:r>
          </a:p>
          <a:p>
            <a:r>
              <a:rPr lang="en-US" dirty="0">
                <a:sym typeface="Wingdings" panose="05000000000000000000" pitchFamily="2" charset="2"/>
              </a:rPr>
              <a:t>2 ^ 3 ^ 2 </a:t>
            </a:r>
          </a:p>
          <a:p>
            <a:r>
              <a:rPr lang="en-US" dirty="0">
                <a:sym typeface="Wingdings" panose="05000000000000000000" pitchFamily="2" charset="2"/>
              </a:rPr>
              <a:t>100 / 2 * 5 ^ 2 ^ 1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B0676-9EC8-6524-C686-59ECD7A1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963171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BB090-BF7B-301A-B062-E97BFE4C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82A2-AB54-D133-9974-37E13F35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 </a:t>
            </a:r>
            <a:r>
              <a:rPr lang="en-US" sz="2000" dirty="0"/>
              <a:t>(answers)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AC9B0-991C-C5D4-CE00-383566D4A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2 + 3 * 4 ^2 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2 + 3 * 16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2 + 48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ym typeface="Wingdings" panose="05000000000000000000" pitchFamily="2" charset="2"/>
              </a:rPr>
              <a:t>50</a:t>
            </a:r>
          </a:p>
          <a:p>
            <a:r>
              <a:rPr lang="en-US" dirty="0">
                <a:sym typeface="Wingdings" panose="05000000000000000000" pitchFamily="2" charset="2"/>
              </a:rPr>
              <a:t>2 ^ 3 ^ 2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2 ^ 9 // ^ is evaluated from right to left , so 3 ^ 2 goes first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ym typeface="Wingdings" panose="05000000000000000000" pitchFamily="2" charset="2"/>
              </a:rPr>
              <a:t>512</a:t>
            </a:r>
          </a:p>
          <a:p>
            <a:pPr lvl="1"/>
            <a:r>
              <a:rPr lang="en-US" strike="sngStrike" dirty="0">
                <a:sym typeface="Wingdings" panose="05000000000000000000" pitchFamily="2" charset="2"/>
              </a:rPr>
              <a:t>Not 64</a:t>
            </a:r>
          </a:p>
          <a:p>
            <a:r>
              <a:rPr lang="en-US" dirty="0">
                <a:sym typeface="Wingdings" panose="05000000000000000000" pitchFamily="2" charset="2"/>
              </a:rPr>
              <a:t>100 / 2 * 5 ^ 2 ^ 1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100 / 2 * 25 // Again 2 ^ 1 goes first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50 x 25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b="1" dirty="0">
                <a:sym typeface="Wingdings" panose="05000000000000000000" pitchFamily="2" charset="2"/>
              </a:rPr>
              <a:t>1250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3E5C7-992D-9036-31F0-DE97F948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33644821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93FB-B92E-805D-C84A-070CBB1B0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Prefix/Postfix </a:t>
            </a:r>
            <a:r>
              <a:rPr lang="en-US" sz="2000" dirty="0"/>
              <a:t>(examples)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DC8AB-5242-ADA9-A503-4ECC2166F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 * C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Prefix   : </a:t>
            </a:r>
            <a:r>
              <a:rPr lang="en-US" b="1" dirty="0">
                <a:sym typeface="Wingdings" panose="05000000000000000000" pitchFamily="2" charset="2"/>
              </a:rPr>
              <a:t>* B C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Postfix : </a:t>
            </a:r>
            <a:r>
              <a:rPr lang="en-US" b="1" dirty="0">
                <a:sym typeface="Wingdings" panose="05000000000000000000" pitchFamily="2" charset="2"/>
              </a:rPr>
              <a:t>B C *</a:t>
            </a:r>
            <a:endParaRPr lang="en-US" b="1" dirty="0"/>
          </a:p>
          <a:p>
            <a:r>
              <a:rPr lang="en-US" dirty="0"/>
              <a:t>A + B * C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Prefix   : +</a:t>
            </a:r>
            <a:r>
              <a:rPr lang="en-US" b="1" dirty="0">
                <a:sym typeface="Wingdings" panose="05000000000000000000" pitchFamily="2" charset="2"/>
              </a:rPr>
              <a:t>A</a:t>
            </a:r>
            <a:r>
              <a:rPr lang="en-US" b="1" dirty="0"/>
              <a:t>*BC</a:t>
            </a:r>
          </a:p>
          <a:p>
            <a:pPr lvl="1"/>
            <a:r>
              <a:rPr lang="en-US" dirty="0"/>
              <a:t>Postfix :  </a:t>
            </a:r>
            <a:r>
              <a:rPr lang="en-US" b="1" dirty="0"/>
              <a:t>ABC*+</a:t>
            </a:r>
          </a:p>
          <a:p>
            <a:r>
              <a:rPr lang="en-US" dirty="0"/>
              <a:t>(5 + 6) * 3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Prefix   : </a:t>
            </a:r>
            <a:r>
              <a:rPr lang="en-US" b="1" dirty="0">
                <a:sym typeface="Wingdings" panose="05000000000000000000" pitchFamily="2" charset="2"/>
              </a:rPr>
              <a:t>* + 5 6 3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Postfix : </a:t>
            </a:r>
            <a:r>
              <a:rPr lang="en-US" b="1" dirty="0">
                <a:sym typeface="Wingdings" panose="05000000000000000000" pitchFamily="2" charset="2"/>
              </a:rPr>
              <a:t>5 6 + 3 *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79E42-5809-59FE-951E-7B455BB7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702323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E059-48D8-260A-BA41-3E35FB9D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F769B-CC51-FA9F-B19F-9F5AA32C8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How to convert! </a:t>
            </a:r>
          </a:p>
          <a:p>
            <a:pPr lvl="1"/>
            <a:r>
              <a:rPr lang="pt-BR" dirty="0"/>
              <a:t>Convert the highest precedence/priority first </a:t>
            </a:r>
          </a:p>
          <a:p>
            <a:pPr lvl="1"/>
            <a:r>
              <a:rPr lang="pt-BR" dirty="0"/>
              <a:t>( do paranthesize for mental ease) </a:t>
            </a:r>
          </a:p>
          <a:p>
            <a:r>
              <a:rPr lang="pt-BR" dirty="0"/>
              <a:t>(a + b) / (c – d ) + e </a:t>
            </a:r>
          </a:p>
          <a:p>
            <a:r>
              <a:rPr lang="pt-BR" dirty="0"/>
              <a:t>x + y  / (g * h – k)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A02D68-CC18-2522-08A7-07B93CCBF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11629761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564D-B638-9D95-941D-AD014678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6BDC7-1CB3-8A4F-F288-9B357273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4EB7-0DC5-B135-34E7-7DD2D49E8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How to convert! </a:t>
            </a:r>
          </a:p>
          <a:p>
            <a:pPr lvl="1"/>
            <a:r>
              <a:rPr lang="pt-BR" dirty="0"/>
              <a:t>Convert the highest priority first </a:t>
            </a:r>
          </a:p>
          <a:p>
            <a:pPr lvl="1"/>
            <a:r>
              <a:rPr lang="pt-BR" dirty="0"/>
              <a:t>( and paranthesize for mental ease) </a:t>
            </a:r>
          </a:p>
          <a:p>
            <a:r>
              <a:rPr lang="pt-BR" dirty="0"/>
              <a:t>(a + b) / (c – d ) + e </a:t>
            </a:r>
          </a:p>
          <a:p>
            <a:pPr lvl="1"/>
            <a:r>
              <a:rPr lang="pt-BR" dirty="0"/>
              <a:t>Prefix : </a:t>
            </a:r>
            <a:r>
              <a:rPr lang="pt-BR" b="1" dirty="0"/>
              <a:t>+ / + a b – c d e</a:t>
            </a:r>
          </a:p>
          <a:p>
            <a:pPr lvl="1"/>
            <a:r>
              <a:rPr lang="pt-BR" dirty="0"/>
              <a:t>Postfix : </a:t>
            </a:r>
            <a:r>
              <a:rPr lang="pt-BR" b="1" dirty="0"/>
              <a:t>a b + c d - / e +</a:t>
            </a:r>
          </a:p>
          <a:p>
            <a:r>
              <a:rPr lang="pt-BR" dirty="0"/>
              <a:t>x + y  / (g * h – k)</a:t>
            </a:r>
          </a:p>
          <a:p>
            <a:pPr lvl="1"/>
            <a:r>
              <a:rPr lang="pt-BR" dirty="0"/>
              <a:t>Prefix : </a:t>
            </a:r>
            <a:r>
              <a:rPr lang="pt-BR" b="1" dirty="0"/>
              <a:t>+ x / y - * g h k</a:t>
            </a:r>
          </a:p>
          <a:p>
            <a:pPr lvl="1"/>
            <a:r>
              <a:rPr lang="pt-BR" dirty="0"/>
              <a:t>Postfix : </a:t>
            </a:r>
            <a:r>
              <a:rPr lang="pt-BR" b="1" dirty="0"/>
              <a:t>x y g h * k - / +</a:t>
            </a:r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253A3-2553-8CEE-4FC1-99E0B3F04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1606561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5F4E-FDCD-0164-1335-A362235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Prefix and 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E457E-39D3-7BBE-282F-FB8240E44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+ b - c * d + e ^ f	</a:t>
            </a:r>
          </a:p>
          <a:p>
            <a:r>
              <a:rPr lang="pt-BR" dirty="0"/>
              <a:t>(a + b) * c - (d - e) * (f + g)	</a:t>
            </a:r>
          </a:p>
          <a:p>
            <a:r>
              <a:rPr lang="pt-BR" dirty="0"/>
              <a:t>((a + b) * (c + d) / (e - f)) + g	</a:t>
            </a:r>
          </a:p>
          <a:p>
            <a:r>
              <a:rPr lang="pt-BR" dirty="0"/>
              <a:t>a * (b + c) / (d - e) </a:t>
            </a:r>
          </a:p>
          <a:p>
            <a:r>
              <a:rPr lang="pt-BR" dirty="0"/>
              <a:t>a - b / (c * d ^ e)	 </a:t>
            </a:r>
          </a:p>
          <a:p>
            <a:r>
              <a:rPr lang="pt-BR" dirty="0"/>
              <a:t>(a + b) * (c + d) - 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1B0BD-44A6-01E4-B569-E440DFAA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9807515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08BA-925D-B446-6102-4DD2DE59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CC50-372A-1FA3-A515-CD0B5B7E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Prefix and Postfix </a:t>
            </a:r>
            <a:r>
              <a:rPr lang="en-US" sz="2000" dirty="0"/>
              <a:t>(answers)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FE5F1B-9892-BDB6-3128-731DCED46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198065"/>
              </p:ext>
            </p:extLst>
          </p:nvPr>
        </p:nvGraphicFramePr>
        <p:xfrm>
          <a:off x="838200" y="1825625"/>
          <a:ext cx="10515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8363794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369848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2950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91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+ b - c * d + e ^ f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 - + a b * c d ^ e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+ c d * - e f ^ 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0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(a + b) * c - (d - e) * (f + g)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- * + a b c * - d e + f 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+ c * d e - f g + * 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68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((a + b) * (c + d) / (e - f)) + g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 / * + a b + c d - e f 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+ c d + * e f - / g 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36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* (b + c) / (d - e)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/ * a + b c - d 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c + * d e - 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7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- b / (c * d ^ 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- a / b * c ^ d 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c d e ^ * / 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753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(a + b) * (c + d) - 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- * + a b + c d 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+ c d + * e 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2593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B4F96-5862-C493-CA94-3E72FA84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14109544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1F6A-4CC1-7603-9C25-803B7E6F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 (for bits/bytes)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78BBB-41E3-F605-A10E-B187C7B10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Bitwise </a:t>
            </a:r>
          </a:p>
          <a:p>
            <a:pPr lvl="1"/>
            <a:r>
              <a:rPr lang="en-US" dirty="0"/>
              <a:t>NOT, AND,  XOR , OR</a:t>
            </a:r>
          </a:p>
          <a:p>
            <a:r>
              <a:rPr lang="en-US" dirty="0"/>
              <a:t>Shift</a:t>
            </a:r>
          </a:p>
          <a:p>
            <a:pPr lvl="1"/>
            <a:r>
              <a:rPr lang="en-US" dirty="0"/>
              <a:t>Linear : LSHIFT, RSHIFT,</a:t>
            </a:r>
          </a:p>
          <a:p>
            <a:pPr lvl="1"/>
            <a:r>
              <a:rPr lang="en-US" dirty="0"/>
              <a:t>Circular : RCIRC, LCIRC</a:t>
            </a:r>
          </a:p>
          <a:p>
            <a:r>
              <a:rPr lang="en-US" dirty="0"/>
              <a:t>Precedence</a:t>
            </a:r>
          </a:p>
          <a:p>
            <a:pPr lvl="1"/>
            <a:r>
              <a:rPr lang="en-US" dirty="0"/>
              <a:t>NOT, </a:t>
            </a:r>
          </a:p>
          <a:p>
            <a:pPr lvl="1"/>
            <a:r>
              <a:rPr lang="en-US" dirty="0"/>
              <a:t>SHIFT, CIRC, </a:t>
            </a:r>
          </a:p>
          <a:p>
            <a:pPr lvl="1"/>
            <a:r>
              <a:rPr lang="en-US" dirty="0"/>
              <a:t>AND , </a:t>
            </a:r>
          </a:p>
          <a:p>
            <a:pPr lvl="1"/>
            <a:r>
              <a:rPr lang="en-US" dirty="0"/>
              <a:t>XOR,</a:t>
            </a:r>
          </a:p>
          <a:p>
            <a:pPr lvl="1"/>
            <a:r>
              <a:rPr lang="en-US" dirty="0"/>
              <a:t>OR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11172-56A8-1F96-728C-10483E87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6541120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FA9C-7881-D44C-FBD7-3646B071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8E6D5F-744D-F45D-7743-881CDF012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131913"/>
              </p:ext>
            </p:extLst>
          </p:nvPr>
        </p:nvGraphicFramePr>
        <p:xfrm>
          <a:off x="950310" y="3429000"/>
          <a:ext cx="8784895" cy="18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979">
                  <a:extLst>
                    <a:ext uri="{9D8B030D-6E8A-4147-A177-3AD203B41FA5}">
                      <a16:colId xmlns:a16="http://schemas.microsoft.com/office/drawing/2014/main" val="4184432793"/>
                    </a:ext>
                  </a:extLst>
                </a:gridCol>
                <a:gridCol w="1756979">
                  <a:extLst>
                    <a:ext uri="{9D8B030D-6E8A-4147-A177-3AD203B41FA5}">
                      <a16:colId xmlns:a16="http://schemas.microsoft.com/office/drawing/2014/main" val="1084674688"/>
                    </a:ext>
                  </a:extLst>
                </a:gridCol>
                <a:gridCol w="1756979">
                  <a:extLst>
                    <a:ext uri="{9D8B030D-6E8A-4147-A177-3AD203B41FA5}">
                      <a16:colId xmlns:a16="http://schemas.microsoft.com/office/drawing/2014/main" val="2121035788"/>
                    </a:ext>
                  </a:extLst>
                </a:gridCol>
                <a:gridCol w="1756979">
                  <a:extLst>
                    <a:ext uri="{9D8B030D-6E8A-4147-A177-3AD203B41FA5}">
                      <a16:colId xmlns:a16="http://schemas.microsoft.com/office/drawing/2014/main" val="1496895670"/>
                    </a:ext>
                  </a:extLst>
                </a:gridCol>
                <a:gridCol w="1756979">
                  <a:extLst>
                    <a:ext uri="{9D8B030D-6E8A-4147-A177-3AD203B41FA5}">
                      <a16:colId xmlns:a16="http://schemas.microsoft.com/office/drawing/2014/main" val="4230776581"/>
                    </a:ext>
                  </a:extLst>
                </a:gridCol>
              </a:tblGrid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AND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OR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XOR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535812"/>
                  </a:ext>
                </a:extLst>
              </a:tr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256894"/>
                  </a:ext>
                </a:extLst>
              </a:tr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711834"/>
                  </a:ext>
                </a:extLst>
              </a:tr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581744"/>
                  </a:ext>
                </a:extLst>
              </a:tr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5282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5928E5-3976-66FD-A576-965DC0DB5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788260"/>
              </p:ext>
            </p:extLst>
          </p:nvPr>
        </p:nvGraphicFramePr>
        <p:xfrm>
          <a:off x="950310" y="1839017"/>
          <a:ext cx="36199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969">
                  <a:extLst>
                    <a:ext uri="{9D8B030D-6E8A-4147-A177-3AD203B41FA5}">
                      <a16:colId xmlns:a16="http://schemas.microsoft.com/office/drawing/2014/main" val="923450553"/>
                    </a:ext>
                  </a:extLst>
                </a:gridCol>
                <a:gridCol w="1809969">
                  <a:extLst>
                    <a:ext uri="{9D8B030D-6E8A-4147-A177-3AD203B41FA5}">
                      <a16:colId xmlns:a16="http://schemas.microsoft.com/office/drawing/2014/main" val="301574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86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46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500155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ED0B632-E3BD-4605-A56F-29BD0298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13089335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B2F3-3653-AB0D-1E39-97D45892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10AC6-5722-EADC-4BF4-254281F6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F6501D-1166-2DB8-5AE6-864FFE39E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306533"/>
              </p:ext>
            </p:extLst>
          </p:nvPr>
        </p:nvGraphicFramePr>
        <p:xfrm>
          <a:off x="1117600" y="400129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5652185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530049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464971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510856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69889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(LSHIFT-2 X)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(RSHIFT-3 X)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(LCIRC-3 X)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(RCIRC-1 X)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46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01101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00001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01011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87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421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1110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0111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0111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366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1011011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1101100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0001011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1011101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1101101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033125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E2945A-A5F3-713F-EBD6-F32D5F84E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shift , add 0s as padding ( either left or right)</a:t>
            </a:r>
          </a:p>
          <a:p>
            <a:pPr lvl="1"/>
            <a:r>
              <a:rPr lang="en-US" dirty="0"/>
              <a:t>Shifting by word size (or more) would result in all 0s</a:t>
            </a:r>
          </a:p>
          <a:p>
            <a:r>
              <a:rPr lang="en-US" dirty="0"/>
              <a:t>Circular shift just rolls over the bits ( as per direction)</a:t>
            </a:r>
          </a:p>
          <a:p>
            <a:pPr lvl="1"/>
            <a:r>
              <a:rPr lang="en-US" dirty="0"/>
              <a:t>Shifting by the number of word size , same bit sequence would be produced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4F85C7-8DDD-6F3E-CA30-012F6CAB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3866530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AB4E-F19A-BB7D-F60A-959E8419E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</a:t>
            </a:r>
            <a:r>
              <a:rPr lang="en-US" sz="2000" dirty="0"/>
              <a:t>(evaluate)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85BE8-1CBF-4C83-9A22-9C383BD5E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0110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1011 </a:t>
            </a:r>
          </a:p>
          <a:p>
            <a:r>
              <a:rPr lang="en-US" dirty="0"/>
              <a:t>1100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 0101</a:t>
            </a:r>
          </a:p>
          <a:p>
            <a:r>
              <a:rPr lang="en-US" dirty="0"/>
              <a:t>1010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XOR</a:t>
            </a:r>
            <a:r>
              <a:rPr lang="en-US" dirty="0"/>
              <a:t> 1111</a:t>
            </a:r>
          </a:p>
          <a:p>
            <a:r>
              <a:rPr lang="en-US" dirty="0"/>
              <a:t> 1010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1100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 0001</a:t>
            </a:r>
          </a:p>
          <a:p>
            <a:r>
              <a:rPr lang="en-US" dirty="0"/>
              <a:t> 0011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1010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0110</a:t>
            </a:r>
          </a:p>
          <a:p>
            <a:r>
              <a:rPr lang="en-US" dirty="0"/>
              <a:t>(1100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XOR</a:t>
            </a:r>
            <a:r>
              <a:rPr lang="en-US" dirty="0"/>
              <a:t> 1010)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039F9-4927-C643-FB68-EC0CF26E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29723854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F13F6-DCD3-F70A-99B5-3DCB1951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7715-F916-4B95-F4FF-7837E466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</a:t>
            </a:r>
            <a:r>
              <a:rPr lang="en-US" sz="2000" dirty="0"/>
              <a:t>(evaluate)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10971-A49D-885C-875C-44C95655F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0110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1011 </a:t>
            </a:r>
          </a:p>
          <a:p>
            <a:r>
              <a:rPr lang="en-US" dirty="0"/>
              <a:t>1100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 0101</a:t>
            </a:r>
          </a:p>
          <a:p>
            <a:r>
              <a:rPr lang="en-US" dirty="0"/>
              <a:t>1010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XOR</a:t>
            </a:r>
            <a:r>
              <a:rPr lang="en-US" dirty="0"/>
              <a:t> 1111</a:t>
            </a:r>
          </a:p>
          <a:p>
            <a:r>
              <a:rPr lang="en-US" dirty="0"/>
              <a:t> 1010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1100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 0001</a:t>
            </a:r>
          </a:p>
          <a:p>
            <a:r>
              <a:rPr lang="en-US" dirty="0"/>
              <a:t> 0011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1010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0110</a:t>
            </a:r>
          </a:p>
          <a:p>
            <a:r>
              <a:rPr lang="en-US" dirty="0"/>
              <a:t>(1100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XOR</a:t>
            </a:r>
            <a:r>
              <a:rPr lang="en-US" dirty="0"/>
              <a:t> 1010)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9262-8A0F-6858-976A-18327617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10339899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676B-DF2F-0D75-1F2F-D5706E969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: Shift </a:t>
            </a:r>
            <a:r>
              <a:rPr lang="en-US" sz="2000" dirty="0"/>
              <a:t>(evaluate)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903CD-CB6C-2FEA-F395-0E130814E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LSHIFT-1</a:t>
            </a:r>
            <a:r>
              <a:rPr lang="en-US" dirty="0"/>
              <a:t> 10101)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RSHIFT-2</a:t>
            </a:r>
            <a:r>
              <a:rPr lang="en-US" dirty="0"/>
              <a:t> 11010)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RCIRC-2</a:t>
            </a:r>
            <a:r>
              <a:rPr lang="en-US" dirty="0"/>
              <a:t> 01111)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LSHIFT-3</a:t>
            </a:r>
            <a:r>
              <a:rPr lang="en-US" dirty="0"/>
              <a:t> 10010)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RSHIFT-1</a:t>
            </a:r>
            <a:r>
              <a:rPr lang="en-US" dirty="0"/>
              <a:t> 11100)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XOR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LCIRC-2</a:t>
            </a:r>
            <a:r>
              <a:rPr lang="en-US" dirty="0"/>
              <a:t> 01011)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00110)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RCIRC-1</a:t>
            </a:r>
            <a:r>
              <a:rPr lang="en-US" dirty="0"/>
              <a:t> 10101)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RSHIFT-3</a:t>
            </a:r>
            <a:r>
              <a:rPr lang="en-US" dirty="0"/>
              <a:t> 11101)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LCIRC-3</a:t>
            </a:r>
            <a:r>
              <a:rPr lang="en-US" dirty="0"/>
              <a:t> 11001)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RSHIFT-2</a:t>
            </a:r>
            <a:r>
              <a:rPr lang="en-US" dirty="0"/>
              <a:t> 10110)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RCIRC-4</a:t>
            </a:r>
            <a:r>
              <a:rPr lang="en-US" dirty="0"/>
              <a:t> 10011)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LSHIFT-1</a:t>
            </a:r>
            <a:r>
              <a:rPr lang="en-US" dirty="0"/>
              <a:t> 01101)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RSHIFT-3</a:t>
            </a:r>
            <a:r>
              <a:rPr lang="en-US" dirty="0"/>
              <a:t> 11110)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LCIRC-1</a:t>
            </a:r>
            <a:r>
              <a:rPr lang="en-US" dirty="0"/>
              <a:t> 00111)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01010)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01101)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RCIRC-3</a:t>
            </a:r>
            <a:r>
              <a:rPr lang="en-US" dirty="0"/>
              <a:t> 10110)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RSHIFT-1</a:t>
            </a:r>
            <a:r>
              <a:rPr lang="en-US" dirty="0"/>
              <a:t> 11011)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1984-CC99-1FD5-74F2-4C5D7F94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8557169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B2FC-C20D-29F2-EA67-7864CD43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Answsers</a:t>
            </a:r>
            <a:r>
              <a:rPr lang="en-US" dirty="0"/>
              <a:t> 1..3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C4EEE-6173-2D24-0658-2C120397B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LSHIFT-1</a:t>
            </a:r>
            <a:r>
              <a:rPr lang="en-US" dirty="0"/>
              <a:t> 10101)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RSHIFT-2</a:t>
            </a:r>
            <a:r>
              <a:rPr lang="en-US" dirty="0"/>
              <a:t> 11010)</a:t>
            </a:r>
          </a:p>
          <a:p>
            <a:pPr lvl="1"/>
            <a:r>
              <a:rPr lang="en-US" dirty="0"/>
              <a:t>→ 01010 AND 00110 </a:t>
            </a:r>
          </a:p>
          <a:p>
            <a:pPr lvl="1"/>
            <a:r>
              <a:rPr lang="en-US" dirty="0"/>
              <a:t>→ </a:t>
            </a:r>
            <a:r>
              <a:rPr lang="en-US" b="1" dirty="0"/>
              <a:t>00010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RCIRC-2</a:t>
            </a:r>
            <a:r>
              <a:rPr lang="en-US" dirty="0"/>
              <a:t> 01111)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LSHIFT-3</a:t>
            </a:r>
            <a:r>
              <a:rPr lang="en-US" dirty="0"/>
              <a:t> 10010)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→ 11011 OR 10000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→ </a:t>
            </a:r>
            <a:r>
              <a:rPr lang="en-US" b="1" dirty="0"/>
              <a:t>11011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RSHIFT-1</a:t>
            </a:r>
            <a:r>
              <a:rPr lang="en-US" dirty="0"/>
              <a:t> 11100)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XOR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LCIRC-2</a:t>
            </a:r>
            <a:r>
              <a:rPr lang="en-US" dirty="0"/>
              <a:t> 01011)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→ 01110 XOR 01101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→ </a:t>
            </a:r>
            <a:r>
              <a:rPr lang="en-US" b="1" dirty="0"/>
              <a:t>00011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74131-785E-2A52-4D45-ED3F02C6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8605638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BD7F-A798-35AE-793C-868D060F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4..6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7ECD0-8B39-0692-C574-6ABB3CEA7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00110)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RCIRC-1</a:t>
            </a:r>
            <a:r>
              <a:rPr lang="en-US" dirty="0"/>
              <a:t> 10101)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RSHIFT-3</a:t>
            </a:r>
            <a:r>
              <a:rPr lang="en-US" dirty="0"/>
              <a:t> 11101)</a:t>
            </a:r>
          </a:p>
          <a:p>
            <a:pPr lvl="1"/>
            <a:r>
              <a:rPr lang="en-US" dirty="0"/>
              <a:t>11000 OR 11010 AND 00011 </a:t>
            </a:r>
            <a:r>
              <a:rPr lang="en-US" i="1" dirty="0"/>
              <a:t>//parenthesis evaluated first</a:t>
            </a:r>
          </a:p>
          <a:p>
            <a:pPr lvl="1"/>
            <a:r>
              <a:rPr lang="en-US" dirty="0"/>
              <a:t>11000 OR 00010 </a:t>
            </a:r>
            <a:r>
              <a:rPr lang="en-US" i="1" dirty="0"/>
              <a:t>// And has higher precedence so evaluated first</a:t>
            </a:r>
          </a:p>
          <a:p>
            <a:pPr lvl="1"/>
            <a:r>
              <a:rPr lang="en-US" b="1" dirty="0"/>
              <a:t>11010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LCIRC-3</a:t>
            </a:r>
            <a:r>
              <a:rPr lang="en-US" dirty="0"/>
              <a:t> 11001)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RSHIFT-2</a:t>
            </a:r>
            <a:r>
              <a:rPr lang="en-US" dirty="0"/>
              <a:t> 10110)</a:t>
            </a:r>
          </a:p>
          <a:p>
            <a:pPr lvl="1"/>
            <a:r>
              <a:rPr lang="en-US" dirty="0"/>
              <a:t>01110 AND (RSHIFT-2 10110)</a:t>
            </a:r>
          </a:p>
          <a:p>
            <a:pPr lvl="1"/>
            <a:r>
              <a:rPr lang="en-US" dirty="0"/>
              <a:t>01110 AND 00101</a:t>
            </a:r>
          </a:p>
          <a:p>
            <a:pPr lvl="1"/>
            <a:r>
              <a:rPr lang="en-US" b="1" dirty="0"/>
              <a:t>00100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RCIRC-4</a:t>
            </a:r>
            <a:r>
              <a:rPr lang="en-US" dirty="0"/>
              <a:t> 10011)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LSHIFT-1</a:t>
            </a:r>
            <a:r>
              <a:rPr lang="en-US" dirty="0"/>
              <a:t> 01101)</a:t>
            </a:r>
          </a:p>
          <a:p>
            <a:pPr lvl="1"/>
            <a:r>
              <a:rPr lang="en-US" dirty="0"/>
              <a:t>00111 OR 11010</a:t>
            </a:r>
          </a:p>
          <a:p>
            <a:pPr lvl="1"/>
            <a:r>
              <a:rPr lang="en-US" b="1" dirty="0"/>
              <a:t>11111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1B45D-8860-0D15-A406-C0C4369B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4275070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5B44-46CD-74DE-1EC2-6C3ABA92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7..8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A9FC4-3A4E-8667-749A-CA557659A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RSHIFT-3</a:t>
            </a:r>
            <a:r>
              <a:rPr lang="en-US" dirty="0"/>
              <a:t> 11110)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LCIRC-1</a:t>
            </a:r>
            <a:r>
              <a:rPr lang="en-US" dirty="0"/>
              <a:t> 00111)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01010)</a:t>
            </a:r>
          </a:p>
          <a:p>
            <a:pPr lvl="1"/>
            <a:r>
              <a:rPr lang="en-US" dirty="0"/>
              <a:t>00011 AND 01110 OR (01000)</a:t>
            </a:r>
          </a:p>
          <a:p>
            <a:pPr lvl="1"/>
            <a:r>
              <a:rPr lang="en-US" dirty="0"/>
              <a:t>00010 OR 01000</a:t>
            </a:r>
          </a:p>
          <a:p>
            <a:pPr lvl="1"/>
            <a:r>
              <a:rPr lang="en-US" b="1" dirty="0"/>
              <a:t>01010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01101)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RCIRC-3</a:t>
            </a:r>
            <a:r>
              <a:rPr lang="en-US" dirty="0"/>
              <a:t> 10110)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RSHIFT-1</a:t>
            </a:r>
            <a:r>
              <a:rPr lang="en-US" dirty="0"/>
              <a:t> 11011)</a:t>
            </a:r>
          </a:p>
          <a:p>
            <a:pPr lvl="1"/>
            <a:r>
              <a:rPr lang="en-US" dirty="0"/>
              <a:t>11010 OR 11010 AND 01101</a:t>
            </a:r>
          </a:p>
          <a:p>
            <a:pPr lvl="1"/>
            <a:r>
              <a:rPr lang="en-US" dirty="0"/>
              <a:t>11010 OR 01000</a:t>
            </a:r>
          </a:p>
          <a:p>
            <a:pPr lvl="1"/>
            <a:r>
              <a:rPr lang="en-US" b="1" dirty="0"/>
              <a:t>11010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BA331-E1C7-68C8-C5A0-75B2600E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29303469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72D7-0D7A-A4BC-D0BB-73DEB229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Q1.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21D368-6BAD-6E79-AA4D-81A97D91F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8414" y="1690688"/>
            <a:ext cx="4367986" cy="4220906"/>
          </a:xfrm>
        </p:spPr>
      </p:pic>
    </p:spTree>
    <p:extLst>
      <p:ext uri="{BB962C8B-B14F-4D97-AF65-F5344CB8AC3E}">
        <p14:creationId xmlns:p14="http://schemas.microsoft.com/office/powerpoint/2010/main" val="13660297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F38E-FE26-1480-0E2C-4C0A63BA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1228-AC4D-366F-3D99-F517F0A7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A1.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D49E56-D5D1-6578-D76A-29A85AAE6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490" y="1777399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 = 2 </a:t>
            </a:r>
          </a:p>
          <a:p>
            <a:pPr lvl="1"/>
            <a:r>
              <a:rPr lang="en-US" dirty="0"/>
              <a:t>num = 72</a:t>
            </a:r>
          </a:p>
          <a:p>
            <a:pPr lvl="1"/>
            <a:r>
              <a:rPr lang="en-US" dirty="0"/>
              <a:t>72 % 2 == 0 → yes</a:t>
            </a:r>
          </a:p>
          <a:p>
            <a:pPr lvl="2"/>
            <a:r>
              <a:rPr lang="en-US" dirty="0"/>
              <a:t>num = 36, count = 1</a:t>
            </a:r>
          </a:p>
          <a:p>
            <a:pPr lvl="1"/>
            <a:r>
              <a:rPr lang="en-US" dirty="0"/>
              <a:t>36 % 2 == 0 → yes</a:t>
            </a:r>
          </a:p>
          <a:p>
            <a:pPr lvl="2"/>
            <a:r>
              <a:rPr lang="en-US" dirty="0"/>
              <a:t>num = 18, count = 2</a:t>
            </a:r>
          </a:p>
          <a:p>
            <a:pPr lvl="1"/>
            <a:r>
              <a:rPr lang="en-US" dirty="0"/>
              <a:t>18 % 2 == 0 → yes</a:t>
            </a:r>
          </a:p>
          <a:p>
            <a:pPr lvl="2"/>
            <a:r>
              <a:rPr lang="en-US" dirty="0"/>
              <a:t>num = 9, count = 3</a:t>
            </a:r>
          </a:p>
          <a:p>
            <a:pPr lvl="1"/>
            <a:r>
              <a:rPr lang="en-US" dirty="0"/>
              <a:t>9 % 2 != 0 → stop</a:t>
            </a:r>
          </a:p>
          <a:p>
            <a:pPr lvl="1"/>
            <a:r>
              <a:rPr lang="en-US" dirty="0"/>
              <a:t>output → 2 3</a:t>
            </a:r>
          </a:p>
          <a:p>
            <a:r>
              <a:rPr lang="en-US" dirty="0"/>
              <a:t>I =3 </a:t>
            </a:r>
          </a:p>
          <a:p>
            <a:pPr lvl="1"/>
            <a:r>
              <a:rPr lang="en-US" dirty="0"/>
              <a:t>output → 3 2</a:t>
            </a:r>
          </a:p>
          <a:p>
            <a:r>
              <a:rPr lang="en-US" dirty="0"/>
              <a:t>I = 4 ,5, 6</a:t>
            </a:r>
          </a:p>
          <a:p>
            <a:pPr lvl="1"/>
            <a:r>
              <a:rPr lang="en-US" dirty="0"/>
              <a:t>num = 1  ( not divisible by any)</a:t>
            </a:r>
          </a:p>
          <a:p>
            <a:pPr lvl="1"/>
            <a:r>
              <a:rPr lang="en-US" dirty="0"/>
              <a:t>no output</a:t>
            </a:r>
          </a:p>
          <a:p>
            <a:pPr lvl="1"/>
            <a:endParaRPr lang="en-US" dirty="0"/>
          </a:p>
        </p:txBody>
      </p:sp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2E061E9E-3254-CD26-4930-FE889E90E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524" y="1777399"/>
            <a:ext cx="4367986" cy="422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992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9F7C-64A8-6BBF-B7BD-831EE935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Q2.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231ECF-E15A-8953-C520-04A6C2401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692" y="2030998"/>
            <a:ext cx="5260464" cy="3455402"/>
          </a:xfrm>
        </p:spPr>
      </p:pic>
    </p:spTree>
    <p:extLst>
      <p:ext uri="{BB962C8B-B14F-4D97-AF65-F5344CB8AC3E}">
        <p14:creationId xmlns:p14="http://schemas.microsoft.com/office/powerpoint/2010/main" val="2207318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CE9ED-6524-DC6A-EE50-03751C9CC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9C47-A844-8024-1E13-0A333A26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A2.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FB000280-F639-4E1F-E662-FF837C26B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906" y="1896991"/>
            <a:ext cx="5260464" cy="345540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5B5EE5-1473-E2E4-2C3B-DBE0CE8CD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loop sum : 35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29C28563-5938-2EFF-BD4F-B2A285E2A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7903152"/>
              </p:ext>
            </p:extLst>
          </p:nvPr>
        </p:nvGraphicFramePr>
        <p:xfrm>
          <a:off x="1103654" y="2385301"/>
          <a:ext cx="4766441" cy="352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610">
                  <a:extLst>
                    <a:ext uri="{9D8B030D-6E8A-4147-A177-3AD203B41FA5}">
                      <a16:colId xmlns:a16="http://schemas.microsoft.com/office/drawing/2014/main" val="2829498307"/>
                    </a:ext>
                  </a:extLst>
                </a:gridCol>
                <a:gridCol w="1470135">
                  <a:extLst>
                    <a:ext uri="{9D8B030D-6E8A-4147-A177-3AD203B41FA5}">
                      <a16:colId xmlns:a16="http://schemas.microsoft.com/office/drawing/2014/main" val="2236824969"/>
                    </a:ext>
                  </a:extLst>
                </a:gridCol>
                <a:gridCol w="913086">
                  <a:extLst>
                    <a:ext uri="{9D8B030D-6E8A-4147-A177-3AD203B41FA5}">
                      <a16:colId xmlns:a16="http://schemas.microsoft.com/office/drawing/2014/main" val="2084030851"/>
                    </a:ext>
                  </a:extLst>
                </a:gridCol>
                <a:gridCol w="1191610">
                  <a:extLst>
                    <a:ext uri="{9D8B030D-6E8A-4147-A177-3AD203B41FA5}">
                      <a16:colId xmlns:a16="http://schemas.microsoft.com/office/drawing/2014/main" val="1456409771"/>
                    </a:ext>
                  </a:extLst>
                </a:gridCol>
              </a:tblGrid>
              <a:tr h="587795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576104"/>
                  </a:ext>
                </a:extLst>
              </a:tr>
              <a:tr h="58779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388876"/>
                  </a:ext>
                </a:extLst>
              </a:tr>
              <a:tr h="58779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299306"/>
                  </a:ext>
                </a:extLst>
              </a:tr>
              <a:tr h="58779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1+2+3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53527"/>
                  </a:ext>
                </a:extLst>
              </a:tr>
              <a:tr h="58779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1+2+3+4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088139"/>
                  </a:ext>
                </a:extLst>
              </a:tr>
              <a:tr h="587795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1+2+3+4+5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596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5896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8296-BCFA-A4FD-8C84-FABA6725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Q3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B306B037-9002-F85B-D8E9-FE58D03DA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885" y="1887466"/>
            <a:ext cx="7176049" cy="36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81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85DBA-9053-3108-1DE3-ACD6F731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E529-7D4D-7996-8BA8-098B84D61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A3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988ECD-FF80-8C71-0489-3A4ED4542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</a:t>
            </a:r>
          </a:p>
          <a:p>
            <a:pPr lvl="1"/>
            <a:r>
              <a:rPr lang="en-US" dirty="0"/>
              <a:t>Divisible by 3</a:t>
            </a:r>
          </a:p>
          <a:p>
            <a:pPr lvl="1"/>
            <a:r>
              <a:rPr lang="en-US" dirty="0"/>
              <a:t>NOT divisible by 4</a:t>
            </a:r>
          </a:p>
          <a:p>
            <a:r>
              <a:rPr lang="en-US" dirty="0"/>
              <a:t>15 + 18 = 33</a:t>
            </a:r>
          </a:p>
          <a:p>
            <a:endParaRPr lang="en-US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AD4C6A4-CD8E-35B8-ED9E-5CDCED20B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858" y="2022694"/>
            <a:ext cx="6049308" cy="3047141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247C17-E352-B075-5C45-0F11A18FF056}"/>
              </a:ext>
            </a:extLst>
          </p:cNvPr>
          <p:cNvGraphicFramePr>
            <a:graphicFrameLocks noGrp="1"/>
          </p:cNvGraphicFramePr>
          <p:nvPr/>
        </p:nvGraphicFramePr>
        <p:xfrm>
          <a:off x="1086068" y="4001294"/>
          <a:ext cx="406925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314">
                  <a:extLst>
                    <a:ext uri="{9D8B030D-6E8A-4147-A177-3AD203B41FA5}">
                      <a16:colId xmlns:a16="http://schemas.microsoft.com/office/drawing/2014/main" val="2572898738"/>
                    </a:ext>
                  </a:extLst>
                </a:gridCol>
                <a:gridCol w="1017314">
                  <a:extLst>
                    <a:ext uri="{9D8B030D-6E8A-4147-A177-3AD203B41FA5}">
                      <a16:colId xmlns:a16="http://schemas.microsoft.com/office/drawing/2014/main" val="3945718912"/>
                    </a:ext>
                  </a:extLst>
                </a:gridCol>
                <a:gridCol w="899511">
                  <a:extLst>
                    <a:ext uri="{9D8B030D-6E8A-4147-A177-3AD203B41FA5}">
                      <a16:colId xmlns:a16="http://schemas.microsoft.com/office/drawing/2014/main" val="126023410"/>
                    </a:ext>
                  </a:extLst>
                </a:gridCol>
                <a:gridCol w="1135117">
                  <a:extLst>
                    <a:ext uri="{9D8B030D-6E8A-4147-A177-3AD203B41FA5}">
                      <a16:colId xmlns:a16="http://schemas.microsoft.com/office/drawing/2014/main" val="984156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Include?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893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26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857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088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2821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A494-CB44-23E6-6167-3B208E66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C93A-4A24-101D-372C-39870A97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1F3A36-ABAF-E830-D679-95EBF73FA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462" y="1867741"/>
            <a:ext cx="5128799" cy="3975081"/>
          </a:xfrm>
        </p:spPr>
      </p:pic>
    </p:spTree>
    <p:extLst>
      <p:ext uri="{BB962C8B-B14F-4D97-AF65-F5344CB8AC3E}">
        <p14:creationId xmlns:p14="http://schemas.microsoft.com/office/powerpoint/2010/main" val="4729689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0E92F-AF49-7D7B-050E-B52B454B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E6CA-C955-4AC7-D595-48528D43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B678F-4154-33E1-671D-916FE686C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860"/>
            <a:ext cx="10515600" cy="4351338"/>
          </a:xfrm>
        </p:spPr>
        <p:txBody>
          <a:bodyPr/>
          <a:lstStyle/>
          <a:p>
            <a:r>
              <a:rPr lang="en-US" dirty="0"/>
              <a:t>Output 4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A9B3C22B-857E-640E-DCC7-9205A3777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144" y="1749500"/>
            <a:ext cx="5128799" cy="3975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BEE48A-F157-1798-7EAE-1B4D145A2EED}"/>
              </a:ext>
            </a:extLst>
          </p:cNvPr>
          <p:cNvSpPr txBox="1"/>
          <p:nvPr/>
        </p:nvSpPr>
        <p:spPr>
          <a:xfrm>
            <a:off x="1062201" y="3545471"/>
            <a:ext cx="44951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Step	digit	even?	count</a:t>
            </a:r>
          </a:p>
          <a:p>
            <a:r>
              <a:rPr lang="en-US" dirty="0"/>
              <a:t>8	yes	1	1</a:t>
            </a:r>
          </a:p>
          <a:p>
            <a:r>
              <a:rPr lang="en-US" dirty="0"/>
              <a:t>6	yes	2	2</a:t>
            </a:r>
          </a:p>
          <a:p>
            <a:r>
              <a:rPr lang="en-US" dirty="0"/>
              <a:t>4	yes	3	3</a:t>
            </a:r>
          </a:p>
          <a:p>
            <a:r>
              <a:rPr lang="en-US" dirty="0"/>
              <a:t>2	yes	4	4</a:t>
            </a:r>
          </a:p>
        </p:txBody>
      </p:sp>
    </p:spTree>
    <p:extLst>
      <p:ext uri="{BB962C8B-B14F-4D97-AF65-F5344CB8AC3E}">
        <p14:creationId xmlns:p14="http://schemas.microsoft.com/office/powerpoint/2010/main" val="15263220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1662D-56D1-A890-3A90-E5804BAF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77DD-319B-B8CB-067B-809A8256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Q5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C0C0A05-4862-B677-A23E-72B3ADC71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142" y="1974397"/>
            <a:ext cx="5115858" cy="3761236"/>
          </a:xfrm>
        </p:spPr>
      </p:pic>
    </p:spTree>
    <p:extLst>
      <p:ext uri="{BB962C8B-B14F-4D97-AF65-F5344CB8AC3E}">
        <p14:creationId xmlns:p14="http://schemas.microsoft.com/office/powerpoint/2010/main" val="22373007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BD29-74FC-E5C5-470F-3990F5AA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9C6D-9E88-105F-5872-247603B4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4BE19-7D70-249A-4EC2-6DAB233B0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Divide every element by 3</a:t>
            </a:r>
          </a:p>
          <a:p>
            <a:r>
              <a:rPr lang="en-US" dirty="0"/>
              <a:t>Output 1,2,3,4,5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u="sng" dirty="0"/>
              <a:t>Index	Original		New</a:t>
            </a:r>
          </a:p>
          <a:p>
            <a:pPr marL="0" indent="0">
              <a:buNone/>
            </a:pPr>
            <a:r>
              <a:rPr lang="en-US" sz="2000" dirty="0"/>
              <a:t>0	3		1</a:t>
            </a:r>
          </a:p>
          <a:p>
            <a:pPr marL="0" indent="0">
              <a:buNone/>
            </a:pPr>
            <a:r>
              <a:rPr lang="en-US" sz="2000" dirty="0"/>
              <a:t>1	6		2</a:t>
            </a:r>
          </a:p>
          <a:p>
            <a:pPr marL="0" indent="0">
              <a:buNone/>
            </a:pPr>
            <a:r>
              <a:rPr lang="en-US" sz="2000" dirty="0"/>
              <a:t>2	9		3</a:t>
            </a:r>
          </a:p>
          <a:p>
            <a:pPr marL="0" indent="0">
              <a:buNone/>
            </a:pPr>
            <a:r>
              <a:rPr lang="en-US" sz="2000" dirty="0"/>
              <a:t>3	12		4</a:t>
            </a:r>
          </a:p>
          <a:p>
            <a:pPr marL="0" indent="0">
              <a:buNone/>
            </a:pPr>
            <a:r>
              <a:rPr lang="en-US" sz="2000" dirty="0"/>
              <a:t>4	15		5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F3508B81-D07D-9A2E-711A-108335FFF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391" y="1825625"/>
            <a:ext cx="5115858" cy="376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793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9EAE1-601F-A56C-2093-29AE055F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AB8B-D489-C7C1-2756-DEA23A56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Q6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2843AFF-E13C-780D-9B6E-B591AD0F0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549" y="1797789"/>
            <a:ext cx="4429201" cy="3822618"/>
          </a:xfrm>
        </p:spPr>
      </p:pic>
    </p:spTree>
    <p:extLst>
      <p:ext uri="{BB962C8B-B14F-4D97-AF65-F5344CB8AC3E}">
        <p14:creationId xmlns:p14="http://schemas.microsoft.com/office/powerpoint/2010/main" val="5695052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62DFB-A262-168F-C564-5942A84A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F048-1DC8-9E32-EFE2-3C47F27D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21129-1CA9-751A-B267-B30A3E1BF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pass swap</a:t>
            </a:r>
          </a:p>
          <a:p>
            <a:pPr lvl="1"/>
            <a:r>
              <a:rPr lang="en-US" dirty="0"/>
              <a:t>Output  : 1,4,2,5</a:t>
            </a:r>
          </a:p>
          <a:p>
            <a:pPr lvl="1"/>
            <a:r>
              <a:rPr lang="en-US" b="1" dirty="0"/>
              <a:t>Note : not sorted</a:t>
            </a:r>
          </a:p>
          <a:p>
            <a:r>
              <a:rPr lang="en-US" dirty="0"/>
              <a:t>i =0 </a:t>
            </a:r>
          </a:p>
          <a:p>
            <a:pPr lvl="1"/>
            <a:r>
              <a:rPr lang="en-US" dirty="0"/>
              <a:t>5 &gt; 1 → swap → [1, 5, 4, 2]</a:t>
            </a:r>
          </a:p>
          <a:p>
            <a:r>
              <a:rPr lang="en-US" dirty="0"/>
              <a:t>i =1 </a:t>
            </a:r>
          </a:p>
          <a:p>
            <a:pPr lvl="1"/>
            <a:r>
              <a:rPr lang="en-US" dirty="0"/>
              <a:t>5 &gt; 4 → swap → [1, 4, 5, 2]</a:t>
            </a:r>
          </a:p>
          <a:p>
            <a:r>
              <a:rPr lang="en-US" dirty="0"/>
              <a:t>i = 2</a:t>
            </a:r>
          </a:p>
          <a:p>
            <a:pPr lvl="1"/>
            <a:r>
              <a:rPr lang="en-US" dirty="0"/>
              <a:t>5 &gt; 2 → swap → [1, 4, 2, 5]</a:t>
            </a:r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8FF07BF5-47E4-D416-E383-A4DE39565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763" y="1794094"/>
            <a:ext cx="4429201" cy="38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053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41701-2B07-168C-3CE8-98E848A8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690C7-DB50-C566-790E-BA654227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Q7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5D88EB9-52CD-71F3-E0F2-B1C3E8100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579" y="1865448"/>
            <a:ext cx="6035752" cy="3857435"/>
          </a:xfrm>
        </p:spPr>
      </p:pic>
    </p:spTree>
    <p:extLst>
      <p:ext uri="{BB962C8B-B14F-4D97-AF65-F5344CB8AC3E}">
        <p14:creationId xmlns:p14="http://schemas.microsoft.com/office/powerpoint/2010/main" val="22343982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F3EA2-E343-1A42-A5E7-A2086BD5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3823-B7E6-19CD-407F-88073F85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6A43E-791C-1ED0-32A3-D7FAA0FD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 5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pt-BR" sz="2000" b="1" u="sng" dirty="0"/>
              <a:t>Step  i	result	action</a:t>
            </a:r>
          </a:p>
          <a:p>
            <a:pPr marL="457200" lvl="1" indent="0">
              <a:buNone/>
            </a:pPr>
            <a:r>
              <a:rPr lang="pt-BR" sz="2000" dirty="0"/>
              <a:t>1	   1	1	result &lt; 50 continue</a:t>
            </a:r>
          </a:p>
          <a:p>
            <a:pPr marL="457200" lvl="1" indent="0">
              <a:buNone/>
            </a:pPr>
            <a:r>
              <a:rPr lang="pt-BR" sz="2000" dirty="0"/>
              <a:t>2	   2	2	result &lt; 50 continue</a:t>
            </a:r>
          </a:p>
          <a:p>
            <a:pPr marL="457200" lvl="1" indent="0">
              <a:buNone/>
            </a:pPr>
            <a:r>
              <a:rPr lang="pt-BR" sz="2000" dirty="0"/>
              <a:t>3	   3	6	result &lt; 50 continue</a:t>
            </a:r>
          </a:p>
          <a:p>
            <a:pPr marL="457200" lvl="1" indent="0">
              <a:buNone/>
            </a:pPr>
            <a:r>
              <a:rPr lang="pt-BR" sz="2000" dirty="0"/>
              <a:t>4	   4	24	result &lt; 50 continue</a:t>
            </a:r>
          </a:p>
          <a:p>
            <a:pPr marL="457200" lvl="1" indent="0">
              <a:buNone/>
            </a:pPr>
            <a:r>
              <a:rPr lang="pt-BR" sz="2000" dirty="0"/>
              <a:t>5	   5	120	</a:t>
            </a:r>
            <a:r>
              <a:rPr lang="pt-BR" sz="2000" b="1" dirty="0"/>
              <a:t>result &gt; 50 break</a:t>
            </a:r>
          </a:p>
          <a:p>
            <a:pPr marL="457200" lvl="1" indent="0">
              <a:buNone/>
            </a:pPr>
            <a:endParaRPr lang="pt-BR" sz="2000" dirty="0"/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7A3A6A90-E3AB-179D-99A4-778692989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48" y="2072576"/>
            <a:ext cx="6035752" cy="38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3784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562B-2D71-9CBF-878B-99DEB217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Logic/Algebra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D7531D-AC28-E02E-BDE8-C3CB0B3830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inputs are    : 0,1 {only}</a:t>
                </a:r>
              </a:p>
              <a:p>
                <a:r>
                  <a:rPr lang="en-US" dirty="0"/>
                  <a:t>The outputs are : 0,1 {only}</a:t>
                </a:r>
              </a:p>
              <a:p>
                <a:r>
                  <a:rPr lang="en-US" dirty="0"/>
                  <a:t>Operators </a:t>
                </a:r>
              </a:p>
              <a:p>
                <a:pPr lvl="1"/>
                <a:r>
                  <a:rPr lang="en-US" dirty="0"/>
                  <a:t>()</a:t>
                </a:r>
              </a:p>
              <a:p>
                <a:pPr lvl="1"/>
                <a:r>
                  <a:rPr lang="en-US" dirty="0"/>
                  <a:t>NOT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</m:acc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/>
                  <a:t>AND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.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/>
                  <a:t>XOR 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XNOR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⊕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OR    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D7531D-AC28-E02E-BDE8-C3CB0B383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3148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EF463-8E69-9B0E-5E1E-A8A4361A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F375-B6F2-5C4F-0378-385B893A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 </a:t>
            </a:r>
            <a:r>
              <a:rPr lang="en-US" sz="2000" dirty="0"/>
              <a:t>( same as bitwise operations </a:t>
            </a:r>
            <a:r>
              <a:rPr lang="en-US" sz="2000" dirty="0">
                <a:sym typeface="Wingdings" panose="05000000000000000000" pitchFamily="2" charset="2"/>
              </a:rPr>
              <a:t> easy</a:t>
            </a:r>
            <a:r>
              <a:rPr lang="en-US" sz="2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85C206E2-06FC-C7B2-FAED-73E2B11D88E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83151470"/>
                  </p:ext>
                </p:extLst>
              </p:nvPr>
            </p:nvGraphicFramePr>
            <p:xfrm>
              <a:off x="950310" y="3429000"/>
              <a:ext cx="8784895" cy="1899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6979">
                      <a:extLst>
                        <a:ext uri="{9D8B030D-6E8A-4147-A177-3AD203B41FA5}">
                          <a16:colId xmlns:a16="http://schemas.microsoft.com/office/drawing/2014/main" val="4184432793"/>
                        </a:ext>
                      </a:extLst>
                    </a:gridCol>
                    <a:gridCol w="1756979">
                      <a:extLst>
                        <a:ext uri="{9D8B030D-6E8A-4147-A177-3AD203B41FA5}">
                          <a16:colId xmlns:a16="http://schemas.microsoft.com/office/drawing/2014/main" val="1084674688"/>
                        </a:ext>
                      </a:extLst>
                    </a:gridCol>
                    <a:gridCol w="1756979">
                      <a:extLst>
                        <a:ext uri="{9D8B030D-6E8A-4147-A177-3AD203B41FA5}">
                          <a16:colId xmlns:a16="http://schemas.microsoft.com/office/drawing/2014/main" val="2121035788"/>
                        </a:ext>
                      </a:extLst>
                    </a:gridCol>
                    <a:gridCol w="1756979">
                      <a:extLst>
                        <a:ext uri="{9D8B030D-6E8A-4147-A177-3AD203B41FA5}">
                          <a16:colId xmlns:a16="http://schemas.microsoft.com/office/drawing/2014/main" val="1496895670"/>
                        </a:ext>
                      </a:extLst>
                    </a:gridCol>
                    <a:gridCol w="1756979">
                      <a:extLst>
                        <a:ext uri="{9D8B030D-6E8A-4147-A177-3AD203B41FA5}">
                          <a16:colId xmlns:a16="http://schemas.microsoft.com/office/drawing/2014/main" val="4230776581"/>
                        </a:ext>
                      </a:extLst>
                    </a:gridCol>
                  </a:tblGrid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⊕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Y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4535812"/>
                      </a:ext>
                    </a:extLst>
                  </a:tr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7256894"/>
                      </a:ext>
                    </a:extLst>
                  </a:tr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4711834"/>
                      </a:ext>
                    </a:extLst>
                  </a:tr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6581744"/>
                      </a:ext>
                    </a:extLst>
                  </a:tr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2528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85C206E2-06FC-C7B2-FAED-73E2B11D88E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83151470"/>
                  </p:ext>
                </p:extLst>
              </p:nvPr>
            </p:nvGraphicFramePr>
            <p:xfrm>
              <a:off x="950310" y="3429000"/>
              <a:ext cx="8784895" cy="1899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6979">
                      <a:extLst>
                        <a:ext uri="{9D8B030D-6E8A-4147-A177-3AD203B41FA5}">
                          <a16:colId xmlns:a16="http://schemas.microsoft.com/office/drawing/2014/main" val="4184432793"/>
                        </a:ext>
                      </a:extLst>
                    </a:gridCol>
                    <a:gridCol w="1756979">
                      <a:extLst>
                        <a:ext uri="{9D8B030D-6E8A-4147-A177-3AD203B41FA5}">
                          <a16:colId xmlns:a16="http://schemas.microsoft.com/office/drawing/2014/main" val="1084674688"/>
                        </a:ext>
                      </a:extLst>
                    </a:gridCol>
                    <a:gridCol w="1756979">
                      <a:extLst>
                        <a:ext uri="{9D8B030D-6E8A-4147-A177-3AD203B41FA5}">
                          <a16:colId xmlns:a16="http://schemas.microsoft.com/office/drawing/2014/main" val="2121035788"/>
                        </a:ext>
                      </a:extLst>
                    </a:gridCol>
                    <a:gridCol w="1756979">
                      <a:extLst>
                        <a:ext uri="{9D8B030D-6E8A-4147-A177-3AD203B41FA5}">
                          <a16:colId xmlns:a16="http://schemas.microsoft.com/office/drawing/2014/main" val="1496895670"/>
                        </a:ext>
                      </a:extLst>
                    </a:gridCol>
                    <a:gridCol w="1756979">
                      <a:extLst>
                        <a:ext uri="{9D8B030D-6E8A-4147-A177-3AD203B41FA5}">
                          <a16:colId xmlns:a16="http://schemas.microsoft.com/office/drawing/2014/main" val="4230776581"/>
                        </a:ext>
                      </a:extLst>
                    </a:gridCol>
                  </a:tblGrid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94" t="-6349" r="-202083" b="-4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9654" t="-6349" r="-101384" b="-4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042" t="-6349" r="-1736" b="-4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4535812"/>
                      </a:ext>
                    </a:extLst>
                  </a:tr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7256894"/>
                      </a:ext>
                    </a:extLst>
                  </a:tr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4711834"/>
                      </a:ext>
                    </a:extLst>
                  </a:tr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6581744"/>
                      </a:ext>
                    </a:extLst>
                  </a:tr>
                  <a:tr h="37987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2528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4EA78DC-E72B-AA3F-DD05-4D1D66508E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588175"/>
                  </p:ext>
                </p:extLst>
              </p:nvPr>
            </p:nvGraphicFramePr>
            <p:xfrm>
              <a:off x="950310" y="1839017"/>
              <a:ext cx="361993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9969">
                      <a:extLst>
                        <a:ext uri="{9D8B030D-6E8A-4147-A177-3AD203B41FA5}">
                          <a16:colId xmlns:a16="http://schemas.microsoft.com/office/drawing/2014/main" val="923450553"/>
                        </a:ext>
                      </a:extLst>
                    </a:gridCol>
                    <a:gridCol w="1809969">
                      <a:extLst>
                        <a:ext uri="{9D8B030D-6E8A-4147-A177-3AD203B41FA5}">
                          <a16:colId xmlns:a16="http://schemas.microsoft.com/office/drawing/2014/main" val="3015741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48649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7463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450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4EA78DC-E72B-AA3F-DD05-4D1D66508E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588175"/>
                  </p:ext>
                </p:extLst>
              </p:nvPr>
            </p:nvGraphicFramePr>
            <p:xfrm>
              <a:off x="950310" y="1839017"/>
              <a:ext cx="361993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9969">
                      <a:extLst>
                        <a:ext uri="{9D8B030D-6E8A-4147-A177-3AD203B41FA5}">
                          <a16:colId xmlns:a16="http://schemas.microsoft.com/office/drawing/2014/main" val="923450553"/>
                        </a:ext>
                      </a:extLst>
                    </a:gridCol>
                    <a:gridCol w="1809969">
                      <a:extLst>
                        <a:ext uri="{9D8B030D-6E8A-4147-A177-3AD203B41FA5}">
                          <a16:colId xmlns:a16="http://schemas.microsoft.com/office/drawing/2014/main" val="3015741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73" t="-6557" r="-1347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48649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7463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45001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D3397B-377F-7A84-0DDF-99BD55E4C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23806096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C287-FA78-3AE8-013F-3406E803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F2FEC-2754-1535-B2D9-82B5447468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Evaluate for A = 1 , B = 0 , C =0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.B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F2FEC-2754-1535-B2D9-82B5447468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8096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6A50-A7B2-0EAB-DAA1-4E6F7C1B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Rules/Discovery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09C67C-D956-457B-6C5F-D3356D10E3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Identity</a:t>
                </a:r>
              </a:p>
              <a:p>
                <a:pPr lvl="1"/>
                <a:r>
                  <a:rPr lang="en-US" dirty="0"/>
                  <a:t>A + 0 = A</a:t>
                </a:r>
              </a:p>
              <a:p>
                <a:pPr lvl="1"/>
                <a:r>
                  <a:rPr lang="en-US" dirty="0"/>
                  <a:t>A  . 1 = A</a:t>
                </a:r>
              </a:p>
              <a:p>
                <a:pPr lvl="1"/>
                <a:r>
                  <a:rPr lang="en-US" dirty="0"/>
                  <a:t>A + 1 = 1</a:t>
                </a:r>
              </a:p>
              <a:p>
                <a:pPr lvl="1"/>
                <a:r>
                  <a:rPr lang="en-US" dirty="0"/>
                  <a:t>A  . 0 = 0 </a:t>
                </a:r>
              </a:p>
              <a:p>
                <a:r>
                  <a:rPr lang="en-US" dirty="0"/>
                  <a:t>Idempotent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= 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. 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= A</a:t>
                </a:r>
              </a:p>
              <a:p>
                <a:r>
                  <a:rPr lang="en-US" dirty="0"/>
                  <a:t>Complement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.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nor/>
                      </m:rPr>
                      <a:rPr lang="en-US" dirty="0"/>
                      <m:t> = </m:t>
                    </m:r>
                    <m:r>
                      <m:rPr>
                        <m:nor/>
                      </m:rPr>
                      <a:rPr lang="en-US" b="0" i="0" dirty="0" smtClean="0"/>
                      <m:t>0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09C67C-D956-457B-6C5F-D3356D10E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0072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F6AD-9969-0048-8C5F-54BA5AA3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CA680E-8CFC-1B8B-7486-EFBB399E0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Double Negation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Absorption law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Distribution law </a:t>
                </a:r>
                <a:br>
                  <a:rPr lang="en-US" b="1" dirty="0"/>
                </a:br>
                <a:r>
                  <a:rPr lang="en-US" dirty="0"/>
                  <a:t>(symmetrical to both . and +)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CA680E-8CFC-1B8B-7486-EFBB399E0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46090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F640-25A8-B0E4-213D-D5B78CE0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it yourself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B442C-84D6-F51D-7B8F-DF5C3E1F83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Hint : These may be actual theorems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?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?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?</m:t>
                    </m:r>
                  </m:oMath>
                </a14:m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B442C-84D6-F51D-7B8F-DF5C3E1F83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6492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A1F26-A2A5-5B10-3A4B-5A4D0A63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8C453-735D-9943-1D52-9282A0E3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Solved </a:t>
            </a:r>
            <a:r>
              <a:rPr lang="en-US" sz="2000" dirty="0"/>
              <a:t>(and named)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A9DC8-04AF-13CC-E010-C4639C34E1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Hint : These may be actual theorems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dirty="0"/>
              </a:p>
              <a:p>
                <a:pPr lvl="2"/>
                <a:r>
                  <a:rPr lang="en-US" dirty="0" err="1"/>
                  <a:t>DeMorgan’s</a:t>
                </a:r>
                <a:r>
                  <a:rPr lang="en-US" dirty="0"/>
                  <a:t> law 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dirty="0" err="1"/>
                  <a:t>DeMorgan’s</a:t>
                </a:r>
                <a:r>
                  <a:rPr lang="en-US" dirty="0"/>
                  <a:t> law (again)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Consensus theorem 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Redundancy law</a:t>
                </a:r>
              </a:p>
              <a:p>
                <a:pPr lvl="2"/>
                <a:r>
                  <a:rPr lang="en-US" dirty="0"/>
                  <a:t>Also called, Second Absorption law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Redundancy law (again)</a:t>
                </a:r>
              </a:p>
              <a:p>
                <a:pPr lvl="2"/>
                <a:r>
                  <a:rPr lang="en-US" b="0" dirty="0"/>
                  <a:t>Also called , Third distributive law</a:t>
                </a:r>
              </a:p>
              <a:p>
                <a:pPr lvl="2"/>
                <a:endParaRPr lang="en-US" b="0" dirty="0"/>
              </a:p>
              <a:p>
                <a:pPr lvl="2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A9DC8-04AF-13CC-E010-C4639C34E1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96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A8DE-70D1-F0C4-50B6-932DB537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Simplify 1..4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F0D293-2E99-8E01-9D02-C3EB766841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b="0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).(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F0D293-2E99-8E01-9D02-C3EB766841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5288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0124-F2C3-D388-3D32-C9F41B159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5AF-27A6-2DE7-E719-D9C62BD3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Simplify 1..4 : answers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895C6-0364-139E-297D-2D74CFF1C0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By Absorption law = A, OR</a:t>
                </a:r>
              </a:p>
              <a:p>
                <a:pPr lvl="2"/>
                <a:r>
                  <a:rPr lang="en-US" dirty="0"/>
                  <a:t>A.A + A.B</a:t>
                </a:r>
              </a:p>
              <a:p>
                <a:pPr lvl="2"/>
                <a:r>
                  <a:rPr lang="en-US" dirty="0"/>
                  <a:t>A + AB  </a:t>
                </a:r>
                <a:r>
                  <a:rPr lang="en-US" dirty="0">
                    <a:solidFill>
                      <a:srgbClr val="00B050"/>
                    </a:solidFill>
                  </a:rPr>
                  <a:t>//(A.A = A), Idempotent Law</a:t>
                </a:r>
              </a:p>
              <a:p>
                <a:pPr lvl="2"/>
                <a:r>
                  <a:rPr lang="en-US" dirty="0"/>
                  <a:t>A (1+ B) </a:t>
                </a:r>
                <a:r>
                  <a:rPr lang="en-US" dirty="0">
                    <a:solidFill>
                      <a:srgbClr val="00B050"/>
                    </a:solidFill>
                  </a:rPr>
                  <a:t>// factor A out</a:t>
                </a:r>
              </a:p>
              <a:p>
                <a:pPr lvl="2"/>
                <a:r>
                  <a:rPr lang="en-US" dirty="0"/>
                  <a:t>A </a:t>
                </a:r>
                <a:r>
                  <a:rPr lang="en-US" dirty="0">
                    <a:solidFill>
                      <a:srgbClr val="00B050"/>
                    </a:solidFill>
                  </a:rPr>
                  <a:t>// By null law 1+B = 1 and A.1 = A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.(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B) </a:t>
                </a:r>
                <a:r>
                  <a:rPr lang="en-US" dirty="0">
                    <a:solidFill>
                      <a:srgbClr val="00B050"/>
                    </a:solidFill>
                  </a:rPr>
                  <a:t>//Distribution law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i="1" dirty="0">
                    <a:latin typeface="Cambria Math" panose="02040503050406030204" pitchFamily="18" charset="0"/>
                  </a:rPr>
                  <a:t>1.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B) </a:t>
                </a:r>
                <a:r>
                  <a:rPr lang="en-US" dirty="0">
                    <a:solidFill>
                      <a:srgbClr val="00B050"/>
                    </a:solidFill>
                  </a:rPr>
                  <a:t>// By Complement law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b="0" dirty="0"/>
                  <a:t> B </a:t>
                </a:r>
              </a:p>
              <a:p>
                <a:r>
                  <a:rPr lang="en-US" b="0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B050"/>
                    </a:solidFill>
                  </a:rPr>
                  <a:t>//Distribution law</a:t>
                </a:r>
              </a:p>
              <a:p>
                <a:pPr lvl="1"/>
                <a:r>
                  <a:rPr lang="en-US" b="0" dirty="0"/>
                  <a:t>A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B050"/>
                    </a:solidFill>
                  </a:rPr>
                  <a:t>//Idempotent law + Complement law</a:t>
                </a:r>
              </a:p>
              <a:p>
                <a:pPr lvl="1"/>
                <a:r>
                  <a:rPr lang="en-US" b="0" dirty="0"/>
                  <a:t>A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895C6-0364-139E-297D-2D74CFF1C0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20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2703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1777-7C6F-76BE-45C2-4D03B4DC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Simplify 5..11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2C71F2-ACC9-E416-C317-D9E32AD458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en-US" b="1" i="1" dirty="0">
                    <a:latin typeface="Cambria Math" panose="02040503050406030204" pitchFamily="18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 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b="1" i="1" dirty="0">
                    <a:latin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2"/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2C71F2-ACC9-E416-C317-D9E32AD45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61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2313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9C9B2-45AB-787B-5C91-05A5B558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DC5A-141E-6F8B-7CFB-CAA9C873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Simplify 5..11 : answers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A3309-A527-5D31-6F50-29E46FDBB2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These are hard , think of them as puzzles,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A3309-A527-5D31-6F50-29E46FDBB2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7423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7ACA-4DBD-62AB-39CA-F2A3B56B9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Tables/Expressions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CED5D-CF97-64FD-7F0B-F9E29704E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Create truth table for each and validate/discover simplifications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 = A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= A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b="0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B </a:t>
                </a:r>
                <a:endParaRPr lang="en-US" b="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0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= A</a:t>
                </a:r>
                <a:endParaRPr lang="en-US" b="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?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 ?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 =?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?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CED5D-CF97-64FD-7F0B-F9E29704E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0606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35768-6F15-06E9-C840-DA5612F8D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DE1B-D96A-3D30-68AE-1B60E274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Expressions: </a:t>
            </a:r>
            <a:r>
              <a:rPr lang="en-US" dirty="0" err="1"/>
              <a:t>Soln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E73E7D-16C4-E737-FB0A-9F0380701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Solutions to Boolean </a:t>
                </a:r>
                <a:r>
                  <a:rPr lang="en-US" dirty="0" err="1"/>
                  <a:t>Simplifcations</a:t>
                </a:r>
                <a:r>
                  <a:rPr lang="en-US" dirty="0"/>
                  <a:t> ….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 = </a:t>
                </a:r>
                <a:r>
                  <a:rPr lang="en-US" b="1" dirty="0"/>
                  <a:t>A 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// Use Absorption law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A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// Use Absorption law, 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other one</a:t>
                </a:r>
                <a:endParaRPr lang="en-US" b="1" i="1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).(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      //Distribution Law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:r>
                  <a:rPr lang="en-US" dirty="0"/>
                  <a:t>(1).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   // Idempotent Law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= A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AB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 = B.(A+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E73E7D-16C4-E737-FB0A-9F0380701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4980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2ABC3-2FB2-EB18-7247-2C7A596D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C898-35FC-6EF2-7A80-305B2EB0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Expressions: </a:t>
            </a:r>
            <a:r>
              <a:rPr lang="en-US" dirty="0" err="1"/>
              <a:t>Soln</a:t>
            </a:r>
            <a:r>
              <a:rPr lang="en-US" dirty="0"/>
              <a:t> 1..4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5FFE3-D627-63D4-4E57-5DE63F6C2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Solutions to Boolean </a:t>
                </a:r>
                <a:r>
                  <a:rPr lang="en-US" dirty="0" err="1"/>
                  <a:t>Simplifcations</a:t>
                </a:r>
                <a:r>
                  <a:rPr lang="en-US" dirty="0"/>
                  <a:t> ….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 = </a:t>
                </a:r>
                <a:r>
                  <a:rPr lang="en-US" b="1" dirty="0"/>
                  <a:t>A 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// Use Absorption law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A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// Use Absorption law, 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other one</a:t>
                </a:r>
                <a:endParaRPr lang="en-US" b="1" i="1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).(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    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//Distribution Law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:r>
                  <a:rPr lang="en-US" dirty="0"/>
                  <a:t>(1).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 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// Idempotent Law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= A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//Distribution Law 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in reverse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+0</m:t>
                    </m:r>
                  </m:oMath>
                </a14:m>
                <a:r>
                  <a:rPr lang="en-US" b="0" i="1" dirty="0"/>
                  <a:t>  </a:t>
                </a:r>
                <a:r>
                  <a:rPr lang="en-US" b="0" dirty="0">
                    <a:solidFill>
                      <a:schemeClr val="accent6">
                        <a:lumMod val="75000"/>
                      </a:schemeClr>
                    </a:solidFill>
                  </a:rPr>
                  <a:t>//Complement Law</a:t>
                </a:r>
              </a:p>
              <a:p>
                <a:pPr lvl="2"/>
                <a:r>
                  <a:rPr lang="en-US" b="0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i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5FFE3-D627-63D4-4E57-5DE63F6C2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7324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7EA4-5E46-1419-52D3-511DA43F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Expressions: </a:t>
            </a:r>
            <a:r>
              <a:rPr lang="en-US" dirty="0" err="1"/>
              <a:t>Soln</a:t>
            </a:r>
            <a:r>
              <a:rPr lang="en-US" dirty="0"/>
              <a:t> 5,6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9D5AC8-32D5-9E48-B6EB-F9B294EA54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914400" lvl="1" indent="-457200"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AB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//See 4</a:t>
                </a:r>
              </a:p>
              <a:p>
                <a:pPr lvl="2"/>
                <a:r>
                  <a:rPr lang="en-US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//Complement Law</a:t>
                </a:r>
              </a:p>
              <a:p>
                <a:pPr lvl="2"/>
                <a:r>
                  <a:rPr lang="en-US" b="0" dirty="0">
                    <a:sym typeface="Wingdings" panose="05000000000000000000" pitchFamily="2" charset="2"/>
                  </a:rPr>
                  <a:t>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//Distribution Law</a:t>
                </a:r>
              </a:p>
              <a:p>
                <a:pPr lvl="2"/>
                <a:r>
                  <a:rPr lang="en-US" b="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//Complement Law</a:t>
                </a:r>
              </a:p>
              <a:p>
                <a:pPr marL="914400" lvl="1" indent="-457200"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1371600" lvl="2" indent="-457200"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//De-Morgan’s Law</a:t>
                </a:r>
              </a:p>
              <a:p>
                <a:pPr marL="1371600" lvl="2" indent="-457200"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//Factor the like terms</a:t>
                </a:r>
              </a:p>
              <a:p>
                <a:pPr marL="1371600" lvl="2" indent="-457200"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//Identity Law</a:t>
                </a:r>
              </a:p>
              <a:p>
                <a:pPr marL="914400" lvl="1" indent="-457200"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 = B.(A+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</a:t>
                </a:r>
              </a:p>
              <a:p>
                <a:pPr marL="914400" lvl="1" indent="-457200"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9D5AC8-32D5-9E48-B6EB-F9B294EA54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8301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318A9-801A-714A-A234-6CD3FE66D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0F5D-20D4-03D8-1456-187A1EC7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Expressions: </a:t>
            </a:r>
            <a:r>
              <a:rPr lang="en-US" dirty="0" err="1"/>
              <a:t>Soln</a:t>
            </a:r>
            <a:r>
              <a:rPr lang="en-US" dirty="0"/>
              <a:t> 5,6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DA508B-0F76-F6D7-26DF-64443D0443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914400" lvl="1" indent="-45720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 = B.(A+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</a:t>
                </a:r>
              </a:p>
              <a:p>
                <a:pPr lvl="2"/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 (A.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+B.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+C.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. (A+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</a:t>
                </a:r>
              </a:p>
              <a:p>
                <a:pPr lvl="2"/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 (A.B +B </a:t>
                </a:r>
                <a:r>
                  <a:rPr lang="en-US" dirty="0"/>
                  <a:t> 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. (A+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 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//Absorption and expansion</a:t>
                </a:r>
              </a:p>
              <a:p>
                <a:pPr lvl="2"/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 (B </a:t>
                </a:r>
                <a:r>
                  <a:rPr lang="en-US" dirty="0"/>
                  <a:t> 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. (A+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 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//Absorption</a:t>
                </a:r>
              </a:p>
              <a:p>
                <a:pPr lvl="2"/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 A.B  + B.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𝐶𝐴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//Complement Law and combine like terms</a:t>
                </a:r>
              </a:p>
              <a:p>
                <a:pPr lvl="2"/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</a:t>
                </a:r>
                <a:r>
                  <a:rPr lang="en-US" i="1" dirty="0">
                    <a:latin typeface="Cambria Math" panose="02040503050406030204" pitchFamily="18" charset="0"/>
                  </a:rPr>
                  <a:t>B.(A+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</a:t>
                </a:r>
              </a:p>
              <a:p>
                <a:pPr marL="914400" lvl="1" indent="-45720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+ B.C.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//Distribute</a:t>
                </a:r>
              </a:p>
              <a:p>
                <a:pPr lvl="2"/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 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+ B.C.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2"/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+ B.C.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//Complement Law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+ B.C.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+ B.C.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//Distribute</a:t>
                </a:r>
              </a:p>
              <a:p>
                <a:pPr lvl="2"/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+ B.C.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//Complement  Law and rearrange</a:t>
                </a:r>
              </a:p>
              <a:p>
                <a:pPr marL="1371600" lvl="2" indent="-457200">
                  <a:buFont typeface="+mj-lt"/>
                  <a:buAutoNum type="arabicPeriod" startAt="5"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371600" lvl="2" indent="-457200">
                  <a:buFont typeface="+mj-lt"/>
                  <a:buAutoNum type="arabicPeriod" startAt="5"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371600" lvl="2" indent="-457200">
                  <a:buFont typeface="+mj-lt"/>
                  <a:buAutoNum type="arabicPeriod" startAt="5"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371600" lvl="2" indent="-457200">
                  <a:buFont typeface="+mj-lt"/>
                  <a:buAutoNum type="arabicPeriod" startAt="5"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DA508B-0F76-F6D7-26DF-64443D044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4539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34AD-E6F7-D00B-CB66-20747A08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5EE43-FFCC-BF84-FE5A-6984F2C46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Specific to Test2 ,</a:t>
            </a:r>
            <a:r>
              <a:rPr lang="en-US" i="1" dirty="0"/>
              <a:t>(skip if you are already done with test 2)</a:t>
            </a:r>
          </a:p>
          <a:p>
            <a:pPr lvl="1"/>
            <a:r>
              <a:rPr lang="en-US" dirty="0">
                <a:hlinkClick r:id="rId2"/>
              </a:rPr>
              <a:t>https://www.hackerrank.com/acsltest2practise</a:t>
            </a:r>
            <a:r>
              <a:rPr lang="en-US" dirty="0"/>
              <a:t> </a:t>
            </a:r>
          </a:p>
          <a:p>
            <a:r>
              <a:rPr lang="en-US" dirty="0"/>
              <a:t>Specific to Test 3</a:t>
            </a:r>
          </a:p>
          <a:p>
            <a:pPr lvl="1"/>
            <a:r>
              <a:rPr lang="en-US" dirty="0">
                <a:hlinkClick r:id="rId3"/>
              </a:rPr>
              <a:t>https://www.hackerrank.com/acsltest3practise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Knowledge needed</a:t>
            </a:r>
          </a:p>
          <a:p>
            <a:pPr lvl="2"/>
            <a:r>
              <a:rPr lang="en-US" dirty="0"/>
              <a:t>New: Stacks and Queues</a:t>
            </a:r>
          </a:p>
          <a:p>
            <a:pPr lvl="2"/>
            <a:r>
              <a:rPr lang="en-US"/>
              <a:t>Existing</a:t>
            </a:r>
            <a:r>
              <a:rPr lang="en-US" dirty="0"/>
              <a:t>: if else, loops, arrays, functions, …</a:t>
            </a:r>
          </a:p>
        </p:txBody>
      </p:sp>
    </p:spTree>
    <p:extLst>
      <p:ext uri="{BB962C8B-B14F-4D97-AF65-F5344CB8AC3E}">
        <p14:creationId xmlns:p14="http://schemas.microsoft.com/office/powerpoint/2010/main" val="20533296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BA96-FDEB-0275-31FE-0F91C76B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: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B8CE-CBD7-DE7D-2F24-555C4474D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FIFO : First In First Out </a:t>
            </a:r>
          </a:p>
          <a:p>
            <a:pPr lvl="1"/>
            <a:r>
              <a:rPr lang="en-US" dirty="0"/>
              <a:t>Push</a:t>
            </a:r>
          </a:p>
          <a:p>
            <a:pPr lvl="2"/>
            <a:r>
              <a:rPr lang="en-US" dirty="0"/>
              <a:t>Action: Push an item into queue</a:t>
            </a:r>
          </a:p>
          <a:p>
            <a:pPr lvl="2"/>
            <a:r>
              <a:rPr lang="en-US" dirty="0"/>
              <a:t>Can also be called (enqueue , </a:t>
            </a:r>
            <a:r>
              <a:rPr lang="en-US" dirty="0" err="1"/>
              <a:t>push_back</a:t>
            </a:r>
            <a:r>
              <a:rPr lang="en-US" dirty="0"/>
              <a:t>, …)</a:t>
            </a:r>
          </a:p>
          <a:p>
            <a:pPr lvl="1"/>
            <a:r>
              <a:rPr lang="en-US" dirty="0"/>
              <a:t>Pop</a:t>
            </a:r>
          </a:p>
          <a:p>
            <a:pPr lvl="2"/>
            <a:r>
              <a:rPr lang="en-US" dirty="0"/>
              <a:t>Action :Remove the first item in queue</a:t>
            </a:r>
          </a:p>
          <a:p>
            <a:pPr lvl="2"/>
            <a:r>
              <a:rPr lang="en-US" dirty="0"/>
              <a:t>Can also be called (dequeue , </a:t>
            </a:r>
            <a:r>
              <a:rPr lang="en-US" dirty="0" err="1"/>
              <a:t>pop_front</a:t>
            </a:r>
            <a:r>
              <a:rPr lang="en-US" dirty="0"/>
              <a:t>,…)</a:t>
            </a:r>
          </a:p>
          <a:p>
            <a:pPr lvl="1"/>
            <a:r>
              <a:rPr lang="en-US" dirty="0"/>
              <a:t>Top </a:t>
            </a:r>
          </a:p>
          <a:p>
            <a:pPr lvl="2"/>
            <a:r>
              <a:rPr lang="en-US" dirty="0"/>
              <a:t>Action : Peek (do not remove) the first item in queue</a:t>
            </a:r>
          </a:p>
          <a:p>
            <a:pPr lvl="2"/>
            <a:r>
              <a:rPr lang="en-US" dirty="0"/>
              <a:t>Can also be called ( front, …)</a:t>
            </a:r>
          </a:p>
          <a:p>
            <a:pPr lvl="1"/>
            <a:r>
              <a:rPr lang="en-US" dirty="0"/>
              <a:t>Simulation </a:t>
            </a:r>
          </a:p>
          <a:p>
            <a:pPr lvl="2"/>
            <a:r>
              <a:rPr lang="en-US" dirty="0"/>
              <a:t>ems_winter_2025_acsl101\source\</a:t>
            </a:r>
            <a:r>
              <a:rPr lang="en-US" dirty="0" err="1"/>
              <a:t>queue_stack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8585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837F5-6EB6-D652-74CB-258C0615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8800-5A6E-82AE-A5CB-5CDEE0CF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: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A019D-DD89-5C1B-B36F-A3C88E7A9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LIFO : Last In First Out </a:t>
            </a:r>
          </a:p>
          <a:p>
            <a:pPr lvl="1"/>
            <a:r>
              <a:rPr lang="en-US" dirty="0"/>
              <a:t>Push</a:t>
            </a:r>
          </a:p>
          <a:p>
            <a:pPr lvl="2"/>
            <a:r>
              <a:rPr lang="en-US" dirty="0"/>
              <a:t>Action: Push an item into stack</a:t>
            </a:r>
          </a:p>
          <a:p>
            <a:pPr lvl="2"/>
            <a:r>
              <a:rPr lang="en-US" dirty="0"/>
              <a:t>Can also be called (</a:t>
            </a:r>
            <a:r>
              <a:rPr lang="en-US" dirty="0" err="1"/>
              <a:t>insert,push_back</a:t>
            </a:r>
            <a:r>
              <a:rPr lang="en-US" dirty="0"/>
              <a:t>, …)</a:t>
            </a:r>
          </a:p>
          <a:p>
            <a:pPr lvl="1"/>
            <a:r>
              <a:rPr lang="en-US" dirty="0"/>
              <a:t>Pop</a:t>
            </a:r>
          </a:p>
          <a:p>
            <a:pPr lvl="2"/>
            <a:r>
              <a:rPr lang="en-US" dirty="0"/>
              <a:t>Action :Remove the first item in queue</a:t>
            </a:r>
          </a:p>
          <a:p>
            <a:pPr lvl="2"/>
            <a:r>
              <a:rPr lang="en-US" dirty="0"/>
              <a:t>Can also be called ( </a:t>
            </a:r>
            <a:r>
              <a:rPr lang="en-US" dirty="0" err="1"/>
              <a:t>pop_front</a:t>
            </a:r>
            <a:r>
              <a:rPr lang="en-US" dirty="0"/>
              <a:t>,…)</a:t>
            </a:r>
          </a:p>
          <a:p>
            <a:pPr lvl="1"/>
            <a:r>
              <a:rPr lang="en-US" dirty="0"/>
              <a:t>Top </a:t>
            </a:r>
          </a:p>
          <a:p>
            <a:pPr lvl="2"/>
            <a:r>
              <a:rPr lang="en-US" dirty="0"/>
              <a:t>Action : Peek (do not remove) the first item in queue</a:t>
            </a:r>
          </a:p>
          <a:p>
            <a:pPr lvl="2"/>
            <a:r>
              <a:rPr lang="en-US" dirty="0"/>
              <a:t>Can also be called (back, …)</a:t>
            </a:r>
          </a:p>
          <a:p>
            <a:pPr lvl="1"/>
            <a:r>
              <a:rPr lang="en-US" dirty="0"/>
              <a:t>Simulation </a:t>
            </a:r>
          </a:p>
          <a:p>
            <a:pPr lvl="2"/>
            <a:r>
              <a:rPr lang="en-US" dirty="0"/>
              <a:t>ems_winter_2025_acsl101\source\</a:t>
            </a:r>
            <a:r>
              <a:rPr lang="en-US" dirty="0" err="1"/>
              <a:t>queue_stack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1018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D11A-E375-E71D-07F3-EE29E111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1AE1CA-0CED-FC52-B3A9-B263513E5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6062" y="1690688"/>
            <a:ext cx="4036690" cy="4213159"/>
          </a:xfrm>
        </p:spPr>
      </p:pic>
    </p:spTree>
    <p:extLst>
      <p:ext uri="{BB962C8B-B14F-4D97-AF65-F5344CB8AC3E}">
        <p14:creationId xmlns:p14="http://schemas.microsoft.com/office/powerpoint/2010/main" val="35109705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178D-935B-AAEE-36BA-F87AA98B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76CD-D406-A389-02FF-0BA92261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A1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8ECFA53-052C-D6F6-6B28-122C1A2DBA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3421758"/>
              </p:ext>
            </p:extLst>
          </p:nvPr>
        </p:nvGraphicFramePr>
        <p:xfrm>
          <a:off x="1224455" y="2948151"/>
          <a:ext cx="4001814" cy="277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938">
                  <a:extLst>
                    <a:ext uri="{9D8B030D-6E8A-4147-A177-3AD203B41FA5}">
                      <a16:colId xmlns:a16="http://schemas.microsoft.com/office/drawing/2014/main" val="563773428"/>
                    </a:ext>
                  </a:extLst>
                </a:gridCol>
                <a:gridCol w="1453930">
                  <a:extLst>
                    <a:ext uri="{9D8B030D-6E8A-4147-A177-3AD203B41FA5}">
                      <a16:colId xmlns:a16="http://schemas.microsoft.com/office/drawing/2014/main" val="2982123843"/>
                    </a:ext>
                  </a:extLst>
                </a:gridCol>
                <a:gridCol w="1213946">
                  <a:extLst>
                    <a:ext uri="{9D8B030D-6E8A-4147-A177-3AD203B41FA5}">
                      <a16:colId xmlns:a16="http://schemas.microsoft.com/office/drawing/2014/main" val="905214871"/>
                    </a:ext>
                  </a:extLst>
                </a:gridCol>
              </a:tblGrid>
              <a:tr h="46245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A[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] :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A[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] :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3781"/>
                  </a:ext>
                </a:extLst>
              </a:tr>
              <a:tr h="46245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11627"/>
                  </a:ext>
                </a:extLst>
              </a:tr>
              <a:tr h="46245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52181"/>
                  </a:ext>
                </a:extLst>
              </a:tr>
              <a:tr h="46245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189348"/>
                  </a:ext>
                </a:extLst>
              </a:tr>
              <a:tr h="462456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260239"/>
                  </a:ext>
                </a:extLst>
              </a:tr>
              <a:tr h="462456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806729"/>
                  </a:ext>
                </a:extLst>
              </a:tr>
            </a:tbl>
          </a:graphicData>
        </a:graphic>
      </p:graphicFrame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0E50695-BDC5-0370-1DB9-2A32436F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48" y="1675557"/>
            <a:ext cx="4036690" cy="42131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5E9F79-29BB-4CDA-46A4-57558B564644}"/>
              </a:ext>
            </a:extLst>
          </p:cNvPr>
          <p:cNvSpPr txBox="1"/>
          <p:nvPr/>
        </p:nvSpPr>
        <p:spPr>
          <a:xfrm>
            <a:off x="1224455" y="2088587"/>
            <a:ext cx="4124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9 7 5 3 1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72070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60C2-3FE9-DE1C-F670-2471C6908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A649AB-679F-53E7-0286-70971B8EF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934" y="1690688"/>
            <a:ext cx="4516662" cy="4142553"/>
          </a:xfrm>
        </p:spPr>
      </p:pic>
    </p:spTree>
    <p:extLst>
      <p:ext uri="{BB962C8B-B14F-4D97-AF65-F5344CB8AC3E}">
        <p14:creationId xmlns:p14="http://schemas.microsoft.com/office/powerpoint/2010/main" val="167432419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7532A-6F5A-F03B-491E-8D8610979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C87-8A76-0A64-FF44-67BE47DD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8AF0C-177A-2287-B125-733572E30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2 4 6 8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This program tried to sort</a:t>
            </a:r>
          </a:p>
          <a:p>
            <a:pPr>
              <a:buFontTx/>
              <a:buChar char="-"/>
            </a:pPr>
            <a:r>
              <a:rPr lang="en-US" dirty="0"/>
              <a:t>Already sorted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Nothing happens 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A58DBF8-59D4-4A3D-CD6D-54C16CC7A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599" y="1825625"/>
            <a:ext cx="4212021" cy="38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9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DC7EA-2D17-DA29-7BE7-A16B9FCCE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385F-E344-2CA5-16FD-C3C3301D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Q3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75DD1A-FC8B-A807-42A0-48613AC90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313" y="1690688"/>
            <a:ext cx="5064006" cy="4071609"/>
          </a:xfrm>
        </p:spPr>
      </p:pic>
    </p:spTree>
    <p:extLst>
      <p:ext uri="{BB962C8B-B14F-4D97-AF65-F5344CB8AC3E}">
        <p14:creationId xmlns:p14="http://schemas.microsoft.com/office/powerpoint/2010/main" val="19672751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586C3-3556-C4E4-2F98-34D72C0E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13A8-03DC-CAC0-8256-B67ADE32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127C6-BB4E-AE59-83D7-ECD64EB8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13</a:t>
            </a:r>
          </a:p>
          <a:p>
            <a:r>
              <a:rPr lang="en-US" dirty="0"/>
              <a:t>Add j only when (</a:t>
            </a:r>
            <a:r>
              <a:rPr lang="en-US" dirty="0" err="1"/>
              <a:t>i+j</a:t>
            </a:r>
            <a:r>
              <a:rPr lang="en-US" dirty="0"/>
              <a:t>) is even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=1</a:t>
            </a:r>
          </a:p>
          <a:p>
            <a:pPr lvl="2"/>
            <a:r>
              <a:rPr lang="en-US" dirty="0"/>
              <a:t>j=1 → 2 (even) → +1 → sum=1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lvl="2"/>
            <a:r>
              <a:rPr lang="en-US" dirty="0"/>
              <a:t>j=1 → 3</a:t>
            </a:r>
          </a:p>
          <a:p>
            <a:pPr lvl="2"/>
            <a:r>
              <a:rPr lang="en-US" dirty="0"/>
              <a:t>j=2 → 4(even) → +2 → sum=3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lvl="2"/>
            <a:r>
              <a:rPr lang="en-US" dirty="0"/>
              <a:t>j=1 → 4 (even) → +1 → sum=4</a:t>
            </a:r>
          </a:p>
          <a:p>
            <a:pPr lvl="2"/>
            <a:r>
              <a:rPr lang="en-US" dirty="0"/>
              <a:t>j=2 → 5 (odd)</a:t>
            </a:r>
          </a:p>
          <a:p>
            <a:pPr lvl="2"/>
            <a:r>
              <a:rPr lang="en-US" dirty="0"/>
              <a:t>j=3 → 6 (even) → +3 → sum=7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lvl="2"/>
            <a:r>
              <a:rPr lang="en-US" dirty="0"/>
              <a:t>j=1 → 5 (odd)</a:t>
            </a:r>
          </a:p>
          <a:p>
            <a:pPr lvl="2"/>
            <a:r>
              <a:rPr lang="en-US" dirty="0"/>
              <a:t>j=2 → 6 (even) → +2 → sum=9</a:t>
            </a:r>
          </a:p>
          <a:p>
            <a:pPr lvl="2"/>
            <a:r>
              <a:rPr lang="en-US" dirty="0"/>
              <a:t>j=3 → 7 (odd)</a:t>
            </a:r>
          </a:p>
          <a:p>
            <a:pPr lvl="2"/>
            <a:r>
              <a:rPr lang="en-US" dirty="0"/>
              <a:t>j=4 → 8 (even) → +4 → sum=13</a:t>
            </a:r>
          </a:p>
          <a:p>
            <a:pPr lvl="2"/>
            <a:endParaRPr lang="en-US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AD373F5-91BE-5532-CE2F-4C5A2A454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661" y="1990233"/>
            <a:ext cx="4855249" cy="390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390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4A83-F873-72A7-C405-8ABD45D0B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868C33-D8B7-9D19-DBFD-BAAA6B1E4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788" y="1799728"/>
            <a:ext cx="4100645" cy="4563898"/>
          </a:xfrm>
        </p:spPr>
      </p:pic>
    </p:spTree>
    <p:extLst>
      <p:ext uri="{BB962C8B-B14F-4D97-AF65-F5344CB8AC3E}">
        <p14:creationId xmlns:p14="http://schemas.microsoft.com/office/powerpoint/2010/main" val="362232017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81A11-13A6-13EA-2BBF-E3F325435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73A9-D3A1-EA46-9965-88D80752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A4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4CA66-2E1D-A65D-96B1-7D63B9B63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</a:t>
            </a:r>
          </a:p>
          <a:p>
            <a:r>
              <a:rPr lang="en-US" dirty="0"/>
              <a:t>Count how many times A[</a:t>
            </a:r>
            <a:r>
              <a:rPr lang="en-US" dirty="0" err="1"/>
              <a:t>i</a:t>
            </a:r>
            <a:r>
              <a:rPr lang="en-US" dirty="0"/>
              <a:t>] &lt; A[j]</a:t>
            </a:r>
          </a:p>
          <a:p>
            <a:pPr lvl="1"/>
            <a:r>
              <a:rPr lang="it-IT" dirty="0"/>
              <a:t>1 &lt; 3,5,7 → 3</a:t>
            </a:r>
          </a:p>
          <a:p>
            <a:pPr lvl="1"/>
            <a:r>
              <a:rPr lang="it-IT" dirty="0"/>
              <a:t>3 &lt; 5,7 → 2</a:t>
            </a:r>
          </a:p>
          <a:p>
            <a:pPr lvl="1"/>
            <a:r>
              <a:rPr lang="it-IT" dirty="0"/>
              <a:t>5 &lt; 7 → 1</a:t>
            </a:r>
          </a:p>
          <a:p>
            <a:pPr lvl="1"/>
            <a:r>
              <a:rPr lang="it-IT" dirty="0"/>
              <a:t>7 &lt; none → 0</a:t>
            </a:r>
            <a:endParaRPr lang="en-US" dirty="0"/>
          </a:p>
          <a:p>
            <a:r>
              <a:rPr lang="en-US" dirty="0"/>
              <a:t>Total = 3 + 2 + 1 = 6</a:t>
            </a:r>
            <a:endParaRPr lang="it-IT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65AAB9F-0F4E-0B93-A910-68451237E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937" y="1690687"/>
            <a:ext cx="3909659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39507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8E75-5553-324F-5B48-028B76BB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74CD-93BF-0487-A229-2394EC9B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Q5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43C46BAF-D801-5E6F-3276-708F9CF1C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1615" y="1616107"/>
            <a:ext cx="2220578" cy="474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554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29693-7FD9-47E4-BA86-B97EB9408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0844-6D66-B048-A14A-CE67FE9B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FC1A9-4F46-A34B-EC6F-15BA81F9E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5 2 1</a:t>
            </a:r>
          </a:p>
          <a:p>
            <a:pPr lvl="1"/>
            <a:r>
              <a:rPr lang="en-US" dirty="0"/>
              <a:t>Push 1,2,3,4</a:t>
            </a:r>
          </a:p>
          <a:p>
            <a:pPr lvl="1"/>
            <a:r>
              <a:rPr lang="en-US" dirty="0"/>
              <a:t>Pop twice </a:t>
            </a:r>
          </a:p>
          <a:p>
            <a:pPr lvl="2"/>
            <a:r>
              <a:rPr lang="en-US" dirty="0"/>
              <a:t>4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1,2,3</a:t>
            </a:r>
          </a:p>
          <a:p>
            <a:pPr lvl="2"/>
            <a:r>
              <a:rPr lang="en-US" dirty="0"/>
              <a:t>3 </a:t>
            </a:r>
            <a:r>
              <a:rPr lang="en-US" dirty="0">
                <a:sym typeface="Wingdings" panose="05000000000000000000" pitchFamily="2" charset="2"/>
              </a:rPr>
              <a:t> 1,2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Push 5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1,2,5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Pop all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5,2,1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4979409-7BA8-5D3F-228C-B55060B2B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67" y="1690688"/>
            <a:ext cx="2039275" cy="435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034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AF1E-B94B-B679-DF50-9B417918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0D29-E26E-CC89-ED61-E18E39F86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Q6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20711A-4624-D6E5-76BF-5063A92FA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588" y="1690688"/>
            <a:ext cx="5122423" cy="4260795"/>
          </a:xfrm>
        </p:spPr>
      </p:pic>
    </p:spTree>
    <p:extLst>
      <p:ext uri="{BB962C8B-B14F-4D97-AF65-F5344CB8AC3E}">
        <p14:creationId xmlns:p14="http://schemas.microsoft.com/office/powerpoint/2010/main" val="38623285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978AA-FE52-CD93-522C-CD1CAD6E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0B23-C7DE-7BD3-3432-914ED568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program do ? </a:t>
            </a:r>
            <a:r>
              <a:rPr lang="en-US"/>
              <a:t>A6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1FF15-17C3-E624-760A-CCA518D1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1 2 3 4</a:t>
            </a:r>
          </a:p>
          <a:p>
            <a:pPr lvl="1"/>
            <a:r>
              <a:rPr lang="en-US" dirty="0"/>
              <a:t>Bubble sort</a:t>
            </a:r>
          </a:p>
          <a:p>
            <a:pPr lvl="2"/>
            <a:r>
              <a:rPr lang="en-US" dirty="0"/>
              <a:t>Pass 1 </a:t>
            </a:r>
            <a:r>
              <a:rPr lang="en-US" dirty="0">
                <a:sym typeface="Wingdings" panose="05000000000000000000" pitchFamily="2" charset="2"/>
              </a:rPr>
              <a:t> 1,3,2,4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Pass 2  1,2,3,4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Pass 3  (No Change)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Pass 4  (No Change)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81A62B2-389D-56BD-B428-9D0DBD6C1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469" y="1943866"/>
            <a:ext cx="4660660" cy="387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340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7288-A3E9-2E4B-1CFA-A9FE653B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: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86A02-254A-2D1D-68EE-6C2694ACF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the green/woody kind </a:t>
            </a:r>
          </a:p>
          <a:p>
            <a:pPr lvl="1"/>
            <a:r>
              <a:rPr lang="en-US" dirty="0"/>
              <a:t>But they actually look like upside down trees </a:t>
            </a:r>
          </a:p>
          <a:p>
            <a:r>
              <a:rPr lang="en-US" dirty="0"/>
              <a:t>Trees are data structures that represents data in parent/child relationships</a:t>
            </a:r>
          </a:p>
          <a:p>
            <a:pPr lvl="1"/>
            <a:r>
              <a:rPr lang="en-US" dirty="0"/>
              <a:t>Start with a </a:t>
            </a:r>
            <a:r>
              <a:rPr lang="en-US" b="1" dirty="0"/>
              <a:t>root</a:t>
            </a:r>
            <a:r>
              <a:rPr lang="en-US" dirty="0"/>
              <a:t> node </a:t>
            </a:r>
          </a:p>
          <a:p>
            <a:pPr lvl="1"/>
            <a:r>
              <a:rPr lang="en-US" dirty="0"/>
              <a:t>(May) point to other nodes </a:t>
            </a:r>
          </a:p>
          <a:p>
            <a:pPr lvl="2"/>
            <a:r>
              <a:rPr lang="en-US" dirty="0"/>
              <a:t>This is </a:t>
            </a:r>
            <a:r>
              <a:rPr lang="en-US" b="1" dirty="0"/>
              <a:t>parent</a:t>
            </a:r>
            <a:r>
              <a:rPr lang="en-US" dirty="0"/>
              <a:t> pointing to </a:t>
            </a:r>
            <a:r>
              <a:rPr lang="en-US" b="1" dirty="0"/>
              <a:t>child</a:t>
            </a:r>
            <a:r>
              <a:rPr lang="en-US" dirty="0"/>
              <a:t> ( generally) or vice versa</a:t>
            </a:r>
          </a:p>
          <a:p>
            <a:pPr lvl="1"/>
            <a:r>
              <a:rPr lang="en-US" dirty="0"/>
              <a:t>The nodes with no children are </a:t>
            </a:r>
            <a:r>
              <a:rPr lang="en-US" b="1" dirty="0"/>
              <a:t>leaf</a:t>
            </a:r>
            <a:r>
              <a:rPr lang="en-US" dirty="0"/>
              <a:t> nodes</a:t>
            </a:r>
          </a:p>
        </p:txBody>
      </p:sp>
    </p:spTree>
    <p:extLst>
      <p:ext uri="{BB962C8B-B14F-4D97-AF65-F5344CB8AC3E}">
        <p14:creationId xmlns:p14="http://schemas.microsoft.com/office/powerpoint/2010/main" val="32869819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D1CE6-1DED-8A20-394D-424C73A1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Tree: Visuals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807D5B-BD36-72DB-EF4C-02875547A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29D248-619E-F8D5-1EB5-7C1366A17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87" y="2540719"/>
            <a:ext cx="8820603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034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C887-3C8C-169D-F409-469D624A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: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B5F16-DAD5-744D-2F75-11549F6BE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child count</a:t>
            </a:r>
          </a:p>
          <a:p>
            <a:pPr lvl="1"/>
            <a:r>
              <a:rPr lang="en-US" dirty="0"/>
              <a:t>Binary trees (most popular)</a:t>
            </a:r>
          </a:p>
          <a:p>
            <a:pPr lvl="2"/>
            <a:r>
              <a:rPr lang="en-US" dirty="0"/>
              <a:t>Each node max 2 children (</a:t>
            </a:r>
            <a:r>
              <a:rPr lang="en-US" dirty="0" err="1"/>
              <a:t>i.e</a:t>
            </a:r>
            <a:r>
              <a:rPr lang="en-US" dirty="0"/>
              <a:t> 0,1 or 2 )</a:t>
            </a:r>
          </a:p>
          <a:p>
            <a:pPr lvl="1"/>
            <a:r>
              <a:rPr lang="en-US" dirty="0"/>
              <a:t>Ternary trees</a:t>
            </a:r>
          </a:p>
          <a:p>
            <a:pPr lvl="2"/>
            <a:r>
              <a:rPr lang="en-US" dirty="0"/>
              <a:t>Max 3 children</a:t>
            </a:r>
          </a:p>
          <a:p>
            <a:pPr lvl="1"/>
            <a:r>
              <a:rPr lang="en-US" dirty="0"/>
              <a:t>N-</a:t>
            </a:r>
            <a:r>
              <a:rPr lang="en-US" dirty="0" err="1"/>
              <a:t>ary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Max N children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2607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2CB8-C999-0471-92B1-89909ABF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502A5-1746-0B16-F272-087655FC8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Based on data organization</a:t>
            </a:r>
          </a:p>
          <a:p>
            <a:pPr lvl="1"/>
            <a:r>
              <a:rPr lang="en-US" dirty="0"/>
              <a:t>Binary Tree</a:t>
            </a:r>
          </a:p>
          <a:p>
            <a:pPr lvl="2"/>
            <a:r>
              <a:rPr lang="en-US" dirty="0"/>
              <a:t>No organization requirement</a:t>
            </a:r>
          </a:p>
          <a:p>
            <a:pPr lvl="1"/>
            <a:r>
              <a:rPr lang="en-US" dirty="0"/>
              <a:t>Binary Search trees , </a:t>
            </a:r>
          </a:p>
          <a:p>
            <a:pPr lvl="2"/>
            <a:r>
              <a:rPr lang="en-US" dirty="0"/>
              <a:t>Left child is smaller ( or equal to) the root</a:t>
            </a:r>
          </a:p>
          <a:p>
            <a:pPr lvl="2"/>
            <a:r>
              <a:rPr lang="en-US" dirty="0"/>
              <a:t>Right child is bigger than the root</a:t>
            </a:r>
          </a:p>
          <a:p>
            <a:pPr lvl="1"/>
            <a:r>
              <a:rPr lang="en-US" b="1" dirty="0"/>
              <a:t>AVL tree </a:t>
            </a:r>
            <a:r>
              <a:rPr lang="en-US" dirty="0"/>
              <a:t>(Adelson-</a:t>
            </a:r>
            <a:r>
              <a:rPr lang="en-US" dirty="0" err="1"/>
              <a:t>Velsky</a:t>
            </a:r>
            <a:r>
              <a:rPr lang="en-US" dirty="0"/>
              <a:t> and Landis)</a:t>
            </a:r>
          </a:p>
          <a:p>
            <a:pPr lvl="2"/>
            <a:r>
              <a:rPr lang="en-US" dirty="0"/>
              <a:t>Binary search tree with limits on height </a:t>
            </a:r>
          </a:p>
          <a:p>
            <a:pPr lvl="2"/>
            <a:r>
              <a:rPr lang="en-US" dirty="0"/>
              <a:t>No one leaf can be more than a 1 distance </a:t>
            </a:r>
            <a:r>
              <a:rPr lang="en-US" dirty="0" err="1"/>
              <a:t>logner</a:t>
            </a:r>
            <a:r>
              <a:rPr lang="en-US" dirty="0"/>
              <a:t> than any other leaf node</a:t>
            </a:r>
          </a:p>
          <a:p>
            <a:pPr lvl="1"/>
            <a:r>
              <a:rPr lang="en-US" dirty="0"/>
              <a:t>Red black tree</a:t>
            </a:r>
          </a:p>
          <a:p>
            <a:pPr lvl="2"/>
            <a:r>
              <a:rPr lang="en-US" dirty="0"/>
              <a:t>A representation of AVL tree that color codes the nodes ( red/black) to organize info.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627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F003-F9A9-1475-DB83-84CB2D60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 : 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C6801-7726-EB38-A181-96B8F89CC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Root : there is only 1 root( 0 for empty tree)</a:t>
            </a:r>
          </a:p>
          <a:p>
            <a:r>
              <a:rPr lang="en-US" dirty="0"/>
              <a:t>Parent </a:t>
            </a:r>
          </a:p>
          <a:p>
            <a:pPr lvl="1"/>
            <a:r>
              <a:rPr lang="en-US" dirty="0"/>
              <a:t>All other nodes have one parent (except the root node)</a:t>
            </a:r>
          </a:p>
          <a:p>
            <a:r>
              <a:rPr lang="en-US" dirty="0"/>
              <a:t>Children </a:t>
            </a:r>
          </a:p>
          <a:p>
            <a:pPr lvl="1"/>
            <a:r>
              <a:rPr lang="en-US" dirty="0"/>
              <a:t>In Binary Tree : there can be at most 2 children</a:t>
            </a:r>
          </a:p>
          <a:p>
            <a:pPr lvl="1"/>
            <a:r>
              <a:rPr lang="en-US" dirty="0"/>
              <a:t>The 2 children are also referred as siblings</a:t>
            </a:r>
          </a:p>
          <a:p>
            <a:r>
              <a:rPr lang="en-US" dirty="0"/>
              <a:t>Leaf nodes : nodes with no children are leaf nodes</a:t>
            </a:r>
          </a:p>
          <a:p>
            <a:r>
              <a:rPr lang="en-US" dirty="0"/>
              <a:t>Height : the distance from the root to furthest leaf node is height of the tree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61391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6E64-3C52-4650-4748-F1D6527B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 :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F3575-C8F7-080A-D3E0-6D7604D24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child must be smaller than or equal to the  parent</a:t>
            </a:r>
          </a:p>
          <a:p>
            <a:r>
              <a:rPr lang="en-US" dirty="0"/>
              <a:t>Right child must be larger than the parent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87756-9D75-31B8-6253-ECE1FBD69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617" y="2768028"/>
            <a:ext cx="5164154" cy="304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1075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B119-127E-62DE-A543-B9405E52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a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F40EE-91EE-F334-EACC-374919DC7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52, 18, 74, 5, 33, 61, 89, 25, 42, 67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79547-A6B0-EB11-4B61-2AEB9D57A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015" y="2348917"/>
            <a:ext cx="6417578" cy="358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566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B443-40AD-BC01-446B-D41711F9C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 :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E65A-AAAA-2D72-CFD9-35F9EE48E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tree for </a:t>
            </a:r>
          </a:p>
          <a:p>
            <a:pPr lvl="1"/>
            <a:r>
              <a:rPr lang="en-US" dirty="0"/>
              <a:t>S U P E R N A T U R A L </a:t>
            </a:r>
          </a:p>
          <a:p>
            <a:pPr lvl="1"/>
            <a:r>
              <a:rPr lang="en-US" dirty="0"/>
              <a:t>16  93  81  37  98  84 </a:t>
            </a:r>
          </a:p>
          <a:p>
            <a:pPr lvl="1"/>
            <a:r>
              <a:rPr lang="en-US" dirty="0"/>
              <a:t>0  9  2  6  2  3  5  1  4  2  9  7  6  8   9   2   7</a:t>
            </a:r>
          </a:p>
          <a:p>
            <a:pPr lvl="1"/>
            <a:r>
              <a:rPr lang="en-US" dirty="0"/>
              <a:t>C O N I O S I S</a:t>
            </a:r>
          </a:p>
          <a:p>
            <a:pPr lvl="1"/>
            <a:r>
              <a:rPr lang="en-US" dirty="0"/>
              <a:t>A L P H A B E T I C A L</a:t>
            </a:r>
          </a:p>
          <a:p>
            <a:pPr lvl="1"/>
            <a:r>
              <a:rPr lang="en-US" dirty="0"/>
              <a:t>M A T H E M A T I C S</a:t>
            </a:r>
          </a:p>
        </p:txBody>
      </p:sp>
    </p:spTree>
    <p:extLst>
      <p:ext uri="{BB962C8B-B14F-4D97-AF65-F5344CB8AC3E}">
        <p14:creationId xmlns:p14="http://schemas.microsoft.com/office/powerpoint/2010/main" val="278483957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BD44-EBD1-07DC-DF8E-F30552C65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: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665F-B850-FB04-2549-9B4B1250F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Graphs are data structure that can represent complex relationships between items. They are made of </a:t>
            </a:r>
          </a:p>
          <a:p>
            <a:pPr lvl="1"/>
            <a:r>
              <a:rPr lang="en-US" dirty="0"/>
              <a:t>Vertices( also called nodes)</a:t>
            </a:r>
          </a:p>
          <a:p>
            <a:pPr lvl="1"/>
            <a:r>
              <a:rPr lang="en-US" dirty="0"/>
              <a:t>Edges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DAD95-1C7C-BBBF-5940-31D7F0581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90" y="2842243"/>
            <a:ext cx="4107401" cy="316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8186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99F5-A503-C753-D924-BDEF6972D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: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BA19D-0D87-CD7F-2436-A90504790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Major part of day to day life </a:t>
            </a:r>
          </a:p>
          <a:p>
            <a:pPr lvl="1"/>
            <a:r>
              <a:rPr lang="en-US" dirty="0"/>
              <a:t>Maps</a:t>
            </a:r>
          </a:p>
          <a:p>
            <a:pPr lvl="2"/>
            <a:r>
              <a:rPr lang="en-US" dirty="0"/>
              <a:t>Shortest/fastest routes</a:t>
            </a:r>
          </a:p>
          <a:p>
            <a:pPr lvl="1"/>
            <a:r>
              <a:rPr lang="en-US" dirty="0"/>
              <a:t>Internet/Computer networks</a:t>
            </a:r>
          </a:p>
          <a:p>
            <a:pPr lvl="2"/>
            <a:r>
              <a:rPr lang="en-US" dirty="0"/>
              <a:t>Communication over internet</a:t>
            </a:r>
          </a:p>
          <a:p>
            <a:pPr lvl="1"/>
            <a:r>
              <a:rPr lang="en-US" dirty="0"/>
              <a:t>Commerce</a:t>
            </a:r>
          </a:p>
          <a:p>
            <a:pPr lvl="2"/>
            <a:r>
              <a:rPr lang="en-US" dirty="0"/>
              <a:t>Stocks</a:t>
            </a:r>
          </a:p>
          <a:p>
            <a:pPr lvl="2"/>
            <a:r>
              <a:rPr lang="en-US" dirty="0"/>
              <a:t>goods</a:t>
            </a:r>
          </a:p>
          <a:p>
            <a:pPr lvl="1"/>
            <a:r>
              <a:rPr lang="en-US" dirty="0"/>
              <a:t>Social Networks </a:t>
            </a:r>
          </a:p>
          <a:p>
            <a:pPr lvl="2"/>
            <a:r>
              <a:rPr lang="en-US" dirty="0"/>
              <a:t>Friends</a:t>
            </a:r>
          </a:p>
          <a:p>
            <a:pPr lvl="2"/>
            <a:r>
              <a:rPr lang="en-US" dirty="0"/>
              <a:t>Ads</a:t>
            </a:r>
          </a:p>
          <a:p>
            <a:pPr lvl="1"/>
            <a:r>
              <a:rPr lang="en-US" dirty="0"/>
              <a:t>Circuits</a:t>
            </a:r>
          </a:p>
          <a:p>
            <a:pPr lvl="2"/>
            <a:r>
              <a:rPr lang="en-US" dirty="0"/>
              <a:t>Computer</a:t>
            </a:r>
          </a:p>
          <a:p>
            <a:pPr lvl="1"/>
            <a:r>
              <a:rPr lang="en-US" dirty="0"/>
              <a:t>Schedules</a:t>
            </a:r>
          </a:p>
          <a:p>
            <a:pPr lvl="2"/>
            <a:r>
              <a:rPr lang="en-US" dirty="0"/>
              <a:t>dependency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69135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94CF-E56D-9A6C-E3FF-4352F59F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: by Edge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9D19-9EC9-463D-5938-7DFED8B7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Directed </a:t>
            </a:r>
            <a:r>
              <a:rPr lang="en-US" dirty="0"/>
              <a:t>: think one way</a:t>
            </a:r>
          </a:p>
          <a:p>
            <a:pPr lvl="1"/>
            <a:r>
              <a:rPr lang="en-US" dirty="0"/>
              <a:t>The edges have a </a:t>
            </a:r>
            <a:r>
              <a:rPr lang="en-US" b="1" dirty="0"/>
              <a:t>source</a:t>
            </a:r>
            <a:r>
              <a:rPr lang="en-US" dirty="0"/>
              <a:t> where they begin from </a:t>
            </a:r>
          </a:p>
          <a:p>
            <a:pPr lvl="1"/>
            <a:r>
              <a:rPr lang="en-US" dirty="0"/>
              <a:t>And a </a:t>
            </a:r>
            <a:r>
              <a:rPr lang="en-US" b="1" dirty="0"/>
              <a:t>destination</a:t>
            </a:r>
            <a:r>
              <a:rPr lang="en-US" dirty="0"/>
              <a:t> where they end.</a:t>
            </a:r>
          </a:p>
          <a:p>
            <a:pPr lvl="1"/>
            <a:r>
              <a:rPr lang="en-US" b="1" i="1" dirty="0"/>
              <a:t>Think of this as one way connection</a:t>
            </a:r>
          </a:p>
          <a:p>
            <a:r>
              <a:rPr lang="en-US" i="1" dirty="0"/>
              <a:t>Undirected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376AB-227B-DBD3-7622-5859089D7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453" y="3773614"/>
            <a:ext cx="4578989" cy="187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644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FF23-6F34-7ED0-BAD1-7D662ED2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A1DF-487F-705B-EEB9-D66C72F2A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: by Edge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8D58B-0329-19D7-2F29-84ACB5C9D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Directed</a:t>
            </a:r>
          </a:p>
          <a:p>
            <a:r>
              <a:rPr lang="en-US" b="1" dirty="0"/>
              <a:t>Undirected</a:t>
            </a:r>
          </a:p>
          <a:p>
            <a:pPr lvl="1"/>
            <a:r>
              <a:rPr lang="en-US" dirty="0"/>
              <a:t>The edges do not have direction</a:t>
            </a:r>
          </a:p>
          <a:p>
            <a:pPr lvl="1"/>
            <a:r>
              <a:rPr lang="en-US" dirty="0"/>
              <a:t>The edge connects vertices in both direction</a:t>
            </a:r>
          </a:p>
          <a:p>
            <a:pPr lvl="1"/>
            <a:r>
              <a:rPr lang="en-US" b="1" i="1" dirty="0"/>
              <a:t>Think of this as two way connection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55328-ED29-B541-3570-7CDE3FDBC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284" y="4001294"/>
            <a:ext cx="4578989" cy="187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55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77F6-CB3C-29C3-E593-4C149CA5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AFD61-5580-96EB-7E35-D315B16E5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982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Assuming </a:t>
            </a:r>
            <a:r>
              <a:rPr lang="en-US" b="1" dirty="0"/>
              <a:t>graph with ‘V’ vertices and ‘E’ edges</a:t>
            </a:r>
          </a:p>
          <a:p>
            <a:r>
              <a:rPr lang="en-US" dirty="0"/>
              <a:t>Adjacency matrix </a:t>
            </a:r>
            <a:r>
              <a:rPr lang="en-US" i="1" dirty="0"/>
              <a:t>(double dimension array)</a:t>
            </a:r>
          </a:p>
          <a:p>
            <a:pPr lvl="1"/>
            <a:r>
              <a:rPr lang="en-US" dirty="0" err="1"/>
              <a:t>VxV</a:t>
            </a:r>
            <a:r>
              <a:rPr lang="en-US" dirty="0"/>
              <a:t> array, entry in row ‘</a:t>
            </a:r>
            <a:r>
              <a:rPr lang="en-US" dirty="0" err="1"/>
              <a:t>i</a:t>
            </a:r>
            <a:r>
              <a:rPr lang="en-US" dirty="0"/>
              <a:t>’ column ‘j’ denotes connectivity between node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: j</a:t>
            </a:r>
          </a:p>
          <a:p>
            <a:pPr lvl="1"/>
            <a:r>
              <a:rPr lang="en-US" i="1" dirty="0">
                <a:sym typeface="Wingdings" panose="05000000000000000000" pitchFamily="2" charset="2"/>
              </a:rPr>
              <a:t>Very useful and efficient representation</a:t>
            </a:r>
            <a:endParaRPr lang="en-US" i="1" dirty="0"/>
          </a:p>
          <a:p>
            <a:r>
              <a:rPr lang="en-US" dirty="0"/>
              <a:t>array of edges</a:t>
            </a:r>
          </a:p>
          <a:p>
            <a:pPr lvl="1"/>
            <a:r>
              <a:rPr lang="en-US" dirty="0"/>
              <a:t>Array of size ‘E’ containing source and destination of edges</a:t>
            </a:r>
          </a:p>
          <a:p>
            <a:pPr lvl="1"/>
            <a:r>
              <a:rPr lang="en-US" i="1" dirty="0"/>
              <a:t>Simple but slower representation</a:t>
            </a:r>
          </a:p>
          <a:p>
            <a:r>
              <a:rPr lang="en-US" dirty="0"/>
              <a:t>Array of adjacency lists </a:t>
            </a:r>
          </a:p>
          <a:p>
            <a:pPr lvl="1"/>
            <a:r>
              <a:rPr lang="en-US" dirty="0"/>
              <a:t>Vertex indexed array of edges. </a:t>
            </a:r>
          </a:p>
          <a:p>
            <a:pPr lvl="1"/>
            <a:r>
              <a:rPr lang="en-US" i="1" dirty="0"/>
              <a:t>Flexible and quite efficient </a:t>
            </a:r>
            <a:r>
              <a:rPr lang="en-US" dirty="0"/>
              <a:t>(the goat)</a:t>
            </a:r>
          </a:p>
          <a:p>
            <a:r>
              <a:rPr lang="en-US" dirty="0"/>
              <a:t>…(and there are more representations)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4801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521D-C6E0-32CE-A5F4-A5A5C1BA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1CB59-8274-EDDE-2358-516BE319A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2808854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1076-F3E4-1031-12A9-F4565731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0DD9E-4067-269B-1E64-829DFCC4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Cictuits</a:t>
            </a:r>
            <a:r>
              <a:rPr lang="en-US" dirty="0"/>
              <a:t> in electronics ( Pcs, gaming consoles, phones) are made of basic logic units, called </a:t>
            </a:r>
            <a:r>
              <a:rPr lang="en-US" b="1" dirty="0"/>
              <a:t>logic gates</a:t>
            </a:r>
          </a:p>
          <a:p>
            <a:pPr lvl="1"/>
            <a:r>
              <a:rPr lang="en-US" dirty="0"/>
              <a:t>Basic :</a:t>
            </a:r>
            <a:r>
              <a:rPr lang="en-US" b="1" dirty="0"/>
              <a:t> AND, OR, NOT , XOR</a:t>
            </a:r>
          </a:p>
          <a:p>
            <a:pPr lvl="1"/>
            <a:r>
              <a:rPr lang="en-US" dirty="0"/>
              <a:t>Negated : </a:t>
            </a:r>
            <a:r>
              <a:rPr lang="en-US" b="1" dirty="0"/>
              <a:t>NAND, NOR , XNOR</a:t>
            </a:r>
          </a:p>
          <a:p>
            <a:pPr lvl="2"/>
            <a:r>
              <a:rPr lang="en-US" dirty="0"/>
              <a:t>Similar to AND , OR, XOR respectively but with extra NOT at the end</a:t>
            </a:r>
          </a:p>
          <a:p>
            <a:pPr lvl="1"/>
            <a:r>
              <a:rPr lang="en-US" i="1" dirty="0"/>
              <a:t>There are more custom gates but these are basic ones</a:t>
            </a:r>
          </a:p>
          <a:p>
            <a:r>
              <a:rPr lang="en-US" dirty="0"/>
              <a:t>These are visual representation of the Boolean algebra</a:t>
            </a:r>
          </a:p>
          <a:p>
            <a:r>
              <a:rPr lang="en-US" dirty="0"/>
              <a:t>All the complex calculations you can think of are fundamentally run by these gates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93300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9EFF-479C-4084-0898-6CD2DF5A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gates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4731AC-5492-99CF-3E60-19F9DA062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001" y="1728206"/>
            <a:ext cx="3257143" cy="3866667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5C96D6-89CC-83D8-DB78-AE34A991351F}"/>
                  </a:ext>
                </a:extLst>
              </p:cNvPr>
              <p:cNvSpPr txBox="1"/>
              <p:nvPr/>
            </p:nvSpPr>
            <p:spPr>
              <a:xfrm>
                <a:off x="2386667" y="2269222"/>
                <a:ext cx="6501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5C96D6-89CC-83D8-DB78-AE34A9913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667" y="2269222"/>
                <a:ext cx="65014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D27392-E3E8-AE04-9B73-B0E569D7E67A}"/>
                  </a:ext>
                </a:extLst>
              </p:cNvPr>
              <p:cNvSpPr txBox="1"/>
              <p:nvPr/>
            </p:nvSpPr>
            <p:spPr>
              <a:xfrm>
                <a:off x="2398203" y="3214973"/>
                <a:ext cx="5798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D27392-E3E8-AE04-9B73-B0E569D7E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203" y="3214973"/>
                <a:ext cx="5798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53047D-6311-1B2A-9E7D-13D6101BF77B}"/>
                  </a:ext>
                </a:extLst>
              </p:cNvPr>
              <p:cNvSpPr txBox="1"/>
              <p:nvPr/>
            </p:nvSpPr>
            <p:spPr>
              <a:xfrm>
                <a:off x="2336683" y="4160724"/>
                <a:ext cx="5798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53047D-6311-1B2A-9E7D-13D6101BF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683" y="4160724"/>
                <a:ext cx="579889" cy="369332"/>
              </a:xfrm>
              <a:prstGeom prst="rect">
                <a:avLst/>
              </a:prstGeom>
              <a:blipFill>
                <a:blip r:embed="rId5"/>
                <a:stretch>
                  <a:fillRect r="-2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9C1AD9-B7E1-E94E-F295-2063EFA912DC}"/>
                  </a:ext>
                </a:extLst>
              </p:cNvPr>
              <p:cNvSpPr txBox="1"/>
              <p:nvPr/>
            </p:nvSpPr>
            <p:spPr>
              <a:xfrm>
                <a:off x="5113090" y="2269222"/>
                <a:ext cx="91859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9C1AD9-B7E1-E94E-F295-2063EFA91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090" y="2269222"/>
                <a:ext cx="918594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A6EF8D-55B5-EED8-761B-57BA076D458B}"/>
                  </a:ext>
                </a:extLst>
              </p:cNvPr>
              <p:cNvSpPr txBox="1"/>
              <p:nvPr/>
            </p:nvSpPr>
            <p:spPr>
              <a:xfrm>
                <a:off x="5113090" y="3214973"/>
                <a:ext cx="7980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A6EF8D-55B5-EED8-761B-57BA076D4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090" y="3214973"/>
                <a:ext cx="7980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F20778-59D5-5E67-0CCD-D0473185BA58}"/>
                  </a:ext>
                </a:extLst>
              </p:cNvPr>
              <p:cNvSpPr txBox="1"/>
              <p:nvPr/>
            </p:nvSpPr>
            <p:spPr>
              <a:xfrm>
                <a:off x="5113090" y="4206646"/>
                <a:ext cx="8640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⊕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F20778-59D5-5E67-0CCD-D0473185B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090" y="4206646"/>
                <a:ext cx="864065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7254A3-0FB9-8C25-720A-63AC970A119F}"/>
                  </a:ext>
                </a:extLst>
              </p:cNvPr>
              <p:cNvSpPr txBox="1"/>
              <p:nvPr/>
            </p:nvSpPr>
            <p:spPr>
              <a:xfrm>
                <a:off x="5113090" y="5013653"/>
                <a:ext cx="592472" cy="377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7254A3-0FB9-8C25-720A-63AC970A1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090" y="5013653"/>
                <a:ext cx="592472" cy="377091"/>
              </a:xfrm>
              <a:prstGeom prst="rect">
                <a:avLst/>
              </a:prstGeom>
              <a:blipFill>
                <a:blip r:embed="rId9"/>
                <a:stretch>
                  <a:fillRect r="-35052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49197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419E-9061-2D41-0402-D7E929B4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6F0FA-37D1-9644-1AA0-6C234F992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Boolean Expression</a:t>
            </a:r>
            <a:r>
              <a:rPr lang="en-US" dirty="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380603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5124</TotalTime>
  <Words>6762</Words>
  <Application>Microsoft Office PowerPoint</Application>
  <PresentationFormat>Widescreen</PresentationFormat>
  <Paragraphs>1310</Paragraphs>
  <Slides>117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7" baseType="lpstr">
      <vt:lpstr>Aptos</vt:lpstr>
      <vt:lpstr>Aptos Display</vt:lpstr>
      <vt:lpstr>Aptos Narrow</vt:lpstr>
      <vt:lpstr>Arial</vt:lpstr>
      <vt:lpstr>Bahnschrift SemiBold</vt:lpstr>
      <vt:lpstr>Cambria Math</vt:lpstr>
      <vt:lpstr>Cascadia Code</vt:lpstr>
      <vt:lpstr>Consolas</vt:lpstr>
      <vt:lpstr>Wingdings</vt:lpstr>
      <vt:lpstr>Office Theme</vt:lpstr>
      <vt:lpstr>Exploring Computer Science Concepts</vt:lpstr>
      <vt:lpstr>Number Systems</vt:lpstr>
      <vt:lpstr>Digits per base</vt:lpstr>
      <vt:lpstr>Counting in Decimal </vt:lpstr>
      <vt:lpstr>Counting in other bases</vt:lpstr>
      <vt:lpstr>Place Values </vt:lpstr>
      <vt:lpstr>Place values Converting binary decimal</vt:lpstr>
      <vt:lpstr>Converting Binary to Decimal</vt:lpstr>
      <vt:lpstr>Converting Decimal to Binary </vt:lpstr>
      <vt:lpstr>Exercises</vt:lpstr>
      <vt:lpstr>Challenge</vt:lpstr>
      <vt:lpstr>Place values Converting octal,hexadecimaldecimal</vt:lpstr>
      <vt:lpstr>Converting Decimal to Octal </vt:lpstr>
      <vt:lpstr>Exercises</vt:lpstr>
      <vt:lpstr>Converting Decimal to Hexadecimal </vt:lpstr>
      <vt:lpstr> Hexadecimal  Octal </vt:lpstr>
      <vt:lpstr>Octal  Hexadecimal</vt:lpstr>
      <vt:lpstr>Exercises</vt:lpstr>
      <vt:lpstr>Recursion : programming</vt:lpstr>
      <vt:lpstr>Relations</vt:lpstr>
      <vt:lpstr>Functions , mathematical kind</vt:lpstr>
      <vt:lpstr>Evaluating functions</vt:lpstr>
      <vt:lpstr>Recursive Functions</vt:lpstr>
      <vt:lpstr>Programming, , Test #1</vt:lpstr>
      <vt:lpstr>Test 1, observations</vt:lpstr>
      <vt:lpstr>Test 2 , analysis</vt:lpstr>
      <vt:lpstr>Topics for Test 2</vt:lpstr>
      <vt:lpstr>Infix expressions</vt:lpstr>
      <vt:lpstr>Expression : anatomy </vt:lpstr>
      <vt:lpstr>Prefix/Postfix expressions</vt:lpstr>
      <vt:lpstr>Evaluating expression,  but first Stacks and Queues </vt:lpstr>
      <vt:lpstr>Evaluating prefix expression</vt:lpstr>
      <vt:lpstr>Evaluating postfix expression</vt:lpstr>
      <vt:lpstr>Evaluate </vt:lpstr>
      <vt:lpstr>Answers </vt:lpstr>
      <vt:lpstr>Practice: Programming </vt:lpstr>
      <vt:lpstr>Review Evaluating Prefix/Postfix</vt:lpstr>
      <vt:lpstr>Precedence and associativity</vt:lpstr>
      <vt:lpstr>Precedence and associativity</vt:lpstr>
      <vt:lpstr>Precedence and associativity (lets evaluate)</vt:lpstr>
      <vt:lpstr>Precedence and associativity (answers)</vt:lpstr>
      <vt:lpstr>Convert to Prefix/Postfix (examples)</vt:lpstr>
      <vt:lpstr>Convert to Postfix</vt:lpstr>
      <vt:lpstr>Convert to Postfix</vt:lpstr>
      <vt:lpstr>Convert to Prefix and Postfix</vt:lpstr>
      <vt:lpstr>Convert to Prefix and Postfix (answers)</vt:lpstr>
      <vt:lpstr>Logical operators (for bits/bytes)</vt:lpstr>
      <vt:lpstr>Truth Tables</vt:lpstr>
      <vt:lpstr>Truth Tables</vt:lpstr>
      <vt:lpstr>Operations (evaluate)</vt:lpstr>
      <vt:lpstr>Operations (evaluate)</vt:lpstr>
      <vt:lpstr>Operations : Shift (evaluate)</vt:lpstr>
      <vt:lpstr>Answsers 1..3</vt:lpstr>
      <vt:lpstr>Answers 4..6</vt:lpstr>
      <vt:lpstr>Answers 7..8</vt:lpstr>
      <vt:lpstr>What does this Program do ? Q1.</vt:lpstr>
      <vt:lpstr>What does this Program do ? A1.</vt:lpstr>
      <vt:lpstr>What does this Program do ? Q2.</vt:lpstr>
      <vt:lpstr>What does this Program do ? A2.</vt:lpstr>
      <vt:lpstr>What does this Program do ? Q3</vt:lpstr>
      <vt:lpstr>What does this Program do ? A3</vt:lpstr>
      <vt:lpstr>What does this Program do ? Q4</vt:lpstr>
      <vt:lpstr>What does this Program do ? A4</vt:lpstr>
      <vt:lpstr>What does this Program do ? Q5</vt:lpstr>
      <vt:lpstr>What does this Program do ? A5</vt:lpstr>
      <vt:lpstr>What does this Program do ? Q6</vt:lpstr>
      <vt:lpstr>What does this Program do ? A6</vt:lpstr>
      <vt:lpstr>What does this Program do ? Q7</vt:lpstr>
      <vt:lpstr>What does this Program do ? A7</vt:lpstr>
      <vt:lpstr>Boolean Logic/Algebra</vt:lpstr>
      <vt:lpstr>Truth Tables ( same as bitwise operations  easy)</vt:lpstr>
      <vt:lpstr>Some expressions</vt:lpstr>
      <vt:lpstr>Rules/Discovery</vt:lpstr>
      <vt:lpstr>Some more rules</vt:lpstr>
      <vt:lpstr>Do it yourself </vt:lpstr>
      <vt:lpstr>Solved (and named)</vt:lpstr>
      <vt:lpstr>Lets Simplify 1..4</vt:lpstr>
      <vt:lpstr>Lets Simplify 1..4 : answers</vt:lpstr>
      <vt:lpstr>Lets Simplify 5..11</vt:lpstr>
      <vt:lpstr>Lets Simplify 5..11 : answers</vt:lpstr>
      <vt:lpstr>Truth Tables/Expressions</vt:lpstr>
      <vt:lpstr>Expressions: Soln</vt:lpstr>
      <vt:lpstr>Expressions: Soln 1..4</vt:lpstr>
      <vt:lpstr>Expressions: Soln 5,6</vt:lpstr>
      <vt:lpstr>Expressions: Soln 5,6</vt:lpstr>
      <vt:lpstr>Programming Practice</vt:lpstr>
      <vt:lpstr>Data Structures : Queue</vt:lpstr>
      <vt:lpstr>Data Structures : Stack</vt:lpstr>
      <vt:lpstr>What does this program do ? Q1</vt:lpstr>
      <vt:lpstr>What does this program do ? A1</vt:lpstr>
      <vt:lpstr>What does this program do ? Q2</vt:lpstr>
      <vt:lpstr>What does this program do ? A2</vt:lpstr>
      <vt:lpstr>What does this program do ? Q3</vt:lpstr>
      <vt:lpstr>What does this program do ? A3</vt:lpstr>
      <vt:lpstr>What does this program do ? Q4</vt:lpstr>
      <vt:lpstr>What does this program do ? A4</vt:lpstr>
      <vt:lpstr>What does this program do ? Q5</vt:lpstr>
      <vt:lpstr>What does this program do ? Q5</vt:lpstr>
      <vt:lpstr>What does this program do ? Q6</vt:lpstr>
      <vt:lpstr>What does this program do ? A6</vt:lpstr>
      <vt:lpstr>Data structure : Trees</vt:lpstr>
      <vt:lpstr>Tree: Visuals </vt:lpstr>
      <vt:lpstr>Trees : types</vt:lpstr>
      <vt:lpstr>Trees: Types</vt:lpstr>
      <vt:lpstr>Binary Tree : Key terms</vt:lpstr>
      <vt:lpstr>Binary Search tree : Examples</vt:lpstr>
      <vt:lpstr>Creation of a BST</vt:lpstr>
      <vt:lpstr>Binary Search Tree : exercise</vt:lpstr>
      <vt:lpstr>Data Structure : Graphs</vt:lpstr>
      <vt:lpstr>Graphs : uses</vt:lpstr>
      <vt:lpstr>Graphs : by Edge types</vt:lpstr>
      <vt:lpstr>Graphs : by Edge types</vt:lpstr>
      <vt:lpstr>Graph representation(s)</vt:lpstr>
      <vt:lpstr>In class exercises</vt:lpstr>
      <vt:lpstr>Logic gates</vt:lpstr>
      <vt:lpstr>Logic gates </vt:lpstr>
      <vt:lpstr>In class 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Sankalp Gupta</dc:creator>
  <cp:lastModifiedBy>Sankalp Gupta</cp:lastModifiedBy>
  <cp:revision>60</cp:revision>
  <cp:lastPrinted>2026-04-09T22:42:33Z</cp:lastPrinted>
  <dcterms:created xsi:type="dcterms:W3CDTF">2025-12-04T21:37:48Z</dcterms:created>
  <dcterms:modified xsi:type="dcterms:W3CDTF">2026-04-09T23:02:14Z</dcterms:modified>
</cp:coreProperties>
</file>