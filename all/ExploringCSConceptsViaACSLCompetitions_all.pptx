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2" r:id="rId6"/>
    <p:sldId id="264" r:id="rId7"/>
    <p:sldId id="263" r:id="rId8"/>
    <p:sldId id="267" r:id="rId9"/>
    <p:sldId id="269" r:id="rId10"/>
    <p:sldId id="270" r:id="rId11"/>
    <p:sldId id="271" r:id="rId12"/>
    <p:sldId id="273" r:id="rId13"/>
    <p:sldId id="275" r:id="rId14"/>
    <p:sldId id="277" r:id="rId15"/>
    <p:sldId id="278" r:id="rId16"/>
    <p:sldId id="276" r:id="rId17"/>
    <p:sldId id="280" r:id="rId18"/>
    <p:sldId id="279" r:id="rId19"/>
    <p:sldId id="281" r:id="rId20"/>
    <p:sldId id="282" r:id="rId21"/>
    <p:sldId id="283" r:id="rId22"/>
    <p:sldId id="284" r:id="rId23"/>
    <p:sldId id="285" r:id="rId24"/>
    <p:sldId id="286" r:id="rId25"/>
    <p:sldId id="295" r:id="rId26"/>
    <p:sldId id="296" r:id="rId27"/>
    <p:sldId id="287" r:id="rId28"/>
    <p:sldId id="288" r:id="rId29"/>
    <p:sldId id="289" r:id="rId30"/>
    <p:sldId id="290" r:id="rId31"/>
    <p:sldId id="293" r:id="rId32"/>
    <p:sldId id="291" r:id="rId33"/>
    <p:sldId id="292" r:id="rId34"/>
    <p:sldId id="294" r:id="rId35"/>
    <p:sldId id="298" r:id="rId36"/>
    <p:sldId id="299" r:id="rId37"/>
    <p:sldId id="297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19:53.8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08.4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0 262 24575,'3'0'0,"0"1"0,-1-1 0,1 1 0,-1 0 0,1 0 0,-1 0 0,1 0 0,-1 0 0,4 3 0,16 6 0,-15-8 0,0-1 0,1 0 0,0 0 0,-1-1 0,1 0 0,-1-1 0,1 1 0,-1-1 0,1-1 0,9-2 0,1-3 0,1 0 0,26-17 0,-35 19 0,33-15 0,2 2 0,92-24 0,-70 23 0,-3 3 0,-45 12 0,-1 0 0,0-1 0,0-1 0,0-1 0,20-11 0,-25 11 0,0 0 0,1 0 0,0 2 0,0 0 0,1 0 0,-1 1 0,1 1 0,0 1 0,0 0 0,27 0 0,-37 2 0,9 1 0,0-1 0,0 0 0,0-1 0,-1-1 0,1 0 0,0-1 0,-1 0 0,14-6 0,-53 2-1365,14 4-5461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0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145 1 24575,'1'4'0,"0"0"0,1 0 0,0 0 0,-1 0 0,2 0 0,-1 0 0,0-1 0,1 1 0,0-1 0,-1 0 0,8 6 0,-7-7 0,0 0 0,0 0 0,1-1 0,-1 1 0,0-1 0,1 0 0,0 0 0,-1 0 0,1 0 0,-1-1 0,8 1 0,48-3 0,-28 0 0,-19 2 0,-4-1 0,-1 1 0,0 0 0,0 1 0,0 0 0,8 1 0,-13-1 0,0-1 0,-1 1 0,1 0 0,0 0 0,0 0 0,-1 0 0,1 0 0,-1 0 0,1 0 0,-1 0 0,0 0 0,1 1 0,-1-1 0,0 1 0,0-1 0,0 1 0,0-1 0,0 1 0,0 0 0,0-1 0,0 1 0,-1 0 0,1 0 0,0 2 0,0 0 0,-1-1 0,1 1 0,0 0 0,-1-1 0,0 1 0,0-1 0,0 1 0,0 0 0,-1-1 0,0 1 0,1 0 0,-1-1 0,0 1 0,-3 4 0,1-4 0,1 0 0,-1 0 0,0-1 0,-1 1 0,1-1 0,-1 0 0,1 0 0,-1 0 0,0 0 0,0-1 0,-5 3 0,-18 10 0,5-2 0,-2 0 0,0-1 0,-48 15 0,57-22 0,-1 1 0,2 1 0,-1 0 0,1 1 0,0 0 0,0 1 0,-22 20 0,0-1 0,35-27 27,1-1-59,-1 0 1,1 1-1,0-1 0,0 0 1,-1 1-1,1-1 0,0 0 1,0 0-1,-1 1 1,1-1-1,0 0 0,-1 0 1,1 0-1,0 1 0,-1-1 1,1 0-1,0 0 0,-1 0 1,1 0-1,-1 0 1,1 0-1,0 0 0,-1 0 1,1 0-1,0 0 0,-1 0 1,1 0-1,-1 0 0,1 0 1,0 0-1,-1 0 1,1 0-1,0-1 0,-1 1 1,1 0-1,0 0 0,-1 0 1,1 0-1,0-1 0,-1 1 1,1 0-1,0-1 1,-1 1-1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1.4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1 109 24575,'3'2'0,"0"0"0,1 0 0,-1-1 0,0 0 0,1 1 0,0-1 0,-1-1 0,1 1 0,0 0 0,-1-1 0,1 0 0,0 0 0,5 0 0,7 0 0,383 4 0,-385-5 0,216-3 0,-174-2 0,14 0 0,-54 5 0,0-1 0,-1 0 0,1-1 0,20-7 0,-20 5 0,-15 5 7,0 0-1,-1 0 0,1 0 1,-1 0-1,1-1 1,0 1-1,-1 0 0,1 0 1,-1-1-1,1 1 1,-1-1-1,1 1 1,-1 0-1,1-1 0,-1 1 1,1-1-1,-1 1 1,1-1-1,-1 1 0,0-1 1,1 1-1,-1-1 1,0 0-1,0 1 0,1-1 1,-1 1-1,0-1 1,0 0-1,0 1 0,0-1 1,0 0-1,0 1 1,0-1-1,0 0 0,0 1 1,0-1-1,0 1 1,0-1-1,0 0 0,-1 1 1,1-1-1,0 0 1,0 1-1,-1-1 1,1 1-1,0-1 0,-1 1 1,1-1-1,-1 0 1,-26-31-717,20 24-266,-11-12-5850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2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1 24575,'8'1'0,"-1"1"0,0 0 0,0 0 0,0 1 0,0 0 0,-1 0 0,1 1 0,-1-1 0,0 2 0,7 4 0,0 0 0,12 9 0,0 1 0,29 32 0,-5-5 0,-46-44 0,-1 0 0,1 0 0,-1 0 0,1 1 0,-1-1 0,0 1 0,0-1 0,3 6 0,-5-7 0,0 0 0,0-1 0,0 1 0,1 0 0,-1 0 0,0 0 0,0 0 0,-1-1 0,1 1 0,0 0 0,0 0 0,0 0 0,-1 0 0,1-1 0,0 1 0,-1 0 0,1 0 0,0-1 0,-1 1 0,1 0 0,-1-1 0,1 1 0,-1 0 0,0-1 0,1 1 0,-1-1 0,1 1 0,-1-1 0,0 1 0,0-1 0,1 0 0,-1 1 0,0-1 0,0 0 0,1 1 0,-3-1 0,-25 12 0,-2-2 0,0-1 0,0-1 0,-45 5 0,-36 10 0,87-18 0,17-4 0,-1 1 0,0 0 0,1 1 0,-1-1 0,-9 6 0,16-7 0,1-1 0,0 0-1,0 0 1,-1 0 0,1 0-1,0 0 1,0 0-1,-1 1 1,1-1 0,0 0-1,0 0 1,-1 0 0,1 0-1,0 0 1,-1 0 0,1 0-1,0 0 1,0 0 0,-1 0-1,1 0 1,0 0 0,-1-1-1,1 1 1,0 0 0,0 0-1,-1 0 1,1 0 0,0 0-1,0 0 1,-1-1 0,1 1-1,0 0 1,0 0-1,0 0 1,-1-1 0,1 1-1,0 0 1,0 0 0,0-1-1,0 1 1,0 0 0,-1 0-1,1-1 1,0 1 0,0 0-1,0 0 1,0-1 0,0 1-1,0 0 1,0-1 0,0 1-1,-2-5-1346,-3-4-5479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3.8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24575,'24'1'0,"0"1"0,0 1 0,0 2 0,-1 0 0,1 1 0,-1 1 0,0 1 0,-1 2 0,0 0 0,-1 1 0,0 1 0,39 29 0,-39-25 0,275 230 0,-281-234 0,1-1 0,1-1 0,-1 0 0,1-1 0,1-1 0,0 0 0,0-2 0,23 6 0,-31-9 0,0-2 0,19 2 0,-22-2 0,1-1 0,-1 1 0,0 0 0,1 1 0,-1 0 0,11 4 0,-22-9 21,1 1 0,0 0 1,0-1-1,0 0 0,0 1 0,1-1 0,-5-6 0,-4-4-1555,-5-4-5292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4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292 1 24575,'4'1'0,"1"0"0,-1 1 0,1-1 0,-1 1 0,0 0 0,1 1 0,-1-1 0,0 1 0,-1 0 0,1 0 0,0 0 0,-1 0 0,6 7 0,13 10 0,108 88 0,-106-89 0,-19-17 0,0 1 0,-1 0 0,0 1 0,0-1 0,0 1 0,5 7 0,-8-11 0,-1 1 0,0-1 0,0 1 0,0-1 0,0 1 0,0-1 0,0 1 0,0-1 0,0 1 0,0 0 0,0-1 0,0 1 0,0-1 0,-1 1 0,1-1 0,0 1 0,0-1 0,0 1 0,-1-1 0,1 1 0,0-1 0,-1 1 0,1-1 0,0 0 0,-1 1 0,1-1 0,-1 1 0,1-1 0,0 0 0,-1 1 0,1-1 0,-1 0 0,1 0 0,-1 1 0,1-1 0,-1 0 0,0 0 0,1 0 0,-2 0 0,-23 8 0,-97 15 0,-118 31 0,222-48 0,1 2 0,0 0 0,-27 18 0,24-14 0,-29 14 0,48-27-2,1 1-1,0-1 0,0 1 1,0-1-1,0 1 1,-1-1-1,1 1 1,0-1-1,0 1 0,0-1 1,0 1-1,0-1 1,0 1-1,1-1 0,-1 1 1,0-1-1,0 1 1,0-1-1,0 1 0,0-1 1,1 1-1,-1 0 1,0-1-1,1 0 0,0-4-1297,2-5-5526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53688-98A8-4F3B-A740-8E6568AE1BC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216765-C83A-46F1-AE07-8E4F9D1EDA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43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91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CBE1C-5242-F3AB-FAB7-2C60DCC6B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2F9C86-8BD7-D89B-3647-1E2326E2F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D48978-E736-BB7A-C2B2-1C0F3412E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456E3B-A427-F36C-F340-20964451EB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636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A094-8FF7-972C-BAAE-99F40FE451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70CA27-926A-40A9-EDE4-2642234DDA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30D44-6D9F-D9C9-934E-1B2403DE5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05128-3533-A992-8CE5-6E4766508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D845D-F098-341F-958A-B8E24683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68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7C067-CC2D-34FB-4336-E199FD6B3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16F61-ED0C-EB25-5321-0FD580AC2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9DAA7-FC13-4D1B-F2BE-06D43C3DE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EE07BE-ED07-1C67-3D9B-6B9BA45F4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3BD72-AEC0-7574-D49B-C08E123A7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444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794D0-2554-CB82-AB44-3441BC67B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B23FD-C516-9866-2CC2-FED8EB296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80210-F129-4B24-BB14-5C1B9B0B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700D7-A769-FBA0-EDD4-4105D8EE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F88D0-D023-1A82-19D9-E047FC1A3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933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559F-866B-752C-3654-B5D2DB9D3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7DF7D-C812-5CB3-1058-5E6219DAD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4CD83-5F30-A379-A403-E36E37AED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FF4C34-5187-7189-8EAD-A28D8CBA5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69AC8-BFBE-6B74-CC5E-4CFEBAF0A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7E9D0-D50F-D112-BFBA-F3A9A82B5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9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28476-BEF9-77BC-A341-AB2955E35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EC7042-DA62-42AD-912A-980E24B30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E5677-4D00-AC69-3257-B9F812B6CB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753C5D-745D-F3A9-45DB-2572599F8D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197C56-33AA-9D2A-8C22-C2E0B08076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61478C-3EB0-624A-5735-D6FD4830A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2A1B1-B3F1-F824-8324-AD2ABC1F9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392A1E-149A-8D8E-85BB-2C3594CF5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434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167-9FE6-5BAC-23F6-05A6E9E54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46D61-F4C2-06F0-3F32-A15D9AA76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3A2F24-5D1A-BA17-A501-616D683F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EBBE9C-852C-5999-A647-D07EA01F1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827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4083C6-FF62-1742-AE64-F8ACE6B3F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FB856-5B25-E3AD-2CBA-8DACEC0C8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C541F-E44C-9BAD-6FC5-6EC82D2BE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857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12E7B-47C4-2F88-DB03-87C8C3C1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8C8A6-2420-D516-FA94-778076015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8546E0-93F8-BB16-02B5-FAEB313D3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EDF9D7-AF07-D6FB-F398-ED3CB41D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1F7F0F-B5E4-7897-2EDA-E97C70C1A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BA672-AAA9-00A9-371B-B3880C875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29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A9CA6-C640-CC3B-25DC-E73171212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273641-12E1-7FCD-0ED4-22D9175693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73D13C-584D-2FD6-EA25-3D552F4A7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2E968-5D7A-9371-D1D3-36FDD53D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E847DA-3911-AC61-E16A-51E732C43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FEA42D-2EE6-D711-93FD-5F42F0D1F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7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8F60B-CBA3-4333-0D58-3E8CA75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DDA668-22FB-DC28-8949-EFE202D976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16147-F5EE-D687-28FE-6ECFD36AC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466BA-F157-13E0-8BDA-492CD6A19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FE2B5-594A-A28E-F40D-F10FC014E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755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6B02F-69ED-609C-15A5-A27DC9930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AA4F67-0837-5751-2410-213CAAA0EE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6F4A0-3F80-3CF9-D997-9E0107E4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662CD-1E71-D904-1EC7-EFCA9461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5EC73-0654-2B9C-BE3D-9C78C3673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477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9F88F3-441E-6109-5B60-4720AB29F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B489A-3C59-2749-430B-157F18F26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6EE25-8FC0-3EC3-5765-380EE3A0C0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CB266D-A331-4A79-AB46-FEF40B16CF9B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55A1F-2039-2D50-C82D-36D1A6ADDC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99653-6689-0951-6610-A21828865A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5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2" Type="http://schemas.openxmlformats.org/officeDocument/2006/relationships/hyperlink" Target="https://storage.googleapis.com/content-resources/Math%20unit%20guides/CCSS/CCSS%20Algebra%201/Unit%20guide%20_%20CCSS%20Algebra%201%20_%20Unit%208_%20Functions.pdf" TargetMode="Externa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ritings.stephenwolfram.com/2024/09/nestedly-recursive-functions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ackerrank.com/domains/data-structures?filters%5Bsubdomains%5D%5B%5D=arrays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5DF9-A4F9-FA18-916B-B242CAADA4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Exploring Computer Science Concepts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68D661-0AFA-99D4-F749-4F399DEF6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Via ACSL Competitions</a:t>
            </a:r>
          </a:p>
        </p:txBody>
      </p:sp>
    </p:spTree>
    <p:extLst>
      <p:ext uri="{BB962C8B-B14F-4D97-AF65-F5344CB8AC3E}">
        <p14:creationId xmlns:p14="http://schemas.microsoft.com/office/powerpoint/2010/main" val="2777413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6A93-0DC5-C1EA-5F18-8E3BE1C1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7B5AA-6F01-1B7B-3ADC-6E7DE1910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base 10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base 2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base 8</a:t>
            </a:r>
          </a:p>
          <a:p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base 16</a:t>
            </a:r>
          </a:p>
        </p:txBody>
      </p:sp>
    </p:spTree>
    <p:extLst>
      <p:ext uri="{BB962C8B-B14F-4D97-AF65-F5344CB8AC3E}">
        <p14:creationId xmlns:p14="http://schemas.microsoft.com/office/powerpoint/2010/main" val="1764282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10258-22AE-B1D6-966E-1DF59E8E4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Digits per 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F3F30-4463-B560-E41B-9E2FFF001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Ten digits </a:t>
            </a:r>
          </a:p>
          <a:p>
            <a:pPr lvl="1"/>
            <a:r>
              <a:rPr lang="en-US" dirty="0"/>
              <a:t>0 1 2 3 4 5 6 7 8 9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Two Digits</a:t>
            </a:r>
          </a:p>
          <a:p>
            <a:pPr lvl="1"/>
            <a:r>
              <a:rPr lang="en-US" dirty="0"/>
              <a:t>0 1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8 digits</a:t>
            </a:r>
          </a:p>
          <a:p>
            <a:pPr lvl="1"/>
            <a:r>
              <a:rPr lang="en-US" dirty="0"/>
              <a:t>0 1 2 3 4 5 6 7 </a:t>
            </a:r>
          </a:p>
          <a:p>
            <a:r>
              <a:rPr lang="en-US" dirty="0"/>
              <a:t>Hexadecimal </a:t>
            </a:r>
          </a:p>
          <a:p>
            <a:pPr lvl="1"/>
            <a:r>
              <a:rPr lang="en-US" dirty="0"/>
              <a:t>16 digits</a:t>
            </a:r>
          </a:p>
          <a:p>
            <a:pPr lvl="1"/>
            <a:r>
              <a:rPr lang="en-US" dirty="0"/>
              <a:t>0 1 2 3 4 5 6 7 8 9 A B C D E F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575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9AFF5-4CBA-4A8E-8480-C396D07AC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A6E79-FF3C-8801-7E97-9E6176DCC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Increment the lowest place value ( right most digit)</a:t>
            </a:r>
          </a:p>
          <a:p>
            <a:r>
              <a:rPr lang="en-US" dirty="0"/>
              <a:t>When last digit is reached</a:t>
            </a:r>
          </a:p>
          <a:p>
            <a:pPr lvl="1"/>
            <a:r>
              <a:rPr lang="en-US" dirty="0"/>
              <a:t>Set the current column to 0 </a:t>
            </a:r>
          </a:p>
          <a:p>
            <a:pPr lvl="1"/>
            <a:r>
              <a:rPr lang="en-US" dirty="0"/>
              <a:t>Increment the column on the left by 1</a:t>
            </a:r>
          </a:p>
          <a:p>
            <a:r>
              <a:rPr lang="en-US" dirty="0"/>
              <a:t>Lets count with decimal </a:t>
            </a:r>
          </a:p>
          <a:p>
            <a:pPr lvl="1"/>
            <a:r>
              <a:rPr lang="en-US" dirty="0"/>
              <a:t>0 to 10</a:t>
            </a:r>
          </a:p>
          <a:p>
            <a:pPr lvl="1"/>
            <a:r>
              <a:rPr lang="en-US" dirty="0"/>
              <a:t>95 to105</a:t>
            </a:r>
          </a:p>
          <a:p>
            <a:r>
              <a:rPr lang="en-US" dirty="0"/>
              <a:t>How frequently do we add a new digit ?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CE4FAB2-9F0E-284D-CEBB-CE9E304BA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79008"/>
              </p:ext>
            </p:extLst>
          </p:nvPr>
        </p:nvGraphicFramePr>
        <p:xfrm>
          <a:off x="7266905" y="2324099"/>
          <a:ext cx="2862801" cy="3468504"/>
        </p:xfrm>
        <a:graphic>
          <a:graphicData uri="http://schemas.openxmlformats.org/drawingml/2006/table">
            <a:tbl>
              <a:tblPr/>
              <a:tblGrid>
                <a:gridCol w="1416643">
                  <a:extLst>
                    <a:ext uri="{9D8B030D-6E8A-4147-A177-3AD203B41FA5}">
                      <a16:colId xmlns:a16="http://schemas.microsoft.com/office/drawing/2014/main" val="3193197147"/>
                    </a:ext>
                  </a:extLst>
                </a:gridCol>
                <a:gridCol w="1446158">
                  <a:extLst>
                    <a:ext uri="{9D8B030D-6E8A-4147-A177-3AD203B41FA5}">
                      <a16:colId xmlns:a16="http://schemas.microsoft.com/office/drawing/2014/main" val="1376048237"/>
                    </a:ext>
                  </a:extLst>
                </a:gridCol>
              </a:tblGrid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139594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53262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58760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19259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19004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7509285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79438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0771007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70641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15702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60038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18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5413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81C3D-9409-A178-58C3-4C72CCAF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other 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73C8F-B7A4-E2F1-2733-967CFAD94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Counting in binary </a:t>
            </a:r>
          </a:p>
          <a:p>
            <a:pPr lvl="1"/>
            <a:r>
              <a:rPr lang="en-US" dirty="0"/>
              <a:t>We add a new digit frequently </a:t>
            </a:r>
          </a:p>
          <a:p>
            <a:pPr lvl="2"/>
            <a:r>
              <a:rPr lang="en-US" dirty="0"/>
              <a:t>At 2 , 4, 8, 16 … decimal values</a:t>
            </a:r>
          </a:p>
          <a:p>
            <a:r>
              <a:rPr lang="en-US" dirty="0"/>
              <a:t>Counting in Octal</a:t>
            </a:r>
          </a:p>
          <a:p>
            <a:pPr lvl="1"/>
            <a:r>
              <a:rPr lang="en-US" dirty="0"/>
              <a:t>We add a new digit at every</a:t>
            </a:r>
          </a:p>
          <a:p>
            <a:pPr lvl="2"/>
            <a:r>
              <a:rPr lang="en-US" dirty="0"/>
              <a:t>At 8, 64,128 …</a:t>
            </a:r>
          </a:p>
          <a:p>
            <a:r>
              <a:rPr lang="en-US" dirty="0"/>
              <a:t>Counting in </a:t>
            </a:r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We add a new digit at every </a:t>
            </a:r>
          </a:p>
          <a:p>
            <a:pPr lvl="2"/>
            <a:r>
              <a:rPr lang="en-US" dirty="0"/>
              <a:t>At 16, 256 … values</a:t>
            </a:r>
          </a:p>
          <a:p>
            <a:pPr lvl="2"/>
            <a:endParaRPr lang="en-US" dirty="0"/>
          </a:p>
          <a:p>
            <a:endParaRPr lang="en-US" baseline="30000" dirty="0"/>
          </a:p>
          <a:p>
            <a:pPr lvl="2"/>
            <a:endParaRPr lang="en-US" dirty="0"/>
          </a:p>
        </p:txBody>
      </p:sp>
      <p:graphicFrame>
        <p:nvGraphicFramePr>
          <p:cNvPr id="4" name="Content Placeholder 8">
            <a:extLst>
              <a:ext uri="{FF2B5EF4-FFF2-40B4-BE49-F238E27FC236}">
                <a16:creationId xmlns:a16="http://schemas.microsoft.com/office/drawing/2014/main" id="{E8E78130-726D-374A-AFCF-C54987DAD7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4296934"/>
              </p:ext>
            </p:extLst>
          </p:nvPr>
        </p:nvGraphicFramePr>
        <p:xfrm>
          <a:off x="6723777" y="1825625"/>
          <a:ext cx="3938164" cy="3771719"/>
        </p:xfrm>
        <a:graphic>
          <a:graphicData uri="http://schemas.openxmlformats.org/drawingml/2006/table">
            <a:tbl>
              <a:tblPr/>
              <a:tblGrid>
                <a:gridCol w="984541">
                  <a:extLst>
                    <a:ext uri="{9D8B030D-6E8A-4147-A177-3AD203B41FA5}">
                      <a16:colId xmlns:a16="http://schemas.microsoft.com/office/drawing/2014/main" val="1475462977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1475054408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923081006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3248402632"/>
                    </a:ext>
                  </a:extLst>
                </a:gridCol>
              </a:tblGrid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Binary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Octal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HexaDecimal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05435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09703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237969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23485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02086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243755"/>
                  </a:ext>
                </a:extLst>
              </a:tr>
              <a:tr h="21802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99088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158523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85157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39330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27514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523302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45197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125880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17253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03022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3397521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922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434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9490B-DA55-CC9D-B2B9-C557BBD47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Place Values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7FFD3-8283-2BEB-7491-131EE4D26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</a:t>
            </a:r>
          </a:p>
          <a:p>
            <a:pPr lvl="1"/>
            <a:r>
              <a:rPr lang="en-US" i="1" dirty="0"/>
              <a:t>We deal in power of 10s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2452</a:t>
            </a:r>
            <a:r>
              <a:rPr lang="en-US" dirty="0"/>
              <a:t> =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1000</a:t>
            </a:r>
            <a:r>
              <a:rPr lang="en-US" dirty="0"/>
              <a:t> + 4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+ 5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</a:t>
            </a:r>
            <a:r>
              <a:rPr lang="en-US" dirty="0"/>
              <a:t> + 2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</a:t>
            </a:r>
            <a:r>
              <a:rPr lang="en-US" dirty="0"/>
              <a:t>    =                      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+ 0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 </a:t>
            </a:r>
            <a:r>
              <a:rPr lang="en-US" dirty="0"/>
              <a:t>+ 1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i="1" dirty="0"/>
              <a:t>We deal in power of 2s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111</a:t>
            </a:r>
            <a:r>
              <a:rPr lang="en-US" dirty="0"/>
              <a:t>   =               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1010 </a:t>
            </a:r>
            <a:r>
              <a:rPr lang="en-US" dirty="0"/>
              <a:t>=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8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5666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653AF-4DCF-5D83-F4FD-272465A13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binary </a:t>
            </a:r>
            <a:r>
              <a:rPr lang="en-US" dirty="0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D19918D-74D4-3820-44F9-8BBF95FA1A1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8250292"/>
              </p:ext>
            </p:extLst>
          </p:nvPr>
        </p:nvGraphicFramePr>
        <p:xfrm>
          <a:off x="838198" y="1501628"/>
          <a:ext cx="10642136" cy="497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2452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2 x 10^3 = 2000</a:t>
                      </a:r>
                    </a:p>
                    <a:p>
                      <a:r>
                        <a:rPr lang="en-US" dirty="0"/>
                        <a:t>                   4 x 10^2 =    400</a:t>
                      </a:r>
                    </a:p>
                    <a:p>
                      <a:r>
                        <a:rPr lang="en-US" dirty="0"/>
                        <a:t>                   5 x 10^1 =       50  </a:t>
                      </a:r>
                    </a:p>
                    <a:p>
                      <a:r>
                        <a:rPr lang="en-US" dirty="0"/>
                        <a:t>                   2 x 10^0 =          2</a:t>
                      </a:r>
                    </a:p>
                    <a:p>
                      <a:r>
                        <a:rPr lang="en-US" dirty="0"/>
                        <a:t>                                      = 2452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2^2 = 1 x 4 =   4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2^1 = 1 x 2 =   2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2^0 = 1 x 1 =   1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                       =   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10^2 =    100</a:t>
                      </a:r>
                    </a:p>
                    <a:p>
                      <a:r>
                        <a:rPr lang="en-US" dirty="0"/>
                        <a:t>                   0 x 10^1 =         0  </a:t>
                      </a:r>
                    </a:p>
                    <a:p>
                      <a:r>
                        <a:rPr lang="en-US" dirty="0"/>
                        <a:t>                   1 x 10^0 =          1</a:t>
                      </a:r>
                    </a:p>
                    <a:p>
                      <a:r>
                        <a:rPr lang="en-US" dirty="0"/>
                        <a:t>                                      =    101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1 x 2^ 3 = 1 x 8 =   8</a:t>
                      </a:r>
                    </a:p>
                    <a:p>
                      <a:r>
                        <a:rPr lang="en-US" dirty="0"/>
                        <a:t>            0 x 2^ 2 = 0 x 4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1 x 2^ 1 = 0 x 2 =   2</a:t>
                      </a:r>
                      <a:br>
                        <a:rPr lang="en-US" dirty="0"/>
                      </a:br>
                      <a:r>
                        <a:rPr lang="en-US" dirty="0"/>
                        <a:t>            0 x 2^ 0 = 0 x 1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                               =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1000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858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45474-E3A9-E1C2-833E-1CEBF32A4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Binary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E40F9-9581-C2BC-5B88-6F1FA10EB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1      0      0     1      0      0     1   =     64 + 16 + 1 = 81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0       0      0     0      1      1     1   = 128 + 4 + 2 + 1 = 135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1       1      0      0     0     0     0     = ?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C0A94F0-7818-1B6D-64C3-C894020E204C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777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90C36-D410-83DF-929D-84FA7D541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B1B7D-BAC5-FEE4-4486-F4E90BC4D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Binary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0CBA1-A2D0-1059-8DA4-FA156A007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22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33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130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8BE95D4-FCA2-7AB1-568B-79F46AD9C1FF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5915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2429B-6C6D-B1C6-ECE1-CB36B6B5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0DA09-B148-4228-9B76-3FA17F9BB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binary </a:t>
            </a:r>
          </a:p>
          <a:p>
            <a:pPr lvl="1"/>
            <a:r>
              <a:rPr lang="en-US" dirty="0"/>
              <a:t>127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128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129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Binary numbers to Decimal</a:t>
            </a:r>
          </a:p>
          <a:p>
            <a:pPr lvl="1"/>
            <a:r>
              <a:rPr lang="en-US" dirty="0"/>
              <a:t>101101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0110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8240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03946-F61B-42B0-4D7C-AAF0808EB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3C2EE-2437-1760-3168-B24BD6AF9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binary addition and subtraction work ?</a:t>
            </a:r>
          </a:p>
        </p:txBody>
      </p:sp>
    </p:spTree>
    <p:extLst>
      <p:ext uri="{BB962C8B-B14F-4D97-AF65-F5344CB8AC3E}">
        <p14:creationId xmlns:p14="http://schemas.microsoft.com/office/powerpoint/2010/main" val="2017700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7C36A-D445-ACDC-D463-8E79266F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C0B8B-27E7-8109-A350-5C882F253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</a:t>
            </a:r>
            <a:r>
              <a:rPr lang="en-US" dirty="0" err="1"/>
              <a:t>octal,hexadecimal</a:t>
            </a:r>
            <a:r>
              <a:rPr lang="en-US" dirty="0" err="1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4A2D640-C25D-13E6-D0E4-1BE5615BB9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1214255"/>
              </p:ext>
            </p:extLst>
          </p:nvPr>
        </p:nvGraphicFramePr>
        <p:xfrm>
          <a:off x="838198" y="1501628"/>
          <a:ext cx="10642136" cy="4794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Octal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HexaDecimal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777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7 x 8^2 = 7 x 64 = 448 </a:t>
                      </a:r>
                    </a:p>
                    <a:p>
                      <a:r>
                        <a:rPr lang="en-US" dirty="0"/>
                        <a:t>                   7 x 8^1 = 7 x    8 =    56</a:t>
                      </a:r>
                    </a:p>
                    <a:p>
                      <a:r>
                        <a:rPr lang="en-US" dirty="0"/>
                        <a:t>                   7 x 8^0 = 7 x    1 =       7</a:t>
                      </a:r>
                    </a:p>
                    <a:p>
                      <a:r>
                        <a:rPr lang="en-US" dirty="0"/>
                        <a:t>                                                    =  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2AB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2</a:t>
                      </a:r>
                      <a:r>
                        <a:rPr lang="en-US" dirty="0"/>
                        <a:t> x 16^2 =    2 x 256 = 512 </a:t>
                      </a:r>
                    </a:p>
                    <a:p>
                      <a:r>
                        <a:rPr lang="en-US" dirty="0"/>
                        <a:t>                   A x 16^1 = 10 x    16 = 160</a:t>
                      </a:r>
                    </a:p>
                    <a:p>
                      <a:r>
                        <a:rPr lang="en-US" dirty="0"/>
                        <a:t>                   B x 16^0 = 11 x       1 =    11</a:t>
                      </a:r>
                    </a:p>
                    <a:p>
                      <a:r>
                        <a:rPr lang="en-US" dirty="0"/>
                        <a:t>                                                             =  683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137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8^2 = 1 x 64 =  64 </a:t>
                      </a:r>
                    </a:p>
                    <a:p>
                      <a:r>
                        <a:rPr lang="en-US" dirty="0"/>
                        <a:t>                   3 x 8^1 = 3 x    8 =  24</a:t>
                      </a:r>
                    </a:p>
                    <a:p>
                      <a:r>
                        <a:rPr lang="en-US" dirty="0"/>
                        <a:t>                   7 x 8^0 = 7 x    1 =     7</a:t>
                      </a:r>
                    </a:p>
                    <a:p>
                      <a:r>
                        <a:rPr lang="en-US" dirty="0"/>
                        <a:t>                                                    =  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1</a:t>
                      </a:r>
                      <a:r>
                        <a:rPr lang="en-US" dirty="0"/>
                        <a:t> x 16^2 =    1 x 256 = 256 </a:t>
                      </a:r>
                    </a:p>
                    <a:p>
                      <a:r>
                        <a:rPr lang="en-US" dirty="0"/>
                        <a:t>                   0 x 16^1 =    0 x    16 =       0</a:t>
                      </a:r>
                    </a:p>
                    <a:p>
                      <a:r>
                        <a:rPr lang="en-US" dirty="0"/>
                        <a:t>                   1 x 16^0 =    1 x       1 =       1</a:t>
                      </a:r>
                    </a:p>
                    <a:p>
                      <a:r>
                        <a:rPr lang="en-US" dirty="0"/>
                        <a:t>                                                             = 257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  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4A3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411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B1EAA-B8DD-26EC-19FF-8608881D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DFBE1-1F09-4E5C-D356-458DFA421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Octal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1B172-61D5-6887-D73A-F28BD6074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8    quotient : 39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39 / 8    quotient :    4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4 / 8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4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470)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8    quotient : 14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14 / 8    quotient :    1   , Remainder 6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 1 / 8 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(160)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234949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D12BF-ADDA-0C33-F381-FCCB19ED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732C9-397E-270E-3178-40150E971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E31D5-323B-E1FF-6193-D91249E24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Octal</a:t>
            </a:r>
          </a:p>
          <a:p>
            <a:pPr lvl="1"/>
            <a:r>
              <a:rPr lang="en-US" dirty="0"/>
              <a:t>111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88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511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512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513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Octal numbers to Decimal</a:t>
            </a:r>
          </a:p>
          <a:p>
            <a:pPr lvl="1"/>
            <a:r>
              <a:rPr lang="en-US" dirty="0"/>
              <a:t>45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77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972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6EE4-432F-5935-FB55-C980748F4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81EAC-639E-4B61-800D-0736AC70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Hexadecimal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F8D8-D8F2-9044-6B8D-B583A4F81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16    quotient : 19   , Remainder 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19 / 16    quotient :    1   , Remainder 3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1 / 16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138)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16    quotient :    7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  7 / 16    quotient :    0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4050805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DA0DF-0428-A16C-932D-6D90D9749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Hexadecimal </a:t>
            </a:r>
            <a:r>
              <a:rPr lang="en-US" dirty="0">
                <a:sym typeface="Wingdings" panose="05000000000000000000" pitchFamily="2" charset="2"/>
              </a:rPr>
              <a:t> Octal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D1FC0-0FC1-E666-D418-54A07F448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(AC)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16 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 //Replace </a:t>
            </a:r>
            <a:r>
              <a:rPr lang="en-US" dirty="0" err="1">
                <a:sym typeface="Wingdings" panose="05000000000000000000" pitchFamily="2" charset="2"/>
              </a:rPr>
              <a:t>hexa</a:t>
            </a:r>
            <a:r>
              <a:rPr lang="en-US" dirty="0">
                <a:sym typeface="Wingdings" panose="05000000000000000000" pitchFamily="2" charset="2"/>
              </a:rPr>
              <a:t> with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1010 1100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010 101 100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3s , added extra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br>
              <a:rPr lang="en-US" dirty="0">
                <a:sym typeface="Wingdings" panose="05000000000000000000" pitchFamily="2" charset="2"/>
              </a:rPr>
            </a:b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/>
              <a:t>(1EF)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0001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256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16 + (1111) x 1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(0001 1110 1111)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strike="sngStrike" dirty="0">
                <a:sym typeface="Wingdings" panose="05000000000000000000" pitchFamily="2" charset="2"/>
              </a:rPr>
              <a:t>000</a:t>
            </a:r>
            <a:r>
              <a:rPr lang="en-US" dirty="0">
                <a:sym typeface="Wingdings" panose="05000000000000000000" pitchFamily="2" charset="2"/>
              </a:rPr>
              <a:t> 111 101 111)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 , removed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8923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F378-FBC4-B785-4606-55327891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Octal </a:t>
            </a:r>
            <a:r>
              <a:rPr lang="en-US" dirty="0">
                <a:sym typeface="Wingdings" panose="05000000000000000000" pitchFamily="2" charset="2"/>
              </a:rPr>
              <a:t> Hexadecimal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9DCD8-512B-7888-2854-B8DFA4AED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</a:p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0483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7E173-48F1-8AE4-B589-9212969F0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4FDA8-A7C8-160E-58B2-F46D3A27F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E79C7-6903-EF1D-ABED-3A14B271B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Convert following Decimal numbers to </a:t>
            </a:r>
            <a:r>
              <a:rPr lang="en-US" dirty="0" err="1"/>
              <a:t>HexaDecimal</a:t>
            </a:r>
            <a:r>
              <a:rPr lang="en-US" dirty="0"/>
              <a:t>/Octal</a:t>
            </a:r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257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</a:t>
            </a:r>
            <a:r>
              <a:rPr lang="en-US" dirty="0" err="1"/>
              <a:t>HexaDecimal</a:t>
            </a:r>
            <a:r>
              <a:rPr lang="en-US" dirty="0"/>
              <a:t> numbers to Decimal, Octal</a:t>
            </a:r>
          </a:p>
          <a:p>
            <a:pPr lvl="1"/>
            <a:r>
              <a:rPr lang="en-US" dirty="0"/>
              <a:t>99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874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F8B1A-215C-B042-EA28-08D3F948D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: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A67A3-EB34-AD47-4E4D-D1BF4F6A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factorial</a:t>
            </a:r>
          </a:p>
          <a:p>
            <a:pPr lvl="1"/>
            <a:r>
              <a:rPr lang="en-US" dirty="0"/>
              <a:t>5! = 5 x 4 x 3 x 2 x 1 = </a:t>
            </a:r>
            <a:r>
              <a:rPr lang="en-US" b="1" dirty="0"/>
              <a:t>120</a:t>
            </a:r>
          </a:p>
          <a:p>
            <a:pPr lvl="1"/>
            <a:r>
              <a:rPr lang="en-US" dirty="0"/>
              <a:t>2! = </a:t>
            </a:r>
            <a:r>
              <a:rPr lang="en-US" b="1" dirty="0"/>
              <a:t>2</a:t>
            </a:r>
          </a:p>
          <a:p>
            <a:r>
              <a:rPr lang="en-US" dirty="0"/>
              <a:t>Provide sum of Fibonacci numbers using recursion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(13) </a:t>
            </a:r>
          </a:p>
          <a:p>
            <a:pPr lvl="2"/>
            <a:r>
              <a:rPr lang="en-US" dirty="0"/>
              <a:t>0 + 1 + 1 + 2 + 3 + 5 + 8 + 13  = </a:t>
            </a:r>
            <a:r>
              <a:rPr lang="en-US" b="1" dirty="0"/>
              <a:t>33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(3)</a:t>
            </a:r>
          </a:p>
          <a:p>
            <a:pPr lvl="2"/>
            <a:r>
              <a:rPr lang="en-US" dirty="0"/>
              <a:t>0 + 1 + 1 + 2 + 3 = </a:t>
            </a:r>
            <a:r>
              <a:rPr lang="en-US" b="1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6974645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35361-C439-F244-59BE-387062C3B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D45C0-F44A-0C13-FFC8-529E49204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: connection/mapping between elements of two or more sets, Some characteristics …</a:t>
            </a:r>
          </a:p>
          <a:p>
            <a:pPr lvl="1"/>
            <a:r>
              <a:rPr lang="en-US" dirty="0"/>
              <a:t>It is a </a:t>
            </a:r>
            <a:r>
              <a:rPr lang="en-US" b="1" dirty="0"/>
              <a:t>mapping</a:t>
            </a:r>
            <a:r>
              <a:rPr lang="en-US" dirty="0"/>
              <a:t> as </a:t>
            </a:r>
            <a:r>
              <a:rPr lang="en-US" i="1" dirty="0"/>
              <a:t>shown in figure</a:t>
            </a:r>
          </a:p>
          <a:p>
            <a:pPr lvl="1"/>
            <a:r>
              <a:rPr lang="en-US" dirty="0"/>
              <a:t>Can be written as </a:t>
            </a:r>
            <a:r>
              <a:rPr lang="en-US" b="1" dirty="0"/>
              <a:t>Ordered pairs </a:t>
            </a:r>
          </a:p>
          <a:p>
            <a:pPr lvl="2"/>
            <a:r>
              <a:rPr lang="en-US" dirty="0"/>
              <a:t>{(1,c), (2,n),(5,a),(7,n)}</a:t>
            </a:r>
          </a:p>
          <a:p>
            <a:pPr lvl="1"/>
            <a:r>
              <a:rPr lang="en-US" dirty="0"/>
              <a:t>Not always unique</a:t>
            </a:r>
          </a:p>
          <a:p>
            <a:pPr lvl="2"/>
            <a:r>
              <a:rPr lang="en-US" dirty="0"/>
              <a:t>E.g. y</a:t>
            </a:r>
            <a:r>
              <a:rPr lang="en-US" baseline="30000" dirty="0"/>
              <a:t>2</a:t>
            </a:r>
            <a:r>
              <a:rPr lang="en-US" dirty="0"/>
              <a:t> = 4 has multiple solutions (how many?)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Numerical relationship : 4+3 = 7</a:t>
            </a:r>
          </a:p>
          <a:p>
            <a:pPr lvl="1"/>
            <a:r>
              <a:rPr lang="en-US" dirty="0"/>
              <a:t>Equation : y = 2x+3</a:t>
            </a:r>
          </a:p>
          <a:p>
            <a:pPr lvl="1"/>
            <a:r>
              <a:rPr lang="en-US" dirty="0"/>
              <a:t>Geometry : two congruent triangles</a:t>
            </a:r>
          </a:p>
          <a:p>
            <a:pPr lvl="1"/>
            <a:r>
              <a:rPr lang="en-US" dirty="0"/>
              <a:t>Set theory : A is a subset of B 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6BF3F3-E264-E655-5183-8CDB033A4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624" y="2247774"/>
            <a:ext cx="3429176" cy="179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1120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656C5-174E-2FB6-65E4-CA2111D70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, mathematical kind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4E198-62A9-A7DA-7EB7-D2E9BE70D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that gives exactly </a:t>
            </a:r>
            <a:r>
              <a:rPr lang="en-US" b="1" dirty="0"/>
              <a:t>one unique output for each input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  y     :this is a function as you always get one answer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              :Not a function as you get multiple answers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Representation </a:t>
            </a:r>
          </a:p>
          <a:p>
            <a:pPr lvl="1"/>
            <a:r>
              <a:rPr lang="en-US" dirty="0"/>
              <a:t>f(x)  = 2x+1 : this is a function </a:t>
            </a:r>
          </a:p>
          <a:p>
            <a:pPr lvl="1"/>
            <a:r>
              <a:rPr lang="en-US" dirty="0"/>
              <a:t>g(x) = ± 3x  : this is </a:t>
            </a:r>
            <a:r>
              <a:rPr lang="en-US" b="1" dirty="0"/>
              <a:t>not </a:t>
            </a:r>
            <a:r>
              <a:rPr lang="en-US" dirty="0"/>
              <a:t>a function , why?</a:t>
            </a:r>
          </a:p>
          <a:p>
            <a:r>
              <a:rPr lang="en-US" dirty="0"/>
              <a:t>Follow up reading </a:t>
            </a:r>
            <a:r>
              <a:rPr lang="en-US" sz="1600" dirty="0"/>
              <a:t>(optional)</a:t>
            </a:r>
            <a:r>
              <a:rPr lang="en-US" dirty="0"/>
              <a:t>: </a:t>
            </a:r>
            <a:r>
              <a:rPr lang="en-US" dirty="0" err="1"/>
              <a:t>pg</a:t>
            </a:r>
            <a:r>
              <a:rPr lang="en-US" dirty="0"/>
              <a:t> 11-13 : </a:t>
            </a:r>
            <a:r>
              <a:rPr lang="en-US" dirty="0">
                <a:hlinkClick r:id="rId2"/>
              </a:rPr>
              <a:t>functions</a:t>
            </a:r>
            <a:endParaRPr lang="en-US" dirty="0"/>
          </a:p>
          <a:p>
            <a:endParaRPr lang="en-US" b="1" dirty="0"/>
          </a:p>
          <a:p>
            <a:pPr lvl="1"/>
            <a:endParaRPr lang="en-US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151C7A-8B6C-8009-415E-F91BB003110A}"/>
              </a:ext>
            </a:extLst>
          </p:cNvPr>
          <p:cNvSpPr/>
          <p:nvPr/>
        </p:nvSpPr>
        <p:spPr>
          <a:xfrm>
            <a:off x="1838880" y="234828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6B4BE5-A952-1A8B-54BC-63ED314339FD}"/>
              </a:ext>
            </a:extLst>
          </p:cNvPr>
          <p:cNvSpPr txBox="1"/>
          <p:nvPr/>
        </p:nvSpPr>
        <p:spPr>
          <a:xfrm>
            <a:off x="1860641" y="2348280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9EF14B-CA2E-6982-AF5C-489BC285D936}"/>
              </a:ext>
            </a:extLst>
          </p:cNvPr>
          <p:cNvSpPr txBox="1"/>
          <p:nvPr/>
        </p:nvSpPr>
        <p:spPr>
          <a:xfrm>
            <a:off x="1838880" y="2882925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0DAEC3-6CB2-B53A-492C-9AF9FB397D56}"/>
              </a:ext>
            </a:extLst>
          </p:cNvPr>
          <p:cNvSpPr/>
          <p:nvPr/>
        </p:nvSpPr>
        <p:spPr>
          <a:xfrm>
            <a:off x="1842120" y="290916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14:cNvPr>
              <p14:cNvContentPartPr/>
              <p14:nvPr/>
            </p14:nvContentPartPr>
            <p14:xfrm>
              <a:off x="2936679" y="2998246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27679" y="2989246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9C0F5BCF-D0F2-30A7-9946-861FA1711ABA}"/>
              </a:ext>
            </a:extLst>
          </p:cNvPr>
          <p:cNvGrpSpPr/>
          <p:nvPr/>
        </p:nvGrpSpPr>
        <p:grpSpPr>
          <a:xfrm>
            <a:off x="2721039" y="2857126"/>
            <a:ext cx="445320" cy="303840"/>
            <a:chOff x="2721039" y="2857126"/>
            <a:chExt cx="445320" cy="30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14:cNvPr>
                <p14:cNvContentPartPr/>
                <p14:nvPr/>
              </p14:nvContentPartPr>
              <p14:xfrm>
                <a:off x="2721039" y="2908246"/>
                <a:ext cx="376920" cy="104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712039" y="2899246"/>
                  <a:ext cx="3945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14:cNvPr>
                <p14:cNvContentPartPr/>
                <p14:nvPr/>
              </p14:nvContentPartPr>
              <p14:xfrm>
                <a:off x="2985639" y="2857126"/>
                <a:ext cx="149040" cy="141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976639" y="2848486"/>
                  <a:ext cx="1666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14:cNvPr>
                <p14:cNvContentPartPr/>
                <p14:nvPr/>
              </p14:nvContentPartPr>
              <p14:xfrm>
                <a:off x="2769279" y="3081766"/>
                <a:ext cx="349200" cy="45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760639" y="3073126"/>
                  <a:ext cx="3668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14:cNvPr>
                <p14:cNvContentPartPr/>
                <p14:nvPr/>
              </p14:nvContentPartPr>
              <p14:xfrm>
                <a:off x="3015519" y="3041806"/>
                <a:ext cx="150840" cy="119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006879" y="3033166"/>
                  <a:ext cx="16848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FCD7125-712B-D955-04CB-A6D6EA861E7E}"/>
              </a:ext>
            </a:extLst>
          </p:cNvPr>
          <p:cNvGrpSpPr/>
          <p:nvPr/>
        </p:nvGrpSpPr>
        <p:grpSpPr>
          <a:xfrm>
            <a:off x="2769279" y="3244126"/>
            <a:ext cx="389520" cy="255240"/>
            <a:chOff x="2769279" y="3244126"/>
            <a:chExt cx="389520" cy="2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14:cNvPr>
                <p14:cNvContentPartPr/>
                <p14:nvPr/>
              </p14:nvContentPartPr>
              <p14:xfrm>
                <a:off x="2769279" y="3244126"/>
                <a:ext cx="338400" cy="176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760639" y="3235126"/>
                  <a:ext cx="3560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14:cNvPr>
                <p14:cNvContentPartPr/>
                <p14:nvPr/>
              </p14:nvContentPartPr>
              <p14:xfrm>
                <a:off x="2954679" y="3353926"/>
                <a:ext cx="204120" cy="145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45679" y="3345286"/>
                  <a:ext cx="221760" cy="1630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80D0CA2-9126-FD7A-E450-E50AFF13D531}"/>
              </a:ext>
            </a:extLst>
          </p:cNvPr>
          <p:cNvSpPr txBox="1"/>
          <p:nvPr/>
        </p:nvSpPr>
        <p:spPr>
          <a:xfrm>
            <a:off x="3201639" y="2714040"/>
            <a:ext cx="527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</a:t>
            </a:r>
          </a:p>
          <a:p>
            <a:r>
              <a:rPr lang="en-US" dirty="0"/>
              <a:t>b</a:t>
            </a:r>
          </a:p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7757691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2945-0AC2-97D6-21F3-4A5D08BD2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889C3-04D9-9556-4A46-311203061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Solving </a:t>
            </a:r>
          </a:p>
          <a:p>
            <a:pPr lvl="1"/>
            <a:r>
              <a:rPr lang="en-US" dirty="0"/>
              <a:t>Substitute variables with numerals</a:t>
            </a:r>
          </a:p>
          <a:p>
            <a:pPr lvl="1"/>
            <a:r>
              <a:rPr lang="en-US" dirty="0"/>
              <a:t>Evaluate</a:t>
            </a:r>
          </a:p>
          <a:p>
            <a:pPr lvl="2"/>
            <a:r>
              <a:rPr lang="en-US" dirty="0"/>
              <a:t>Follow PEMDAS/BODMAS</a:t>
            </a:r>
          </a:p>
          <a:p>
            <a:r>
              <a:rPr lang="en-US" dirty="0"/>
              <a:t>Solve for x = 0,1,2,3</a:t>
            </a:r>
          </a:p>
          <a:p>
            <a:pPr lvl="1"/>
            <a:r>
              <a:rPr lang="en-US" dirty="0"/>
              <a:t>f(x) = 3x + 1</a:t>
            </a:r>
          </a:p>
          <a:p>
            <a:pPr lvl="1"/>
            <a:r>
              <a:rPr lang="en-US" dirty="0"/>
              <a:t>g(x) = 2x</a:t>
            </a:r>
            <a:r>
              <a:rPr lang="en-US" baseline="30000" dirty="0"/>
              <a:t>2 </a:t>
            </a:r>
            <a:r>
              <a:rPr lang="en-US" dirty="0"/>
              <a:t>+ 3</a:t>
            </a:r>
          </a:p>
          <a:p>
            <a:pPr lvl="1"/>
            <a:r>
              <a:rPr lang="en-US" dirty="0"/>
              <a:t>h(x) = x</a:t>
            </a:r>
            <a:r>
              <a:rPr lang="en-US" baseline="30000" dirty="0"/>
              <a:t>2</a:t>
            </a:r>
            <a:r>
              <a:rPr lang="en-US" dirty="0"/>
              <a:t> + 2x +1</a:t>
            </a:r>
          </a:p>
        </p:txBody>
      </p:sp>
    </p:spTree>
    <p:extLst>
      <p:ext uri="{BB962C8B-B14F-4D97-AF65-F5344CB8AC3E}">
        <p14:creationId xmlns:p14="http://schemas.microsoft.com/office/powerpoint/2010/main" val="24198639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BAF36-C99B-4C0F-D9A1-F97EBF1C3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1E908-BFA9-6149-6F25-D118365B8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Functions calling themselves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/>
          </a:p>
          <a:p>
            <a:r>
              <a:rPr lang="en-US" dirty="0"/>
              <a:t>Evaluate for ‘n’ = 2 , 4, 5, 6</a:t>
            </a:r>
          </a:p>
          <a:p>
            <a:r>
              <a:rPr lang="en-US" dirty="0"/>
              <a:t>Follow up reading </a:t>
            </a:r>
            <a:r>
              <a:rPr lang="en-US" sz="1500" dirty="0"/>
              <a:t>(optional)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nested functions visualized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B07FF-705F-B2EE-4909-718D1ECDC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136" y="2233628"/>
            <a:ext cx="3333921" cy="1124008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ED924A9-7C44-EBC3-DDF7-0205456CDC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114464"/>
              </p:ext>
            </p:extLst>
          </p:nvPr>
        </p:nvGraphicFramePr>
        <p:xfrm>
          <a:off x="1071459" y="2316479"/>
          <a:ext cx="8861106" cy="2821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30553">
                  <a:extLst>
                    <a:ext uri="{9D8B030D-6E8A-4147-A177-3AD203B41FA5}">
                      <a16:colId xmlns:a16="http://schemas.microsoft.com/office/drawing/2014/main" val="2496394709"/>
                    </a:ext>
                  </a:extLst>
                </a:gridCol>
                <a:gridCol w="4430553">
                  <a:extLst>
                    <a:ext uri="{9D8B030D-6E8A-4147-A177-3AD203B41FA5}">
                      <a16:colId xmlns:a16="http://schemas.microsoft.com/office/drawing/2014/main" val="1375899388"/>
                    </a:ext>
                  </a:extLst>
                </a:gridCol>
              </a:tblGrid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Fibonacci </a:t>
                      </a:r>
                      <a:r>
                        <a:rPr lang="en-US" b="0" dirty="0"/>
                        <a:t>numbers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8360927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Factorial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fact(n) = n * fact(n-1)</a:t>
                      </a:r>
                    </a:p>
                    <a:p>
                      <a:r>
                        <a:rPr lang="en-US" dirty="0"/>
                        <a:t>    {given, </a:t>
                      </a:r>
                      <a:r>
                        <a:rPr lang="en-US" i="1" dirty="0"/>
                        <a:t> fact(1) = fact(0) =1}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044372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Lucas </a:t>
                      </a:r>
                      <a:r>
                        <a:rPr lang="en-US" b="0" dirty="0"/>
                        <a:t>numbers</a:t>
                      </a:r>
                      <a:br>
                        <a:rPr lang="en-US" b="0" dirty="0"/>
                      </a:br>
                      <a:r>
                        <a:rPr lang="en-US" dirty="0"/>
                        <a:t>(</a:t>
                      </a:r>
                      <a:r>
                        <a:rPr lang="en-US" i="1" dirty="0"/>
                        <a:t>same rule as Fibonacci but with different starting values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l (n) = l(n-1) + l(n-2)</a:t>
                      </a:r>
                    </a:p>
                    <a:p>
                      <a:r>
                        <a:rPr lang="en-US" dirty="0"/>
                        <a:t>    {given , </a:t>
                      </a:r>
                      <a:r>
                        <a:rPr lang="en-US" i="1" dirty="0"/>
                        <a:t>l(0) = 2, l(1) = 1}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6291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2921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EB84F-B0DC-79D2-7C5F-8C3A6D23B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Programming, , Test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BEA891-9323-41D9-4413-E83293264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Need to know </a:t>
            </a:r>
          </a:p>
          <a:p>
            <a:pPr lvl="1"/>
            <a:r>
              <a:rPr lang="en-US" dirty="0"/>
              <a:t>Data types</a:t>
            </a:r>
          </a:p>
          <a:p>
            <a:pPr lvl="1"/>
            <a:r>
              <a:rPr lang="en-US" dirty="0"/>
              <a:t>Conditionals : If/else</a:t>
            </a:r>
          </a:p>
          <a:p>
            <a:pPr lvl="1"/>
            <a:r>
              <a:rPr lang="en-US" dirty="0"/>
              <a:t>Loops : for</a:t>
            </a:r>
          </a:p>
          <a:p>
            <a:pPr lvl="1"/>
            <a:r>
              <a:rPr lang="en-US" dirty="0"/>
              <a:t>Arrays : 2 dimensional</a:t>
            </a:r>
          </a:p>
          <a:p>
            <a:r>
              <a:rPr lang="en-US" dirty="0"/>
              <a:t>Practice </a:t>
            </a:r>
          </a:p>
          <a:p>
            <a:pPr lvl="1"/>
            <a:r>
              <a:rPr lang="en-US" dirty="0">
                <a:hlinkClick r:id="rId2"/>
              </a:rPr>
              <a:t>Arrays- DS (</a:t>
            </a:r>
            <a:r>
              <a:rPr lang="en-US" dirty="0" err="1">
                <a:hlinkClick r:id="rId2"/>
              </a:rPr>
              <a:t>Hackerrank</a:t>
            </a:r>
            <a:r>
              <a:rPr lang="en-US" dirty="0">
                <a:hlinkClick r:id="rId2"/>
              </a:rPr>
              <a:t>)</a:t>
            </a:r>
            <a:r>
              <a:rPr lang="en-US" dirty="0"/>
              <a:t> </a:t>
            </a:r>
          </a:p>
          <a:p>
            <a:pPr lvl="2"/>
            <a:r>
              <a:rPr lang="en-US"/>
              <a:t>Do the 4 </a:t>
            </a:r>
            <a:r>
              <a:rPr lang="en-US" dirty="0"/>
              <a:t>problems marked “easy”</a:t>
            </a:r>
          </a:p>
          <a:p>
            <a:pPr lvl="2"/>
            <a:r>
              <a:rPr lang="en-US" dirty="0"/>
              <a:t>Optional :“hard”, “medium” one are for extra challenge</a:t>
            </a:r>
          </a:p>
        </p:txBody>
      </p:sp>
    </p:spTree>
    <p:extLst>
      <p:ext uri="{BB962C8B-B14F-4D97-AF65-F5344CB8AC3E}">
        <p14:creationId xmlns:p14="http://schemas.microsoft.com/office/powerpoint/2010/main" val="6335465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39C56-5A5D-4E4D-4D8E-F37DFB3CA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1, 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D378D-5E4D-E294-B700-72DCD213F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8847"/>
            <a:ext cx="10515600" cy="4351338"/>
          </a:xfrm>
        </p:spPr>
        <p:txBody>
          <a:bodyPr/>
          <a:lstStyle/>
          <a:p>
            <a:r>
              <a:rPr lang="en-US" dirty="0"/>
              <a:t>Great participation, nearly everyone attempted</a:t>
            </a:r>
          </a:p>
          <a:p>
            <a:r>
              <a:rPr lang="en-US" dirty="0"/>
              <a:t>Students did better in quiz</a:t>
            </a:r>
          </a:p>
          <a:p>
            <a:pPr lvl="1"/>
            <a:r>
              <a:rPr lang="en-US" dirty="0"/>
              <a:t>8x full marks in quiz vs 5x full marks in program</a:t>
            </a:r>
          </a:p>
          <a:p>
            <a:r>
              <a:rPr lang="en-US" dirty="0"/>
              <a:t>More 4 students got a zero in programming ( with 1 not attempted)</a:t>
            </a:r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F89DCDD-2254-1A30-3A13-C6AB2863E4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2243" y="3707934"/>
            <a:ext cx="3174403" cy="26185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8624B3F-D128-6B7B-1206-8E41B254F3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719" y="3683515"/>
            <a:ext cx="3233606" cy="2667433"/>
          </a:xfrm>
          <a:prstGeom prst="rect">
            <a:avLst/>
          </a:prstGeom>
        </p:spPr>
      </p:pic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F5B24662-16BA-0617-641E-BE5B6C1B1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688751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64546-56C5-F32B-B7B4-0BB3361D7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2 ,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6DBCF-54D6-390D-D097-F17F35024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quizzes </a:t>
            </a:r>
          </a:p>
          <a:p>
            <a:pPr lvl="1"/>
            <a:r>
              <a:rPr lang="en-US" dirty="0"/>
              <a:t>seem to be easier for students to master</a:t>
            </a:r>
          </a:p>
          <a:p>
            <a:pPr lvl="1"/>
            <a:r>
              <a:rPr lang="en-US" dirty="0"/>
              <a:t>Everyone attempted ,but we need to figure out how to raise scores there</a:t>
            </a:r>
          </a:p>
          <a:p>
            <a:pPr lvl="2"/>
            <a:r>
              <a:rPr lang="en-US" dirty="0"/>
              <a:t>Suggestions ?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It a good attempt</a:t>
            </a:r>
          </a:p>
          <a:p>
            <a:pPr lvl="1"/>
            <a:r>
              <a:rPr lang="en-US" dirty="0"/>
              <a:t>The codes generally worked , except all test cases did not pass.</a:t>
            </a:r>
          </a:p>
          <a:p>
            <a:pPr lvl="1"/>
            <a:r>
              <a:rPr lang="en-US" dirty="0"/>
              <a:t>Higher number of students had zeroes.</a:t>
            </a:r>
          </a:p>
          <a:p>
            <a:pPr lvl="1"/>
            <a:r>
              <a:rPr lang="en-US" dirty="0"/>
              <a:t>Suggestions ?</a:t>
            </a:r>
          </a:p>
          <a:p>
            <a:r>
              <a:rPr lang="en-US" dirty="0"/>
              <a:t>Goal :We need to move more students to attempt</a:t>
            </a:r>
          </a:p>
          <a:p>
            <a:pPr lvl="1"/>
            <a:r>
              <a:rPr lang="en-US" dirty="0"/>
              <a:t>Compete with yourself , Do better than your last attempt </a:t>
            </a:r>
          </a:p>
          <a:p>
            <a:pPr lvl="1"/>
            <a:r>
              <a:rPr lang="en-US" dirty="0"/>
              <a:t>Ask for help </a:t>
            </a:r>
          </a:p>
          <a:p>
            <a:pPr lvl="2"/>
            <a:r>
              <a:rPr lang="en-US" dirty="0"/>
              <a:t>on what you don’t know, to master it.</a:t>
            </a:r>
          </a:p>
          <a:p>
            <a:pPr lvl="2"/>
            <a:r>
              <a:rPr lang="en-US" dirty="0"/>
              <a:t>And even on what you know , i.e. to learn more.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7F394-AD18-1EC7-38C3-9A61FEB14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9084285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10063-C526-EA6B-3D7A-9BD910729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for Test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8505C-A605-E7E4-9046-72C419C36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Mathematical expressions</a:t>
            </a:r>
          </a:p>
          <a:p>
            <a:pPr lvl="1"/>
            <a:r>
              <a:rPr lang="en-US" dirty="0"/>
              <a:t>Representations ( infix, prefix, postfix)</a:t>
            </a:r>
          </a:p>
          <a:p>
            <a:pPr lvl="1"/>
            <a:r>
              <a:rPr lang="en-US" dirty="0"/>
              <a:t>Evaluation or expression</a:t>
            </a:r>
          </a:p>
          <a:p>
            <a:r>
              <a:rPr lang="en-US" dirty="0"/>
              <a:t>Discrete Mathematics</a:t>
            </a:r>
          </a:p>
          <a:p>
            <a:pPr lvl="1"/>
            <a:r>
              <a:rPr lang="en-US" dirty="0"/>
              <a:t>Logical Operators (AND , OR , NOT, SHIFT)</a:t>
            </a:r>
          </a:p>
          <a:p>
            <a:pPr lvl="1"/>
            <a:r>
              <a:rPr lang="en-US" dirty="0"/>
              <a:t>Boolean logic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char, string ,arrays</a:t>
            </a:r>
          </a:p>
          <a:p>
            <a:pPr lvl="1"/>
            <a:r>
              <a:rPr lang="en-US" dirty="0"/>
              <a:t>Loops </a:t>
            </a:r>
          </a:p>
          <a:p>
            <a:pPr lvl="1"/>
            <a:r>
              <a:rPr lang="en-US" dirty="0"/>
              <a:t>Conditionals</a:t>
            </a:r>
          </a:p>
          <a:p>
            <a:pPr lvl="2"/>
            <a:r>
              <a:rPr lang="en-US" dirty="0"/>
              <a:t>If/else</a:t>
            </a:r>
          </a:p>
          <a:p>
            <a:pPr lvl="2"/>
            <a:r>
              <a:rPr lang="en-US" dirty="0"/>
              <a:t>switch/case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FCFCBD-DCB6-DA2A-15CD-C1320C57B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695369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09036-DB73-EF71-EE0A-E0F5D254B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A8B8B-A6D4-B8E0-9265-7EBCA0EDA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Encounter them in grade </a:t>
            </a:r>
            <a:r>
              <a:rPr lang="en-US" dirty="0" err="1"/>
              <a:t>maths</a:t>
            </a:r>
            <a:r>
              <a:rPr lang="en-US" dirty="0"/>
              <a:t>. e.g. </a:t>
            </a:r>
          </a:p>
          <a:p>
            <a:pPr lvl="1"/>
            <a:r>
              <a:rPr lang="en-US" dirty="0"/>
              <a:t>(11+14)/(9-3) + 2</a:t>
            </a:r>
          </a:p>
          <a:p>
            <a:pPr lvl="1"/>
            <a:r>
              <a:rPr lang="en-US" dirty="0"/>
              <a:t>3+7 / (4 * 5 - 6)</a:t>
            </a:r>
          </a:p>
          <a:p>
            <a:pPr lvl="1"/>
            <a:r>
              <a:rPr lang="en-US" dirty="0"/>
              <a:t>-2 + 8 / 2</a:t>
            </a:r>
          </a:p>
          <a:p>
            <a:r>
              <a:rPr lang="en-US" dirty="0"/>
              <a:t>Can be written using variables</a:t>
            </a:r>
          </a:p>
          <a:p>
            <a:pPr lvl="1"/>
            <a:r>
              <a:rPr lang="en-US" dirty="0"/>
              <a:t>(a + b) / (c – d ) + e </a:t>
            </a:r>
          </a:p>
          <a:p>
            <a:pPr lvl="1"/>
            <a:r>
              <a:rPr lang="en-US" dirty="0"/>
              <a:t>x + y  / (g * h – k)</a:t>
            </a:r>
          </a:p>
          <a:p>
            <a:r>
              <a:rPr lang="en-US" dirty="0"/>
              <a:t>Evaluated using </a:t>
            </a:r>
          </a:p>
          <a:p>
            <a:pPr lvl="1"/>
            <a:r>
              <a:rPr lang="en-US" dirty="0"/>
              <a:t>PEMDAS / BODMAS</a:t>
            </a:r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4BE138-382D-4140-3301-E9A9F4B74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30643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8543D-4AED-1560-6020-DBDF03CC2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Infix : anatomy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B474B-E50F-9A75-FDCD-ECE8C37DB9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Expression is made of</a:t>
            </a:r>
          </a:p>
          <a:p>
            <a:pPr lvl="1"/>
            <a:r>
              <a:rPr lang="en-US" dirty="0"/>
              <a:t>Operators ( + , - , * , /)</a:t>
            </a:r>
          </a:p>
          <a:p>
            <a:pPr lvl="1"/>
            <a:r>
              <a:rPr lang="en-US" dirty="0"/>
              <a:t>Operands (numbers, variables)</a:t>
            </a:r>
          </a:p>
          <a:p>
            <a:r>
              <a:rPr lang="en-US" dirty="0"/>
              <a:t>Unary operators :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</a:p>
          <a:p>
            <a:pPr lvl="1"/>
            <a:r>
              <a:rPr lang="en-US" dirty="0"/>
              <a:t>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r>
              <a:rPr lang="en-US" dirty="0"/>
              <a:t> Binary operators :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  <a:r>
              <a:rPr lang="en-US" dirty="0"/>
              <a:t>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b</a:t>
            </a:r>
          </a:p>
          <a:p>
            <a:pPr lvl="1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 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BB1C1A-17CA-D188-02EC-25677E359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3983034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8428-71F3-9434-03CF-F3DD0692B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Prefix/Postfix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E221BA-4008-7A96-D38C-705D413BB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Remove ambiguity( i.e. can  forget PEMDAS, BODMAS) </a:t>
            </a:r>
          </a:p>
          <a:p>
            <a:pPr lvl="1"/>
            <a:r>
              <a:rPr lang="en-US" dirty="0"/>
              <a:t>Computer friendly </a:t>
            </a:r>
          </a:p>
          <a:p>
            <a:pPr lvl="1"/>
            <a:r>
              <a:rPr lang="en-US" dirty="0"/>
              <a:t>Works with both unary/binary</a:t>
            </a:r>
          </a:p>
          <a:p>
            <a:pPr lvl="1"/>
            <a:r>
              <a:rPr lang="en-US" dirty="0"/>
              <a:t>Faster evaluation </a:t>
            </a:r>
          </a:p>
          <a:p>
            <a:r>
              <a:rPr lang="en-US" dirty="0"/>
              <a:t>Expression styles</a:t>
            </a:r>
          </a:p>
          <a:p>
            <a:pPr lvl="1"/>
            <a:r>
              <a:rPr lang="en-US" dirty="0"/>
              <a:t>Infix : operator in </a:t>
            </a:r>
            <a:r>
              <a:rPr lang="en-US" b="1" dirty="0"/>
              <a:t>middle</a:t>
            </a:r>
            <a:r>
              <a:rPr lang="en-US" dirty="0"/>
              <a:t> of operands</a:t>
            </a:r>
          </a:p>
          <a:p>
            <a:pPr lvl="2"/>
            <a:r>
              <a:rPr lang="en-US" dirty="0"/>
              <a:t>(5+6)*3  </a:t>
            </a:r>
          </a:p>
          <a:p>
            <a:pPr lvl="2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: operator </a:t>
            </a:r>
            <a:r>
              <a:rPr lang="en-US" b="1" dirty="0">
                <a:sym typeface="Wingdings" panose="05000000000000000000" pitchFamily="2" charset="2"/>
              </a:rPr>
              <a:t>before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2"/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operator </a:t>
            </a:r>
            <a:r>
              <a:rPr lang="en-US" b="1" dirty="0">
                <a:sym typeface="Wingdings" panose="05000000000000000000" pitchFamily="2" charset="2"/>
              </a:rPr>
              <a:t>after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5 6 + 3 *</a:t>
            </a:r>
          </a:p>
          <a:p>
            <a:pPr lvl="2"/>
            <a:r>
              <a:rPr lang="en-US" dirty="0"/>
              <a:t>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96621B-5CCF-4F7B-2238-5B2FA2BBC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40459883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9DA08-124C-F08B-AE2A-330F62990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expression, </a:t>
            </a:r>
            <a:br>
              <a:rPr lang="en-US" dirty="0"/>
            </a:br>
            <a:r>
              <a:rPr lang="en-US" sz="3200" i="1" dirty="0"/>
              <a:t>but first </a:t>
            </a:r>
            <a:r>
              <a:rPr lang="en-US" sz="3200" b="1" i="1" dirty="0"/>
              <a:t>Stacks</a:t>
            </a:r>
            <a:r>
              <a:rPr lang="en-US" sz="3200" i="1" dirty="0"/>
              <a:t> and </a:t>
            </a:r>
            <a:r>
              <a:rPr lang="en-US" sz="3200" b="1" i="1" dirty="0"/>
              <a:t>Queues</a:t>
            </a:r>
            <a:r>
              <a:rPr lang="en-US" sz="3200" i="1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435E2-ED41-222B-756A-12721F4F2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What is a </a:t>
            </a:r>
            <a:r>
              <a:rPr lang="en-US" b="1" dirty="0"/>
              <a:t>Stack</a:t>
            </a:r>
            <a:r>
              <a:rPr lang="en-US" dirty="0"/>
              <a:t> ?</a:t>
            </a:r>
          </a:p>
          <a:p>
            <a:pPr lvl="1"/>
            <a:r>
              <a:rPr lang="en-US" dirty="0"/>
              <a:t>This is a sequential structure</a:t>
            </a:r>
          </a:p>
          <a:p>
            <a:pPr lvl="1"/>
            <a:r>
              <a:rPr lang="en-US" b="1" dirty="0"/>
              <a:t>Items pushed at one end </a:t>
            </a:r>
          </a:p>
          <a:p>
            <a:pPr lvl="1"/>
            <a:r>
              <a:rPr lang="en-US" b="1" dirty="0"/>
              <a:t>Same end is used to pull the items</a:t>
            </a:r>
          </a:p>
          <a:p>
            <a:pPr lvl="1"/>
            <a:r>
              <a:rPr lang="en-US" b="1" dirty="0"/>
              <a:t>LIFO </a:t>
            </a:r>
            <a:r>
              <a:rPr lang="en-US" dirty="0"/>
              <a:t>: Last in First Out </a:t>
            </a:r>
          </a:p>
          <a:p>
            <a:pPr lvl="1"/>
            <a:r>
              <a:rPr lang="en-US" dirty="0"/>
              <a:t>Examples </a:t>
            </a:r>
          </a:p>
          <a:p>
            <a:pPr lvl="2"/>
            <a:r>
              <a:rPr lang="en-US" dirty="0"/>
              <a:t>Stack of plates </a:t>
            </a:r>
          </a:p>
          <a:p>
            <a:pPr lvl="2"/>
            <a:r>
              <a:rPr lang="en-US" dirty="0"/>
              <a:t>Your turned in paper assignments</a:t>
            </a:r>
          </a:p>
          <a:p>
            <a:r>
              <a:rPr lang="en-US" dirty="0"/>
              <a:t>What is a </a:t>
            </a:r>
            <a:r>
              <a:rPr lang="en-US" b="1" dirty="0"/>
              <a:t>Queue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Another sequential structure</a:t>
            </a:r>
          </a:p>
          <a:p>
            <a:pPr lvl="1"/>
            <a:r>
              <a:rPr lang="en-US" b="1" dirty="0"/>
              <a:t>Items pushed at one end</a:t>
            </a:r>
          </a:p>
          <a:p>
            <a:pPr lvl="1"/>
            <a:r>
              <a:rPr lang="en-US" b="1" dirty="0"/>
              <a:t>The opposite end is used to pull the items</a:t>
            </a:r>
          </a:p>
          <a:p>
            <a:pPr lvl="1"/>
            <a:r>
              <a:rPr lang="en-US" dirty="0"/>
              <a:t>FIFO : First In First Out</a:t>
            </a:r>
          </a:p>
          <a:p>
            <a:pPr lvl="1"/>
            <a:r>
              <a:rPr lang="en-US" dirty="0"/>
              <a:t>Examples</a:t>
            </a:r>
          </a:p>
          <a:p>
            <a:pPr lvl="2"/>
            <a:r>
              <a:rPr lang="en-US" dirty="0"/>
              <a:t>Queue for buying tickets</a:t>
            </a:r>
          </a:p>
          <a:p>
            <a:pPr lvl="2"/>
            <a:r>
              <a:rPr lang="en-US" dirty="0"/>
              <a:t>Traffic in one way single lane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7C3E84-BAA0-4755-B397-ECE0CB00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102939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67EB7-FC80-227F-6B6C-0D979456D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prefix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56AB4-1F51-A74F-12F5-061A8D8B33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Infix : (5+6)*3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- + 2 * 3 4 / 16 ^ 2 3</a:t>
            </a:r>
          </a:p>
          <a:p>
            <a:r>
              <a:rPr lang="en-US" dirty="0">
                <a:sym typeface="Wingdings" panose="05000000000000000000" pitchFamily="2" charset="2"/>
              </a:rPr>
              <a:t>Algorithm (harder way)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Scan from right to left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Anytime you find an operator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Evaluate the operation using the previous 2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Replace the </a:t>
            </a:r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with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result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in the expression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Repeat the steps till only 1 operand is left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FA5EA8-8E52-3BA2-1D1B-5AE6B9294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010043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D9CCC-B73A-534F-54B8-DDB86625D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postfix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A0144-D9A8-B144-B5F0-B30C28CF7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Evaluate </a:t>
            </a:r>
          </a:p>
          <a:p>
            <a:pPr lvl="1"/>
            <a:r>
              <a:rPr lang="en-US" dirty="0"/>
              <a:t>2 3 1 * + 9 –</a:t>
            </a:r>
          </a:p>
          <a:p>
            <a:pPr lvl="1"/>
            <a:r>
              <a:rPr lang="en-US" dirty="0"/>
              <a:t>5 3 + 6 2 / * 3 5 * +</a:t>
            </a:r>
          </a:p>
          <a:p>
            <a:r>
              <a:rPr lang="en-US" i="1" dirty="0"/>
              <a:t>Algorithm to evaluate using stack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Push the operands in a stack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When you encounter a operator </a:t>
            </a:r>
          </a:p>
          <a:p>
            <a:pPr lvl="2"/>
            <a:r>
              <a:rPr lang="en-US" dirty="0"/>
              <a:t>Pop 2 operands</a:t>
            </a:r>
          </a:p>
          <a:p>
            <a:pPr lvl="2"/>
            <a:r>
              <a:rPr lang="en-US" dirty="0"/>
              <a:t>Perform the operation on operands</a:t>
            </a:r>
          </a:p>
          <a:p>
            <a:pPr lvl="2"/>
            <a:r>
              <a:rPr lang="en-US" dirty="0"/>
              <a:t>Push the result in stack </a:t>
            </a:r>
          </a:p>
          <a:p>
            <a:pPr lvl="1"/>
            <a:r>
              <a:rPr lang="en-US" dirty="0"/>
              <a:t>Repeat from 1 until expression is parsed</a:t>
            </a:r>
          </a:p>
          <a:p>
            <a:pPr lvl="1"/>
            <a:r>
              <a:rPr lang="en-US" dirty="0"/>
              <a:t>The last item in stack is the answer</a:t>
            </a:r>
          </a:p>
          <a:p>
            <a:pPr lvl="2"/>
            <a:r>
              <a:rPr lang="en-US" dirty="0"/>
              <a:t>There would be only 1 item left when done correctly</a:t>
            </a:r>
          </a:p>
          <a:p>
            <a:r>
              <a:rPr lang="en-US" dirty="0"/>
              <a:t>* prefix expr can also be evaluated in this way ( </a:t>
            </a:r>
            <a:r>
              <a:rPr lang="en-US" i="1" dirty="0"/>
              <a:t>just in </a:t>
            </a:r>
            <a:r>
              <a:rPr lang="en-US" b="1" i="1" dirty="0"/>
              <a:t>reverse</a:t>
            </a:r>
            <a:r>
              <a:rPr lang="en-US" dirty="0"/>
              <a:t>)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A1BEF0-D4B5-79D3-99C5-AE3F44B40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01768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43874-CB60-DB45-CE8B-7A74B5117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17527-44D3-CD21-C2E1-0160D8339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1"/>
            <a:r>
              <a:rPr lang="en-US" dirty="0"/>
              <a:t>- * + 3 5 7 + / 4 2 1</a:t>
            </a:r>
          </a:p>
          <a:p>
            <a:pPr lvl="1"/>
            <a:r>
              <a:rPr lang="en-US" dirty="0"/>
              <a:t>- + 10 * 2 3 + 4 / 5 5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1"/>
            <a:r>
              <a:rPr lang="en-US" dirty="0"/>
              <a:t>8 2 / 3 4 + * 5 1 + 2 / -</a:t>
            </a:r>
          </a:p>
          <a:p>
            <a:pPr lvl="1"/>
            <a:r>
              <a:rPr lang="en-US" dirty="0"/>
              <a:t>9 8 4 2 1 ^ * / - 3 +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30C2C-A857-2CE9-4877-556490D84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0735027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49718-FD7B-BBC3-1D54-780109F2D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7F6AF-3B4E-C1A2-4EB1-34DC6F5AA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C4B36-8522-51F2-8F37-212F894EF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18</a:t>
            </a:r>
          </a:p>
          <a:p>
            <a:pPr lvl="1"/>
            <a:r>
              <a:rPr lang="en-US" dirty="0"/>
              <a:t>- * + 3 5 7 + / 4 2 1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53</a:t>
            </a:r>
          </a:p>
          <a:p>
            <a:pPr lvl="1"/>
            <a:r>
              <a:rPr lang="en-US" dirty="0"/>
              <a:t>- + 10 * 2 3 + 4 / 5 5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11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-14 </a:t>
            </a:r>
          </a:p>
          <a:p>
            <a:pPr lvl="1"/>
            <a:r>
              <a:rPr lang="en-US" dirty="0"/>
              <a:t>8 2 / 3 4 + * 5 1 + 2 / -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25</a:t>
            </a:r>
          </a:p>
          <a:p>
            <a:pPr lvl="1"/>
            <a:r>
              <a:rPr lang="en-US" dirty="0"/>
              <a:t>9 8 4 2 1 ^ * / - 3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11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017D47-227F-8158-DD87-C6DC14A78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580368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714B-546B-8601-A89D-A057C4A1A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Programming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06790-5F81-C6BD-1C95-31862CB35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 a function that takes a string and checks if it is a palindrome</a:t>
            </a:r>
          </a:p>
          <a:p>
            <a:pPr lvl="1"/>
            <a:r>
              <a:rPr lang="en-US" dirty="0"/>
              <a:t>Returns true if palindrome is found else false</a:t>
            </a:r>
          </a:p>
          <a:p>
            <a:pPr lvl="1"/>
            <a:r>
              <a:rPr lang="en-US" dirty="0"/>
              <a:t>Hints:  string indexing, loops, if , comparing characters</a:t>
            </a:r>
          </a:p>
          <a:p>
            <a:r>
              <a:rPr lang="en-US" dirty="0"/>
              <a:t>Count the number of vowels, consonants in a sentence.</a:t>
            </a:r>
          </a:p>
          <a:p>
            <a:pPr lvl="1"/>
            <a:r>
              <a:rPr lang="en-US" dirty="0"/>
              <a:t>Vowels : </a:t>
            </a:r>
            <a:r>
              <a:rPr lang="en-US" dirty="0" err="1"/>
              <a:t>a,e,i,o,u</a:t>
            </a:r>
            <a:endParaRPr lang="en-US" dirty="0"/>
          </a:p>
          <a:p>
            <a:pPr lvl="1"/>
            <a:r>
              <a:rPr lang="en-US" dirty="0"/>
              <a:t>Consonant : everything else other than vowels</a:t>
            </a:r>
          </a:p>
          <a:p>
            <a:pPr lvl="1"/>
            <a:r>
              <a:rPr lang="en-US" dirty="0"/>
              <a:t>Ignore : spaces (‘ ’,) comma(,) dash(-),semicolon(;),colon(</a:t>
            </a:r>
            <a:r>
              <a:rPr lang="en-US" dirty="0">
                <a:sym typeface="Wingdings" panose="05000000000000000000" pitchFamily="2" charset="2"/>
              </a:rPr>
              <a:t> : )</a:t>
            </a:r>
            <a:r>
              <a:rPr lang="en-US" dirty="0"/>
              <a:t> </a:t>
            </a:r>
          </a:p>
          <a:p>
            <a:r>
              <a:rPr lang="en-US" dirty="0"/>
              <a:t>Find the most frequent word in a sentence</a:t>
            </a:r>
          </a:p>
          <a:p>
            <a:pPr lvl="1"/>
            <a:r>
              <a:rPr lang="en-US" dirty="0"/>
              <a:t>If more than 1 word has same frequency return the lexicographically smaller one.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3A4E3D-D25E-39BB-AC3F-07C40080F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766526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75F4E-FDCD-0164-1335-A362235F7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E457E-39D3-7BBE-282F-FB8240E44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+ b - c * d + e^f	</a:t>
            </a:r>
          </a:p>
          <a:p>
            <a:r>
              <a:rPr lang="pt-BR" dirty="0"/>
              <a:t>(a + b) * c - (d - e) * (f + g)	</a:t>
            </a:r>
          </a:p>
          <a:p>
            <a:r>
              <a:rPr lang="pt-BR" dirty="0"/>
              <a:t>((a + b) * (c + d) / (e - f)) + g	</a:t>
            </a:r>
          </a:p>
          <a:p>
            <a:r>
              <a:rPr lang="pt-BR" dirty="0"/>
              <a:t>a * (b + c) / (d - e) </a:t>
            </a:r>
          </a:p>
          <a:p>
            <a:r>
              <a:rPr lang="pt-BR" dirty="0"/>
              <a:t>a - b / (c * d ^ e)	 </a:t>
            </a:r>
          </a:p>
          <a:p>
            <a:r>
              <a:rPr lang="pt-BR" dirty="0"/>
              <a:t>(a + b) * (c + d) - 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07515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1085</TotalTime>
  <Words>2605</Words>
  <Application>Microsoft Office PowerPoint</Application>
  <PresentationFormat>Widescreen</PresentationFormat>
  <Paragraphs>513</Paragraphs>
  <Slides>37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5" baseType="lpstr">
      <vt:lpstr>Aptos</vt:lpstr>
      <vt:lpstr>Aptos Display</vt:lpstr>
      <vt:lpstr>Aptos Narrow</vt:lpstr>
      <vt:lpstr>Arial</vt:lpstr>
      <vt:lpstr>Bahnschrift SemiBold</vt:lpstr>
      <vt:lpstr>Cascadia Code</vt:lpstr>
      <vt:lpstr>Wingdings</vt:lpstr>
      <vt:lpstr>Office Theme</vt:lpstr>
      <vt:lpstr>Exploring Computer Science Concepts</vt:lpstr>
      <vt:lpstr>Number Systems</vt:lpstr>
      <vt:lpstr>Digits per base</vt:lpstr>
      <vt:lpstr>Counting in Decimal </vt:lpstr>
      <vt:lpstr>Counting in other bases</vt:lpstr>
      <vt:lpstr>Place Values </vt:lpstr>
      <vt:lpstr>Place values Converting binary decimal</vt:lpstr>
      <vt:lpstr>Converting Binary to Decimal</vt:lpstr>
      <vt:lpstr>Converting Decimal to Binary </vt:lpstr>
      <vt:lpstr>Exercises</vt:lpstr>
      <vt:lpstr>Challenge</vt:lpstr>
      <vt:lpstr>Place values Converting octal,hexadecimaldecimal</vt:lpstr>
      <vt:lpstr>Converting Decimal to Octal </vt:lpstr>
      <vt:lpstr>Exercises</vt:lpstr>
      <vt:lpstr>Converting Decimal to Hexadecimal </vt:lpstr>
      <vt:lpstr> Hexadecimal  Octal </vt:lpstr>
      <vt:lpstr>Octal  Hexadecimal</vt:lpstr>
      <vt:lpstr>Exercises</vt:lpstr>
      <vt:lpstr>Recursion : programming</vt:lpstr>
      <vt:lpstr>Relations</vt:lpstr>
      <vt:lpstr>Functions , mathematical kind</vt:lpstr>
      <vt:lpstr>Evaluating functions</vt:lpstr>
      <vt:lpstr>Recursive Functions</vt:lpstr>
      <vt:lpstr>Programming, , Test #1</vt:lpstr>
      <vt:lpstr>Test 1, observations</vt:lpstr>
      <vt:lpstr>Test 2 , analysis</vt:lpstr>
      <vt:lpstr>Topics for Test 2</vt:lpstr>
      <vt:lpstr>Infix expressions</vt:lpstr>
      <vt:lpstr>Infix : anatomy </vt:lpstr>
      <vt:lpstr>Prefix/Postfix expressions</vt:lpstr>
      <vt:lpstr>Evaluating expression,  but first Stacks and Queues </vt:lpstr>
      <vt:lpstr>Evaluating prefix expression</vt:lpstr>
      <vt:lpstr>Evaluating postfix expression</vt:lpstr>
      <vt:lpstr>Evaluate </vt:lpstr>
      <vt:lpstr>Answers </vt:lpstr>
      <vt:lpstr>Practice: Programming </vt:lpstr>
      <vt:lpstr>Convert to Prefix and Postfix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Sankalp Gupta</dc:creator>
  <cp:lastModifiedBy>Sankalp Gupta</cp:lastModifiedBy>
  <cp:revision>19</cp:revision>
  <dcterms:created xsi:type="dcterms:W3CDTF">2025-12-04T21:37:48Z</dcterms:created>
  <dcterms:modified xsi:type="dcterms:W3CDTF">2026-01-15T23:59:07Z</dcterms:modified>
</cp:coreProperties>
</file>