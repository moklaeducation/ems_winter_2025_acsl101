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ink/ink8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4"/>
  </p:notesMasterIdLst>
  <p:sldIdLst>
    <p:sldId id="256" r:id="rId2"/>
    <p:sldId id="257" r:id="rId3"/>
    <p:sldId id="258" r:id="rId4"/>
    <p:sldId id="259" r:id="rId5"/>
    <p:sldId id="262" r:id="rId6"/>
    <p:sldId id="264" r:id="rId7"/>
    <p:sldId id="263" r:id="rId8"/>
    <p:sldId id="267" r:id="rId9"/>
    <p:sldId id="269" r:id="rId10"/>
    <p:sldId id="270" r:id="rId11"/>
    <p:sldId id="271" r:id="rId12"/>
    <p:sldId id="273" r:id="rId13"/>
    <p:sldId id="275" r:id="rId14"/>
    <p:sldId id="277" r:id="rId15"/>
    <p:sldId id="278" r:id="rId16"/>
    <p:sldId id="276" r:id="rId17"/>
    <p:sldId id="280" r:id="rId18"/>
    <p:sldId id="279" r:id="rId19"/>
    <p:sldId id="281" r:id="rId20"/>
    <p:sldId id="282" r:id="rId21"/>
    <p:sldId id="283" r:id="rId22"/>
    <p:sldId id="284" r:id="rId23"/>
    <p:sldId id="285" r:id="rId24"/>
    <p:sldId id="286" r:id="rId25"/>
    <p:sldId id="295" r:id="rId26"/>
    <p:sldId id="296" r:id="rId27"/>
    <p:sldId id="287" r:id="rId28"/>
    <p:sldId id="288" r:id="rId29"/>
    <p:sldId id="289" r:id="rId30"/>
    <p:sldId id="290" r:id="rId31"/>
    <p:sldId id="293" r:id="rId32"/>
    <p:sldId id="291" r:id="rId33"/>
    <p:sldId id="292" r:id="rId34"/>
    <p:sldId id="294" r:id="rId35"/>
    <p:sldId id="298" r:id="rId36"/>
    <p:sldId id="299" r:id="rId37"/>
    <p:sldId id="300" r:id="rId38"/>
    <p:sldId id="301" r:id="rId39"/>
    <p:sldId id="310" r:id="rId40"/>
    <p:sldId id="307" r:id="rId41"/>
    <p:sldId id="308" r:id="rId42"/>
    <p:sldId id="302" r:id="rId43"/>
    <p:sldId id="303" r:id="rId44"/>
    <p:sldId id="311" r:id="rId45"/>
    <p:sldId id="297" r:id="rId46"/>
    <p:sldId id="312" r:id="rId47"/>
    <p:sldId id="305" r:id="rId48"/>
    <p:sldId id="313" r:id="rId49"/>
    <p:sldId id="315" r:id="rId50"/>
    <p:sldId id="314" r:id="rId51"/>
    <p:sldId id="316" r:id="rId52"/>
    <p:sldId id="317" r:id="rId53"/>
    <p:sldId id="318" r:id="rId54"/>
    <p:sldId id="319" r:id="rId55"/>
    <p:sldId id="320" r:id="rId56"/>
    <p:sldId id="321" r:id="rId57"/>
    <p:sldId id="329" r:id="rId58"/>
    <p:sldId id="322" r:id="rId59"/>
    <p:sldId id="330" r:id="rId60"/>
    <p:sldId id="323" r:id="rId61"/>
    <p:sldId id="331" r:id="rId62"/>
    <p:sldId id="324" r:id="rId63"/>
    <p:sldId id="332" r:id="rId64"/>
    <p:sldId id="326" r:id="rId65"/>
    <p:sldId id="333" r:id="rId66"/>
    <p:sldId id="327" r:id="rId67"/>
    <p:sldId id="334" r:id="rId68"/>
    <p:sldId id="328" r:id="rId69"/>
    <p:sldId id="335" r:id="rId70"/>
    <p:sldId id="336" r:id="rId71"/>
    <p:sldId id="338" r:id="rId72"/>
    <p:sldId id="339" r:id="rId73"/>
    <p:sldId id="340" r:id="rId74"/>
    <p:sldId id="341" r:id="rId75"/>
    <p:sldId id="342" r:id="rId76"/>
    <p:sldId id="343" r:id="rId77"/>
    <p:sldId id="344" r:id="rId78"/>
    <p:sldId id="345" r:id="rId79"/>
    <p:sldId id="347" r:id="rId80"/>
    <p:sldId id="357" r:id="rId81"/>
    <p:sldId id="349" r:id="rId82"/>
    <p:sldId id="351" r:id="rId83"/>
    <p:sldId id="353" r:id="rId84"/>
    <p:sldId id="352" r:id="rId85"/>
    <p:sldId id="354" r:id="rId86"/>
    <p:sldId id="350" r:id="rId87"/>
    <p:sldId id="355" r:id="rId88"/>
    <p:sldId id="356" r:id="rId89"/>
    <p:sldId id="358" r:id="rId90"/>
    <p:sldId id="367" r:id="rId91"/>
    <p:sldId id="359" r:id="rId92"/>
    <p:sldId id="368" r:id="rId93"/>
    <p:sldId id="360" r:id="rId94"/>
    <p:sldId id="369" r:id="rId95"/>
    <p:sldId id="361" r:id="rId96"/>
    <p:sldId id="370" r:id="rId97"/>
    <p:sldId id="363" r:id="rId98"/>
    <p:sldId id="371" r:id="rId99"/>
    <p:sldId id="366" r:id="rId100"/>
    <p:sldId id="372" r:id="rId101"/>
    <p:sldId id="373" r:id="rId102"/>
    <p:sldId id="374" r:id="rId103"/>
    <p:sldId id="375" r:id="rId104"/>
    <p:sldId id="376" r:id="rId105"/>
    <p:sldId id="377" r:id="rId106"/>
    <p:sldId id="378" r:id="rId107"/>
    <p:sldId id="379" r:id="rId108"/>
    <p:sldId id="380" r:id="rId109"/>
    <p:sldId id="381" r:id="rId110"/>
    <p:sldId id="382" r:id="rId111"/>
    <p:sldId id="383" r:id="rId112"/>
    <p:sldId id="384" r:id="rId113"/>
    <p:sldId id="385" r:id="rId114"/>
    <p:sldId id="386" r:id="rId115"/>
    <p:sldId id="387" r:id="rId116"/>
    <p:sldId id="388" r:id="rId117"/>
    <p:sldId id="389" r:id="rId118"/>
    <p:sldId id="390" r:id="rId119"/>
    <p:sldId id="392" r:id="rId120"/>
    <p:sldId id="393" r:id="rId121"/>
    <p:sldId id="395" r:id="rId122"/>
    <p:sldId id="391" r:id="rId123"/>
  </p:sldIdLst>
  <p:sldSz cx="12192000" cy="6858000"/>
  <p:notesSz cx="7010400" cy="9296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969" autoAdjust="0"/>
    <p:restoredTop sz="94660"/>
  </p:normalViewPr>
  <p:slideViewPr>
    <p:cSldViewPr snapToGrid="0">
      <p:cViewPr varScale="1">
        <p:scale>
          <a:sx n="152" d="100"/>
          <a:sy n="152" d="100"/>
        </p:scale>
        <p:origin x="272" y="1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6" Type="http://schemas.openxmlformats.org/officeDocument/2006/relationships/slide" Target="slides/slide1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28" Type="http://schemas.openxmlformats.org/officeDocument/2006/relationships/tableStyles" Target="tableStyles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18" Type="http://schemas.openxmlformats.org/officeDocument/2006/relationships/slide" Target="slides/slide117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124" Type="http://schemas.openxmlformats.org/officeDocument/2006/relationships/notesMaster" Target="notesMasters/notesMaster1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presProps" Target="presProp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theme" Target="theme/theme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6:19:53.87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6:20:08.44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0 262 24575,'3'0'0,"0"1"0,-1-1 0,1 1 0,-1 0 0,1 0 0,-1 0 0,1 0 0,-1 0 0,4 3 0,16 6 0,-15-8 0,0-1 0,1 0 0,0 0 0,-1-1 0,1 0 0,-1-1 0,1 1 0,-1-1 0,1-1 0,9-2 0,1-3 0,1 0 0,26-17 0,-35 19 0,33-15 0,2 2 0,92-24 0,-70 23 0,-3 3 0,-45 12 0,-1 0 0,0-1 0,0-1 0,0-1 0,20-11 0,-25 11 0,0 0 0,1 0 0,0 2 0,0 0 0,1 0 0,-1 1 0,1 1 0,0 1 0,0 0 0,27 0 0,-37 2 0,9 1 0,0-1 0,0 0 0,0-1 0,-1-1 0,1 0 0,0-1 0,-1 0 0,14-6 0,-53 2-1365,14 4-5461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6:20:10.12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145 1 24575,'1'4'0,"0"0"0,1 0 0,0 0 0,-1 0 0,2 0 0,-1 0 0,0-1 0,1 1 0,0-1 0,-1 0 0,8 6 0,-7-7 0,0 0 0,0 0 0,1-1 0,-1 1 0,0-1 0,1 0 0,0 0 0,-1 0 0,1 0 0,-1-1 0,8 1 0,48-3 0,-28 0 0,-19 2 0,-4-1 0,-1 1 0,0 0 0,0 1 0,0 0 0,8 1 0,-13-1 0,0-1 0,-1 1 0,1 0 0,0 0 0,0 0 0,-1 0 0,1 0 0,-1 0 0,1 0 0,-1 0 0,0 0 0,1 1 0,-1-1 0,0 1 0,0-1 0,0 1 0,0-1 0,0 1 0,0 0 0,0-1 0,0 1 0,-1 0 0,1 0 0,0 2 0,0 0 0,-1-1 0,1 1 0,0 0 0,-1-1 0,0 1 0,0-1 0,0 1 0,0 0 0,-1-1 0,0 1 0,1 0 0,-1-1 0,0 1 0,-3 4 0,1-4 0,1 0 0,-1 0 0,0-1 0,-1 1 0,1-1 0,-1 0 0,1 0 0,-1 0 0,0 0 0,0-1 0,-5 3 0,-18 10 0,5-2 0,-2 0 0,0-1 0,-48 15 0,57-22 0,-1 1 0,2 1 0,-1 0 0,1 1 0,0 0 0,0 1 0,-22 20 0,0-1 0,35-27 27,1-1-59,-1 0 1,1 1-1,0-1 0,0 0 1,-1 1-1,1-1 0,0 0 1,0 0-1,-1 1 1,1-1-1,0 0 0,-1 0 1,1 0-1,0 1 0,-1-1 1,1 0-1,0 0 0,-1 0 1,1 0-1,-1 0 1,1 0-1,0 0 0,-1 0 1,1 0-1,0 0 0,-1 0 1,1 0-1,-1 0 0,1 0 1,0 0-1,-1 0 1,1 0-1,0-1 0,-1 1 1,1 0-1,0 0 0,-1 0 1,1 0-1,0-1 0,-1 1 1,1 0-1,0-1 1,-1 1-1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6:20:11.43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1 109 24575,'3'2'0,"0"0"0,1 0 0,-1-1 0,0 0 0,1 1 0,0-1 0,-1-1 0,1 1 0,0 0 0,-1-1 0,1 0 0,0 0 0,5 0 0,7 0 0,383 4 0,-385-5 0,216-3 0,-174-2 0,14 0 0,-54 5 0,0-1 0,-1 0 0,1-1 0,20-7 0,-20 5 0,-15 5 7,0 0-1,-1 0 0,1 0 1,-1 0-1,1-1 1,0 1-1,-1 0 0,1 0 1,-1-1-1,1 1 1,-1-1-1,1 1 1,-1 0-1,1-1 0,-1 1 1,1-1-1,-1 1 1,1-1-1,-1 1 0,0-1 1,1 1-1,-1-1 1,0 0-1,0 1 0,1-1 1,-1 1-1,0-1 1,0 0-1,0 1 0,0-1 1,0 0-1,0 1 1,0-1-1,0 0 0,0 1 1,0-1-1,0 1 1,0-1-1,0 0 0,-1 1 1,1-1-1,0 0 1,0 1-1,-1-1 1,1 1-1,0-1 0,-1 1 1,1-1-1,-1 0 1,-26-31-717,20 24-266,-11-12-5850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6:20:12.34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147 1 24575,'8'1'0,"-1"1"0,0 0 0,0 0 0,0 1 0,0 0 0,-1 0 0,1 1 0,-1-1 0,0 2 0,7 4 0,0 0 0,12 9 0,0 1 0,29 32 0,-5-5 0,-46-44 0,-1 0 0,1 0 0,-1 0 0,1 1 0,-1-1 0,0 1 0,0-1 0,3 6 0,-5-7 0,0 0 0,0-1 0,0 1 0,1 0 0,-1 0 0,0 0 0,0 0 0,-1-1 0,1 1 0,0 0 0,0 0 0,0 0 0,-1 0 0,1-1 0,0 1 0,-1 0 0,1 0 0,0-1 0,-1 1 0,1 0 0,-1-1 0,1 1 0,-1 0 0,0-1 0,1 1 0,-1-1 0,1 1 0,-1-1 0,0 1 0,0-1 0,1 0 0,-1 1 0,0-1 0,0 0 0,1 1 0,-3-1 0,-25 12 0,-2-2 0,0-1 0,0-1 0,-45 5 0,-36 10 0,87-18 0,17-4 0,-1 1 0,0 0 0,1 1 0,-1-1 0,-9 6 0,16-7 0,1-1 0,0 0-1,0 0 1,-1 0 0,1 0-1,0 0 1,0 0-1,-1 1 1,1-1 0,0 0-1,0 0 1,-1 0 0,1 0-1,0 0 1,-1 0 0,1 0-1,0 0 1,0 0 0,-1 0-1,1 0 1,0 0 0,-1-1-1,1 1 1,0 0 0,0 0-1,-1 0 1,1 0 0,0 0-1,0 0 1,-1-1 0,1 1-1,0 0 1,0 0-1,0 0 1,-1-1 0,1 1-1,0 0 1,0 0 0,0-1-1,0 1 1,0 0 0,-1 0-1,1-1 1,0 1 0,0 0-1,0 0 1,0-1 0,0 1-1,0 0 1,0-1 0,0 1-1,-2-5-1346,-3-4-5479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6:20:13.85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24575,'24'1'0,"0"1"0,0 1 0,0 2 0,-1 0 0,1 1 0,-1 1 0,0 1 0,-1 2 0,0 0 0,-1 1 0,0 1 0,39 29 0,-39-25 0,275 230 0,-281-234 0,1-1 0,1-1 0,-1 0 0,1-1 0,1-1 0,0 0 0,0-2 0,23 6 0,-31-9 0,0-2 0,19 2 0,-22-2 0,1-1 0,-1 1 0,0 0 0,1 1 0,-1 0 0,11 4 0,-22-9 21,1 1 0,0 0 1,0-1-1,0 0 0,0 1 0,1-1 0,-5-6 0,-4-4-1555,-5-4-5292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6:20:14.63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292 1 24575,'4'1'0,"1"0"0,-1 1 0,1-1 0,-1 1 0,0 0 0,1 1 0,-1-1 0,0 1 0,-1 0 0,1 0 0,0 0 0,-1 0 0,6 7 0,13 10 0,108 88 0,-106-89 0,-19-17 0,0 1 0,-1 0 0,0 1 0,0-1 0,0 1 0,5 7 0,-8-11 0,-1 1 0,0-1 0,0 1 0,0-1 0,0 1 0,0-1 0,0 1 0,0-1 0,0 1 0,0 0 0,0-1 0,0 1 0,0-1 0,-1 1 0,1-1 0,0 1 0,0-1 0,0 1 0,-1-1 0,1 1 0,0-1 0,-1 1 0,1-1 0,0 0 0,-1 1 0,1-1 0,-1 1 0,1-1 0,0 0 0,-1 1 0,1-1 0,-1 0 0,1 0 0,-1 1 0,1-1 0,-1 0 0,0 0 0,1 0 0,-2 0 0,-23 8 0,-97 15 0,-118 31 0,222-48 0,1 2 0,0 0 0,-27 18 0,24-14 0,-29 14 0,48-27-2,1 1-1,0-1 0,0 1 1,0-1-1,0 1 1,-1-1-1,1 1 1,0-1-1,0 1 0,0-1 1,0 1-1,0-1 1,0 1-1,1-1 0,-1 1 1,0-1-1,0 1 1,0-1-1,0 1 0,0-1 1,1 1-1,-1 0 1,0-1-1,1 0 0,0-4-1297,2-5-5526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3T21:10:15.37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17 14 3618,'0'0'8502,"-1"-13"-6722,1 13-1863,-1 0 0,1 0 0,0 0 0,0 0 0,-1 0 0,1 0 1,0 0-1,0 0 0,-1 0 0,1 0 0,0 0 0,-1 0 0,1 0 1,0 0-1,0 0 0,-1 1 0,1-1 0,0 0 0,0 0 0,0 0 0,-1 0 1,1 1-1,0-1 0,0 0 0,0 0 0,0 1 0,-1-1 0,1 0 1,0 0-1,0 0 0,0 1 0,0-1 0,0 0 0,0 1 0,0-1 0,0 0 1,0 0-1,0 1 0,0-1 0,0 0 0,0 0 0,0 1 0,0-1 1,0 0-1,0 0 0,0 1 0,0-1 0,0 1 0,-8 1-5354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0938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15653688-98A8-4F3B-A740-8E6568AE1BCB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17550" y="1162050"/>
            <a:ext cx="5575300" cy="31369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177" tIns="46589" rIns="93177" bIns="46589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1040" y="4473892"/>
            <a:ext cx="5608320" cy="3660458"/>
          </a:xfrm>
          <a:prstGeom prst="rect">
            <a:avLst/>
          </a:prstGeom>
        </p:spPr>
        <p:txBody>
          <a:bodyPr vert="horz" lIns="93177" tIns="46589" rIns="93177" bIns="46589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0938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24216765-C83A-46F1-AE07-8E4F9D1EDA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16435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216765-C83A-46F1-AE07-8E4F9D1EDA94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69108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DCBE1C-5242-F3AB-FAB7-2C60DCC6BF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42F9C86-8BD7-D89B-3647-1E2326E2FB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7D48978-E736-BB7A-C2B2-1C0F3412E6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9456E3B-A427-F36C-F340-20964451EB6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216765-C83A-46F1-AE07-8E4F9D1EDA94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06368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2, 3 have outputs</a:t>
            </a:r>
            <a:br>
              <a:rPr lang="en-US" dirty="0"/>
            </a:br>
            <a:r>
              <a:rPr lang="en-US" dirty="0"/>
              <a:t>4,5,6 don’t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216765-C83A-46F1-AE07-8E4F9D1EDA94}" type="slidenum">
              <a:rPr lang="en-US" smtClean="0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17647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465887" lvl="1" defTabSz="931774"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.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̅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acc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𝐴𝐶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acc>
                        <m:accPr>
                          <m:chr m:val="̅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acc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B</m:t>
                      </m:r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      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̅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acc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𝐵</m:t>
                      </m:r>
                    </m:oMath>
                  </m:oMathPara>
                </a14:m>
                <a:endParaRPr lang="en-US" b="0" dirty="0"/>
              </a:p>
              <a:p>
                <a:pPr lvl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acc>
                        <m:accPr>
                          <m:chr m:val="̅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𝐵</m:t>
                      </m:r>
                    </m:oMath>
                  </m:oMathPara>
                </a14:m>
                <a:endParaRPr lang="en-US" b="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457200" marR="0" lvl="1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b="0" i="0">
                    <a:latin typeface="Cambria Math" panose="02040503050406030204" pitchFamily="18" charset="0"/>
                  </a:rPr>
                  <a:t>(𝐴+𝐵).(𝐴 ̅+𝐶)=𝐴𝐶+𝐴 ̅B </a:t>
                </a:r>
                <a:br>
                  <a:rPr lang="en-US" b="0" i="1" dirty="0">
                    <a:latin typeface="Cambria Math" panose="02040503050406030204" pitchFamily="18" charset="0"/>
                  </a:rPr>
                </a:br>
                <a:r>
                  <a:rPr lang="en-US" b="0" i="0">
                    <a:latin typeface="Cambria Math" panose="02040503050406030204" pitchFamily="18" charset="0"/>
                  </a:rPr>
                  <a:t>        𝐴(𝐴 ̅+𝐵 )=𝐴.𝐵</a:t>
                </a:r>
                <a:endParaRPr lang="en-US" b="0" dirty="0"/>
              </a:p>
              <a:p>
                <a:pPr lvl="1"/>
                <a:r>
                  <a:rPr lang="en-US" b="0" i="0">
                    <a:latin typeface="Cambria Math" panose="02040503050406030204" pitchFamily="18" charset="0"/>
                  </a:rPr>
                  <a:t>𝐴+𝐴 ̅𝐵=𝐴+𝐵</a:t>
                </a:r>
                <a:endParaRPr lang="en-US" b="0" dirty="0"/>
              </a:p>
              <a:p>
                <a:endParaRPr lang="en-US" dirty="0"/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216765-C83A-46F1-AE07-8E4F9D1EDA94}" type="slidenum">
              <a:rPr lang="en-US" smtClean="0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37296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1A952E-9927-1087-C198-76B6E2095B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C1C7705-C938-649D-740E-28D1AAD8C2C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>
                <a:extLst>
                  <a:ext uri="{FF2B5EF4-FFF2-40B4-BE49-F238E27FC236}">
                    <a16:creationId xmlns:a16="http://schemas.microsoft.com/office/drawing/2014/main" id="{DF9E5F5B-B72E-DD3D-016C-BFF5597DEF1C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465887" lvl="1" defTabSz="931774"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.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̅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acc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𝐴𝐶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acc>
                        <m:accPr>
                          <m:chr m:val="̅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acc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B</m:t>
                      </m:r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      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̅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acc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𝐵</m:t>
                      </m:r>
                    </m:oMath>
                  </m:oMathPara>
                </a14:m>
                <a:endParaRPr lang="en-US" b="0" dirty="0"/>
              </a:p>
              <a:p>
                <a:pPr lvl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acc>
                        <m:accPr>
                          <m:chr m:val="̅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𝐵</m:t>
                      </m:r>
                    </m:oMath>
                  </m:oMathPara>
                </a14:m>
                <a:endParaRPr lang="en-US" b="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Notes Placeholder 2">
                <a:extLst>
                  <a:ext uri="{FF2B5EF4-FFF2-40B4-BE49-F238E27FC236}">
                    <a16:creationId xmlns:a16="http://schemas.microsoft.com/office/drawing/2014/main" id="{DF9E5F5B-B72E-DD3D-016C-BFF5597DEF1C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457200" marR="0" lvl="1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b="0" i="0">
                    <a:latin typeface="Cambria Math" panose="02040503050406030204" pitchFamily="18" charset="0"/>
                  </a:rPr>
                  <a:t>(𝐴+𝐵).(𝐴 ̅+𝐶)=𝐴𝐶+𝐴 ̅B </a:t>
                </a:r>
                <a:br>
                  <a:rPr lang="en-US" b="0" i="0" dirty="0">
                    <a:latin typeface="Cambria Math" panose="02040503050406030204" pitchFamily="18" charset="0"/>
                  </a:rPr>
                </a:br>
                <a:r>
                  <a:rPr lang="en-US" b="0" i="0">
                    <a:latin typeface="Cambria Math" panose="02040503050406030204" pitchFamily="18" charset="0"/>
                  </a:rPr>
                  <a:t>        𝐴(𝐴 ̅+𝐵 )=𝐴.𝐵</a:t>
                </a:r>
                <a:endParaRPr lang="en-US" b="0" dirty="0"/>
              </a:p>
              <a:p>
                <a:pPr lvl="1"/>
                <a:r>
                  <a:rPr lang="en-US" b="0" i="0">
                    <a:latin typeface="Cambria Math" panose="02040503050406030204" pitchFamily="18" charset="0"/>
                  </a:rPr>
                  <a:t>𝐴+𝐴 ̅𝐵=𝐴+𝐵</a:t>
                </a:r>
                <a:endParaRPr lang="en-US" b="0" dirty="0"/>
              </a:p>
              <a:p>
                <a:endParaRPr lang="en-US" dirty="0"/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54519E-BC79-07F8-39D4-1C6BABAB4CC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216765-C83A-46F1-AE07-8E4F9D1EDA94}" type="slidenum">
              <a:rPr lang="en-US" smtClean="0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028803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216765-C83A-46F1-AE07-8E4F9D1EDA94}" type="slidenum">
              <a:rPr lang="en-US" smtClean="0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401592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0A094-8FF7-972C-BAAE-99F40FE451E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370CA27-926A-40A9-EDE4-2642234DDA7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E30D44-6D9F-D9C9-934E-1B2403DE5D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805128-3533-A992-8CE5-6E47665087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6D845D-F098-341F-958A-B8E24683FE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36871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37C067-CC2D-34FB-4336-E199FD6B34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116F61-ED0C-EB25-5321-0FD580AC21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89DAA7-FC13-4D1B-F2BE-06D43C3DE8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EE07BE-ED07-1C67-3D9B-6B9BA45F4B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13BD72-AEC0-7574-D49B-C08E123A79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64445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5794D0-2554-CB82-AB44-3441BC67B0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D5B23FD-C516-9866-2CC2-FED8EB2965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B80210-F129-4B24-BB14-5C1B9B0B8A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5700D7-A769-FBA0-EDD4-4105D8EE40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4F88D0-D023-1A82-19D9-E047FC1A31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99330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8D559F-866B-752C-3654-B5D2DB9D3C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57DF7D-C812-5CB3-1058-5E6219DADC0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564CD83-5F30-A379-A403-E36E37AED69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FFF4C34-5187-7189-8EAD-A28D8CBA5D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A469AC8-BFBE-6B74-CC5E-4CFEBAF0AE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837E9D0-D50F-D112-BFBA-F3A9A82B55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46193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728476-BEF9-77BC-A341-AB2955E358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EC7042-DA62-42AD-912A-980E24B30B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AEE5677-4D00-AC69-3257-B9F812B6CB4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E753C5D-745D-F3A9-45DB-2572599F8D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E197C56-33AA-9D2A-8C22-C2E0B08076F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961478C-3EB0-624A-5735-D6FD4830A4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702A1B1-B3F1-F824-8324-AD2ABC1F9A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2392A1E-149A-8D8E-85BB-2C3594CF59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94344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B2D167-9FE6-5BAC-23F6-05A6E9E54E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6A46D61-F4C2-06F0-3F32-A15D9AA76A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23A2F24-5D1A-BA17-A501-616D683F2F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7EBBE9C-852C-5999-A647-D07EA01F17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98279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14083C6-FF62-1742-AE64-F8ACE6B3F3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0CFB856-5B25-E3AD-2CBA-8DACEC0C87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7C541F-E44C-9BAD-6FC5-6EC82D2BE6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88579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212E7B-47C4-2F88-DB03-87C8C3C17B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08C8A6-2420-D516-FA94-778076015E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68546E0-93F8-BB16-02B5-FAEB313D3D0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AEDF9D7-AF07-D6FB-F398-ED3CB41D5D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E1F7F0F-B5E4-7897-2EDA-E97C70C1A2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E9BA672-AAA9-00A9-371B-B3880C875C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06294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9A9CA6-C640-CC3B-25DC-E731712126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B273641-12E1-7FCD-0ED4-22D91756933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373D13C-584D-2FD6-EA25-3D552F4A725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8E2E968-5D7A-9371-D1D3-36FDD53D6D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2E847DA-3911-AC61-E16A-51E732C438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6FEA42D-2EE6-D711-93FD-5F42F0D1FD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3747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08F60B-CBA3-4333-0D58-3E8CA758F1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ADDA668-22FB-DC28-8949-EFE202D9760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816147-F5EE-D687-28FE-6ECFD36ACF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E466BA-F157-13E0-8BDA-492CD6A19B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6FE2B5-594A-A28E-F40D-F10FC014E8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57552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D86B02F-69ED-609C-15A5-A27DC993065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6AA4F67-0837-5751-2410-213CAAA0EE8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36F4A0-3F80-3CF9-D997-9E0107E4F8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3662CD-1E71-D904-1EC7-EFCA94610C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D5EC73-0654-2B9C-BE3D-9C78C3673A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94771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09F88F3-441E-6109-5B60-4720AB29F5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1B489A-3C59-2749-430B-157F18F26F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D6EE25-8FC0-3EC3-5765-380EE3A0C08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0CB266D-A331-4A79-AB46-FEF40B16CF9B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455A1F-2039-2D50-C82D-36D1A6ADDC9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399653-6689-0951-6610-A21828865AA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1354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13" Type="http://schemas.openxmlformats.org/officeDocument/2006/relationships/customXml" Target="../ink/ink6.xml"/><Relationship Id="rId3" Type="http://schemas.openxmlformats.org/officeDocument/2006/relationships/customXml" Target="../ink/ink1.xml"/><Relationship Id="rId7" Type="http://schemas.openxmlformats.org/officeDocument/2006/relationships/customXml" Target="../ink/ink3.xml"/><Relationship Id="rId12" Type="http://schemas.openxmlformats.org/officeDocument/2006/relationships/image" Target="../media/image6.png"/><Relationship Id="rId2" Type="http://schemas.openxmlformats.org/officeDocument/2006/relationships/hyperlink" Target="https://storage.googleapis.com/content-resources/Math%20unit%20guides/CCSS/CCSS%20Algebra%201/Unit%20guide%20_%20CCSS%20Algebra%201%20_%20Unit%208_%20Functions.pdf" TargetMode="External"/><Relationship Id="rId16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11" Type="http://schemas.openxmlformats.org/officeDocument/2006/relationships/customXml" Target="../ink/ink5.xml"/><Relationship Id="rId5" Type="http://schemas.openxmlformats.org/officeDocument/2006/relationships/customXml" Target="../ink/ink2.xml"/><Relationship Id="rId15" Type="http://schemas.openxmlformats.org/officeDocument/2006/relationships/customXml" Target="../ink/ink7.xml"/><Relationship Id="rId10" Type="http://schemas.openxmlformats.org/officeDocument/2006/relationships/image" Target="../media/image5.png"/><Relationship Id="rId4" Type="http://schemas.openxmlformats.org/officeDocument/2006/relationships/image" Target="../media/image2.png"/><Relationship Id="rId9" Type="http://schemas.openxmlformats.org/officeDocument/2006/relationships/customXml" Target="../ink/ink4.xml"/><Relationship Id="rId14" Type="http://schemas.openxmlformats.org/officeDocument/2006/relationships/image" Target="../media/image7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hyperlink" Target="https://writings.stephenwolfram.com/2024/09/nestedly-recursive-functions/" TargetMode="Externa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hackerrank.com/domains/data-structures?filters%5Bsubdomains%5D%5B%5D=arrays" TargetMode="Externa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0.png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hackerrank.com/acsltest3practise" TargetMode="External"/><Relationship Id="rId2" Type="http://schemas.openxmlformats.org/officeDocument/2006/relationships/hyperlink" Target="https://www.hackerrank.com/acsltest2practise" TargetMode="External"/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jpg"/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jpg"/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jpg"/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2.png"/><Relationship Id="rId3" Type="http://schemas.openxmlformats.org/officeDocument/2006/relationships/image" Target="../media/image47.png"/><Relationship Id="rId7" Type="http://schemas.openxmlformats.org/officeDocument/2006/relationships/image" Target="../media/image51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0.png"/><Relationship Id="rId5" Type="http://schemas.openxmlformats.org/officeDocument/2006/relationships/image" Target="../media/image49.png"/><Relationship Id="rId4" Type="http://schemas.openxmlformats.org/officeDocument/2006/relationships/image" Target="../media/image48.png"/><Relationship Id="rId9" Type="http://schemas.openxmlformats.org/officeDocument/2006/relationships/image" Target="../media/image53.png"/></Relationships>
</file>

<file path=ppt/slides/_rels/slide1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3" Type="http://schemas.openxmlformats.org/officeDocument/2006/relationships/customXml" Target="../ink/ink8.xml"/><Relationship Id="rId7" Type="http://schemas.openxmlformats.org/officeDocument/2006/relationships/image" Target="../media/image59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8.png"/><Relationship Id="rId5" Type="http://schemas.openxmlformats.org/officeDocument/2006/relationships/image" Target="../media/image57.png"/><Relationship Id="rId4" Type="http://schemas.openxmlformats.org/officeDocument/2006/relationships/image" Target="../media/image56.png"/></Relationships>
</file>

<file path=ppt/slides/_rels/slide1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9.png"/><Relationship Id="rId5" Type="http://schemas.openxmlformats.org/officeDocument/2006/relationships/image" Target="../media/image58.png"/><Relationship Id="rId4" Type="http://schemas.openxmlformats.org/officeDocument/2006/relationships/image" Target="../media/image57.png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6B5DF9-A4F9-FA18-916B-B242CAADA48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Exploring Computer Science Concepts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568D661-0AFA-99D4-F749-4F399DEF603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Via ACSL Competitions</a:t>
            </a:r>
          </a:p>
        </p:txBody>
      </p:sp>
    </p:spTree>
    <p:extLst>
      <p:ext uri="{BB962C8B-B14F-4D97-AF65-F5344CB8AC3E}">
        <p14:creationId xmlns:p14="http://schemas.microsoft.com/office/powerpoint/2010/main" val="27774135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B26A93-0DC5-C1EA-5F18-8E3BE1C1A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Number Systems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27B5AA-6F01-1B7B-3ADC-6E7DE1910A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Decimal </a:t>
            </a:r>
          </a:p>
          <a:p>
            <a:pPr lvl="1"/>
            <a:r>
              <a:rPr lang="en-US" dirty="0"/>
              <a:t>base 10</a:t>
            </a:r>
          </a:p>
          <a:p>
            <a:r>
              <a:rPr lang="en-US" dirty="0"/>
              <a:t>Binary </a:t>
            </a:r>
          </a:p>
          <a:p>
            <a:pPr lvl="1"/>
            <a:r>
              <a:rPr lang="en-US" dirty="0"/>
              <a:t>base 2</a:t>
            </a:r>
          </a:p>
          <a:p>
            <a:r>
              <a:rPr lang="en-US" dirty="0"/>
              <a:t>Octal </a:t>
            </a:r>
          </a:p>
          <a:p>
            <a:pPr lvl="1"/>
            <a:r>
              <a:rPr lang="en-US" dirty="0"/>
              <a:t>base 8</a:t>
            </a:r>
          </a:p>
          <a:p>
            <a:r>
              <a:rPr lang="en-US" dirty="0" err="1"/>
              <a:t>HexaDecimal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base 16</a:t>
            </a:r>
          </a:p>
        </p:txBody>
      </p:sp>
    </p:spTree>
    <p:extLst>
      <p:ext uri="{BB962C8B-B14F-4D97-AF65-F5344CB8AC3E}">
        <p14:creationId xmlns:p14="http://schemas.microsoft.com/office/powerpoint/2010/main" val="17642828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910258-22AE-B1D6-966E-1DF59E8E4D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Digits per base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EF3F30-4463-B560-E41B-9E2FFF0018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Decimal </a:t>
            </a:r>
          </a:p>
          <a:p>
            <a:pPr lvl="1"/>
            <a:r>
              <a:rPr lang="en-US" dirty="0"/>
              <a:t>Ten digits </a:t>
            </a:r>
          </a:p>
          <a:p>
            <a:pPr lvl="1"/>
            <a:r>
              <a:rPr lang="en-US" dirty="0"/>
              <a:t>0 1 2 3 4 5 6 7 8 9 </a:t>
            </a:r>
          </a:p>
          <a:p>
            <a:r>
              <a:rPr lang="en-US" dirty="0"/>
              <a:t>Binary </a:t>
            </a:r>
          </a:p>
          <a:p>
            <a:pPr lvl="1"/>
            <a:r>
              <a:rPr lang="en-US" dirty="0"/>
              <a:t>Two Digits</a:t>
            </a:r>
          </a:p>
          <a:p>
            <a:pPr lvl="1"/>
            <a:r>
              <a:rPr lang="en-US" dirty="0"/>
              <a:t>0 1</a:t>
            </a:r>
          </a:p>
          <a:p>
            <a:r>
              <a:rPr lang="en-US" dirty="0"/>
              <a:t>Octal </a:t>
            </a:r>
          </a:p>
          <a:p>
            <a:pPr lvl="1"/>
            <a:r>
              <a:rPr lang="en-US" dirty="0"/>
              <a:t>8 digits</a:t>
            </a:r>
          </a:p>
          <a:p>
            <a:pPr lvl="1"/>
            <a:r>
              <a:rPr lang="en-US" dirty="0"/>
              <a:t>0 1 2 3 4 5 6 7 </a:t>
            </a:r>
          </a:p>
          <a:p>
            <a:r>
              <a:rPr lang="en-US" dirty="0"/>
              <a:t>Hexadecimal </a:t>
            </a:r>
          </a:p>
          <a:p>
            <a:pPr lvl="1"/>
            <a:r>
              <a:rPr lang="en-US" dirty="0"/>
              <a:t>16 digits</a:t>
            </a:r>
          </a:p>
          <a:p>
            <a:pPr lvl="1"/>
            <a:r>
              <a:rPr lang="en-US" dirty="0"/>
              <a:t>0 1 2 3 4 5 6 7 8 9 A B C D E F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0357506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49AFF5-4CBA-4A8E-8480-C396D07AC7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Counting in Decimal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1A6E79-FF3C-8801-7E97-9E6176DCC4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Increment the lowest place value ( right most digit)</a:t>
            </a:r>
          </a:p>
          <a:p>
            <a:r>
              <a:rPr lang="en-US" dirty="0"/>
              <a:t>When last digit is reached</a:t>
            </a:r>
          </a:p>
          <a:p>
            <a:pPr lvl="1"/>
            <a:r>
              <a:rPr lang="en-US" dirty="0"/>
              <a:t>Set the current column to 0 </a:t>
            </a:r>
          </a:p>
          <a:p>
            <a:pPr lvl="1"/>
            <a:r>
              <a:rPr lang="en-US" dirty="0"/>
              <a:t>Increment the column on the left by 1</a:t>
            </a:r>
          </a:p>
          <a:p>
            <a:r>
              <a:rPr lang="en-US" dirty="0"/>
              <a:t>Lets count with decimal </a:t>
            </a:r>
          </a:p>
          <a:p>
            <a:pPr lvl="1"/>
            <a:r>
              <a:rPr lang="en-US" dirty="0"/>
              <a:t>0 to 10</a:t>
            </a:r>
          </a:p>
          <a:p>
            <a:pPr lvl="1"/>
            <a:r>
              <a:rPr lang="en-US" dirty="0"/>
              <a:t>95 to105</a:t>
            </a:r>
          </a:p>
          <a:p>
            <a:r>
              <a:rPr lang="en-US" dirty="0"/>
              <a:t>How frequently do we add a new digit ?</a:t>
            </a:r>
          </a:p>
          <a:p>
            <a:pPr marL="457200" lvl="1" indent="0">
              <a:buNone/>
            </a:pPr>
            <a:endParaRPr lang="en-US" dirty="0"/>
          </a:p>
          <a:p>
            <a:pPr marL="457200" lvl="1" indent="0">
              <a:buNone/>
            </a:pPr>
            <a:endParaRPr lang="en-US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CCE4FAB2-9F0E-284D-CEBB-CE9E304BA1C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34979008"/>
              </p:ext>
            </p:extLst>
          </p:nvPr>
        </p:nvGraphicFramePr>
        <p:xfrm>
          <a:off x="7266905" y="2324099"/>
          <a:ext cx="2862801" cy="3468504"/>
        </p:xfrm>
        <a:graphic>
          <a:graphicData uri="http://schemas.openxmlformats.org/drawingml/2006/table">
            <a:tbl>
              <a:tblPr/>
              <a:tblGrid>
                <a:gridCol w="1416643">
                  <a:extLst>
                    <a:ext uri="{9D8B030D-6E8A-4147-A177-3AD203B41FA5}">
                      <a16:colId xmlns:a16="http://schemas.microsoft.com/office/drawing/2014/main" val="3193197147"/>
                    </a:ext>
                  </a:extLst>
                </a:gridCol>
                <a:gridCol w="1446158">
                  <a:extLst>
                    <a:ext uri="{9D8B030D-6E8A-4147-A177-3AD203B41FA5}">
                      <a16:colId xmlns:a16="http://schemas.microsoft.com/office/drawing/2014/main" val="1376048237"/>
                    </a:ext>
                  </a:extLst>
                </a:gridCol>
              </a:tblGrid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Decimal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Decimal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C7A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1395944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95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0532623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96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47587604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31925980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98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87190043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99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57509285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1" i="0" u="none" strike="noStrike">
                          <a:solidFill>
                            <a:srgbClr val="FA7D00"/>
                          </a:solidFill>
                          <a:effectLst/>
                          <a:latin typeface="Aptos Narrow" panose="020B0004020202020204" pitchFamily="34" charset="0"/>
                        </a:rPr>
                        <a:t>100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53794389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60771007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102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8370641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103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56157029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104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86003880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1" i="0" u="none" strike="noStrike">
                          <a:solidFill>
                            <a:srgbClr val="FA7D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105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111816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954133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A81C3D-9409-A178-58C3-4C72CCAFB8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Counting in other bases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173C8F-B7A4-E2F1-2733-967CFAD941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Counting in binary </a:t>
            </a:r>
          </a:p>
          <a:p>
            <a:pPr lvl="1"/>
            <a:r>
              <a:rPr lang="en-US" dirty="0"/>
              <a:t>We add a new digit frequently </a:t>
            </a:r>
          </a:p>
          <a:p>
            <a:pPr lvl="2"/>
            <a:r>
              <a:rPr lang="en-US" dirty="0"/>
              <a:t>At 2 , 4, 8, 16 … decimal values</a:t>
            </a:r>
          </a:p>
          <a:p>
            <a:r>
              <a:rPr lang="en-US" dirty="0"/>
              <a:t>Counting in Octal</a:t>
            </a:r>
          </a:p>
          <a:p>
            <a:pPr lvl="1"/>
            <a:r>
              <a:rPr lang="en-US" dirty="0"/>
              <a:t>We add a new digit at every</a:t>
            </a:r>
          </a:p>
          <a:p>
            <a:pPr lvl="2"/>
            <a:r>
              <a:rPr lang="en-US" dirty="0"/>
              <a:t>At 8, 64,128 …</a:t>
            </a:r>
          </a:p>
          <a:p>
            <a:r>
              <a:rPr lang="en-US" dirty="0"/>
              <a:t>Counting in </a:t>
            </a:r>
            <a:r>
              <a:rPr lang="en-US" dirty="0" err="1"/>
              <a:t>HexaDecimal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We add a new digit at every </a:t>
            </a:r>
          </a:p>
          <a:p>
            <a:pPr lvl="2"/>
            <a:r>
              <a:rPr lang="en-US" dirty="0"/>
              <a:t>At 16, 256 … values</a:t>
            </a:r>
          </a:p>
          <a:p>
            <a:pPr lvl="2"/>
            <a:endParaRPr lang="en-US" dirty="0"/>
          </a:p>
          <a:p>
            <a:endParaRPr lang="en-US" baseline="30000" dirty="0"/>
          </a:p>
          <a:p>
            <a:pPr lvl="2"/>
            <a:endParaRPr lang="en-US" dirty="0"/>
          </a:p>
        </p:txBody>
      </p:sp>
      <p:graphicFrame>
        <p:nvGraphicFramePr>
          <p:cNvPr id="4" name="Content Placeholder 8">
            <a:extLst>
              <a:ext uri="{FF2B5EF4-FFF2-40B4-BE49-F238E27FC236}">
                <a16:creationId xmlns:a16="http://schemas.microsoft.com/office/drawing/2014/main" id="{E8E78130-726D-374A-AFCF-C54987DAD7D4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774296934"/>
              </p:ext>
            </p:extLst>
          </p:nvPr>
        </p:nvGraphicFramePr>
        <p:xfrm>
          <a:off x="6723777" y="1825625"/>
          <a:ext cx="3938164" cy="3771719"/>
        </p:xfrm>
        <a:graphic>
          <a:graphicData uri="http://schemas.openxmlformats.org/drawingml/2006/table">
            <a:tbl>
              <a:tblPr/>
              <a:tblGrid>
                <a:gridCol w="984541">
                  <a:extLst>
                    <a:ext uri="{9D8B030D-6E8A-4147-A177-3AD203B41FA5}">
                      <a16:colId xmlns:a16="http://schemas.microsoft.com/office/drawing/2014/main" val="1475462977"/>
                    </a:ext>
                  </a:extLst>
                </a:gridCol>
                <a:gridCol w="984541">
                  <a:extLst>
                    <a:ext uri="{9D8B030D-6E8A-4147-A177-3AD203B41FA5}">
                      <a16:colId xmlns:a16="http://schemas.microsoft.com/office/drawing/2014/main" val="1475054408"/>
                    </a:ext>
                  </a:extLst>
                </a:gridCol>
                <a:gridCol w="984541">
                  <a:extLst>
                    <a:ext uri="{9D8B030D-6E8A-4147-A177-3AD203B41FA5}">
                      <a16:colId xmlns:a16="http://schemas.microsoft.com/office/drawing/2014/main" val="923081006"/>
                    </a:ext>
                  </a:extLst>
                </a:gridCol>
                <a:gridCol w="984541">
                  <a:extLst>
                    <a:ext uri="{9D8B030D-6E8A-4147-A177-3AD203B41FA5}">
                      <a16:colId xmlns:a16="http://schemas.microsoft.com/office/drawing/2014/main" val="3248402632"/>
                    </a:ext>
                  </a:extLst>
                </a:gridCol>
              </a:tblGrid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Decimal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Binary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Octal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HexaDecimal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4054357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63097036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82379696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1" i="0" u="none" strike="noStrike">
                          <a:solidFill>
                            <a:srgbClr val="FA7D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1234856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92020869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1" i="0" u="none" strike="noStrike">
                          <a:solidFill>
                            <a:srgbClr val="FA7D00"/>
                          </a:solidFill>
                          <a:effectLst/>
                          <a:latin typeface="Aptos Narrow" panose="020B0004020202020204" pitchFamily="34" charset="0"/>
                        </a:rPr>
                        <a:t>100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65243755"/>
                  </a:ext>
                </a:extLst>
              </a:tr>
              <a:tr h="21802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46990883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110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11585239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22851579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1" i="0" u="none" strike="noStrike">
                          <a:solidFill>
                            <a:srgbClr val="FA7D00"/>
                          </a:solidFill>
                          <a:effectLst/>
                          <a:latin typeface="Aptos Narrow" panose="020B0004020202020204" pitchFamily="34" charset="0"/>
                        </a:rPr>
                        <a:t>1000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1" i="0" u="none" strike="noStrike">
                          <a:solidFill>
                            <a:srgbClr val="FA7D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4393307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1001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8275144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1010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56523302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1011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B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26451974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1100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9125880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1101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15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7172534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1110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16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E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0030223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15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1111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17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F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43397521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16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1" i="0" u="none" strike="noStrike">
                          <a:solidFill>
                            <a:srgbClr val="FA7D00"/>
                          </a:solidFill>
                          <a:effectLst/>
                          <a:latin typeface="Aptos Narrow" panose="020B0004020202020204" pitchFamily="34" charset="0"/>
                        </a:rPr>
                        <a:t>10000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1" i="0" u="none" strike="noStrike">
                          <a:solidFill>
                            <a:srgbClr val="FA7D00"/>
                          </a:solidFill>
                          <a:effectLst/>
                          <a:latin typeface="Aptos Narrow" panose="020B0004020202020204" pitchFamily="34" charset="0"/>
                        </a:rPr>
                        <a:t>20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1" i="0" u="none" strike="noStrike" dirty="0">
                          <a:solidFill>
                            <a:srgbClr val="FA7D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8492242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4543489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99490B-DA55-CC9D-B2B9-C557BBD477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Place Values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87FFD3-8283-2BEB-7491-131EE4D269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Decimal</a:t>
            </a:r>
          </a:p>
          <a:p>
            <a:pPr lvl="1"/>
            <a:r>
              <a:rPr lang="en-US" i="1" dirty="0"/>
              <a:t>We deal in power of 10s</a:t>
            </a:r>
          </a:p>
          <a:p>
            <a:pPr lvl="1"/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2452</a:t>
            </a:r>
            <a:r>
              <a:rPr lang="en-US" dirty="0"/>
              <a:t> = 2 * </a:t>
            </a:r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1000</a:t>
            </a:r>
            <a:r>
              <a:rPr lang="en-US" dirty="0"/>
              <a:t> + 4 * </a:t>
            </a:r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100</a:t>
            </a:r>
            <a:r>
              <a:rPr lang="en-US" dirty="0"/>
              <a:t> + 5 * </a:t>
            </a:r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10</a:t>
            </a:r>
            <a:r>
              <a:rPr lang="en-US" dirty="0"/>
              <a:t> + 2 * </a:t>
            </a:r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1</a:t>
            </a:r>
          </a:p>
          <a:p>
            <a:pPr lvl="1"/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101</a:t>
            </a:r>
            <a:r>
              <a:rPr lang="en-US" dirty="0"/>
              <a:t>    =                       1 * </a:t>
            </a:r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100</a:t>
            </a:r>
            <a:r>
              <a:rPr lang="en-US" dirty="0"/>
              <a:t> + 0 * </a:t>
            </a:r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10 </a:t>
            </a:r>
            <a:r>
              <a:rPr lang="en-US" dirty="0"/>
              <a:t>+ 1 * </a:t>
            </a:r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1</a:t>
            </a:r>
            <a:r>
              <a:rPr lang="en-US" dirty="0"/>
              <a:t> </a:t>
            </a:r>
          </a:p>
          <a:p>
            <a:r>
              <a:rPr lang="en-US" dirty="0"/>
              <a:t>Binary </a:t>
            </a:r>
          </a:p>
          <a:p>
            <a:pPr lvl="1"/>
            <a:r>
              <a:rPr lang="en-US" i="1" dirty="0"/>
              <a:t>We deal in power of 2s</a:t>
            </a:r>
          </a:p>
          <a:p>
            <a:pPr lvl="1"/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111</a:t>
            </a:r>
            <a:r>
              <a:rPr lang="en-US" dirty="0"/>
              <a:t>   =                1 * </a:t>
            </a:r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4</a:t>
            </a:r>
            <a:r>
              <a:rPr lang="en-US" dirty="0"/>
              <a:t> + 1 * </a:t>
            </a:r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2</a:t>
            </a:r>
            <a:r>
              <a:rPr lang="en-US" dirty="0"/>
              <a:t> + 1 * </a:t>
            </a:r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1</a:t>
            </a:r>
            <a:r>
              <a:rPr lang="en-US" dirty="0"/>
              <a:t> </a:t>
            </a:r>
          </a:p>
          <a:p>
            <a:pPr lvl="1"/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1010 </a:t>
            </a:r>
            <a:r>
              <a:rPr lang="en-US" dirty="0"/>
              <a:t>= 1 * </a:t>
            </a:r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8</a:t>
            </a:r>
            <a:r>
              <a:rPr lang="en-US" dirty="0"/>
              <a:t> + 0 * </a:t>
            </a:r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4</a:t>
            </a:r>
            <a:r>
              <a:rPr lang="en-US" dirty="0"/>
              <a:t> + 1 * </a:t>
            </a:r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2</a:t>
            </a:r>
            <a:r>
              <a:rPr lang="en-US" dirty="0"/>
              <a:t> + 0 * </a:t>
            </a:r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1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556664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5653AF-4DCF-5D83-F4FD-272465A13E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61003"/>
          </a:xfrm>
        </p:spPr>
        <p:txBody>
          <a:bodyPr>
            <a:normAutofit fontScale="90000"/>
          </a:bodyPr>
          <a:lstStyle/>
          <a:p>
            <a:r>
              <a:rPr lang="en-US" dirty="0"/>
              <a:t>Place values</a:t>
            </a:r>
            <a:br>
              <a:rPr lang="en-US" dirty="0"/>
            </a:br>
            <a:r>
              <a:rPr lang="en-US" dirty="0"/>
              <a:t>Converting binary </a:t>
            </a:r>
            <a:r>
              <a:rPr lang="en-US" dirty="0">
                <a:sym typeface="Wingdings" panose="05000000000000000000" pitchFamily="2" charset="2"/>
              </a:rPr>
              <a:t>decimal</a:t>
            </a:r>
            <a:endParaRPr lang="en-US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9D19918D-74D4-3820-44F9-8BBF95FA1A1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688250292"/>
              </p:ext>
            </p:extLst>
          </p:nvPr>
        </p:nvGraphicFramePr>
        <p:xfrm>
          <a:off x="838198" y="1501628"/>
          <a:ext cx="10642136" cy="497813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21068">
                  <a:extLst>
                    <a:ext uri="{9D8B030D-6E8A-4147-A177-3AD203B41FA5}">
                      <a16:colId xmlns:a16="http://schemas.microsoft.com/office/drawing/2014/main" val="3982428962"/>
                    </a:ext>
                  </a:extLst>
                </a:gridCol>
                <a:gridCol w="5321068">
                  <a:extLst>
                    <a:ext uri="{9D8B030D-6E8A-4147-A177-3AD203B41FA5}">
                      <a16:colId xmlns:a16="http://schemas.microsoft.com/office/drawing/2014/main" val="1857857529"/>
                    </a:ext>
                  </a:extLst>
                </a:gridCol>
              </a:tblGrid>
              <a:tr h="432048">
                <a:tc>
                  <a:txBody>
                    <a:bodyPr/>
                    <a:lstStyle/>
                    <a:p>
                      <a:r>
                        <a:rPr lang="en-US" dirty="0"/>
                        <a:t>Decimal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Binary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32925158"/>
                  </a:ext>
                </a:extLst>
              </a:tr>
              <a:tr h="1645448">
                <a:tc>
                  <a:txBody>
                    <a:bodyPr/>
                    <a:lstStyle/>
                    <a:p>
                      <a:r>
                        <a:rPr lang="en-US" dirty="0"/>
                        <a:t>2452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</a:t>
                      </a:r>
                      <a:r>
                        <a:rPr lang="en-US" dirty="0"/>
                        <a:t>                                               </a:t>
                      </a:r>
                    </a:p>
                    <a:p>
                      <a:r>
                        <a:rPr lang="en-US" dirty="0"/>
                        <a:t>                   2 x 10^3 = 2000</a:t>
                      </a:r>
                    </a:p>
                    <a:p>
                      <a:r>
                        <a:rPr lang="en-US" dirty="0"/>
                        <a:t>                   4 x 10^2 =    400</a:t>
                      </a:r>
                    </a:p>
                    <a:p>
                      <a:r>
                        <a:rPr lang="en-US" dirty="0"/>
                        <a:t>                   5 x 10^1 =       50  </a:t>
                      </a:r>
                    </a:p>
                    <a:p>
                      <a:r>
                        <a:rPr lang="en-US" dirty="0"/>
                        <a:t>                   2 x 10^0 =          2</a:t>
                      </a:r>
                    </a:p>
                    <a:p>
                      <a:r>
                        <a:rPr lang="en-US" dirty="0"/>
                        <a:t>                                      = 2452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111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 </a:t>
                      </a:r>
                    </a:p>
                    <a:p>
                      <a:r>
                        <a:rPr lang="en-US" dirty="0">
                          <a:sym typeface="Wingdings" panose="05000000000000000000" pitchFamily="2" charset="2"/>
                        </a:rPr>
                        <a:t>            1 x 2^2 = 1 x 4 =   4</a:t>
                      </a:r>
                    </a:p>
                    <a:p>
                      <a:r>
                        <a:rPr lang="en-US" dirty="0">
                          <a:sym typeface="Wingdings" panose="05000000000000000000" pitchFamily="2" charset="2"/>
                        </a:rPr>
                        <a:t>            1 x 2^1 = 1 x 2 =   2</a:t>
                      </a:r>
                    </a:p>
                    <a:p>
                      <a:r>
                        <a:rPr lang="en-US" dirty="0">
                          <a:sym typeface="Wingdings" panose="05000000000000000000" pitchFamily="2" charset="2"/>
                        </a:rPr>
                        <a:t>            1 x 2^0 = 1 x 1 =   1 </a:t>
                      </a:r>
                    </a:p>
                    <a:p>
                      <a:r>
                        <a:rPr lang="en-US" dirty="0">
                          <a:sym typeface="Wingdings" panose="05000000000000000000" pitchFamily="2" charset="2"/>
                        </a:rPr>
                        <a:t>                                          =   7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9229210"/>
                  </a:ext>
                </a:extLst>
              </a:tr>
              <a:tr h="1645448">
                <a:tc>
                  <a:txBody>
                    <a:bodyPr/>
                    <a:lstStyle/>
                    <a:p>
                      <a:r>
                        <a:rPr lang="en-US" dirty="0"/>
                        <a:t>101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</a:t>
                      </a:r>
                    </a:p>
                    <a:p>
                      <a:r>
                        <a:rPr lang="en-US" dirty="0">
                          <a:sym typeface="Wingdings" panose="05000000000000000000" pitchFamily="2" charset="2"/>
                        </a:rPr>
                        <a:t>                   1</a:t>
                      </a:r>
                      <a:r>
                        <a:rPr lang="en-US" dirty="0"/>
                        <a:t> x 10^2 =    100</a:t>
                      </a:r>
                    </a:p>
                    <a:p>
                      <a:r>
                        <a:rPr lang="en-US" dirty="0"/>
                        <a:t>                   0 x 10^1 =         0  </a:t>
                      </a:r>
                    </a:p>
                    <a:p>
                      <a:r>
                        <a:rPr lang="en-US" dirty="0"/>
                        <a:t>                   1 x 10^0 =          1</a:t>
                      </a:r>
                    </a:p>
                    <a:p>
                      <a:r>
                        <a:rPr lang="en-US" dirty="0"/>
                        <a:t>                                      =    101</a:t>
                      </a:r>
                    </a:p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1010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</a:t>
                      </a:r>
                      <a:endParaRPr lang="en-US" dirty="0"/>
                    </a:p>
                    <a:p>
                      <a:r>
                        <a:rPr lang="en-US" dirty="0"/>
                        <a:t>            1 x 2^ 3 = 1 x 8 =   8</a:t>
                      </a:r>
                    </a:p>
                    <a:p>
                      <a:r>
                        <a:rPr lang="en-US" dirty="0"/>
                        <a:t>            0 x 2^ 2 = 0 x 4 =   0</a:t>
                      </a:r>
                      <a:br>
                        <a:rPr lang="en-US" dirty="0"/>
                      </a:br>
                      <a:r>
                        <a:rPr lang="en-US" dirty="0"/>
                        <a:t>            1 x 2^ 1 = 0 x 2 =   2</a:t>
                      </a:r>
                      <a:br>
                        <a:rPr lang="en-US" dirty="0"/>
                      </a:br>
                      <a:r>
                        <a:rPr lang="en-US" dirty="0"/>
                        <a:t>            0 x 2^ 0 = 0 x 1 =   0</a:t>
                      </a:r>
                      <a:br>
                        <a:rPr lang="en-US" dirty="0"/>
                      </a:br>
                      <a:r>
                        <a:rPr lang="en-US" dirty="0"/>
                        <a:t>                                           = 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33098279"/>
                  </a:ext>
                </a:extLst>
              </a:tr>
              <a:tr h="1071365">
                <a:tc>
                  <a:txBody>
                    <a:bodyPr/>
                    <a:lstStyle/>
                    <a:p>
                      <a:r>
                        <a:rPr lang="en-US" dirty="0"/>
                        <a:t>756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 1000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00938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128589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345474-E3A9-E1C2-833E-1CEBF32A4D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Converting Binary to Decimal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AE40F9-9581-C2BC-5B88-6F1FA10EBA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128    64    32   16     8     4     2     1</a:t>
            </a:r>
            <a:b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</a:b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                   </a:t>
            </a:r>
          </a:p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              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1      0      0     1      0      0     1   =     64 + 16 + 1 = 81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    1        0       0      0     0      1      1     1   = 128 + 4 + 2 + 1 = 135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    1        1       1      0      0     0     0     0     = ?</a:t>
            </a:r>
          </a:p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                   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C0A94F0-7818-1B6D-64C3-C894020E204C}"/>
              </a:ext>
            </a:extLst>
          </p:cNvPr>
          <p:cNvCxnSpPr>
            <a:cxnSpLocks/>
          </p:cNvCxnSpPr>
          <p:nvPr/>
        </p:nvCxnSpPr>
        <p:spPr>
          <a:xfrm>
            <a:off x="989901" y="2290194"/>
            <a:ext cx="4720703" cy="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337779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A90C36-D410-83DF-929D-84FA7D5419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1B1B7D-BAC5-FEE4-4486-F4E90BC4D2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Converting Decimal to Binary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00CBA1-A2D0-1059-8DA4-FA156A007D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128    64    32   16     8     4     2     1</a:t>
            </a:r>
            <a:b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</a:b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                   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                                                                       =      22 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                                                                       =      33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                                                                       =   130                   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8BE95D4-FCA2-7AB1-568B-79F46AD9C1FF}"/>
              </a:ext>
            </a:extLst>
          </p:cNvPr>
          <p:cNvCxnSpPr>
            <a:cxnSpLocks/>
          </p:cNvCxnSpPr>
          <p:nvPr/>
        </p:nvCxnSpPr>
        <p:spPr>
          <a:xfrm>
            <a:off x="989901" y="2290194"/>
            <a:ext cx="4720703" cy="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459158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E2429B-6C6D-B1C6-ECE1-CB36B6B544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Exercises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70DA09-B148-4228-9B76-3FA17F9BB1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Convert following Decimal numbers to binary </a:t>
            </a:r>
          </a:p>
          <a:p>
            <a:pPr lvl="1"/>
            <a:r>
              <a:rPr lang="en-US" dirty="0"/>
              <a:t>127</a:t>
            </a:r>
            <a:r>
              <a:rPr lang="en-US" baseline="-25000" dirty="0"/>
              <a:t>10</a:t>
            </a:r>
          </a:p>
          <a:p>
            <a:pPr lvl="1"/>
            <a:r>
              <a:rPr lang="en-US" dirty="0"/>
              <a:t>128</a:t>
            </a:r>
            <a:r>
              <a:rPr lang="en-US" baseline="-25000" dirty="0"/>
              <a:t>10</a:t>
            </a:r>
            <a:endParaRPr lang="en-US" dirty="0"/>
          </a:p>
          <a:p>
            <a:pPr lvl="1"/>
            <a:r>
              <a:rPr lang="en-US" dirty="0"/>
              <a:t>129</a:t>
            </a:r>
            <a:r>
              <a:rPr lang="en-US" baseline="-25000" dirty="0"/>
              <a:t>10</a:t>
            </a:r>
            <a:endParaRPr lang="en-US" dirty="0"/>
          </a:p>
          <a:p>
            <a:pPr lvl="1"/>
            <a:r>
              <a:rPr lang="en-US" dirty="0"/>
              <a:t>255</a:t>
            </a:r>
            <a:r>
              <a:rPr lang="en-US" baseline="-25000" dirty="0"/>
              <a:t>10</a:t>
            </a:r>
            <a:endParaRPr lang="en-US" dirty="0"/>
          </a:p>
          <a:p>
            <a:pPr lvl="1"/>
            <a:r>
              <a:rPr lang="en-US" dirty="0"/>
              <a:t>256</a:t>
            </a:r>
            <a:r>
              <a:rPr lang="en-US" baseline="-25000" dirty="0"/>
              <a:t>10</a:t>
            </a:r>
            <a:endParaRPr lang="en-US" dirty="0"/>
          </a:p>
          <a:p>
            <a:r>
              <a:rPr lang="en-US" dirty="0"/>
              <a:t>Convert following Binary numbers to Decimal</a:t>
            </a:r>
          </a:p>
          <a:p>
            <a:pPr lvl="1"/>
            <a:r>
              <a:rPr lang="en-US" dirty="0"/>
              <a:t>101101</a:t>
            </a:r>
            <a:r>
              <a:rPr lang="en-US" baseline="-25000" dirty="0"/>
              <a:t>2</a:t>
            </a:r>
            <a:endParaRPr lang="en-US" dirty="0"/>
          </a:p>
          <a:p>
            <a:pPr lvl="1"/>
            <a:r>
              <a:rPr lang="en-US" dirty="0"/>
              <a:t>1110</a:t>
            </a:r>
            <a:r>
              <a:rPr lang="en-US" baseline="-25000" dirty="0"/>
              <a:t>2</a:t>
            </a:r>
            <a:endParaRPr lang="en-US" dirty="0"/>
          </a:p>
          <a:p>
            <a:pPr lvl="1"/>
            <a:r>
              <a:rPr lang="en-US" dirty="0"/>
              <a:t>1111</a:t>
            </a:r>
            <a:r>
              <a:rPr lang="en-US" baseline="-25000" dirty="0"/>
              <a:t>2</a:t>
            </a:r>
            <a:endParaRPr lang="en-US" dirty="0"/>
          </a:p>
          <a:p>
            <a:pPr lvl="1"/>
            <a:r>
              <a:rPr lang="en-US" dirty="0"/>
              <a:t>0110</a:t>
            </a:r>
            <a:r>
              <a:rPr lang="en-US" baseline="-25000" dirty="0"/>
              <a:t>2</a:t>
            </a:r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2824016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803946-F61B-42B0-4D7C-AAF0808EB3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E3C2EE-2437-1760-3168-B24BD6AF96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 does binary addition and subtraction work ?</a:t>
            </a:r>
          </a:p>
        </p:txBody>
      </p:sp>
    </p:spTree>
    <p:extLst>
      <p:ext uri="{BB962C8B-B14F-4D97-AF65-F5344CB8AC3E}">
        <p14:creationId xmlns:p14="http://schemas.microsoft.com/office/powerpoint/2010/main" val="201770072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87C36A-D445-ACDC-D463-8E79266F1B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3C0B8B-27E7-8109-A350-5C882F253D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61003"/>
          </a:xfrm>
        </p:spPr>
        <p:txBody>
          <a:bodyPr>
            <a:normAutofit fontScale="90000"/>
          </a:bodyPr>
          <a:lstStyle/>
          <a:p>
            <a:r>
              <a:rPr lang="en-US" dirty="0"/>
              <a:t>Place values</a:t>
            </a:r>
            <a:br>
              <a:rPr lang="en-US" dirty="0"/>
            </a:br>
            <a:r>
              <a:rPr lang="en-US" dirty="0"/>
              <a:t>Converting </a:t>
            </a:r>
            <a:r>
              <a:rPr lang="en-US" dirty="0" err="1"/>
              <a:t>octal,hexadecimal</a:t>
            </a:r>
            <a:r>
              <a:rPr lang="en-US" dirty="0" err="1">
                <a:sym typeface="Wingdings" panose="05000000000000000000" pitchFamily="2" charset="2"/>
              </a:rPr>
              <a:t>decimal</a:t>
            </a:r>
            <a:endParaRPr lang="en-US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34A2D640-C25D-13E6-D0E4-1BE5615BB99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41214255"/>
              </p:ext>
            </p:extLst>
          </p:nvPr>
        </p:nvGraphicFramePr>
        <p:xfrm>
          <a:off x="838198" y="1501628"/>
          <a:ext cx="10642136" cy="479430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21068">
                  <a:extLst>
                    <a:ext uri="{9D8B030D-6E8A-4147-A177-3AD203B41FA5}">
                      <a16:colId xmlns:a16="http://schemas.microsoft.com/office/drawing/2014/main" val="3982428962"/>
                    </a:ext>
                  </a:extLst>
                </a:gridCol>
                <a:gridCol w="5321068">
                  <a:extLst>
                    <a:ext uri="{9D8B030D-6E8A-4147-A177-3AD203B41FA5}">
                      <a16:colId xmlns:a16="http://schemas.microsoft.com/office/drawing/2014/main" val="1857857529"/>
                    </a:ext>
                  </a:extLst>
                </a:gridCol>
              </a:tblGrid>
              <a:tr h="432048">
                <a:tc>
                  <a:txBody>
                    <a:bodyPr/>
                    <a:lstStyle/>
                    <a:p>
                      <a:r>
                        <a:rPr lang="en-US" dirty="0"/>
                        <a:t>Octal 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 Decimal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HexaDecimal</a:t>
                      </a:r>
                      <a:r>
                        <a:rPr lang="en-US" dirty="0"/>
                        <a:t>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 Decimal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32925158"/>
                  </a:ext>
                </a:extLst>
              </a:tr>
              <a:tr h="1645448">
                <a:tc>
                  <a:txBody>
                    <a:bodyPr/>
                    <a:lstStyle/>
                    <a:p>
                      <a:r>
                        <a:rPr lang="en-US" dirty="0"/>
                        <a:t>777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</a:t>
                      </a:r>
                      <a:r>
                        <a:rPr lang="en-US" dirty="0"/>
                        <a:t>                                               </a:t>
                      </a:r>
                    </a:p>
                    <a:p>
                      <a:r>
                        <a:rPr lang="en-US" dirty="0"/>
                        <a:t>                   7 x 8^2 = 7 x 64 = 448 </a:t>
                      </a:r>
                    </a:p>
                    <a:p>
                      <a:r>
                        <a:rPr lang="en-US" dirty="0"/>
                        <a:t>                   7 x 8^1 = 7 x    8 =    56</a:t>
                      </a:r>
                    </a:p>
                    <a:p>
                      <a:r>
                        <a:rPr lang="en-US" dirty="0"/>
                        <a:t>                   7 x 8^0 = 7 x    1 =       7</a:t>
                      </a:r>
                    </a:p>
                    <a:p>
                      <a:r>
                        <a:rPr lang="en-US" dirty="0"/>
                        <a:t>                                                    =  511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2AB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 </a:t>
                      </a:r>
                    </a:p>
                    <a:p>
                      <a:r>
                        <a:rPr lang="en-US" dirty="0">
                          <a:sym typeface="Wingdings" panose="05000000000000000000" pitchFamily="2" charset="2"/>
                        </a:rPr>
                        <a:t>                   2</a:t>
                      </a:r>
                      <a:r>
                        <a:rPr lang="en-US" dirty="0"/>
                        <a:t> x 16^2 =    2 x 256 = 512 </a:t>
                      </a:r>
                    </a:p>
                    <a:p>
                      <a:r>
                        <a:rPr lang="en-US" dirty="0"/>
                        <a:t>                   A x 16^1 = 10 x    16 = 160</a:t>
                      </a:r>
                    </a:p>
                    <a:p>
                      <a:r>
                        <a:rPr lang="en-US" dirty="0"/>
                        <a:t>                   B x 16^0 = 11 x       1 =    11</a:t>
                      </a:r>
                    </a:p>
                    <a:p>
                      <a:r>
                        <a:rPr lang="en-US" dirty="0"/>
                        <a:t>                                                             =  683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9229210"/>
                  </a:ext>
                </a:extLst>
              </a:tr>
              <a:tr h="1645448">
                <a:tc>
                  <a:txBody>
                    <a:bodyPr/>
                    <a:lstStyle/>
                    <a:p>
                      <a:r>
                        <a:rPr lang="en-US" dirty="0"/>
                        <a:t>137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</a:t>
                      </a:r>
                    </a:p>
                    <a:p>
                      <a:r>
                        <a:rPr lang="en-US" dirty="0">
                          <a:sym typeface="Wingdings" panose="05000000000000000000" pitchFamily="2" charset="2"/>
                        </a:rPr>
                        <a:t>                   1</a:t>
                      </a:r>
                      <a:r>
                        <a:rPr lang="en-US" dirty="0"/>
                        <a:t> x 8^2 = 1 x 64 =  64 </a:t>
                      </a:r>
                    </a:p>
                    <a:p>
                      <a:r>
                        <a:rPr lang="en-US" dirty="0"/>
                        <a:t>                   3 x 8^1 = 3 x    8 =  24</a:t>
                      </a:r>
                    </a:p>
                    <a:p>
                      <a:r>
                        <a:rPr lang="en-US" dirty="0"/>
                        <a:t>                   7 x 8^0 = 7 x    1 =     7</a:t>
                      </a:r>
                    </a:p>
                    <a:p>
                      <a:r>
                        <a:rPr lang="en-US" dirty="0"/>
                        <a:t>                                                    =  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101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</a:t>
                      </a:r>
                      <a:endParaRPr lang="en-US" dirty="0"/>
                    </a:p>
                    <a:p>
                      <a:r>
                        <a:rPr lang="en-US" dirty="0"/>
                        <a:t>                  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1</a:t>
                      </a:r>
                      <a:r>
                        <a:rPr lang="en-US" dirty="0"/>
                        <a:t> x 16^2 =    1 x 256 = 256 </a:t>
                      </a:r>
                    </a:p>
                    <a:p>
                      <a:r>
                        <a:rPr lang="en-US" dirty="0"/>
                        <a:t>                   0 x 16^1 =    0 x    16 =       0</a:t>
                      </a:r>
                    </a:p>
                    <a:p>
                      <a:r>
                        <a:rPr lang="en-US" dirty="0"/>
                        <a:t>                   1 x 16^0 =    1 x       1 =       1</a:t>
                      </a:r>
                    </a:p>
                    <a:p>
                      <a:r>
                        <a:rPr lang="en-US" dirty="0"/>
                        <a:t>                                                             = 257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33098279"/>
                  </a:ext>
                </a:extLst>
              </a:tr>
              <a:tr h="1071365">
                <a:tc>
                  <a:txBody>
                    <a:bodyPr/>
                    <a:lstStyle/>
                    <a:p>
                      <a:r>
                        <a:rPr lang="en-US" dirty="0"/>
                        <a:t>756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    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 4A3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00938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0411224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CB1EAA-B8DD-26EC-19FF-8608881D88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2DFBE1-1F09-4E5C-D356-458DFA4210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Converting Decimal to Octal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31B172-61D5-6887-D73A-F28BD60747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 (312)</a:t>
            </a:r>
            <a:r>
              <a:rPr lang="en-US" sz="2400" baseline="-25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10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  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   (?)</a:t>
            </a:r>
            <a:r>
              <a:rPr lang="en-US" sz="2400" baseline="-250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8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312 / 8    quotient : 39   , Remainder 0</a:t>
            </a:r>
            <a:endParaRPr lang="en-US" sz="2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  39 / 8    quotient :    4   , Remainder 7</a:t>
            </a:r>
            <a:endParaRPr lang="en-US" sz="2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                           4 / 8   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 quotient :    0   , Remainder 4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(</a:t>
            </a:r>
            <a:r>
              <a:rPr lang="en-US" sz="2400" b="1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470)</a:t>
            </a:r>
            <a:r>
              <a:rPr lang="en-US" sz="2400" b="1" baseline="-250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8</a:t>
            </a:r>
          </a:p>
          <a:p>
            <a:pPr marL="0" indent="0">
              <a:buNone/>
            </a:pPr>
            <a:r>
              <a:rPr lang="en-US" sz="2400" baseline="-250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(112)</a:t>
            </a:r>
            <a:r>
              <a:rPr lang="en-US" sz="2400" baseline="-25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10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  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(?)</a:t>
            </a:r>
            <a:r>
              <a:rPr lang="en-US" sz="2400" baseline="-250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8</a:t>
            </a:r>
            <a:endParaRPr lang="en-US" sz="2400" dirty="0">
              <a:solidFill>
                <a:schemeClr val="tx1">
                  <a:lumMod val="75000"/>
                  <a:lumOff val="25000"/>
                </a:schemeClr>
              </a:solidFill>
              <a:sym typeface="Wingdings" panose="05000000000000000000" pitchFamily="2" charset="2"/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112 / 8    quotient : 14   , Remainder 0</a:t>
            </a:r>
            <a:endParaRPr lang="en-US" sz="2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   14 / 8    quotient :    1   , Remainder 6</a:t>
            </a:r>
            <a:endParaRPr lang="en-US" sz="2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                            1 / 8    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 quotient :    0   , Remainder 1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</a:t>
            </a:r>
            <a:r>
              <a:rPr lang="en-US" sz="2400" b="1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(160)</a:t>
            </a:r>
            <a:r>
              <a:rPr lang="en-US" sz="2400" b="1" baseline="-250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8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                                         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223494910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3D12BF-ADDA-0C33-F381-FCCB19EDCE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1732C9-397E-270E-3178-40150E971A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Exercises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2E31D5-323B-E1FF-6193-D91249E243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Convert following Decimal numbers to Octal</a:t>
            </a:r>
          </a:p>
          <a:p>
            <a:pPr lvl="1"/>
            <a:r>
              <a:rPr lang="en-US" dirty="0"/>
              <a:t>111</a:t>
            </a:r>
            <a:r>
              <a:rPr lang="en-US" baseline="-25000" dirty="0"/>
              <a:t>10</a:t>
            </a:r>
          </a:p>
          <a:p>
            <a:pPr lvl="1"/>
            <a:r>
              <a:rPr lang="en-US" dirty="0"/>
              <a:t>88</a:t>
            </a:r>
            <a:r>
              <a:rPr lang="en-US" baseline="-25000" dirty="0"/>
              <a:t>10</a:t>
            </a:r>
            <a:endParaRPr lang="en-US" dirty="0"/>
          </a:p>
          <a:p>
            <a:pPr lvl="1"/>
            <a:r>
              <a:rPr lang="en-US" dirty="0"/>
              <a:t>511</a:t>
            </a:r>
            <a:r>
              <a:rPr lang="en-US" baseline="-25000" dirty="0"/>
              <a:t>10</a:t>
            </a:r>
            <a:endParaRPr lang="en-US" dirty="0"/>
          </a:p>
          <a:p>
            <a:pPr lvl="1"/>
            <a:r>
              <a:rPr lang="en-US" dirty="0"/>
              <a:t>512</a:t>
            </a:r>
            <a:r>
              <a:rPr lang="en-US" baseline="-25000" dirty="0"/>
              <a:t>10</a:t>
            </a:r>
            <a:endParaRPr lang="en-US" dirty="0"/>
          </a:p>
          <a:p>
            <a:pPr lvl="1"/>
            <a:r>
              <a:rPr lang="en-US" dirty="0"/>
              <a:t>513</a:t>
            </a:r>
            <a:r>
              <a:rPr lang="en-US" baseline="-25000" dirty="0"/>
              <a:t>10</a:t>
            </a:r>
            <a:endParaRPr lang="en-US" dirty="0"/>
          </a:p>
          <a:p>
            <a:r>
              <a:rPr lang="en-US" dirty="0"/>
              <a:t>Convert following Octal numbers to Decimal</a:t>
            </a:r>
          </a:p>
          <a:p>
            <a:pPr lvl="1"/>
            <a:r>
              <a:rPr lang="en-US" dirty="0"/>
              <a:t>45</a:t>
            </a:r>
            <a:r>
              <a:rPr lang="en-US" baseline="-25000" dirty="0"/>
              <a:t>8</a:t>
            </a:r>
            <a:endParaRPr lang="en-US" dirty="0"/>
          </a:p>
          <a:p>
            <a:pPr lvl="1"/>
            <a:r>
              <a:rPr lang="en-US" dirty="0"/>
              <a:t>77</a:t>
            </a:r>
            <a:r>
              <a:rPr lang="en-US" baseline="-25000" dirty="0"/>
              <a:t>8</a:t>
            </a:r>
            <a:endParaRPr lang="en-US" dirty="0"/>
          </a:p>
          <a:p>
            <a:pPr lvl="1"/>
            <a:r>
              <a:rPr lang="en-US" dirty="0"/>
              <a:t>100</a:t>
            </a:r>
            <a:r>
              <a:rPr lang="en-US" baseline="-25000" dirty="0"/>
              <a:t>8</a:t>
            </a:r>
            <a:endParaRPr lang="en-US" dirty="0"/>
          </a:p>
          <a:p>
            <a:pPr lvl="1"/>
            <a:r>
              <a:rPr lang="en-US" dirty="0"/>
              <a:t>101</a:t>
            </a:r>
            <a:r>
              <a:rPr lang="en-US" baseline="-25000" dirty="0"/>
              <a:t>8</a:t>
            </a:r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5797254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5A6EE4-432F-5935-FB55-C980748F46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D81EAC-639E-4B61-800D-0736AC708C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Converting Decimal to Hexadecimal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85F8D8-D8F2-9044-6B8D-B583A4F81A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 (312)</a:t>
            </a:r>
            <a:r>
              <a:rPr lang="en-US" sz="2400" baseline="-25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10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  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   (?)</a:t>
            </a:r>
            <a:r>
              <a:rPr lang="en-US" sz="2400" baseline="-250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8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312 / 16    quotient : 19   , Remainder 8</a:t>
            </a:r>
            <a:endParaRPr lang="en-US" sz="2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  19 / 16    quotient :    1   , Remainder 3</a:t>
            </a:r>
            <a:endParaRPr lang="en-US" sz="2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                           1 / 16   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 quotient :    0   , Remainder 1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(</a:t>
            </a:r>
            <a:r>
              <a:rPr lang="en-US" sz="2400" b="1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138)</a:t>
            </a:r>
            <a:r>
              <a:rPr lang="en-US" sz="2400" b="1" baseline="-250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16</a:t>
            </a:r>
          </a:p>
          <a:p>
            <a:pPr marL="0" indent="0">
              <a:buNone/>
            </a:pPr>
            <a:r>
              <a:rPr lang="en-US" sz="2400" baseline="-250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(112)</a:t>
            </a:r>
            <a:r>
              <a:rPr lang="en-US" sz="2400" baseline="-25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10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  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(?)</a:t>
            </a:r>
            <a:r>
              <a:rPr lang="en-US" sz="2400" baseline="-250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8</a:t>
            </a:r>
            <a:endParaRPr lang="en-US" sz="2400" dirty="0">
              <a:solidFill>
                <a:schemeClr val="tx1">
                  <a:lumMod val="75000"/>
                  <a:lumOff val="25000"/>
                </a:schemeClr>
              </a:solidFill>
              <a:sym typeface="Wingdings" panose="05000000000000000000" pitchFamily="2" charset="2"/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112 / 16    quotient :    7   , Remainder 0</a:t>
            </a:r>
            <a:endParaRPr lang="en-US" sz="2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     7 / 16    quotient :    0   , Remainder 7</a:t>
            </a:r>
            <a:endParaRPr lang="en-US" sz="2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</a:t>
            </a:r>
            <a:r>
              <a:rPr lang="en-US" sz="2400" b="1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(70)</a:t>
            </a:r>
            <a:r>
              <a:rPr lang="en-US" sz="2400" b="1" baseline="-250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16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                                         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40508050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2DA0DF-0428-A16C-932D-6D90D97490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 Hexadecimal </a:t>
            </a:r>
            <a:r>
              <a:rPr lang="en-US" dirty="0">
                <a:sym typeface="Wingdings" panose="05000000000000000000" pitchFamily="2" charset="2"/>
              </a:rPr>
              <a:t> Octal</a:t>
            </a:r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7D1FC0-0FC1-E666-D418-54A07F4485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(AC)</a:t>
            </a:r>
            <a:r>
              <a:rPr lang="en-US" baseline="-25000" dirty="0"/>
              <a:t>16</a:t>
            </a:r>
            <a:r>
              <a:rPr lang="en-US" dirty="0">
                <a:sym typeface="Wingdings" panose="05000000000000000000" pitchFamily="2" charset="2"/>
              </a:rPr>
              <a:t>  (</a:t>
            </a:r>
            <a:r>
              <a:rPr lang="en-US" b="1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1010</a:t>
            </a:r>
            <a:r>
              <a:rPr lang="en-US" dirty="0">
                <a:sym typeface="Wingdings" panose="05000000000000000000" pitchFamily="2" charset="2"/>
              </a:rPr>
              <a:t>)</a:t>
            </a:r>
            <a:r>
              <a:rPr lang="en-US" baseline="-25000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2</a:t>
            </a:r>
            <a:r>
              <a:rPr lang="en-US" dirty="0">
                <a:sym typeface="Wingdings" panose="05000000000000000000" pitchFamily="2" charset="2"/>
              </a:rPr>
              <a:t> x 16  + (</a:t>
            </a:r>
            <a:r>
              <a:rPr lang="en-US" b="1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1100</a:t>
            </a:r>
            <a:r>
              <a:rPr lang="en-US" dirty="0">
                <a:sym typeface="Wingdings" panose="05000000000000000000" pitchFamily="2" charset="2"/>
              </a:rPr>
              <a:t>)</a:t>
            </a:r>
            <a:r>
              <a:rPr lang="en-US" baseline="-25000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2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 </a:t>
            </a:r>
            <a:r>
              <a:rPr lang="en-US" dirty="0">
                <a:sym typeface="Wingdings" panose="05000000000000000000" pitchFamily="2" charset="2"/>
              </a:rPr>
              <a:t>x 1 //Replace </a:t>
            </a:r>
            <a:r>
              <a:rPr lang="en-US" dirty="0" err="1">
                <a:sym typeface="Wingdings" panose="05000000000000000000" pitchFamily="2" charset="2"/>
              </a:rPr>
              <a:t>hexa</a:t>
            </a:r>
            <a:r>
              <a:rPr lang="en-US" dirty="0">
                <a:sym typeface="Wingdings" panose="05000000000000000000" pitchFamily="2" charset="2"/>
              </a:rPr>
              <a:t> with 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binary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             </a:t>
            </a:r>
            <a:r>
              <a:rPr lang="en-US" dirty="0">
                <a:sym typeface="Wingdings" panose="05000000000000000000" pitchFamily="2" charset="2"/>
              </a:rPr>
              <a:t>  (</a:t>
            </a:r>
            <a:r>
              <a:rPr lang="en-US" b="1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1010 1100</a:t>
            </a:r>
            <a:r>
              <a:rPr lang="en-US" dirty="0">
                <a:sym typeface="Wingdings" panose="05000000000000000000" pitchFamily="2" charset="2"/>
              </a:rPr>
              <a:t>)</a:t>
            </a:r>
            <a:r>
              <a:rPr lang="en-US" baseline="-25000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2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 </a:t>
            </a:r>
            <a:r>
              <a:rPr lang="en-US" dirty="0">
                <a:sym typeface="Wingdings" panose="05000000000000000000" pitchFamily="2" charset="2"/>
              </a:rPr>
              <a:t>// Convert to 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binary</a:t>
            </a:r>
            <a:b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</a:b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             </a:t>
            </a:r>
            <a:r>
              <a:rPr lang="en-US" dirty="0">
                <a:sym typeface="Wingdings" panose="05000000000000000000" pitchFamily="2" charset="2"/>
              </a:rPr>
              <a:t>  (</a:t>
            </a:r>
            <a:r>
              <a:rPr lang="en-US" b="1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010 101 100</a:t>
            </a:r>
            <a:r>
              <a:rPr lang="en-US" dirty="0">
                <a:sym typeface="Wingdings" panose="05000000000000000000" pitchFamily="2" charset="2"/>
              </a:rPr>
              <a:t>)</a:t>
            </a:r>
            <a:r>
              <a:rPr lang="en-US" baseline="-25000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2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 </a:t>
            </a:r>
            <a:r>
              <a:rPr lang="en-US" dirty="0">
                <a:sym typeface="Wingdings" panose="05000000000000000000" pitchFamily="2" charset="2"/>
              </a:rPr>
              <a:t>// group by 3s , added extra 0s in the front</a:t>
            </a:r>
          </a:p>
          <a:p>
            <a:pPr marL="0" indent="0">
              <a:buNone/>
            </a:pPr>
            <a:r>
              <a:rPr lang="en-US" dirty="0">
                <a:sym typeface="Wingdings" panose="05000000000000000000" pitchFamily="2" charset="2"/>
              </a:rPr>
              <a:t>               ( </a:t>
            </a:r>
            <a:r>
              <a:rPr lang="en-US" b="1" dirty="0">
                <a:solidFill>
                  <a:schemeClr val="accent6">
                    <a:lumMod val="50000"/>
                  </a:schemeClr>
                </a:solidFill>
                <a:sym typeface="Wingdings" panose="05000000000000000000" pitchFamily="2" charset="2"/>
              </a:rPr>
              <a:t>254</a:t>
            </a:r>
            <a:r>
              <a:rPr lang="en-US" dirty="0">
                <a:sym typeface="Wingdings" panose="05000000000000000000" pitchFamily="2" charset="2"/>
              </a:rPr>
              <a:t>)</a:t>
            </a:r>
            <a:r>
              <a:rPr lang="en-US" baseline="-25000" dirty="0">
                <a:sym typeface="Wingdings" panose="05000000000000000000" pitchFamily="2" charset="2"/>
              </a:rPr>
              <a:t>8</a:t>
            </a:r>
            <a:r>
              <a:rPr lang="en-US" dirty="0">
                <a:sym typeface="Wingdings" panose="05000000000000000000" pitchFamily="2" charset="2"/>
              </a:rPr>
              <a:t>// Replace each group by octal value</a:t>
            </a:r>
            <a:br>
              <a:rPr lang="en-US" dirty="0">
                <a:sym typeface="Wingdings" panose="05000000000000000000" pitchFamily="2" charset="2"/>
              </a:rPr>
            </a:br>
            <a:endParaRPr lang="en-US" dirty="0">
              <a:sym typeface="Wingdings" panose="05000000000000000000" pitchFamily="2" charset="2"/>
            </a:endParaRPr>
          </a:p>
          <a:p>
            <a:pPr marL="0" indent="0">
              <a:buNone/>
            </a:pPr>
            <a:r>
              <a:rPr lang="en-US" dirty="0"/>
              <a:t>(1EF)</a:t>
            </a:r>
            <a:r>
              <a:rPr lang="en-US" baseline="-25000" dirty="0"/>
              <a:t>16</a:t>
            </a:r>
            <a:r>
              <a:rPr lang="en-US" dirty="0">
                <a:sym typeface="Wingdings" panose="05000000000000000000" pitchFamily="2" charset="2"/>
              </a:rPr>
              <a:t> (</a:t>
            </a:r>
            <a:r>
              <a:rPr lang="en-US" b="1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0001</a:t>
            </a:r>
            <a:r>
              <a:rPr lang="en-US" dirty="0">
                <a:sym typeface="Wingdings" panose="05000000000000000000" pitchFamily="2" charset="2"/>
              </a:rPr>
              <a:t>)</a:t>
            </a:r>
            <a:r>
              <a:rPr lang="en-US" baseline="-25000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2</a:t>
            </a:r>
            <a:r>
              <a:rPr lang="en-US" dirty="0">
                <a:sym typeface="Wingdings" panose="05000000000000000000" pitchFamily="2" charset="2"/>
              </a:rPr>
              <a:t> x 256 + (</a:t>
            </a:r>
            <a:r>
              <a:rPr lang="en-US" b="1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1110</a:t>
            </a:r>
            <a:r>
              <a:rPr lang="en-US" dirty="0">
                <a:sym typeface="Wingdings" panose="05000000000000000000" pitchFamily="2" charset="2"/>
              </a:rPr>
              <a:t>)</a:t>
            </a:r>
            <a:r>
              <a:rPr lang="en-US" baseline="-25000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2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 </a:t>
            </a:r>
            <a:r>
              <a:rPr lang="en-US" dirty="0">
                <a:sym typeface="Wingdings" panose="05000000000000000000" pitchFamily="2" charset="2"/>
              </a:rPr>
              <a:t>x 16 + (1111) x 1</a:t>
            </a:r>
            <a:endParaRPr lang="en-US" dirty="0">
              <a:solidFill>
                <a:schemeClr val="accent5">
                  <a:lumMod val="75000"/>
                </a:schemeClr>
              </a:solidFill>
              <a:sym typeface="Wingdings" panose="05000000000000000000" pitchFamily="2" charset="2"/>
            </a:endParaRPr>
          </a:p>
          <a:p>
            <a:pPr marL="0" indent="0">
              <a:buNone/>
            </a:pP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             </a:t>
            </a:r>
            <a:r>
              <a:rPr lang="en-US" dirty="0">
                <a:sym typeface="Wingdings" panose="05000000000000000000" pitchFamily="2" charset="2"/>
              </a:rPr>
              <a:t>  (0001 1110 1111)</a:t>
            </a:r>
            <a:r>
              <a:rPr lang="en-US" baseline="-25000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2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 </a:t>
            </a:r>
            <a:r>
              <a:rPr lang="en-US" dirty="0">
                <a:sym typeface="Wingdings" panose="05000000000000000000" pitchFamily="2" charset="2"/>
              </a:rPr>
              <a:t>// Convert to 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binary</a:t>
            </a:r>
            <a:b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</a:b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             </a:t>
            </a:r>
            <a:r>
              <a:rPr lang="en-US" dirty="0">
                <a:sym typeface="Wingdings" panose="05000000000000000000" pitchFamily="2" charset="2"/>
              </a:rPr>
              <a:t>  (</a:t>
            </a:r>
            <a:r>
              <a:rPr lang="en-US" strike="sngStrike" dirty="0">
                <a:sym typeface="Wingdings" panose="05000000000000000000" pitchFamily="2" charset="2"/>
              </a:rPr>
              <a:t>000</a:t>
            </a:r>
            <a:r>
              <a:rPr lang="en-US" dirty="0">
                <a:sym typeface="Wingdings" panose="05000000000000000000" pitchFamily="2" charset="2"/>
              </a:rPr>
              <a:t> 111 101 111)</a:t>
            </a:r>
            <a:r>
              <a:rPr lang="en-US" baseline="-25000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2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 </a:t>
            </a:r>
            <a:r>
              <a:rPr lang="en-US" dirty="0">
                <a:sym typeface="Wingdings" panose="05000000000000000000" pitchFamily="2" charset="2"/>
              </a:rPr>
              <a:t>// group by 3 , removed 0s in the front</a:t>
            </a:r>
          </a:p>
          <a:p>
            <a:pPr marL="0" indent="0">
              <a:buNone/>
            </a:pPr>
            <a:r>
              <a:rPr lang="en-US" dirty="0">
                <a:sym typeface="Wingdings" panose="05000000000000000000" pitchFamily="2" charset="2"/>
              </a:rPr>
              <a:t>               ( </a:t>
            </a:r>
            <a:r>
              <a:rPr lang="en-US" b="1" dirty="0">
                <a:solidFill>
                  <a:schemeClr val="accent6">
                    <a:lumMod val="50000"/>
                  </a:schemeClr>
                </a:solidFill>
                <a:sym typeface="Wingdings" panose="05000000000000000000" pitchFamily="2" charset="2"/>
              </a:rPr>
              <a:t>757</a:t>
            </a:r>
            <a:r>
              <a:rPr lang="en-US" dirty="0">
                <a:sym typeface="Wingdings" panose="05000000000000000000" pitchFamily="2" charset="2"/>
              </a:rPr>
              <a:t>)</a:t>
            </a:r>
            <a:r>
              <a:rPr lang="en-US" baseline="-25000" dirty="0">
                <a:sym typeface="Wingdings" panose="05000000000000000000" pitchFamily="2" charset="2"/>
              </a:rPr>
              <a:t>8</a:t>
            </a:r>
            <a:r>
              <a:rPr lang="en-US" dirty="0">
                <a:sym typeface="Wingdings" panose="05000000000000000000" pitchFamily="2" charset="2"/>
              </a:rPr>
              <a:t>// Replace each group by octal value</a:t>
            </a:r>
            <a:endParaRPr lang="en-US" dirty="0">
              <a:solidFill>
                <a:schemeClr val="accent5">
                  <a:lumMod val="75000"/>
                </a:schemeClr>
              </a:solidFill>
              <a:sym typeface="Wingdings" panose="05000000000000000000" pitchFamily="2" charset="2"/>
            </a:endParaRPr>
          </a:p>
          <a:p>
            <a:pPr marL="0" indent="0">
              <a:buNone/>
            </a:pPr>
            <a:endParaRPr lang="en-US" dirty="0">
              <a:solidFill>
                <a:schemeClr val="accent5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2892317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07F378-FBC4-B785-4606-55327891B2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Octal </a:t>
            </a:r>
            <a:r>
              <a:rPr lang="en-US" dirty="0">
                <a:sym typeface="Wingdings" panose="05000000000000000000" pitchFamily="2" charset="2"/>
              </a:rPr>
              <a:t> Hexadecimal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29DCD8-512B-7888-2854-B8DFA4AED5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ym typeface="Wingdings" panose="05000000000000000000" pitchFamily="2" charset="2"/>
              </a:rPr>
              <a:t>( </a:t>
            </a:r>
            <a:r>
              <a:rPr lang="en-US" b="1" dirty="0">
                <a:solidFill>
                  <a:schemeClr val="accent6">
                    <a:lumMod val="50000"/>
                  </a:schemeClr>
                </a:solidFill>
                <a:sym typeface="Wingdings" panose="05000000000000000000" pitchFamily="2" charset="2"/>
              </a:rPr>
              <a:t>757</a:t>
            </a:r>
            <a:r>
              <a:rPr lang="en-US" dirty="0">
                <a:sym typeface="Wingdings" panose="05000000000000000000" pitchFamily="2" charset="2"/>
              </a:rPr>
              <a:t>)</a:t>
            </a:r>
            <a:r>
              <a:rPr lang="en-US" baseline="-25000" dirty="0">
                <a:sym typeface="Wingdings" panose="05000000000000000000" pitchFamily="2" charset="2"/>
              </a:rPr>
              <a:t>8 </a:t>
            </a:r>
            <a:r>
              <a:rPr lang="en-US" dirty="0">
                <a:sym typeface="Wingdings" panose="05000000000000000000" pitchFamily="2" charset="2"/>
              </a:rPr>
              <a:t>  (?)</a:t>
            </a:r>
            <a:r>
              <a:rPr lang="en-US" baseline="-25000" dirty="0">
                <a:sym typeface="Wingdings" panose="05000000000000000000" pitchFamily="2" charset="2"/>
              </a:rPr>
              <a:t>16</a:t>
            </a:r>
          </a:p>
          <a:p>
            <a:r>
              <a:rPr lang="en-US" dirty="0">
                <a:sym typeface="Wingdings" panose="05000000000000000000" pitchFamily="2" charset="2"/>
              </a:rPr>
              <a:t>( </a:t>
            </a:r>
            <a:r>
              <a:rPr lang="en-US" b="1" dirty="0">
                <a:solidFill>
                  <a:schemeClr val="accent6">
                    <a:lumMod val="50000"/>
                  </a:schemeClr>
                </a:solidFill>
                <a:sym typeface="Wingdings" panose="05000000000000000000" pitchFamily="2" charset="2"/>
              </a:rPr>
              <a:t>254</a:t>
            </a:r>
            <a:r>
              <a:rPr lang="en-US" dirty="0">
                <a:sym typeface="Wingdings" panose="05000000000000000000" pitchFamily="2" charset="2"/>
              </a:rPr>
              <a:t>)</a:t>
            </a:r>
            <a:r>
              <a:rPr lang="en-US" baseline="-25000" dirty="0">
                <a:sym typeface="Wingdings" panose="05000000000000000000" pitchFamily="2" charset="2"/>
              </a:rPr>
              <a:t>8 </a:t>
            </a:r>
            <a:r>
              <a:rPr lang="en-US" dirty="0">
                <a:sym typeface="Wingdings" panose="05000000000000000000" pitchFamily="2" charset="2"/>
              </a:rPr>
              <a:t>  (?)</a:t>
            </a:r>
            <a:r>
              <a:rPr lang="en-US" baseline="-25000" dirty="0">
                <a:sym typeface="Wingdings" panose="05000000000000000000" pitchFamily="2" charset="2"/>
              </a:rPr>
              <a:t>16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048342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47E173-48F1-8AE4-B589-9212969F02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84FDA8-A7C8-160E-58B2-F46D3A27F9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Exercises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EE79C7-6903-EF1D-ABED-3A14B271B6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Convert following Decimal numbers to </a:t>
            </a:r>
            <a:r>
              <a:rPr lang="en-US" dirty="0" err="1"/>
              <a:t>HexaDecimal</a:t>
            </a:r>
            <a:r>
              <a:rPr lang="en-US" dirty="0"/>
              <a:t>/Octal</a:t>
            </a:r>
          </a:p>
          <a:p>
            <a:pPr lvl="1"/>
            <a:r>
              <a:rPr lang="en-US" dirty="0"/>
              <a:t>255</a:t>
            </a:r>
            <a:r>
              <a:rPr lang="en-US" baseline="-25000" dirty="0"/>
              <a:t>10</a:t>
            </a:r>
          </a:p>
          <a:p>
            <a:pPr lvl="1"/>
            <a:r>
              <a:rPr lang="en-US" dirty="0"/>
              <a:t>256</a:t>
            </a:r>
            <a:r>
              <a:rPr lang="en-US" baseline="-25000" dirty="0"/>
              <a:t>10</a:t>
            </a:r>
            <a:endParaRPr lang="en-US" dirty="0"/>
          </a:p>
          <a:p>
            <a:pPr lvl="1"/>
            <a:r>
              <a:rPr lang="en-US" dirty="0"/>
              <a:t>257</a:t>
            </a:r>
            <a:r>
              <a:rPr lang="en-US" baseline="-25000" dirty="0"/>
              <a:t>10</a:t>
            </a:r>
            <a:endParaRPr lang="en-US" dirty="0"/>
          </a:p>
          <a:p>
            <a:r>
              <a:rPr lang="en-US" dirty="0"/>
              <a:t>Convert following </a:t>
            </a:r>
            <a:r>
              <a:rPr lang="en-US" dirty="0" err="1"/>
              <a:t>HexaDecimal</a:t>
            </a:r>
            <a:r>
              <a:rPr lang="en-US" dirty="0"/>
              <a:t> numbers to Decimal, Octal</a:t>
            </a:r>
          </a:p>
          <a:p>
            <a:pPr lvl="1"/>
            <a:r>
              <a:rPr lang="en-US" dirty="0"/>
              <a:t>99</a:t>
            </a:r>
            <a:r>
              <a:rPr lang="en-US" baseline="-25000" dirty="0"/>
              <a:t>16</a:t>
            </a:r>
            <a:endParaRPr lang="en-US" dirty="0"/>
          </a:p>
          <a:p>
            <a:pPr lvl="1"/>
            <a:r>
              <a:rPr lang="en-US" dirty="0"/>
              <a:t>100</a:t>
            </a:r>
            <a:r>
              <a:rPr lang="en-US" baseline="-25000" dirty="0"/>
              <a:t>16</a:t>
            </a:r>
            <a:endParaRPr lang="en-US" dirty="0"/>
          </a:p>
          <a:p>
            <a:pPr lvl="1"/>
            <a:r>
              <a:rPr lang="en-US" dirty="0"/>
              <a:t>101</a:t>
            </a:r>
            <a:r>
              <a:rPr lang="en-US" baseline="-25000" dirty="0"/>
              <a:t>16</a:t>
            </a:r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4587478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4F8B1A-215C-B042-EA28-08D3F948D8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Recursion : programming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1A67A3-EB34-AD47-4E4D-D1BF4F6A56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Create factorial</a:t>
            </a:r>
          </a:p>
          <a:p>
            <a:pPr lvl="1"/>
            <a:r>
              <a:rPr lang="en-US" dirty="0"/>
              <a:t>5! = 5 x 4 x 3 x 2 x 1 = </a:t>
            </a:r>
            <a:r>
              <a:rPr lang="en-US" b="1" dirty="0"/>
              <a:t>120</a:t>
            </a:r>
          </a:p>
          <a:p>
            <a:pPr lvl="1"/>
            <a:r>
              <a:rPr lang="en-US" dirty="0"/>
              <a:t>2! = </a:t>
            </a:r>
            <a:r>
              <a:rPr lang="en-US" b="1" dirty="0"/>
              <a:t>2</a:t>
            </a:r>
          </a:p>
          <a:p>
            <a:r>
              <a:rPr lang="en-US" dirty="0"/>
              <a:t>Provide sum of Fibonacci numbers using recursion</a:t>
            </a:r>
          </a:p>
          <a:p>
            <a:pPr lvl="1"/>
            <a:r>
              <a:rPr lang="en-US" dirty="0" err="1"/>
              <a:t>fibonacci</a:t>
            </a:r>
            <a:r>
              <a:rPr lang="en-US" dirty="0"/>
              <a:t>(13) </a:t>
            </a:r>
          </a:p>
          <a:p>
            <a:pPr lvl="2"/>
            <a:r>
              <a:rPr lang="en-US" dirty="0"/>
              <a:t>0 + 1 + 1 + 2 + 3 + 5 + 8 + 13  = </a:t>
            </a:r>
            <a:r>
              <a:rPr lang="en-US" b="1" dirty="0"/>
              <a:t>33</a:t>
            </a:r>
          </a:p>
          <a:p>
            <a:pPr lvl="1"/>
            <a:r>
              <a:rPr lang="en-US" dirty="0" err="1"/>
              <a:t>fibonacci</a:t>
            </a:r>
            <a:r>
              <a:rPr lang="en-US" dirty="0"/>
              <a:t>(3)</a:t>
            </a:r>
          </a:p>
          <a:p>
            <a:pPr lvl="2"/>
            <a:r>
              <a:rPr lang="en-US" dirty="0"/>
              <a:t>0 + 1 + 1 + 2 + 3 = </a:t>
            </a:r>
            <a:r>
              <a:rPr lang="en-US" b="1" dirty="0"/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269746454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A35361-C439-F244-59BE-387062C3B2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Relations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9D45C0-F44A-0C13-FFC8-529E492041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A </a:t>
            </a:r>
            <a:r>
              <a:rPr lang="en-US" b="1" dirty="0"/>
              <a:t>relation</a:t>
            </a:r>
            <a:r>
              <a:rPr lang="en-US" dirty="0"/>
              <a:t> : connection/mapping between elements of two or more sets, Some characteristics …</a:t>
            </a:r>
          </a:p>
          <a:p>
            <a:pPr lvl="1"/>
            <a:r>
              <a:rPr lang="en-US" dirty="0"/>
              <a:t>It is a </a:t>
            </a:r>
            <a:r>
              <a:rPr lang="en-US" b="1" dirty="0"/>
              <a:t>mapping</a:t>
            </a:r>
            <a:r>
              <a:rPr lang="en-US" dirty="0"/>
              <a:t> as </a:t>
            </a:r>
            <a:r>
              <a:rPr lang="en-US" i="1" dirty="0"/>
              <a:t>shown in figure</a:t>
            </a:r>
          </a:p>
          <a:p>
            <a:pPr lvl="1"/>
            <a:r>
              <a:rPr lang="en-US" dirty="0"/>
              <a:t>Can be written as </a:t>
            </a:r>
            <a:r>
              <a:rPr lang="en-US" b="1" dirty="0"/>
              <a:t>Ordered pairs </a:t>
            </a:r>
          </a:p>
          <a:p>
            <a:pPr lvl="2"/>
            <a:r>
              <a:rPr lang="en-US" dirty="0"/>
              <a:t>{(1,c), (2,n),(5,a),(7,n)}</a:t>
            </a:r>
          </a:p>
          <a:p>
            <a:pPr lvl="1"/>
            <a:r>
              <a:rPr lang="en-US" dirty="0"/>
              <a:t>Not always unique</a:t>
            </a:r>
          </a:p>
          <a:p>
            <a:pPr lvl="2"/>
            <a:r>
              <a:rPr lang="en-US" dirty="0"/>
              <a:t>E.g. y</a:t>
            </a:r>
            <a:r>
              <a:rPr lang="en-US" baseline="30000" dirty="0"/>
              <a:t>2</a:t>
            </a:r>
            <a:r>
              <a:rPr lang="en-US" dirty="0"/>
              <a:t> = 4 has multiple solutions (how many?)</a:t>
            </a:r>
          </a:p>
          <a:p>
            <a:r>
              <a:rPr lang="en-US" dirty="0"/>
              <a:t>Examples</a:t>
            </a:r>
          </a:p>
          <a:p>
            <a:pPr lvl="1"/>
            <a:r>
              <a:rPr lang="en-US" dirty="0"/>
              <a:t>Numerical relationship : 4+3 = 7</a:t>
            </a:r>
          </a:p>
          <a:p>
            <a:pPr lvl="1"/>
            <a:r>
              <a:rPr lang="en-US" dirty="0"/>
              <a:t>Equation : y = 2x+3</a:t>
            </a:r>
          </a:p>
          <a:p>
            <a:pPr lvl="1"/>
            <a:r>
              <a:rPr lang="en-US" dirty="0"/>
              <a:t>Geometry : two congruent triangles</a:t>
            </a:r>
          </a:p>
          <a:p>
            <a:pPr lvl="1"/>
            <a:r>
              <a:rPr lang="en-US" dirty="0"/>
              <a:t>Set theory : A is a subset of B </a:t>
            </a:r>
          </a:p>
          <a:p>
            <a:pPr lvl="2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96BF3F3-E264-E655-5183-8CDB033A46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624" y="2247774"/>
            <a:ext cx="3429176" cy="17907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711209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3656C5-174E-2FB6-65E4-CA2111D706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Functions , mathematical kind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84E198-62A9-A7DA-7EB7-D2E9BE70DA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 </a:t>
            </a:r>
            <a:r>
              <a:rPr lang="en-US" b="1" dirty="0"/>
              <a:t>relation</a:t>
            </a:r>
            <a:r>
              <a:rPr lang="en-US" dirty="0"/>
              <a:t> that gives exactly </a:t>
            </a:r>
            <a:r>
              <a:rPr lang="en-US" b="1" dirty="0"/>
              <a:t>one unique output for each input</a:t>
            </a:r>
          </a:p>
          <a:p>
            <a:pPr marL="0" indent="0">
              <a:buNone/>
            </a:pPr>
            <a:r>
              <a:rPr lang="en-US" dirty="0"/>
              <a:t>x </a:t>
            </a:r>
            <a:r>
              <a:rPr lang="en-US" dirty="0">
                <a:sym typeface="Wingdings" panose="05000000000000000000" pitchFamily="2" charset="2"/>
              </a:rPr>
              <a:t>               y     :this is a function as you always get one answer</a:t>
            </a:r>
          </a:p>
          <a:p>
            <a:pPr marL="0" indent="0">
              <a:buNone/>
            </a:pPr>
            <a:r>
              <a:rPr lang="en-US" dirty="0"/>
              <a:t>x </a:t>
            </a:r>
            <a:r>
              <a:rPr lang="en-US" dirty="0">
                <a:sym typeface="Wingdings" panose="05000000000000000000" pitchFamily="2" charset="2"/>
              </a:rPr>
              <a:t>                           :Not a function as you get multiple answers</a:t>
            </a:r>
          </a:p>
          <a:p>
            <a:endParaRPr lang="en-US" dirty="0">
              <a:sym typeface="Wingdings" panose="05000000000000000000" pitchFamily="2" charset="2"/>
            </a:endParaRPr>
          </a:p>
          <a:p>
            <a:r>
              <a:rPr lang="en-US" dirty="0"/>
              <a:t>Representation </a:t>
            </a:r>
          </a:p>
          <a:p>
            <a:pPr lvl="1"/>
            <a:r>
              <a:rPr lang="en-US" dirty="0"/>
              <a:t>f(x)  = 2x+1 : this is a function </a:t>
            </a:r>
          </a:p>
          <a:p>
            <a:pPr lvl="1"/>
            <a:r>
              <a:rPr lang="en-US" dirty="0"/>
              <a:t>g(x) = ± 3x  : this is </a:t>
            </a:r>
            <a:r>
              <a:rPr lang="en-US" b="1" dirty="0"/>
              <a:t>not </a:t>
            </a:r>
            <a:r>
              <a:rPr lang="en-US" dirty="0"/>
              <a:t>a function , why?</a:t>
            </a:r>
          </a:p>
          <a:p>
            <a:r>
              <a:rPr lang="en-US" dirty="0"/>
              <a:t>Follow up reading </a:t>
            </a:r>
            <a:r>
              <a:rPr lang="en-US" sz="1600" dirty="0"/>
              <a:t>(optional)</a:t>
            </a:r>
            <a:r>
              <a:rPr lang="en-US" dirty="0"/>
              <a:t>: </a:t>
            </a:r>
            <a:r>
              <a:rPr lang="en-US" dirty="0" err="1"/>
              <a:t>pg</a:t>
            </a:r>
            <a:r>
              <a:rPr lang="en-US" dirty="0"/>
              <a:t> 11-13 : </a:t>
            </a:r>
            <a:r>
              <a:rPr lang="en-US" dirty="0">
                <a:hlinkClick r:id="rId2"/>
              </a:rPr>
              <a:t>functions</a:t>
            </a:r>
            <a:endParaRPr lang="en-US" dirty="0"/>
          </a:p>
          <a:p>
            <a:endParaRPr lang="en-US" b="1" dirty="0"/>
          </a:p>
          <a:p>
            <a:pPr lvl="1"/>
            <a:endParaRPr lang="en-US" b="1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8151C7A-8B6C-8009-415E-F91BB003110A}"/>
              </a:ext>
            </a:extLst>
          </p:cNvPr>
          <p:cNvSpPr/>
          <p:nvPr/>
        </p:nvSpPr>
        <p:spPr>
          <a:xfrm>
            <a:off x="1838880" y="2348280"/>
            <a:ext cx="731520" cy="365760"/>
          </a:xfrm>
          <a:prstGeom prst="rect">
            <a:avLst/>
          </a:prstGeom>
          <a:solidFill>
            <a:srgbClr val="000000">
              <a:alpha val="5000"/>
            </a:srgbClr>
          </a:solidFill>
          <a:ln w="18000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0000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C6B4BE5-A952-1A8B-54BC-63ED314339FD}"/>
              </a:ext>
            </a:extLst>
          </p:cNvPr>
          <p:cNvSpPr txBox="1"/>
          <p:nvPr/>
        </p:nvSpPr>
        <p:spPr>
          <a:xfrm>
            <a:off x="1860641" y="2348280"/>
            <a:ext cx="6879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Rule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E9EF14B-CA2E-6982-AF5C-489BC285D936}"/>
              </a:ext>
            </a:extLst>
          </p:cNvPr>
          <p:cNvSpPr txBox="1"/>
          <p:nvPr/>
        </p:nvSpPr>
        <p:spPr>
          <a:xfrm>
            <a:off x="1838880" y="2882925"/>
            <a:ext cx="6879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Rule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40DAEC3-6CB2-B53A-492C-9AF9FB397D56}"/>
              </a:ext>
            </a:extLst>
          </p:cNvPr>
          <p:cNvSpPr/>
          <p:nvPr/>
        </p:nvSpPr>
        <p:spPr>
          <a:xfrm>
            <a:off x="1842120" y="2909160"/>
            <a:ext cx="731520" cy="365760"/>
          </a:xfrm>
          <a:prstGeom prst="rect">
            <a:avLst/>
          </a:prstGeom>
          <a:solidFill>
            <a:srgbClr val="000000">
              <a:alpha val="5000"/>
            </a:srgbClr>
          </a:solidFill>
          <a:ln w="18000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0000"/>
              </a:solidFill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F875B4C7-A359-6018-2157-AE5ABA315C18}"/>
                  </a:ext>
                </a:extLst>
              </p14:cNvPr>
              <p14:cNvContentPartPr/>
              <p14:nvPr/>
            </p14:nvContentPartPr>
            <p14:xfrm>
              <a:off x="2936679" y="2998246"/>
              <a:ext cx="360" cy="360"/>
            </p14:xfrm>
          </p:contentPart>
        </mc:Choice>
        <mc:Fallback xmlns=""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F875B4C7-A359-6018-2157-AE5ABA315C18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2927679" y="2989246"/>
                <a:ext cx="18000" cy="18000"/>
              </a:xfrm>
              <a:prstGeom prst="rect">
                <a:avLst/>
              </a:prstGeom>
            </p:spPr>
          </p:pic>
        </mc:Fallback>
      </mc:AlternateContent>
      <p:grpSp>
        <p:nvGrpSpPr>
          <p:cNvPr id="25" name="Group 24">
            <a:extLst>
              <a:ext uri="{FF2B5EF4-FFF2-40B4-BE49-F238E27FC236}">
                <a16:creationId xmlns:a16="http://schemas.microsoft.com/office/drawing/2014/main" id="{9C0F5BCF-D0F2-30A7-9946-861FA1711ABA}"/>
              </a:ext>
            </a:extLst>
          </p:cNvPr>
          <p:cNvGrpSpPr/>
          <p:nvPr/>
        </p:nvGrpSpPr>
        <p:grpSpPr>
          <a:xfrm>
            <a:off x="2721039" y="2857126"/>
            <a:ext cx="445320" cy="303840"/>
            <a:chOff x="2721039" y="2857126"/>
            <a:chExt cx="445320" cy="303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B8C7FEF2-D3AE-3E3C-A68D-D3F43971E802}"/>
                    </a:ext>
                  </a:extLst>
                </p14:cNvPr>
                <p14:cNvContentPartPr/>
                <p14:nvPr/>
              </p14:nvContentPartPr>
              <p14:xfrm>
                <a:off x="2721039" y="2908246"/>
                <a:ext cx="376920" cy="10404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B8C7FEF2-D3AE-3E3C-A68D-D3F43971E802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2712039" y="2899246"/>
                  <a:ext cx="394560" cy="12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C8ECC4D9-1F6F-1158-5D0B-145F4119AC69}"/>
                    </a:ext>
                  </a:extLst>
                </p14:cNvPr>
                <p14:cNvContentPartPr/>
                <p14:nvPr/>
              </p14:nvContentPartPr>
              <p14:xfrm>
                <a:off x="2985639" y="2857126"/>
                <a:ext cx="149040" cy="14112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C8ECC4D9-1F6F-1158-5D0B-145F4119AC69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2976639" y="2848486"/>
                  <a:ext cx="166680" cy="15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766648FE-AFBB-2E70-8ED4-3195243117CC}"/>
                    </a:ext>
                  </a:extLst>
                </p14:cNvPr>
                <p14:cNvContentPartPr/>
                <p14:nvPr/>
              </p14:nvContentPartPr>
              <p14:xfrm>
                <a:off x="2769279" y="3081766"/>
                <a:ext cx="349200" cy="4536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766648FE-AFBB-2E70-8ED4-3195243117CC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2760639" y="3073126"/>
                  <a:ext cx="366840" cy="6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37090F1C-D55F-8CC3-89BB-7EB84048F0D5}"/>
                    </a:ext>
                  </a:extLst>
                </p14:cNvPr>
                <p14:cNvContentPartPr/>
                <p14:nvPr/>
              </p14:nvContentPartPr>
              <p14:xfrm>
                <a:off x="3015519" y="3041806"/>
                <a:ext cx="150840" cy="11916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37090F1C-D55F-8CC3-89BB-7EB84048F0D5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3006879" y="3033166"/>
                  <a:ext cx="168480" cy="136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FFCD7125-712B-D955-04CB-A6D6EA861E7E}"/>
              </a:ext>
            </a:extLst>
          </p:cNvPr>
          <p:cNvGrpSpPr/>
          <p:nvPr/>
        </p:nvGrpSpPr>
        <p:grpSpPr>
          <a:xfrm>
            <a:off x="2769279" y="3244126"/>
            <a:ext cx="389520" cy="255240"/>
            <a:chOff x="2769279" y="3244126"/>
            <a:chExt cx="389520" cy="255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BAD88289-ECFD-B45F-2CF4-BB5A981B9584}"/>
                    </a:ext>
                  </a:extLst>
                </p14:cNvPr>
                <p14:cNvContentPartPr/>
                <p14:nvPr/>
              </p14:nvContentPartPr>
              <p14:xfrm>
                <a:off x="2769279" y="3244126"/>
                <a:ext cx="338400" cy="17604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BAD88289-ECFD-B45F-2CF4-BB5A981B9584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2760639" y="3235126"/>
                  <a:ext cx="356040" cy="19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30CC6CB1-5945-9D71-1B4F-5864922A7BD9}"/>
                    </a:ext>
                  </a:extLst>
                </p14:cNvPr>
                <p14:cNvContentPartPr/>
                <p14:nvPr/>
              </p14:nvContentPartPr>
              <p14:xfrm>
                <a:off x="2954679" y="3353926"/>
                <a:ext cx="204120" cy="14544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30CC6CB1-5945-9D71-1B4F-5864922A7BD9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2945679" y="3345286"/>
                  <a:ext cx="221760" cy="16308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F80D0CA2-9126-FD7A-E450-E50AFF13D531}"/>
              </a:ext>
            </a:extLst>
          </p:cNvPr>
          <p:cNvSpPr txBox="1"/>
          <p:nvPr/>
        </p:nvSpPr>
        <p:spPr>
          <a:xfrm>
            <a:off x="3201639" y="2714040"/>
            <a:ext cx="52753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 </a:t>
            </a:r>
          </a:p>
          <a:p>
            <a:r>
              <a:rPr lang="en-US" dirty="0"/>
              <a:t>b</a:t>
            </a:r>
          </a:p>
          <a:p>
            <a:r>
              <a:rPr lang="en-US" dirty="0"/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177576913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902945-0AC2-97D6-21F3-4A5D08BD2A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Evaluating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2889C3-04D9-9556-4A46-3112030614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Solving </a:t>
            </a:r>
          </a:p>
          <a:p>
            <a:pPr lvl="1"/>
            <a:r>
              <a:rPr lang="en-US" dirty="0"/>
              <a:t>Substitute variables with numerals</a:t>
            </a:r>
          </a:p>
          <a:p>
            <a:pPr lvl="1"/>
            <a:r>
              <a:rPr lang="en-US" dirty="0"/>
              <a:t>Evaluate</a:t>
            </a:r>
          </a:p>
          <a:p>
            <a:pPr lvl="2"/>
            <a:r>
              <a:rPr lang="en-US" dirty="0"/>
              <a:t>Follow PEMDAS/BODMAS</a:t>
            </a:r>
          </a:p>
          <a:p>
            <a:r>
              <a:rPr lang="en-US" dirty="0"/>
              <a:t>Solve for x = 0,1,2,3</a:t>
            </a:r>
          </a:p>
          <a:p>
            <a:pPr lvl="1"/>
            <a:r>
              <a:rPr lang="en-US" dirty="0"/>
              <a:t>f(x) = 3x + 1</a:t>
            </a:r>
          </a:p>
          <a:p>
            <a:pPr lvl="1"/>
            <a:r>
              <a:rPr lang="en-US" dirty="0"/>
              <a:t>g(x) = 2x</a:t>
            </a:r>
            <a:r>
              <a:rPr lang="en-US" baseline="30000" dirty="0"/>
              <a:t>2 </a:t>
            </a:r>
            <a:r>
              <a:rPr lang="en-US" dirty="0"/>
              <a:t>+ 3</a:t>
            </a:r>
          </a:p>
          <a:p>
            <a:pPr lvl="1"/>
            <a:r>
              <a:rPr lang="en-US" dirty="0"/>
              <a:t>h(x) = x</a:t>
            </a:r>
            <a:r>
              <a:rPr lang="en-US" baseline="30000" dirty="0"/>
              <a:t>2</a:t>
            </a:r>
            <a:r>
              <a:rPr lang="en-US" dirty="0"/>
              <a:t> + 2x +1</a:t>
            </a:r>
          </a:p>
        </p:txBody>
      </p:sp>
    </p:spTree>
    <p:extLst>
      <p:ext uri="{BB962C8B-B14F-4D97-AF65-F5344CB8AC3E}">
        <p14:creationId xmlns:p14="http://schemas.microsoft.com/office/powerpoint/2010/main" val="241986397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CBAF36-C99B-4C0F-D9A1-F97EBF1C33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Recursive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D1E908-BFA9-6149-6F25-D118365B8B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Functions calling themselves</a:t>
            </a:r>
          </a:p>
          <a:p>
            <a:pPr marL="0" indent="0">
              <a:buNone/>
            </a:pPr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>
              <a:hlinkClick r:id="rId2"/>
            </a:endParaRPr>
          </a:p>
          <a:p>
            <a:endParaRPr lang="en-US" dirty="0">
              <a:hlinkClick r:id="rId2"/>
            </a:endParaRPr>
          </a:p>
          <a:p>
            <a:endParaRPr lang="en-US" dirty="0">
              <a:hlinkClick r:id="rId2"/>
            </a:endParaRPr>
          </a:p>
          <a:p>
            <a:endParaRPr lang="en-US" dirty="0">
              <a:hlinkClick r:id="rId2"/>
            </a:endParaRPr>
          </a:p>
          <a:p>
            <a:endParaRPr lang="en-US" dirty="0">
              <a:hlinkClick r:id="rId2"/>
            </a:endParaRPr>
          </a:p>
          <a:p>
            <a:endParaRPr lang="en-US" dirty="0"/>
          </a:p>
          <a:p>
            <a:r>
              <a:rPr lang="en-US" dirty="0"/>
              <a:t>Evaluate for ‘n’ = 2 , 4, 5, 6</a:t>
            </a:r>
          </a:p>
          <a:p>
            <a:r>
              <a:rPr lang="en-US" dirty="0"/>
              <a:t>Follow up reading </a:t>
            </a:r>
            <a:r>
              <a:rPr lang="en-US" sz="1500" dirty="0"/>
              <a:t>(optional)</a:t>
            </a:r>
            <a:r>
              <a:rPr lang="en-US" dirty="0"/>
              <a:t>: </a:t>
            </a:r>
            <a:r>
              <a:rPr lang="en-US" dirty="0">
                <a:hlinkClick r:id="rId2"/>
              </a:rPr>
              <a:t>nested functions visualized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33B07FF-705F-B2EE-4909-718D1ECDC4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5136" y="2233628"/>
            <a:ext cx="3333921" cy="1124008"/>
          </a:xfrm>
          <a:prstGeom prst="rect">
            <a:avLst/>
          </a:prstGeom>
        </p:spPr>
      </p:pic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9ED924A9-7C44-EBC3-DDF7-0205456CDCD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67114464"/>
              </p:ext>
            </p:extLst>
          </p:nvPr>
        </p:nvGraphicFramePr>
        <p:xfrm>
          <a:off x="1071459" y="2316479"/>
          <a:ext cx="8861106" cy="282177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430553">
                  <a:extLst>
                    <a:ext uri="{9D8B030D-6E8A-4147-A177-3AD203B41FA5}">
                      <a16:colId xmlns:a16="http://schemas.microsoft.com/office/drawing/2014/main" val="2496394709"/>
                    </a:ext>
                  </a:extLst>
                </a:gridCol>
                <a:gridCol w="4430553">
                  <a:extLst>
                    <a:ext uri="{9D8B030D-6E8A-4147-A177-3AD203B41FA5}">
                      <a16:colId xmlns:a16="http://schemas.microsoft.com/office/drawing/2014/main" val="1375899388"/>
                    </a:ext>
                  </a:extLst>
                </a:gridCol>
              </a:tblGrid>
              <a:tr h="940592">
                <a:tc>
                  <a:txBody>
                    <a:bodyPr/>
                    <a:lstStyle/>
                    <a:p>
                      <a:r>
                        <a:rPr lang="en-US" b="1" dirty="0"/>
                        <a:t>Fibonacci </a:t>
                      </a:r>
                      <a:r>
                        <a:rPr lang="en-US" b="0" dirty="0"/>
                        <a:t>numbers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18360927"/>
                  </a:ext>
                </a:extLst>
              </a:tr>
              <a:tr h="940592">
                <a:tc>
                  <a:txBody>
                    <a:bodyPr/>
                    <a:lstStyle/>
                    <a:p>
                      <a:r>
                        <a:rPr lang="en-US" b="1" dirty="0"/>
                        <a:t>Factorial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    fact(n) = n * fact(n-1)</a:t>
                      </a:r>
                    </a:p>
                    <a:p>
                      <a:r>
                        <a:rPr lang="en-US" dirty="0"/>
                        <a:t>    {given, </a:t>
                      </a:r>
                      <a:r>
                        <a:rPr lang="en-US" i="1" dirty="0"/>
                        <a:t> fact(1) = fact(0) =1}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59044372"/>
                  </a:ext>
                </a:extLst>
              </a:tr>
              <a:tr h="940592">
                <a:tc>
                  <a:txBody>
                    <a:bodyPr/>
                    <a:lstStyle/>
                    <a:p>
                      <a:r>
                        <a:rPr lang="en-US" b="1" dirty="0"/>
                        <a:t>Lucas </a:t>
                      </a:r>
                      <a:r>
                        <a:rPr lang="en-US" b="0" dirty="0"/>
                        <a:t>numbers</a:t>
                      </a:r>
                      <a:br>
                        <a:rPr lang="en-US" b="0" dirty="0"/>
                      </a:br>
                      <a:r>
                        <a:rPr lang="en-US" dirty="0"/>
                        <a:t>(</a:t>
                      </a:r>
                      <a:r>
                        <a:rPr lang="en-US" i="1" dirty="0"/>
                        <a:t>same rule as Fibonacci but with different starting values</a:t>
                      </a:r>
                      <a:r>
                        <a:rPr lang="en-US" dirty="0"/>
                        <a:t>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    l (n) = l(n-1) + l(n-2)</a:t>
                      </a:r>
                    </a:p>
                    <a:p>
                      <a:r>
                        <a:rPr lang="en-US" dirty="0"/>
                        <a:t>    {given , </a:t>
                      </a:r>
                      <a:r>
                        <a:rPr lang="en-US" i="1" dirty="0"/>
                        <a:t>l(0) = 2, l(1) = 1}</a:t>
                      </a:r>
                      <a:endParaRPr lang="en-US" dirty="0"/>
                    </a:p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4629143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1292121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DEB84F-B0DC-79D2-7C5F-8C3A6D23B6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Programming, , Test #1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BEA891-9323-41D9-4413-E83293264D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Need to know </a:t>
            </a:r>
          </a:p>
          <a:p>
            <a:pPr lvl="1"/>
            <a:r>
              <a:rPr lang="en-US" dirty="0"/>
              <a:t>Data types</a:t>
            </a:r>
          </a:p>
          <a:p>
            <a:pPr lvl="1"/>
            <a:r>
              <a:rPr lang="en-US" dirty="0"/>
              <a:t>Conditionals : If/else</a:t>
            </a:r>
          </a:p>
          <a:p>
            <a:pPr lvl="1"/>
            <a:r>
              <a:rPr lang="en-US" dirty="0"/>
              <a:t>Loops : for</a:t>
            </a:r>
          </a:p>
          <a:p>
            <a:pPr lvl="1"/>
            <a:r>
              <a:rPr lang="en-US" dirty="0"/>
              <a:t>Arrays : 2 dimensional</a:t>
            </a:r>
          </a:p>
          <a:p>
            <a:r>
              <a:rPr lang="en-US" dirty="0"/>
              <a:t>Practice </a:t>
            </a:r>
          </a:p>
          <a:p>
            <a:pPr lvl="1"/>
            <a:r>
              <a:rPr lang="en-US" dirty="0">
                <a:hlinkClick r:id="rId2"/>
              </a:rPr>
              <a:t>Arrays- DS (</a:t>
            </a:r>
            <a:r>
              <a:rPr lang="en-US" dirty="0" err="1">
                <a:hlinkClick r:id="rId2"/>
              </a:rPr>
              <a:t>Hackerrank</a:t>
            </a:r>
            <a:r>
              <a:rPr lang="en-US" dirty="0">
                <a:hlinkClick r:id="rId2"/>
              </a:rPr>
              <a:t>)</a:t>
            </a:r>
            <a:r>
              <a:rPr lang="en-US" dirty="0"/>
              <a:t> </a:t>
            </a:r>
          </a:p>
          <a:p>
            <a:pPr lvl="2"/>
            <a:r>
              <a:rPr lang="en-US"/>
              <a:t>Do the 4 </a:t>
            </a:r>
            <a:r>
              <a:rPr lang="en-US" dirty="0"/>
              <a:t>problems marked “easy”</a:t>
            </a:r>
          </a:p>
          <a:p>
            <a:pPr lvl="2"/>
            <a:r>
              <a:rPr lang="en-US" dirty="0"/>
              <a:t>Optional :“hard”, “medium” one are for extra challenge</a:t>
            </a:r>
          </a:p>
        </p:txBody>
      </p:sp>
    </p:spTree>
    <p:extLst>
      <p:ext uri="{BB962C8B-B14F-4D97-AF65-F5344CB8AC3E}">
        <p14:creationId xmlns:p14="http://schemas.microsoft.com/office/powerpoint/2010/main" val="63354653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D39C56-5A5D-4E4D-4D8E-F37DFB3CA5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 1, observations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BD378D-5E4D-E294-B700-72DCD213FB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08847"/>
            <a:ext cx="10515600" cy="4351338"/>
          </a:xfrm>
        </p:spPr>
        <p:txBody>
          <a:bodyPr/>
          <a:lstStyle/>
          <a:p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Great participation, nearly everyone attempted!</a:t>
            </a:r>
          </a:p>
          <a:p>
            <a:r>
              <a:rPr lang="en-US" dirty="0"/>
              <a:t>Overall students did better in quiz</a:t>
            </a:r>
          </a:p>
          <a:p>
            <a:pPr lvl="1"/>
            <a:r>
              <a:rPr lang="en-US" dirty="0"/>
              <a:t>8x full marks in quiz vs 5x full marks in programming</a:t>
            </a:r>
          </a:p>
          <a:p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4 students got a zero in programming </a:t>
            </a:r>
            <a:r>
              <a:rPr lang="en-US" dirty="0"/>
              <a:t>( with 1 not attempted)</a:t>
            </a:r>
          </a:p>
          <a:p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0F89DCDD-2254-1A30-3A13-C6AB2863E4C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2243" y="3707934"/>
            <a:ext cx="3174403" cy="2618596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F8624B3F-D128-6B7B-1206-8E41B254F38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81719" y="3683515"/>
            <a:ext cx="3233606" cy="2667433"/>
          </a:xfrm>
          <a:prstGeom prst="rect">
            <a:avLst/>
          </a:prstGeom>
        </p:spPr>
      </p:pic>
      <p:sp>
        <p:nvSpPr>
          <p:cNvPr id="15" name="Footer Placeholder 14">
            <a:extLst>
              <a:ext uri="{FF2B5EF4-FFF2-40B4-BE49-F238E27FC236}">
                <a16:creationId xmlns:a16="http://schemas.microsoft.com/office/drawing/2014/main" id="{F5B24662-16BA-0617-641E-BE5B6C1B16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</p:spTree>
    <p:extLst>
      <p:ext uri="{BB962C8B-B14F-4D97-AF65-F5344CB8AC3E}">
        <p14:creationId xmlns:p14="http://schemas.microsoft.com/office/powerpoint/2010/main" val="226887510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A64546-56C5-F32B-B7B4-0BB3361D77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 2 ,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36DBCF-54D6-390D-D097-F17F350240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The quizzes </a:t>
            </a:r>
          </a:p>
          <a:p>
            <a:pPr lvl="1"/>
            <a:r>
              <a:rPr lang="en-US" dirty="0"/>
              <a:t>seem to be easier for students to master</a:t>
            </a:r>
          </a:p>
          <a:p>
            <a:pPr lvl="1"/>
            <a:r>
              <a:rPr lang="en-US" dirty="0"/>
              <a:t>Success cause everyone attempted, next we figure out how to raise scores there</a:t>
            </a:r>
          </a:p>
          <a:p>
            <a:pPr lvl="2"/>
            <a:r>
              <a:rPr lang="en-US" dirty="0"/>
              <a:t>Suggestions ?</a:t>
            </a:r>
          </a:p>
          <a:p>
            <a:r>
              <a:rPr lang="en-US" dirty="0"/>
              <a:t>Programming </a:t>
            </a:r>
          </a:p>
          <a:p>
            <a:pPr lvl="1"/>
            <a:r>
              <a:rPr lang="en-US" dirty="0"/>
              <a:t>It was amazing attempt</a:t>
            </a:r>
          </a:p>
          <a:p>
            <a:pPr lvl="1"/>
            <a:r>
              <a:rPr lang="en-US" dirty="0"/>
              <a:t>The codes generally worked</a:t>
            </a:r>
          </a:p>
          <a:p>
            <a:pPr lvl="1"/>
            <a:r>
              <a:rPr lang="en-US" dirty="0"/>
              <a:t>But 4/15 students had zeroes.</a:t>
            </a:r>
          </a:p>
          <a:p>
            <a:pPr lvl="1"/>
            <a:r>
              <a:rPr lang="en-US" dirty="0"/>
              <a:t>Suggestions ?</a:t>
            </a:r>
          </a:p>
          <a:p>
            <a:r>
              <a:rPr lang="en-US" dirty="0"/>
              <a:t>Goal :We need raise scores for everyone and move some in attempted stage</a:t>
            </a:r>
          </a:p>
          <a:p>
            <a:pPr lvl="1"/>
            <a:r>
              <a:rPr lang="en-US" dirty="0"/>
              <a:t>Note</a:t>
            </a:r>
          </a:p>
          <a:p>
            <a:pPr lvl="2"/>
            <a:r>
              <a:rPr lang="en-US" dirty="0"/>
              <a:t>Compete with yourself , Do better than your last attempt </a:t>
            </a:r>
          </a:p>
          <a:p>
            <a:pPr lvl="2"/>
            <a:r>
              <a:rPr lang="en-US" dirty="0"/>
              <a:t>Ask for help </a:t>
            </a:r>
          </a:p>
          <a:p>
            <a:pPr lvl="3"/>
            <a:r>
              <a:rPr lang="en-US" dirty="0"/>
              <a:t>on what you don’t know, to learn it.</a:t>
            </a:r>
          </a:p>
          <a:p>
            <a:pPr lvl="3"/>
            <a:r>
              <a:rPr lang="en-US" dirty="0"/>
              <a:t>And even on what you know , i.e. to master it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A07F394-AD18-1EC7-38C3-9A61FEB14D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</p:spTree>
    <p:extLst>
      <p:ext uri="{BB962C8B-B14F-4D97-AF65-F5344CB8AC3E}">
        <p14:creationId xmlns:p14="http://schemas.microsoft.com/office/powerpoint/2010/main" val="390842851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010063-C526-EA6B-3D7A-9BD9107299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Topics for Test 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D8505C-A605-E7E4-9046-72C419C36A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Mathematical expressions</a:t>
            </a:r>
          </a:p>
          <a:p>
            <a:pPr lvl="1"/>
            <a:r>
              <a:rPr lang="en-US" dirty="0"/>
              <a:t>Representations ( infix, prefix, postfix)</a:t>
            </a:r>
          </a:p>
          <a:p>
            <a:pPr lvl="1"/>
            <a:r>
              <a:rPr lang="en-US" dirty="0"/>
              <a:t>Evaluation or expression</a:t>
            </a:r>
          </a:p>
          <a:p>
            <a:r>
              <a:rPr lang="en-US" dirty="0"/>
              <a:t>Discrete Mathematics</a:t>
            </a:r>
          </a:p>
          <a:p>
            <a:pPr lvl="1"/>
            <a:r>
              <a:rPr lang="en-US" dirty="0"/>
              <a:t>Logical Operators (AND , OR , NOT, SHIFT,…)</a:t>
            </a:r>
          </a:p>
          <a:p>
            <a:pPr lvl="1"/>
            <a:r>
              <a:rPr lang="en-US" dirty="0"/>
              <a:t>Boolean logic</a:t>
            </a:r>
          </a:p>
          <a:p>
            <a:r>
              <a:rPr lang="en-US" dirty="0"/>
              <a:t>Programming </a:t>
            </a:r>
          </a:p>
          <a:p>
            <a:pPr lvl="1"/>
            <a:r>
              <a:rPr lang="en-US" dirty="0"/>
              <a:t>char, string ,arrays</a:t>
            </a:r>
          </a:p>
          <a:p>
            <a:pPr lvl="1"/>
            <a:r>
              <a:rPr lang="en-US" dirty="0"/>
              <a:t>Loops </a:t>
            </a:r>
          </a:p>
          <a:p>
            <a:pPr lvl="1"/>
            <a:r>
              <a:rPr lang="en-US" dirty="0"/>
              <a:t>Conditionals</a:t>
            </a:r>
          </a:p>
          <a:p>
            <a:pPr lvl="2"/>
            <a:r>
              <a:rPr lang="en-US" dirty="0"/>
              <a:t>If/else</a:t>
            </a:r>
          </a:p>
          <a:p>
            <a:pPr lvl="2"/>
            <a:r>
              <a:rPr lang="en-US" dirty="0"/>
              <a:t>switch/case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9FCFCBD-DCB6-DA2A-15CD-C1320C57B8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</p:spTree>
    <p:extLst>
      <p:ext uri="{BB962C8B-B14F-4D97-AF65-F5344CB8AC3E}">
        <p14:creationId xmlns:p14="http://schemas.microsoft.com/office/powerpoint/2010/main" val="336953699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E09036-DB73-EF71-EE0A-E0F5D254B4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Infix expressions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BA8B8B-A6D4-B8E0-9265-7EBCA0EDA0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Encounter them in grade </a:t>
            </a:r>
            <a:r>
              <a:rPr lang="en-US" dirty="0" err="1"/>
              <a:t>maths</a:t>
            </a:r>
            <a:r>
              <a:rPr lang="en-US" dirty="0"/>
              <a:t>. e.g. </a:t>
            </a:r>
          </a:p>
          <a:p>
            <a:pPr lvl="1"/>
            <a:r>
              <a:rPr lang="en-US" dirty="0"/>
              <a:t>(11+14)/(9 - 3) + 2</a:t>
            </a:r>
          </a:p>
          <a:p>
            <a:pPr lvl="1"/>
            <a:r>
              <a:rPr lang="en-US" dirty="0"/>
              <a:t>3+7 / (4 * 5 - 6)</a:t>
            </a:r>
          </a:p>
          <a:p>
            <a:pPr lvl="1"/>
            <a:r>
              <a:rPr lang="en-US" dirty="0"/>
              <a:t>- 2 + 8 / 2</a:t>
            </a:r>
          </a:p>
          <a:p>
            <a:r>
              <a:rPr lang="en-US" dirty="0"/>
              <a:t>Can also be written using variables</a:t>
            </a:r>
          </a:p>
          <a:p>
            <a:pPr lvl="1"/>
            <a:r>
              <a:rPr lang="en-US" dirty="0"/>
              <a:t>(a + b) / (c – d ) + e </a:t>
            </a:r>
          </a:p>
          <a:p>
            <a:pPr lvl="1"/>
            <a:r>
              <a:rPr lang="en-US" dirty="0"/>
              <a:t>x + y  / (g * h – k)</a:t>
            </a:r>
          </a:p>
          <a:p>
            <a:r>
              <a:rPr lang="en-US" dirty="0"/>
              <a:t>Evaluated using </a:t>
            </a:r>
          </a:p>
          <a:p>
            <a:pPr lvl="1"/>
            <a:r>
              <a:rPr lang="en-US" dirty="0"/>
              <a:t>PEMDAS / BODMAS</a:t>
            </a:r>
          </a:p>
          <a:p>
            <a:pPr lvl="1"/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44BE138-382D-4140-3301-E9A9F4B741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</p:spTree>
    <p:extLst>
      <p:ext uri="{BB962C8B-B14F-4D97-AF65-F5344CB8AC3E}">
        <p14:creationId xmlns:p14="http://schemas.microsoft.com/office/powerpoint/2010/main" val="137306431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78543D-4AED-1560-6020-DBDF03CC2A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Expression : anatomy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6B474B-E50F-9A75-FDCD-ECE8C37DB9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Expression is made of</a:t>
            </a:r>
          </a:p>
          <a:p>
            <a:pPr lvl="1"/>
            <a:r>
              <a:rPr lang="en-US" dirty="0"/>
              <a:t>Operators ( + , - , * , /)</a:t>
            </a:r>
          </a:p>
          <a:p>
            <a:pPr lvl="1"/>
            <a:r>
              <a:rPr lang="en-US" dirty="0"/>
              <a:t>Operands (numbers, variables)</a:t>
            </a:r>
          </a:p>
          <a:p>
            <a:r>
              <a:rPr lang="en-US" dirty="0"/>
              <a:t>Unary operators : </a:t>
            </a: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-</a:t>
            </a:r>
            <a:r>
              <a:rPr lang="en-US" dirty="0"/>
              <a:t>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a</a:t>
            </a:r>
          </a:p>
          <a:p>
            <a:pPr lvl="1"/>
            <a:r>
              <a:rPr lang="en-US" dirty="0"/>
              <a:t>&lt;</a:t>
            </a: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operator</a:t>
            </a:r>
            <a:r>
              <a:rPr lang="en-US" dirty="0"/>
              <a:t>&gt; &lt;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operand</a:t>
            </a:r>
            <a:r>
              <a:rPr lang="en-US" dirty="0"/>
              <a:t>&gt;</a:t>
            </a:r>
          </a:p>
          <a:p>
            <a:r>
              <a:rPr lang="en-US" dirty="0"/>
              <a:t> Binary operators (infix) :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a</a:t>
            </a:r>
            <a:r>
              <a:rPr lang="en-US" dirty="0"/>
              <a:t> </a:t>
            </a: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+</a:t>
            </a:r>
            <a:r>
              <a:rPr lang="en-US" dirty="0"/>
              <a:t>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b </a:t>
            </a:r>
          </a:p>
          <a:p>
            <a:pPr lvl="1"/>
            <a:r>
              <a:rPr lang="en-US" dirty="0"/>
              <a:t>&lt;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operand</a:t>
            </a:r>
            <a:r>
              <a:rPr lang="en-US" dirty="0"/>
              <a:t>&gt; &lt;</a:t>
            </a: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operator</a:t>
            </a:r>
            <a:r>
              <a:rPr lang="en-US" dirty="0"/>
              <a:t>&gt;  &lt;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operand</a:t>
            </a:r>
            <a:r>
              <a:rPr lang="en-US" dirty="0"/>
              <a:t>&gt;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ABB1C1A-17CA-D188-02EC-25677E3592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</p:spTree>
    <p:extLst>
      <p:ext uri="{BB962C8B-B14F-4D97-AF65-F5344CB8AC3E}">
        <p14:creationId xmlns:p14="http://schemas.microsoft.com/office/powerpoint/2010/main" val="239830343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298428-71F3-9434-03CF-F3DD0692B1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Prefix/Postfix expressions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E221BA-4008-7A96-D38C-705D413BB3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Benefits</a:t>
            </a:r>
          </a:p>
          <a:p>
            <a:pPr lvl="1"/>
            <a:r>
              <a:rPr lang="en-US" dirty="0"/>
              <a:t>Remove ambiguity( i.e. can  forget PEMDAS, BODMAS) </a:t>
            </a:r>
          </a:p>
          <a:p>
            <a:pPr lvl="1"/>
            <a:r>
              <a:rPr lang="en-US" dirty="0"/>
              <a:t>Computer friendly </a:t>
            </a:r>
          </a:p>
          <a:p>
            <a:pPr lvl="1"/>
            <a:r>
              <a:rPr lang="en-US" dirty="0"/>
              <a:t>Works with both unary/binary</a:t>
            </a:r>
          </a:p>
          <a:p>
            <a:pPr lvl="1"/>
            <a:r>
              <a:rPr lang="en-US" dirty="0"/>
              <a:t>Faster evaluation </a:t>
            </a:r>
          </a:p>
          <a:p>
            <a:r>
              <a:rPr lang="en-US" dirty="0"/>
              <a:t>Expression styles</a:t>
            </a:r>
          </a:p>
          <a:p>
            <a:pPr lvl="1"/>
            <a:r>
              <a:rPr lang="en-US" dirty="0"/>
              <a:t>Infix : operator in </a:t>
            </a:r>
            <a:r>
              <a:rPr lang="en-US" b="1" dirty="0"/>
              <a:t>middle</a:t>
            </a:r>
            <a:r>
              <a:rPr lang="en-US" dirty="0"/>
              <a:t> of operands</a:t>
            </a:r>
          </a:p>
          <a:p>
            <a:pPr lvl="2"/>
            <a:r>
              <a:rPr lang="en-US" dirty="0"/>
              <a:t>(5+6)*3  </a:t>
            </a:r>
          </a:p>
          <a:p>
            <a:pPr lvl="2"/>
            <a:r>
              <a:rPr lang="en-US" dirty="0"/>
              <a:t>&lt;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operand</a:t>
            </a:r>
            <a:r>
              <a:rPr lang="en-US" dirty="0"/>
              <a:t>&gt; &lt;</a:t>
            </a:r>
            <a:r>
              <a:rPr lang="en-US" i="1" dirty="0">
                <a:solidFill>
                  <a:schemeClr val="tx2">
                    <a:lumMod val="75000"/>
                    <a:lumOff val="25000"/>
                  </a:schemeClr>
                </a:solidFill>
                <a:latin typeface="Bahnschrift SemiBold" panose="020B0502040204020203" pitchFamily="34" charset="0"/>
              </a:rPr>
              <a:t>operator</a:t>
            </a:r>
            <a:r>
              <a:rPr lang="en-US" dirty="0"/>
              <a:t>&gt;  &lt;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operand</a:t>
            </a:r>
            <a:r>
              <a:rPr lang="en-US" dirty="0"/>
              <a:t>&gt;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Prefix : operator </a:t>
            </a:r>
            <a:r>
              <a:rPr lang="en-US" b="1" dirty="0">
                <a:sym typeface="Wingdings" panose="05000000000000000000" pitchFamily="2" charset="2"/>
              </a:rPr>
              <a:t>before</a:t>
            </a:r>
            <a:r>
              <a:rPr lang="en-US" dirty="0">
                <a:sym typeface="Wingdings" panose="05000000000000000000" pitchFamily="2" charset="2"/>
              </a:rPr>
              <a:t> operands</a:t>
            </a:r>
          </a:p>
          <a:p>
            <a:pPr lvl="2"/>
            <a:r>
              <a:rPr lang="en-US" dirty="0">
                <a:sym typeface="Wingdings" panose="05000000000000000000" pitchFamily="2" charset="2"/>
              </a:rPr>
              <a:t>* + 5 6 3</a:t>
            </a:r>
          </a:p>
          <a:p>
            <a:pPr lvl="2"/>
            <a:r>
              <a:rPr lang="en-US" dirty="0"/>
              <a:t>&lt;</a:t>
            </a:r>
            <a:r>
              <a:rPr lang="en-US" i="1" dirty="0">
                <a:solidFill>
                  <a:schemeClr val="tx2">
                    <a:lumMod val="75000"/>
                    <a:lumOff val="25000"/>
                  </a:schemeClr>
                </a:solidFill>
                <a:latin typeface="Bahnschrift SemiBold" panose="020B0502040204020203" pitchFamily="34" charset="0"/>
              </a:rPr>
              <a:t>operator</a:t>
            </a:r>
            <a:r>
              <a:rPr lang="en-US" dirty="0"/>
              <a:t>&gt;  &lt;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operand</a:t>
            </a:r>
            <a:r>
              <a:rPr lang="en-US" dirty="0"/>
              <a:t>&gt; &lt;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operand</a:t>
            </a:r>
            <a:r>
              <a:rPr lang="en-US" dirty="0"/>
              <a:t>&gt;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Postfix : operator </a:t>
            </a:r>
            <a:r>
              <a:rPr lang="en-US" b="1" dirty="0">
                <a:sym typeface="Wingdings" panose="05000000000000000000" pitchFamily="2" charset="2"/>
              </a:rPr>
              <a:t>after</a:t>
            </a:r>
            <a:r>
              <a:rPr lang="en-US" dirty="0">
                <a:sym typeface="Wingdings" panose="05000000000000000000" pitchFamily="2" charset="2"/>
              </a:rPr>
              <a:t> operands</a:t>
            </a:r>
          </a:p>
          <a:p>
            <a:pPr lvl="2"/>
            <a:r>
              <a:rPr lang="en-US" dirty="0">
                <a:sym typeface="Wingdings" panose="05000000000000000000" pitchFamily="2" charset="2"/>
              </a:rPr>
              <a:t>5 6 + 3 *</a:t>
            </a:r>
          </a:p>
          <a:p>
            <a:pPr lvl="2"/>
            <a:r>
              <a:rPr lang="en-US" dirty="0"/>
              <a:t>&lt;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operand</a:t>
            </a:r>
            <a:r>
              <a:rPr lang="en-US" dirty="0"/>
              <a:t>&gt; &lt;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operand</a:t>
            </a:r>
            <a:r>
              <a:rPr lang="en-US" dirty="0"/>
              <a:t>&gt; &lt;</a:t>
            </a:r>
            <a:r>
              <a:rPr lang="en-US" i="1" dirty="0">
                <a:solidFill>
                  <a:schemeClr val="tx2">
                    <a:lumMod val="75000"/>
                    <a:lumOff val="25000"/>
                  </a:schemeClr>
                </a:solidFill>
                <a:latin typeface="Bahnschrift SemiBold" panose="020B0502040204020203" pitchFamily="34" charset="0"/>
              </a:rPr>
              <a:t>operator</a:t>
            </a:r>
            <a:r>
              <a:rPr lang="en-US" dirty="0"/>
              <a:t>&gt;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E96621B-5CCF-4F7B-2238-5B2FA2BBC8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</p:spTree>
    <p:extLst>
      <p:ext uri="{BB962C8B-B14F-4D97-AF65-F5344CB8AC3E}">
        <p14:creationId xmlns:p14="http://schemas.microsoft.com/office/powerpoint/2010/main" val="404598835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99DA08-124C-F08B-AE2A-330F629901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Evaluating expression, </a:t>
            </a:r>
            <a:br>
              <a:rPr lang="en-US" dirty="0"/>
            </a:br>
            <a:r>
              <a:rPr lang="en-US" sz="3200" i="1" dirty="0"/>
              <a:t>but first </a:t>
            </a:r>
            <a:r>
              <a:rPr lang="en-US" sz="3200" b="1" i="1" dirty="0"/>
              <a:t>Stacks</a:t>
            </a:r>
            <a:r>
              <a:rPr lang="en-US" sz="3200" i="1" dirty="0"/>
              <a:t> and </a:t>
            </a:r>
            <a:r>
              <a:rPr lang="en-US" sz="3200" b="1" i="1" dirty="0"/>
              <a:t>Queues</a:t>
            </a:r>
            <a:r>
              <a:rPr lang="en-US" sz="3200" i="1" dirty="0"/>
              <a:t>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B435E2-ED41-222B-756A-12721F4F2A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What is a </a:t>
            </a:r>
            <a:r>
              <a:rPr lang="en-US" b="1" dirty="0"/>
              <a:t>Stack</a:t>
            </a:r>
            <a:r>
              <a:rPr lang="en-US" dirty="0"/>
              <a:t> ?</a:t>
            </a:r>
          </a:p>
          <a:p>
            <a:pPr lvl="1"/>
            <a:r>
              <a:rPr lang="en-US" dirty="0"/>
              <a:t>This is a sequential structure of </a:t>
            </a:r>
            <a:r>
              <a:rPr lang="en-US" b="1" dirty="0"/>
              <a:t>items</a:t>
            </a:r>
          </a:p>
          <a:p>
            <a:pPr lvl="1"/>
            <a:r>
              <a:rPr lang="en-US" dirty="0"/>
              <a:t>That are </a:t>
            </a:r>
            <a:r>
              <a:rPr lang="en-US" b="1" dirty="0"/>
              <a:t>pushed at one end </a:t>
            </a:r>
          </a:p>
          <a:p>
            <a:pPr lvl="1"/>
            <a:r>
              <a:rPr lang="en-US" b="1" dirty="0"/>
              <a:t>Pulled </a:t>
            </a:r>
            <a:r>
              <a:rPr lang="en-US" dirty="0"/>
              <a:t>via the</a:t>
            </a:r>
            <a:r>
              <a:rPr lang="en-US" b="1" dirty="0"/>
              <a:t> same end</a:t>
            </a:r>
          </a:p>
          <a:p>
            <a:pPr lvl="1"/>
            <a:r>
              <a:rPr lang="en-US" b="1" dirty="0"/>
              <a:t>LIFO </a:t>
            </a:r>
            <a:r>
              <a:rPr lang="en-US" dirty="0"/>
              <a:t>: Last in First Out </a:t>
            </a:r>
          </a:p>
          <a:p>
            <a:pPr lvl="1"/>
            <a:r>
              <a:rPr lang="en-US" dirty="0"/>
              <a:t>Examples </a:t>
            </a:r>
          </a:p>
          <a:p>
            <a:pPr lvl="2"/>
            <a:r>
              <a:rPr lang="en-US" dirty="0"/>
              <a:t>Stack of plates </a:t>
            </a:r>
          </a:p>
          <a:p>
            <a:pPr lvl="2"/>
            <a:r>
              <a:rPr lang="en-US" dirty="0"/>
              <a:t>Your turned in paper assignments</a:t>
            </a:r>
          </a:p>
          <a:p>
            <a:r>
              <a:rPr lang="en-US" dirty="0"/>
              <a:t>What is a </a:t>
            </a:r>
            <a:r>
              <a:rPr lang="en-US" b="1" dirty="0"/>
              <a:t>Queue</a:t>
            </a:r>
            <a:r>
              <a:rPr lang="en-US" dirty="0"/>
              <a:t>?</a:t>
            </a:r>
          </a:p>
          <a:p>
            <a:pPr lvl="1"/>
            <a:r>
              <a:rPr lang="en-US" dirty="0"/>
              <a:t>Another sequential structure of </a:t>
            </a:r>
            <a:r>
              <a:rPr lang="en-US" b="1" dirty="0"/>
              <a:t>items</a:t>
            </a:r>
          </a:p>
          <a:p>
            <a:pPr lvl="1"/>
            <a:r>
              <a:rPr lang="en-US" dirty="0"/>
              <a:t>that are</a:t>
            </a:r>
            <a:r>
              <a:rPr lang="en-US" b="1" dirty="0"/>
              <a:t> pushed at one end</a:t>
            </a:r>
          </a:p>
          <a:p>
            <a:pPr lvl="1"/>
            <a:r>
              <a:rPr lang="en-US" b="1" dirty="0"/>
              <a:t>Pulled </a:t>
            </a:r>
            <a:r>
              <a:rPr lang="en-US" dirty="0"/>
              <a:t>via</a:t>
            </a:r>
            <a:r>
              <a:rPr lang="en-US" b="1" dirty="0"/>
              <a:t> </a:t>
            </a:r>
            <a:r>
              <a:rPr lang="en-US" dirty="0"/>
              <a:t>the</a:t>
            </a:r>
            <a:r>
              <a:rPr lang="en-US" b="1" dirty="0"/>
              <a:t> opposite end</a:t>
            </a:r>
          </a:p>
          <a:p>
            <a:pPr lvl="1"/>
            <a:r>
              <a:rPr lang="en-US" b="1" dirty="0"/>
              <a:t>FIFO</a:t>
            </a:r>
            <a:r>
              <a:rPr lang="en-US" dirty="0"/>
              <a:t> : First In First Out</a:t>
            </a:r>
          </a:p>
          <a:p>
            <a:pPr lvl="1"/>
            <a:r>
              <a:rPr lang="en-US" dirty="0"/>
              <a:t>Examples</a:t>
            </a:r>
          </a:p>
          <a:p>
            <a:pPr lvl="2"/>
            <a:r>
              <a:rPr lang="en-US" dirty="0"/>
              <a:t>Queue for buying tickets</a:t>
            </a:r>
          </a:p>
          <a:p>
            <a:pPr lvl="2"/>
            <a:r>
              <a:rPr lang="en-US" dirty="0"/>
              <a:t>Traffic in one way single lane 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67C3E84-BAA0-4755-B397-ECE0CB0027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</p:spTree>
    <p:extLst>
      <p:ext uri="{BB962C8B-B14F-4D97-AF65-F5344CB8AC3E}">
        <p14:creationId xmlns:p14="http://schemas.microsoft.com/office/powerpoint/2010/main" val="171029394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567EB7-FC80-227F-6B6C-0D979456D8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Evaluating </a:t>
            </a:r>
            <a:r>
              <a:rPr lang="en-US" b="1" dirty="0"/>
              <a:t>prefix</a:t>
            </a:r>
            <a:r>
              <a:rPr lang="en-US" dirty="0"/>
              <a:t> expression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D56AB4-1F51-A74F-12F5-061A8D8B33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Infix : (5+6)*3  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* + 5 6 3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- + 2 * 3 4 / 16 ^ 2 3</a:t>
            </a:r>
          </a:p>
          <a:p>
            <a:r>
              <a:rPr lang="en-US" dirty="0">
                <a:sym typeface="Wingdings" panose="05000000000000000000" pitchFamily="2" charset="2"/>
              </a:rPr>
              <a:t>Algorithm (harder way)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Scan from right to left 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Anytime you find an operator </a:t>
            </a:r>
          </a:p>
          <a:p>
            <a:pPr lvl="2"/>
            <a:r>
              <a:rPr lang="en-US" dirty="0">
                <a:sym typeface="Wingdings" panose="05000000000000000000" pitchFamily="2" charset="2"/>
              </a:rPr>
              <a:t>Evaluate the operation using the previous 2 operands</a:t>
            </a:r>
          </a:p>
          <a:p>
            <a:pPr lvl="2"/>
            <a:r>
              <a:rPr lang="en-US" dirty="0">
                <a:sym typeface="Wingdings" panose="05000000000000000000" pitchFamily="2" charset="2"/>
              </a:rPr>
              <a:t>Replace the </a:t>
            </a:r>
            <a:r>
              <a:rPr lang="en-US" dirty="0"/>
              <a:t>&lt;</a:t>
            </a:r>
            <a:r>
              <a:rPr lang="en-US" i="1" dirty="0">
                <a:solidFill>
                  <a:schemeClr val="tx2">
                    <a:lumMod val="75000"/>
                    <a:lumOff val="25000"/>
                  </a:schemeClr>
                </a:solidFill>
                <a:latin typeface="Bahnschrift SemiBold" panose="020B0502040204020203" pitchFamily="34" charset="0"/>
              </a:rPr>
              <a:t>operator</a:t>
            </a:r>
            <a:r>
              <a:rPr lang="en-US" dirty="0"/>
              <a:t>&gt;  &lt;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operand</a:t>
            </a:r>
            <a:r>
              <a:rPr lang="en-US" dirty="0"/>
              <a:t>&gt; &lt;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operand</a:t>
            </a:r>
            <a:r>
              <a:rPr lang="en-US" dirty="0"/>
              <a:t>&gt; with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result</a:t>
            </a:r>
            <a:r>
              <a:rPr lang="en-US" dirty="0"/>
              <a:t> </a:t>
            </a:r>
            <a:r>
              <a:rPr lang="en-US" dirty="0">
                <a:sym typeface="Wingdings" panose="05000000000000000000" pitchFamily="2" charset="2"/>
              </a:rPr>
              <a:t>in the expression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Repeat the steps till only 1 operand is left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DFA5EA8-8E52-3BA2-1D1B-5AE6B9294C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</p:spTree>
    <p:extLst>
      <p:ext uri="{BB962C8B-B14F-4D97-AF65-F5344CB8AC3E}">
        <p14:creationId xmlns:p14="http://schemas.microsoft.com/office/powerpoint/2010/main" val="220100430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7D9CCC-B73A-534F-54B8-DDB86625D3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Evaluating postfix expression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8A0144-D9A8-B144-B5F0-B30C28CF73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Evaluate </a:t>
            </a:r>
          </a:p>
          <a:p>
            <a:pPr lvl="1"/>
            <a:r>
              <a:rPr lang="en-US" dirty="0"/>
              <a:t>2 3 1 * + 9 –</a:t>
            </a:r>
          </a:p>
          <a:p>
            <a:pPr lvl="1"/>
            <a:r>
              <a:rPr lang="en-US" dirty="0"/>
              <a:t>5 3 + 6 2 / * 3 5 * +</a:t>
            </a:r>
          </a:p>
          <a:p>
            <a:r>
              <a:rPr lang="en-US" i="1" dirty="0"/>
              <a:t>Algorithm to evaluate (use </a:t>
            </a:r>
            <a:r>
              <a:rPr lang="en-US" b="1" i="1" dirty="0"/>
              <a:t>stack</a:t>
            </a:r>
            <a:r>
              <a:rPr lang="en-US" i="1" dirty="0"/>
              <a:t>)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Push the operands in a stack 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When you encounter a operator </a:t>
            </a:r>
          </a:p>
          <a:p>
            <a:pPr lvl="2"/>
            <a:r>
              <a:rPr lang="en-US" dirty="0"/>
              <a:t>Pop 2 operands</a:t>
            </a:r>
          </a:p>
          <a:p>
            <a:pPr lvl="2"/>
            <a:r>
              <a:rPr lang="en-US" dirty="0"/>
              <a:t>Perform the operation on operands</a:t>
            </a:r>
          </a:p>
          <a:p>
            <a:pPr lvl="2"/>
            <a:r>
              <a:rPr lang="en-US" dirty="0"/>
              <a:t>Push the result in stack </a:t>
            </a:r>
          </a:p>
          <a:p>
            <a:pPr lvl="1"/>
            <a:r>
              <a:rPr lang="en-US" dirty="0"/>
              <a:t>Repeat from 1 until expression is parsed</a:t>
            </a:r>
          </a:p>
          <a:p>
            <a:pPr lvl="1"/>
            <a:r>
              <a:rPr lang="en-US" dirty="0"/>
              <a:t>The last item in stack is the answer</a:t>
            </a:r>
          </a:p>
          <a:p>
            <a:pPr lvl="2"/>
            <a:r>
              <a:rPr lang="en-US" dirty="0"/>
              <a:t>There would be only 1 item left when done correctly</a:t>
            </a:r>
          </a:p>
          <a:p>
            <a:r>
              <a:rPr lang="en-US" dirty="0"/>
              <a:t>* prefix expr can also be evaluated in this way ( </a:t>
            </a:r>
            <a:r>
              <a:rPr lang="en-US" i="1" dirty="0"/>
              <a:t>just in </a:t>
            </a:r>
            <a:r>
              <a:rPr lang="en-US" b="1" i="1" dirty="0"/>
              <a:t>reverse</a:t>
            </a:r>
            <a:r>
              <a:rPr lang="en-US" dirty="0"/>
              <a:t>)</a:t>
            </a:r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2A1BEF0-D4B5-79D3-99C5-AE3F44B400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</p:spTree>
    <p:extLst>
      <p:ext uri="{BB962C8B-B14F-4D97-AF65-F5344CB8AC3E}">
        <p14:creationId xmlns:p14="http://schemas.microsoft.com/office/powerpoint/2010/main" val="137017684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F43874-CB60-DB45-CE8B-7A74B51174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Evaluate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717527-44D3-CD21-C2E1-0160D83393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Prefix </a:t>
            </a:r>
          </a:p>
          <a:p>
            <a:pPr lvl="1"/>
            <a:r>
              <a:rPr lang="en-US" dirty="0"/>
              <a:t>- * 5 + - 4 2 2 / 6 3</a:t>
            </a:r>
          </a:p>
          <a:p>
            <a:pPr lvl="1"/>
            <a:r>
              <a:rPr lang="en-US" dirty="0"/>
              <a:t>- * + 3 5 7 + / 4 2 1</a:t>
            </a:r>
          </a:p>
          <a:p>
            <a:pPr lvl="1"/>
            <a:r>
              <a:rPr lang="en-US" dirty="0"/>
              <a:t>- + 10 * 2 3 + 4 / 5 5</a:t>
            </a:r>
          </a:p>
          <a:p>
            <a:r>
              <a:rPr lang="en-US" dirty="0"/>
              <a:t>Postfix </a:t>
            </a:r>
          </a:p>
          <a:p>
            <a:pPr lvl="1"/>
            <a:r>
              <a:rPr lang="en-US" dirty="0"/>
              <a:t>1 2 + 3 4 + * 5 6 - / 7 +</a:t>
            </a:r>
          </a:p>
          <a:p>
            <a:pPr lvl="1"/>
            <a:r>
              <a:rPr lang="en-US" dirty="0"/>
              <a:t>8 2 / 3 4 + * 5 1 + 2 / -</a:t>
            </a:r>
          </a:p>
          <a:p>
            <a:pPr lvl="1"/>
            <a:r>
              <a:rPr lang="en-US" dirty="0"/>
              <a:t>9 8 4 2 1 ^ * / - 3 +</a:t>
            </a:r>
          </a:p>
          <a:p>
            <a:pPr marL="457200" lvl="1" indent="0">
              <a:buNone/>
            </a:pP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7330C2C-A857-2CE9-4877-556490D848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</p:spTree>
    <p:extLst>
      <p:ext uri="{BB962C8B-B14F-4D97-AF65-F5344CB8AC3E}">
        <p14:creationId xmlns:p14="http://schemas.microsoft.com/office/powerpoint/2010/main" val="207350276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D49718-FD7B-BBC3-1D54-780109F2D0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B7F6AF-3B4E-C1A2-4EB1-34DC6F5AAF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Answers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EC4B36-8522-51F2-8F37-212F894EF5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Prefix </a:t>
            </a:r>
          </a:p>
          <a:p>
            <a:pPr lvl="1"/>
            <a:r>
              <a:rPr lang="en-US" dirty="0"/>
              <a:t>- * 5 + - 4 2 2 / 6 3</a:t>
            </a:r>
          </a:p>
          <a:p>
            <a:pPr lvl="2"/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Ans : </a:t>
            </a:r>
            <a:r>
              <a:rPr lang="en-US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18</a:t>
            </a:r>
          </a:p>
          <a:p>
            <a:pPr lvl="1"/>
            <a:r>
              <a:rPr lang="en-US" dirty="0"/>
              <a:t>- * + 3 5 7 + / 4 2 1</a:t>
            </a:r>
          </a:p>
          <a:p>
            <a:pPr lvl="2"/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Ans : </a:t>
            </a:r>
            <a:r>
              <a:rPr lang="en-US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53</a:t>
            </a:r>
          </a:p>
          <a:p>
            <a:pPr lvl="1"/>
            <a:r>
              <a:rPr lang="en-US" dirty="0"/>
              <a:t>- + 10 * 2 3 + 4 / 5 5</a:t>
            </a:r>
          </a:p>
          <a:p>
            <a:pPr lvl="2"/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Ans : </a:t>
            </a:r>
            <a:r>
              <a:rPr lang="en-US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11</a:t>
            </a:r>
          </a:p>
          <a:p>
            <a:r>
              <a:rPr lang="en-US" dirty="0"/>
              <a:t>Postfix </a:t>
            </a:r>
          </a:p>
          <a:p>
            <a:pPr lvl="1"/>
            <a:r>
              <a:rPr lang="en-US" dirty="0"/>
              <a:t>1 2 + 3 4 + * 5 6 - / 7 +</a:t>
            </a:r>
          </a:p>
          <a:p>
            <a:pPr lvl="2"/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Ans : </a:t>
            </a:r>
            <a:r>
              <a:rPr lang="en-US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-14</a:t>
            </a: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 </a:t>
            </a:r>
          </a:p>
          <a:p>
            <a:pPr lvl="1"/>
            <a:r>
              <a:rPr lang="en-US" dirty="0"/>
              <a:t>8 2 / 3 4 + * 5 1 + 2 / -</a:t>
            </a:r>
          </a:p>
          <a:p>
            <a:pPr lvl="2"/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Ans : </a:t>
            </a:r>
            <a:r>
              <a:rPr lang="en-US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25</a:t>
            </a:r>
          </a:p>
          <a:p>
            <a:pPr lvl="1"/>
            <a:r>
              <a:rPr lang="en-US" dirty="0"/>
              <a:t>9 8 4 2 1 ^ * / - 3 +</a:t>
            </a:r>
          </a:p>
          <a:p>
            <a:pPr lvl="2"/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Ans : </a:t>
            </a:r>
            <a:r>
              <a:rPr lang="en-US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11</a:t>
            </a:r>
          </a:p>
          <a:p>
            <a:pPr marL="457200" lvl="1" indent="0">
              <a:buNone/>
            </a:pP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5017D47-227F-8158-DD87-C6DC14A789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</p:spTree>
    <p:extLst>
      <p:ext uri="{BB962C8B-B14F-4D97-AF65-F5344CB8AC3E}">
        <p14:creationId xmlns:p14="http://schemas.microsoft.com/office/powerpoint/2010/main" val="335803686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FE714B-546B-8601-A89D-A057C4A1AE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Practice: Programming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B06790-5F81-C6BD-1C95-31862CB356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Write a function that takes a string and checks if it is a palindrome</a:t>
            </a:r>
          </a:p>
          <a:p>
            <a:pPr lvl="1"/>
            <a:r>
              <a:rPr lang="en-US" dirty="0"/>
              <a:t>Returns true if palindrome is found else false</a:t>
            </a:r>
          </a:p>
          <a:p>
            <a:pPr lvl="1"/>
            <a:r>
              <a:rPr lang="en-US" dirty="0"/>
              <a:t>Hints:  string indexing, loops, if , comparing characters</a:t>
            </a:r>
          </a:p>
          <a:p>
            <a:r>
              <a:rPr lang="en-US" dirty="0"/>
              <a:t>Count the number of vowels, consonants in a sentence.</a:t>
            </a:r>
          </a:p>
          <a:p>
            <a:pPr lvl="1"/>
            <a:r>
              <a:rPr lang="en-US" dirty="0"/>
              <a:t>Vowels : </a:t>
            </a:r>
            <a:r>
              <a:rPr lang="en-US" dirty="0" err="1"/>
              <a:t>a,e,i,o,u</a:t>
            </a:r>
            <a:endParaRPr lang="en-US" dirty="0"/>
          </a:p>
          <a:p>
            <a:pPr lvl="1"/>
            <a:r>
              <a:rPr lang="en-US" dirty="0"/>
              <a:t>Consonant : everything else other than vowels</a:t>
            </a:r>
          </a:p>
          <a:p>
            <a:pPr lvl="1"/>
            <a:r>
              <a:rPr lang="en-US" dirty="0"/>
              <a:t>Ignore : spaces (‘ ’,) comma(,) dash(-),semicolon(;),colon(</a:t>
            </a:r>
            <a:r>
              <a:rPr lang="en-US" dirty="0">
                <a:sym typeface="Wingdings" panose="05000000000000000000" pitchFamily="2" charset="2"/>
              </a:rPr>
              <a:t> : )</a:t>
            </a:r>
            <a:r>
              <a:rPr lang="en-US" dirty="0"/>
              <a:t> </a:t>
            </a:r>
          </a:p>
          <a:p>
            <a:r>
              <a:rPr lang="en-US" dirty="0"/>
              <a:t>Find the most frequent word in a sentence</a:t>
            </a:r>
          </a:p>
          <a:p>
            <a:pPr lvl="1"/>
            <a:r>
              <a:rPr lang="en-US" dirty="0"/>
              <a:t>If more than 1 word has same frequency return the lexicographically smaller one.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F3A4E3D-D25E-39BB-AC3F-07C40080F8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</p:spTree>
    <p:extLst>
      <p:ext uri="{BB962C8B-B14F-4D97-AF65-F5344CB8AC3E}">
        <p14:creationId xmlns:p14="http://schemas.microsoft.com/office/powerpoint/2010/main" val="177665263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561EBE-94BF-8DC3-7A70-133273508C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Review Evaluating Prefix/Postfix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F04C8D-ACC2-700D-8DC8-D1E3DF8913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From last week </a:t>
            </a:r>
          </a:p>
          <a:p>
            <a:pPr lvl="1"/>
            <a:r>
              <a:rPr lang="en-US" dirty="0"/>
              <a:t>Operator</a:t>
            </a:r>
          </a:p>
          <a:p>
            <a:pPr lvl="1"/>
            <a:r>
              <a:rPr lang="en-US" dirty="0"/>
              <a:t>Operand</a:t>
            </a:r>
          </a:p>
          <a:p>
            <a:pPr lvl="1"/>
            <a:r>
              <a:rPr lang="en-US" dirty="0"/>
              <a:t>Stack</a:t>
            </a:r>
          </a:p>
          <a:p>
            <a:pPr lvl="1"/>
            <a:r>
              <a:rPr lang="en-US" dirty="0"/>
              <a:t>Queue</a:t>
            </a:r>
          </a:p>
          <a:p>
            <a:r>
              <a:rPr lang="en-US" dirty="0"/>
              <a:t>Evaluating Prefix/Postfix</a:t>
            </a:r>
          </a:p>
          <a:p>
            <a:pPr lvl="1"/>
            <a:r>
              <a:rPr lang="en-US" dirty="0"/>
              <a:t>&lt;3 questions each&gt;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9819EF1-EA0B-AAC3-0AF3-6004E61477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6</a:t>
            </a:r>
          </a:p>
        </p:txBody>
      </p:sp>
    </p:spTree>
    <p:extLst>
      <p:ext uri="{BB962C8B-B14F-4D97-AF65-F5344CB8AC3E}">
        <p14:creationId xmlns:p14="http://schemas.microsoft.com/office/powerpoint/2010/main" val="298092391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0759E1-3328-9C22-3B68-54F39695F5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Precedence and associativity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263C0C-0E13-B399-DFBF-3C1B931E61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Precedence ( highest priority first)</a:t>
            </a:r>
          </a:p>
          <a:p>
            <a:pPr lvl="1"/>
            <a:r>
              <a:rPr lang="en-US" dirty="0"/>
              <a:t>()</a:t>
            </a:r>
          </a:p>
          <a:p>
            <a:pPr lvl="1"/>
            <a:r>
              <a:rPr lang="en-US" dirty="0"/>
              <a:t>^</a:t>
            </a:r>
          </a:p>
          <a:p>
            <a:pPr lvl="1"/>
            <a:r>
              <a:rPr lang="en-US" dirty="0"/>
              <a:t>/ * </a:t>
            </a:r>
          </a:p>
          <a:p>
            <a:pPr lvl="1"/>
            <a:r>
              <a:rPr lang="en-US" dirty="0"/>
              <a:t>- +</a:t>
            </a:r>
          </a:p>
          <a:p>
            <a:r>
              <a:rPr lang="en-US" dirty="0"/>
              <a:t>Associativity</a:t>
            </a:r>
          </a:p>
          <a:p>
            <a:pPr lvl="1"/>
            <a:r>
              <a:rPr lang="en-US" dirty="0"/>
              <a:t>Right to left : ^ </a:t>
            </a:r>
          </a:p>
          <a:p>
            <a:pPr lvl="1"/>
            <a:r>
              <a:rPr lang="en-US" dirty="0"/>
              <a:t>Left to right : + , - , * , /</a:t>
            </a:r>
          </a:p>
          <a:p>
            <a:r>
              <a:rPr lang="en-US" dirty="0"/>
              <a:t>Notes </a:t>
            </a:r>
          </a:p>
          <a:p>
            <a:pPr lvl="1"/>
            <a:r>
              <a:rPr lang="en-US" dirty="0"/>
              <a:t>() not categorized as associative, they represent grouping mechanism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F497326-75CB-1EC7-7EDC-E27BCF231E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6</a:t>
            </a:r>
          </a:p>
        </p:txBody>
      </p:sp>
    </p:spTree>
    <p:extLst>
      <p:ext uri="{BB962C8B-B14F-4D97-AF65-F5344CB8AC3E}">
        <p14:creationId xmlns:p14="http://schemas.microsoft.com/office/powerpoint/2010/main" val="278657253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106A23-6060-2190-0369-68E869C5B7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BC35DB-2FC0-BEB4-4F1A-943AC9E398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Precedence and associativity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BEA6B0-A3AC-84B7-F071-7B7A8C5BAC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Example </a:t>
            </a:r>
          </a:p>
          <a:p>
            <a:pPr lvl="1"/>
            <a:r>
              <a:rPr lang="en-US" dirty="0"/>
              <a:t>10 + 20 / 2 * 3 – 5 </a:t>
            </a:r>
          </a:p>
          <a:p>
            <a:pPr lvl="2"/>
            <a:r>
              <a:rPr lang="en-US" dirty="0">
                <a:sym typeface="Wingdings" panose="05000000000000000000" pitchFamily="2" charset="2"/>
              </a:rPr>
              <a:t> 10 +((20 / 2) * 3)-5   // added parenthesis for denoting precedence</a:t>
            </a:r>
          </a:p>
          <a:p>
            <a:pPr lvl="2"/>
            <a:r>
              <a:rPr lang="en-US" dirty="0">
                <a:sym typeface="Wingdings" panose="05000000000000000000" pitchFamily="2" charset="2"/>
              </a:rPr>
              <a:t> 10 + (10 * 3 ) -5 // interior most precedence first</a:t>
            </a:r>
          </a:p>
          <a:p>
            <a:pPr lvl="2"/>
            <a:r>
              <a:rPr lang="en-US" dirty="0">
                <a:sym typeface="Wingdings" panose="05000000000000000000" pitchFamily="2" charset="2"/>
              </a:rPr>
              <a:t>10 + 30 - 5 </a:t>
            </a:r>
          </a:p>
          <a:p>
            <a:pPr lvl="2"/>
            <a:r>
              <a:rPr lang="en-US" dirty="0">
                <a:sym typeface="Wingdings" panose="05000000000000000000" pitchFamily="2" charset="2"/>
              </a:rPr>
              <a:t>  </a:t>
            </a:r>
            <a:r>
              <a:rPr lang="en-US" b="1" dirty="0">
                <a:sym typeface="Wingdings" panose="05000000000000000000" pitchFamily="2" charset="2"/>
              </a:rPr>
              <a:t>35</a:t>
            </a:r>
            <a:endParaRPr lang="en-US" b="1" dirty="0"/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2E80B3E-D3F4-B6F0-D0A1-8630AB300D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6</a:t>
            </a:r>
          </a:p>
        </p:txBody>
      </p:sp>
    </p:spTree>
    <p:extLst>
      <p:ext uri="{BB962C8B-B14F-4D97-AF65-F5344CB8AC3E}">
        <p14:creationId xmlns:p14="http://schemas.microsoft.com/office/powerpoint/2010/main" val="15619529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4AB0D3-9A93-3387-68DE-0B08CE7BF6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Precedence and associativity </a:t>
            </a:r>
            <a:r>
              <a:rPr lang="en-US" sz="2000" dirty="0"/>
              <a:t>(lets evaluate)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89DA9E-1EE2-4F6F-68A9-7032500D07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2 + 3 * 4 ^2  </a:t>
            </a:r>
          </a:p>
          <a:p>
            <a:r>
              <a:rPr lang="en-US" dirty="0">
                <a:sym typeface="Wingdings" panose="05000000000000000000" pitchFamily="2" charset="2"/>
              </a:rPr>
              <a:t>2 ^ 3 ^ 2 </a:t>
            </a:r>
          </a:p>
          <a:p>
            <a:r>
              <a:rPr lang="en-US" dirty="0">
                <a:sym typeface="Wingdings" panose="05000000000000000000" pitchFamily="2" charset="2"/>
              </a:rPr>
              <a:t>100 / 2 * 5 ^ 2 ^ 1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91B0676-9EC8-6524-C686-59ECD7A161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6</a:t>
            </a:r>
          </a:p>
        </p:txBody>
      </p:sp>
    </p:spTree>
    <p:extLst>
      <p:ext uri="{BB962C8B-B14F-4D97-AF65-F5344CB8AC3E}">
        <p14:creationId xmlns:p14="http://schemas.microsoft.com/office/powerpoint/2010/main" val="296317131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1BB090-BF7B-301A-B062-E97BFE4C4B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A582A2-AB54-D133-9974-37E13F35B4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Precedence and associativity </a:t>
            </a:r>
            <a:r>
              <a:rPr lang="en-US" sz="2000" dirty="0"/>
              <a:t>(answers)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8AC9B0-991C-C5D4-CE00-383566D4A7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2 + 3 * 4 ^2  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 2 + 3 * 16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 2 + 48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 </a:t>
            </a:r>
            <a:r>
              <a:rPr lang="en-US" b="1" dirty="0">
                <a:sym typeface="Wingdings" panose="05000000000000000000" pitchFamily="2" charset="2"/>
              </a:rPr>
              <a:t>50</a:t>
            </a:r>
          </a:p>
          <a:p>
            <a:r>
              <a:rPr lang="en-US" dirty="0">
                <a:sym typeface="Wingdings" panose="05000000000000000000" pitchFamily="2" charset="2"/>
              </a:rPr>
              <a:t>2 ^ 3 ^ 2 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 2 ^ 9 // ^ is evaluated from right to left , so 3 ^ 2 goes first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 </a:t>
            </a:r>
            <a:r>
              <a:rPr lang="en-US" b="1" dirty="0">
                <a:sym typeface="Wingdings" panose="05000000000000000000" pitchFamily="2" charset="2"/>
              </a:rPr>
              <a:t>512</a:t>
            </a:r>
          </a:p>
          <a:p>
            <a:pPr lvl="1"/>
            <a:r>
              <a:rPr lang="en-US" strike="sngStrike" dirty="0">
                <a:sym typeface="Wingdings" panose="05000000000000000000" pitchFamily="2" charset="2"/>
              </a:rPr>
              <a:t>Not 64</a:t>
            </a:r>
          </a:p>
          <a:p>
            <a:r>
              <a:rPr lang="en-US" dirty="0">
                <a:sym typeface="Wingdings" panose="05000000000000000000" pitchFamily="2" charset="2"/>
              </a:rPr>
              <a:t>100 / 2 * 5 ^ 2 ^ 1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 100 / 2 * 25 // Again 2 ^ 1 goes first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 50 x 25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</a:t>
            </a:r>
            <a:r>
              <a:rPr lang="en-US" b="1" dirty="0">
                <a:sym typeface="Wingdings" panose="05000000000000000000" pitchFamily="2" charset="2"/>
              </a:rPr>
              <a:t>1250</a:t>
            </a:r>
          </a:p>
          <a:p>
            <a:endParaRPr lang="en-US" dirty="0">
              <a:sym typeface="Wingdings" panose="05000000000000000000" pitchFamily="2" charset="2"/>
            </a:endParaRP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C13E5C7-992D-9036-31F0-DE97F948EF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6</a:t>
            </a:r>
          </a:p>
        </p:txBody>
      </p:sp>
    </p:spTree>
    <p:extLst>
      <p:ext uri="{BB962C8B-B14F-4D97-AF65-F5344CB8AC3E}">
        <p14:creationId xmlns:p14="http://schemas.microsoft.com/office/powerpoint/2010/main" val="336448217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D193FB-B92E-805D-C84A-070CBB1B0D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Convert to Prefix/Postfix </a:t>
            </a:r>
            <a:r>
              <a:rPr lang="en-US" sz="2000" dirty="0"/>
              <a:t>(examples)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3DC8AB-5242-ADA9-A503-4ECC2166FA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 * C </a:t>
            </a:r>
            <a:endParaRPr lang="en-US" dirty="0">
              <a:sym typeface="Wingdings" panose="05000000000000000000" pitchFamily="2" charset="2"/>
            </a:endParaRPr>
          </a:p>
          <a:p>
            <a:pPr lvl="1"/>
            <a:r>
              <a:rPr lang="en-US" dirty="0">
                <a:sym typeface="Wingdings" panose="05000000000000000000" pitchFamily="2" charset="2"/>
              </a:rPr>
              <a:t>Prefix   : </a:t>
            </a:r>
            <a:r>
              <a:rPr lang="en-US" b="1" dirty="0">
                <a:sym typeface="Wingdings" panose="05000000000000000000" pitchFamily="2" charset="2"/>
              </a:rPr>
              <a:t>* B C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Postfix : </a:t>
            </a:r>
            <a:r>
              <a:rPr lang="en-US" b="1" dirty="0">
                <a:sym typeface="Wingdings" panose="05000000000000000000" pitchFamily="2" charset="2"/>
              </a:rPr>
              <a:t>B C *</a:t>
            </a:r>
            <a:endParaRPr lang="en-US" b="1" dirty="0"/>
          </a:p>
          <a:p>
            <a:r>
              <a:rPr lang="en-US" dirty="0"/>
              <a:t>A + B * C </a:t>
            </a:r>
            <a:endParaRPr lang="en-US" dirty="0">
              <a:sym typeface="Wingdings" panose="05000000000000000000" pitchFamily="2" charset="2"/>
            </a:endParaRPr>
          </a:p>
          <a:p>
            <a:pPr lvl="1"/>
            <a:r>
              <a:rPr lang="en-US" dirty="0">
                <a:sym typeface="Wingdings" panose="05000000000000000000" pitchFamily="2" charset="2"/>
              </a:rPr>
              <a:t>Prefix   : +</a:t>
            </a:r>
            <a:r>
              <a:rPr lang="en-US" b="1" dirty="0">
                <a:sym typeface="Wingdings" panose="05000000000000000000" pitchFamily="2" charset="2"/>
              </a:rPr>
              <a:t>A</a:t>
            </a:r>
            <a:r>
              <a:rPr lang="en-US" b="1" dirty="0"/>
              <a:t>*BC</a:t>
            </a:r>
          </a:p>
          <a:p>
            <a:pPr lvl="1"/>
            <a:r>
              <a:rPr lang="en-US" dirty="0"/>
              <a:t>Postfix :  </a:t>
            </a:r>
            <a:r>
              <a:rPr lang="en-US" b="1" dirty="0"/>
              <a:t>ABC*+</a:t>
            </a:r>
          </a:p>
          <a:p>
            <a:r>
              <a:rPr lang="en-US" dirty="0"/>
              <a:t>(5 + 6) * 3 </a:t>
            </a:r>
            <a:endParaRPr lang="en-US" dirty="0">
              <a:sym typeface="Wingdings" panose="05000000000000000000" pitchFamily="2" charset="2"/>
            </a:endParaRPr>
          </a:p>
          <a:p>
            <a:pPr lvl="1"/>
            <a:r>
              <a:rPr lang="en-US" dirty="0">
                <a:sym typeface="Wingdings" panose="05000000000000000000" pitchFamily="2" charset="2"/>
              </a:rPr>
              <a:t>Prefix   : </a:t>
            </a:r>
            <a:r>
              <a:rPr lang="en-US" b="1" dirty="0">
                <a:sym typeface="Wingdings" panose="05000000000000000000" pitchFamily="2" charset="2"/>
              </a:rPr>
              <a:t>* + 5 6 3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Postfix : </a:t>
            </a:r>
            <a:r>
              <a:rPr lang="en-US" b="1" dirty="0">
                <a:sym typeface="Wingdings" panose="05000000000000000000" pitchFamily="2" charset="2"/>
              </a:rPr>
              <a:t>5 6 + 3 *</a:t>
            </a:r>
            <a:endParaRPr lang="en-US" b="1" dirty="0"/>
          </a:p>
          <a:p>
            <a:endParaRPr lang="en-US" dirty="0"/>
          </a:p>
          <a:p>
            <a:endParaRPr lang="en-US" dirty="0"/>
          </a:p>
          <a:p>
            <a:pPr marL="457200" lvl="1" indent="0">
              <a:buNone/>
            </a:pPr>
            <a:endParaRPr lang="en-US" dirty="0"/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1779E42-5809-59FE-951E-7B455BB7CA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6</a:t>
            </a:r>
          </a:p>
        </p:txBody>
      </p:sp>
    </p:spTree>
    <p:extLst>
      <p:ext uri="{BB962C8B-B14F-4D97-AF65-F5344CB8AC3E}">
        <p14:creationId xmlns:p14="http://schemas.microsoft.com/office/powerpoint/2010/main" val="270232368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BBE059-48D8-260A-BA41-3E35FB9DED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Convert to Postfix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2F769B-CC51-FA9F-B19F-9F5AA32C8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How to convert! </a:t>
            </a:r>
          </a:p>
          <a:p>
            <a:pPr lvl="1"/>
            <a:r>
              <a:rPr lang="pt-BR" dirty="0"/>
              <a:t>Convert the highest precedence/priority first </a:t>
            </a:r>
          </a:p>
          <a:p>
            <a:pPr lvl="1"/>
            <a:r>
              <a:rPr lang="pt-BR" dirty="0"/>
              <a:t>( do paranthesize for mental ease) </a:t>
            </a:r>
          </a:p>
          <a:p>
            <a:r>
              <a:rPr lang="pt-BR" dirty="0"/>
              <a:t>(a + b) / (c – d ) + e </a:t>
            </a:r>
          </a:p>
          <a:p>
            <a:r>
              <a:rPr lang="pt-BR" dirty="0"/>
              <a:t>x + y  / (g * h – k)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A02D68-CC18-2522-08A7-07B93CCBFC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6</a:t>
            </a:r>
          </a:p>
        </p:txBody>
      </p:sp>
    </p:spTree>
    <p:extLst>
      <p:ext uri="{BB962C8B-B14F-4D97-AF65-F5344CB8AC3E}">
        <p14:creationId xmlns:p14="http://schemas.microsoft.com/office/powerpoint/2010/main" val="116297617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7C564D-B638-9D95-941D-AD0146783C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26BDC7-1CB3-8A4F-F288-9B357273A5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Convert to Postfix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424EB7-0DC5-B135-34E7-7DD2D49E85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How to convert! </a:t>
            </a:r>
          </a:p>
          <a:p>
            <a:pPr lvl="1"/>
            <a:r>
              <a:rPr lang="pt-BR" dirty="0"/>
              <a:t>Convert the highest priority first </a:t>
            </a:r>
          </a:p>
          <a:p>
            <a:pPr lvl="1"/>
            <a:r>
              <a:rPr lang="pt-BR" dirty="0"/>
              <a:t>( and paranthesize for mental ease) </a:t>
            </a:r>
          </a:p>
          <a:p>
            <a:r>
              <a:rPr lang="pt-BR" dirty="0"/>
              <a:t>(a + b) / (c – d ) + e </a:t>
            </a:r>
          </a:p>
          <a:p>
            <a:pPr lvl="1"/>
            <a:r>
              <a:rPr lang="pt-BR" dirty="0"/>
              <a:t>Prefix : </a:t>
            </a:r>
            <a:r>
              <a:rPr lang="pt-BR" b="1" dirty="0"/>
              <a:t>+ / + a b – c d e</a:t>
            </a:r>
          </a:p>
          <a:p>
            <a:pPr lvl="1"/>
            <a:r>
              <a:rPr lang="pt-BR" dirty="0"/>
              <a:t>Postfix : </a:t>
            </a:r>
            <a:r>
              <a:rPr lang="pt-BR" b="1" dirty="0"/>
              <a:t>a b + c d - / e +</a:t>
            </a:r>
          </a:p>
          <a:p>
            <a:r>
              <a:rPr lang="pt-BR" dirty="0"/>
              <a:t>x + y  / (g * h – k)</a:t>
            </a:r>
          </a:p>
          <a:p>
            <a:pPr lvl="1"/>
            <a:r>
              <a:rPr lang="pt-BR" dirty="0"/>
              <a:t>Prefix : </a:t>
            </a:r>
            <a:r>
              <a:rPr lang="pt-BR" b="1" dirty="0"/>
              <a:t>+ x / y - * g h k</a:t>
            </a:r>
          </a:p>
          <a:p>
            <a:pPr lvl="1"/>
            <a:r>
              <a:rPr lang="pt-BR" dirty="0"/>
              <a:t>Postfix : </a:t>
            </a:r>
            <a:r>
              <a:rPr lang="pt-BR" b="1" dirty="0"/>
              <a:t>x y g h * k - / +</a:t>
            </a:r>
          </a:p>
          <a:p>
            <a:endParaRPr lang="pt-BR" dirty="0"/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10253A3-2553-8CEE-4FC1-99E0B3F048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6</a:t>
            </a:r>
          </a:p>
        </p:txBody>
      </p:sp>
    </p:spTree>
    <p:extLst>
      <p:ext uri="{BB962C8B-B14F-4D97-AF65-F5344CB8AC3E}">
        <p14:creationId xmlns:p14="http://schemas.microsoft.com/office/powerpoint/2010/main" val="16065619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275F4E-FDCD-0164-1335-A362235F79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Convert to Prefix and Postfix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FE457E-39D3-7BBE-282F-FB8240E444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a + b - c * d + e ^ f	</a:t>
            </a:r>
          </a:p>
          <a:p>
            <a:r>
              <a:rPr lang="pt-BR" dirty="0"/>
              <a:t>(a + b) * c - (d - e) * (f + g)	</a:t>
            </a:r>
          </a:p>
          <a:p>
            <a:r>
              <a:rPr lang="pt-BR" dirty="0"/>
              <a:t>((a + b) * (c + d) / (e - f)) + g	</a:t>
            </a:r>
          </a:p>
          <a:p>
            <a:r>
              <a:rPr lang="pt-BR" dirty="0"/>
              <a:t>a * (b + c) / (d - e) </a:t>
            </a:r>
          </a:p>
          <a:p>
            <a:r>
              <a:rPr lang="pt-BR" dirty="0"/>
              <a:t>a - b / (c * d ^ e)	 </a:t>
            </a:r>
          </a:p>
          <a:p>
            <a:r>
              <a:rPr lang="pt-BR" dirty="0"/>
              <a:t>(a + b) * (c + d) - 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881B0BD-44A6-01E4-B569-E440DFAAC0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6</a:t>
            </a:r>
          </a:p>
        </p:txBody>
      </p:sp>
    </p:spTree>
    <p:extLst>
      <p:ext uri="{BB962C8B-B14F-4D97-AF65-F5344CB8AC3E}">
        <p14:creationId xmlns:p14="http://schemas.microsoft.com/office/powerpoint/2010/main" val="298075155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4508BA-925D-B446-6102-4DD2DE59B5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0FCC50-372A-1FA3-A515-CD0B5B7E5C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Convert to Prefix and Postfix </a:t>
            </a:r>
            <a:r>
              <a:rPr lang="en-US" sz="2000" dirty="0"/>
              <a:t>(answers)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4BFE5F1B-9892-BDB6-3128-731DCED46B6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88198065"/>
              </p:ext>
            </p:extLst>
          </p:nvPr>
        </p:nvGraphicFramePr>
        <p:xfrm>
          <a:off x="838200" y="1825625"/>
          <a:ext cx="10515597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199">
                  <a:extLst>
                    <a:ext uri="{9D8B030D-6E8A-4147-A177-3AD203B41FA5}">
                      <a16:colId xmlns:a16="http://schemas.microsoft.com/office/drawing/2014/main" val="3836379473"/>
                    </a:ext>
                  </a:extLst>
                </a:gridCol>
                <a:gridCol w="3505199">
                  <a:extLst>
                    <a:ext uri="{9D8B030D-6E8A-4147-A177-3AD203B41FA5}">
                      <a16:colId xmlns:a16="http://schemas.microsoft.com/office/drawing/2014/main" val="2236984820"/>
                    </a:ext>
                  </a:extLst>
                </a:gridCol>
                <a:gridCol w="3505199">
                  <a:extLst>
                    <a:ext uri="{9D8B030D-6E8A-4147-A177-3AD203B41FA5}">
                      <a16:colId xmlns:a16="http://schemas.microsoft.com/office/drawing/2014/main" val="372950009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Infix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Prefix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Postfix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549128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/>
                        <a:t>a + b - c * d + e ^ f	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+ - + a b * c d ^ e f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a b + c d * - e f ^ +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20068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/>
                        <a:t>(a + b) * c - (d - e) * (f + g)	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- * + a b c * - d e + f g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a b + c * d e - f g + * -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86812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/>
                        <a:t>((a + b) * (c + d) / (e - f)) + g	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+ / * + a b + c d - e f g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a b + c d + * e f - / g +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203615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/>
                        <a:t>a * (b + c) / (d - e) 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/ * a + b c - d 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a b c + * d e - /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279748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/>
                        <a:t>a - b / (c * d ^ e)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- a / b * c ^ d 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a b c d e ^ * / -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57538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/>
                        <a:t>(a + b) * (c + d) - 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- * + a b + c d 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a b + c d + * e -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012593"/>
                  </a:ext>
                </a:extLst>
              </a:tr>
            </a:tbl>
          </a:graphicData>
        </a:graphic>
      </p:graphicFrame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CB4F96-5862-C493-CA94-3E72FA84E9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6</a:t>
            </a:r>
          </a:p>
        </p:txBody>
      </p:sp>
    </p:spTree>
    <p:extLst>
      <p:ext uri="{BB962C8B-B14F-4D97-AF65-F5344CB8AC3E}">
        <p14:creationId xmlns:p14="http://schemas.microsoft.com/office/powerpoint/2010/main" val="141095443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381F6A-4CC1-7603-9C25-803B7E6FF7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Logical operators (for bits/bytes)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A78BBB-41E3-F605-A10E-B187C7B109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Bitwise </a:t>
            </a:r>
          </a:p>
          <a:p>
            <a:pPr lvl="1"/>
            <a:r>
              <a:rPr lang="en-US" dirty="0"/>
              <a:t>NOT, AND,  XOR , OR</a:t>
            </a:r>
          </a:p>
          <a:p>
            <a:r>
              <a:rPr lang="en-US" dirty="0"/>
              <a:t>Shift</a:t>
            </a:r>
          </a:p>
          <a:p>
            <a:pPr lvl="1"/>
            <a:r>
              <a:rPr lang="en-US" dirty="0"/>
              <a:t>Linear : LSHIFT, RSHIFT,</a:t>
            </a:r>
          </a:p>
          <a:p>
            <a:pPr lvl="1"/>
            <a:r>
              <a:rPr lang="en-US" dirty="0"/>
              <a:t>Circular : RCIRC, LCIRC</a:t>
            </a:r>
          </a:p>
          <a:p>
            <a:r>
              <a:rPr lang="en-US" dirty="0"/>
              <a:t>Precedence</a:t>
            </a:r>
          </a:p>
          <a:p>
            <a:pPr lvl="1"/>
            <a:r>
              <a:rPr lang="en-US" dirty="0"/>
              <a:t>NOT, </a:t>
            </a:r>
          </a:p>
          <a:p>
            <a:pPr lvl="1"/>
            <a:r>
              <a:rPr lang="en-US" dirty="0"/>
              <a:t>SHIFT, CIRC, </a:t>
            </a:r>
          </a:p>
          <a:p>
            <a:pPr lvl="1"/>
            <a:r>
              <a:rPr lang="en-US" dirty="0"/>
              <a:t>AND , </a:t>
            </a:r>
          </a:p>
          <a:p>
            <a:pPr lvl="1"/>
            <a:r>
              <a:rPr lang="en-US" dirty="0"/>
              <a:t>XOR,</a:t>
            </a:r>
          </a:p>
          <a:p>
            <a:pPr lvl="1"/>
            <a:r>
              <a:rPr lang="en-US" dirty="0"/>
              <a:t>OR</a:t>
            </a:r>
          </a:p>
          <a:p>
            <a:pPr marL="457200" lvl="1" indent="0">
              <a:buNone/>
            </a:pP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ED11172-56A8-1F96-728C-10483E87FA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7</a:t>
            </a:r>
          </a:p>
        </p:txBody>
      </p:sp>
    </p:spTree>
    <p:extLst>
      <p:ext uri="{BB962C8B-B14F-4D97-AF65-F5344CB8AC3E}">
        <p14:creationId xmlns:p14="http://schemas.microsoft.com/office/powerpoint/2010/main" val="365411207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ACFA9C-7881-D44C-FBD7-3646B07111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Truth Tables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D48E6D5F-744D-F45D-7743-881CDF0120E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927131913"/>
              </p:ext>
            </p:extLst>
          </p:nvPr>
        </p:nvGraphicFramePr>
        <p:xfrm>
          <a:off x="950310" y="3429000"/>
          <a:ext cx="8784895" cy="1899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6979">
                  <a:extLst>
                    <a:ext uri="{9D8B030D-6E8A-4147-A177-3AD203B41FA5}">
                      <a16:colId xmlns:a16="http://schemas.microsoft.com/office/drawing/2014/main" val="4184432793"/>
                    </a:ext>
                  </a:extLst>
                </a:gridCol>
                <a:gridCol w="1756979">
                  <a:extLst>
                    <a:ext uri="{9D8B030D-6E8A-4147-A177-3AD203B41FA5}">
                      <a16:colId xmlns:a16="http://schemas.microsoft.com/office/drawing/2014/main" val="1084674688"/>
                    </a:ext>
                  </a:extLst>
                </a:gridCol>
                <a:gridCol w="1756979">
                  <a:extLst>
                    <a:ext uri="{9D8B030D-6E8A-4147-A177-3AD203B41FA5}">
                      <a16:colId xmlns:a16="http://schemas.microsoft.com/office/drawing/2014/main" val="2121035788"/>
                    </a:ext>
                  </a:extLst>
                </a:gridCol>
                <a:gridCol w="1756979">
                  <a:extLst>
                    <a:ext uri="{9D8B030D-6E8A-4147-A177-3AD203B41FA5}">
                      <a16:colId xmlns:a16="http://schemas.microsoft.com/office/drawing/2014/main" val="1496895670"/>
                    </a:ext>
                  </a:extLst>
                </a:gridCol>
                <a:gridCol w="1756979">
                  <a:extLst>
                    <a:ext uri="{9D8B030D-6E8A-4147-A177-3AD203B41FA5}">
                      <a16:colId xmlns:a16="http://schemas.microsoft.com/office/drawing/2014/main" val="4230776581"/>
                    </a:ext>
                  </a:extLst>
                </a:gridCol>
              </a:tblGrid>
              <a:tr h="379872">
                <a:tc>
                  <a:txBody>
                    <a:bodyPr/>
                    <a:lstStyle/>
                    <a:p>
                      <a:r>
                        <a:rPr lang="en-US" dirty="0"/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X AND 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X OR 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X XOR 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94535812"/>
                  </a:ext>
                </a:extLst>
              </a:tr>
              <a:tr h="379872"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87256894"/>
                  </a:ext>
                </a:extLst>
              </a:tr>
              <a:tr h="379872"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94711834"/>
                  </a:ext>
                </a:extLst>
              </a:tr>
              <a:tr h="379872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86581744"/>
                  </a:ext>
                </a:extLst>
              </a:tr>
              <a:tr h="379872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1252828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A35928E5-3976-66FD-A576-965DC0DB548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49788260"/>
              </p:ext>
            </p:extLst>
          </p:nvPr>
        </p:nvGraphicFramePr>
        <p:xfrm>
          <a:off x="950310" y="1839017"/>
          <a:ext cx="3619938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9969">
                  <a:extLst>
                    <a:ext uri="{9D8B030D-6E8A-4147-A177-3AD203B41FA5}">
                      <a16:colId xmlns:a16="http://schemas.microsoft.com/office/drawing/2014/main" val="923450553"/>
                    </a:ext>
                  </a:extLst>
                </a:gridCol>
                <a:gridCol w="1809969">
                  <a:extLst>
                    <a:ext uri="{9D8B030D-6E8A-4147-A177-3AD203B41FA5}">
                      <a16:colId xmlns:a16="http://schemas.microsoft.com/office/drawing/2014/main" val="3015741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NOT 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148649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374631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84500155"/>
                  </a:ext>
                </a:extLst>
              </a:tr>
            </a:tbl>
          </a:graphicData>
        </a:graphic>
      </p:graphicFrame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8ED0B632-E3BD-4605-A56F-29BD0298B8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7</a:t>
            </a:r>
          </a:p>
        </p:txBody>
      </p:sp>
    </p:spTree>
    <p:extLst>
      <p:ext uri="{BB962C8B-B14F-4D97-AF65-F5344CB8AC3E}">
        <p14:creationId xmlns:p14="http://schemas.microsoft.com/office/powerpoint/2010/main" val="130893353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72B2F3-3653-AB0D-1E39-97D4589279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410AC6-5722-EADC-4BF4-254281F6B6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Truth Tables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F5F6501D-1166-2DB8-5AE6-864FFE39E78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55306533"/>
              </p:ext>
            </p:extLst>
          </p:nvPr>
        </p:nvGraphicFramePr>
        <p:xfrm>
          <a:off x="1117600" y="4001294"/>
          <a:ext cx="8128000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1565218526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53004916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04649717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751085645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36988977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X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(LSHIFT-2 X)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(RSHIFT-3 X)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(LCIRC-3 X)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(RCIRC-1 X) 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804630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01101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10100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00001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01011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10110 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908783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10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00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00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01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01 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094219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1110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1000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0001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0111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0111 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563665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1011011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1101100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0001011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1011101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1101101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4033125"/>
                  </a:ext>
                </a:extLst>
              </a:tr>
            </a:tbl>
          </a:graphicData>
        </a:graphic>
      </p:graphicFrame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FE2945A-A5F3-713F-EBD6-F32D5F84E6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Linear shift , add 0s as padding ( either left or right)</a:t>
            </a:r>
          </a:p>
          <a:p>
            <a:pPr lvl="1"/>
            <a:r>
              <a:rPr lang="en-US" dirty="0"/>
              <a:t>Shifting by word size (or more) would result in all 0s</a:t>
            </a:r>
          </a:p>
          <a:p>
            <a:r>
              <a:rPr lang="en-US" dirty="0"/>
              <a:t>Circular shift just rolls over the bits ( as per direction)</a:t>
            </a:r>
          </a:p>
          <a:p>
            <a:pPr lvl="1"/>
            <a:r>
              <a:rPr lang="en-US" dirty="0"/>
              <a:t>Shifting by the number of word size , same bit sequence would be produced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74F85C7-8DDD-6F3E-CA30-012F6CABA2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7</a:t>
            </a:r>
          </a:p>
        </p:txBody>
      </p:sp>
    </p:spTree>
    <p:extLst>
      <p:ext uri="{BB962C8B-B14F-4D97-AF65-F5344CB8AC3E}">
        <p14:creationId xmlns:p14="http://schemas.microsoft.com/office/powerpoint/2010/main" val="338665307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D3AB4E-F19A-BB7D-F60A-959E8419EA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Operations </a:t>
            </a:r>
            <a:r>
              <a:rPr lang="en-US" sz="2000" dirty="0"/>
              <a:t>(evaluate)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D85BE8-1CBF-4C83-9A22-9C383BD5EF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0110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AND</a:t>
            </a:r>
            <a:r>
              <a:rPr lang="en-US" dirty="0"/>
              <a:t> 1011 </a:t>
            </a:r>
          </a:p>
          <a:p>
            <a:r>
              <a:rPr lang="en-US" dirty="0"/>
              <a:t>1100 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OR</a:t>
            </a:r>
            <a:r>
              <a:rPr lang="en-US" dirty="0"/>
              <a:t>   0101</a:t>
            </a:r>
          </a:p>
          <a:p>
            <a:r>
              <a:rPr lang="en-US" dirty="0"/>
              <a:t>1010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XOR</a:t>
            </a:r>
            <a:r>
              <a:rPr lang="en-US" dirty="0"/>
              <a:t> 1111</a:t>
            </a:r>
          </a:p>
          <a:p>
            <a:r>
              <a:rPr lang="en-US" dirty="0"/>
              <a:t> 1010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AND</a:t>
            </a:r>
            <a:r>
              <a:rPr lang="en-US" dirty="0"/>
              <a:t> 1100   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OR</a:t>
            </a:r>
            <a:r>
              <a:rPr lang="en-US" dirty="0"/>
              <a:t>   0001</a:t>
            </a:r>
          </a:p>
          <a:p>
            <a:r>
              <a:rPr lang="en-US" dirty="0"/>
              <a:t> 0011 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OR</a:t>
            </a:r>
            <a:r>
              <a:rPr lang="en-US" dirty="0"/>
              <a:t>  1010   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AND</a:t>
            </a:r>
            <a:r>
              <a:rPr lang="en-US" dirty="0"/>
              <a:t> 0110</a:t>
            </a:r>
          </a:p>
          <a:p>
            <a:r>
              <a:rPr lang="en-US" dirty="0"/>
              <a:t>(1100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XOR</a:t>
            </a:r>
            <a:r>
              <a:rPr lang="en-US" dirty="0"/>
              <a:t> 1010)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AND</a:t>
            </a:r>
            <a:r>
              <a:rPr lang="en-US" dirty="0"/>
              <a:t> 0110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0039F9-4927-C643-FB68-EC0CF26E01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7</a:t>
            </a:r>
          </a:p>
        </p:txBody>
      </p:sp>
    </p:spTree>
    <p:extLst>
      <p:ext uri="{BB962C8B-B14F-4D97-AF65-F5344CB8AC3E}">
        <p14:creationId xmlns:p14="http://schemas.microsoft.com/office/powerpoint/2010/main" val="2972385401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4F13F6-DCD3-F70A-99B5-3DCB19518F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907715-F916-4B95-F4FF-7837E46636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Operations </a:t>
            </a:r>
            <a:r>
              <a:rPr lang="en-US" sz="2000" dirty="0"/>
              <a:t>(evaluate)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610971-A49D-885C-875C-44C95655F3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0110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AND</a:t>
            </a:r>
            <a:r>
              <a:rPr lang="en-US" dirty="0"/>
              <a:t> 1011 </a:t>
            </a:r>
          </a:p>
          <a:p>
            <a:r>
              <a:rPr lang="en-US" dirty="0"/>
              <a:t>1100 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OR</a:t>
            </a:r>
            <a:r>
              <a:rPr lang="en-US" dirty="0"/>
              <a:t>   0101</a:t>
            </a:r>
          </a:p>
          <a:p>
            <a:r>
              <a:rPr lang="en-US" dirty="0"/>
              <a:t>1010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XOR</a:t>
            </a:r>
            <a:r>
              <a:rPr lang="en-US" dirty="0"/>
              <a:t> 1111</a:t>
            </a:r>
          </a:p>
          <a:p>
            <a:r>
              <a:rPr lang="en-US" dirty="0"/>
              <a:t> 1010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AND</a:t>
            </a:r>
            <a:r>
              <a:rPr lang="en-US" dirty="0"/>
              <a:t> 1100   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OR</a:t>
            </a:r>
            <a:r>
              <a:rPr lang="en-US" dirty="0"/>
              <a:t>   0001</a:t>
            </a:r>
          </a:p>
          <a:p>
            <a:r>
              <a:rPr lang="en-US" dirty="0"/>
              <a:t> 0011 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OR</a:t>
            </a:r>
            <a:r>
              <a:rPr lang="en-US" dirty="0"/>
              <a:t>  1010   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AND</a:t>
            </a:r>
            <a:r>
              <a:rPr lang="en-US" dirty="0"/>
              <a:t> 0110</a:t>
            </a:r>
          </a:p>
          <a:p>
            <a:r>
              <a:rPr lang="en-US" dirty="0"/>
              <a:t>(1100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XOR</a:t>
            </a:r>
            <a:r>
              <a:rPr lang="en-US" dirty="0"/>
              <a:t> 1010)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AND</a:t>
            </a:r>
            <a:r>
              <a:rPr lang="en-US" dirty="0"/>
              <a:t> 0110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E09262-8A0F-6858-976A-1832761739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7</a:t>
            </a:r>
          </a:p>
        </p:txBody>
      </p:sp>
    </p:spTree>
    <p:extLst>
      <p:ext uri="{BB962C8B-B14F-4D97-AF65-F5344CB8AC3E}">
        <p14:creationId xmlns:p14="http://schemas.microsoft.com/office/powerpoint/2010/main" val="1033989901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57676B-DF2F-0D75-1F2F-D5706E969B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Operations : Shift </a:t>
            </a:r>
            <a:r>
              <a:rPr lang="en-US" sz="2000" dirty="0"/>
              <a:t>(evaluate)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D903CD-CB6C-2FEA-F395-0E130814EA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LSHIFT-1</a:t>
            </a:r>
            <a:r>
              <a:rPr lang="en-US" dirty="0"/>
              <a:t> 10101)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AND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RSHIFT-2</a:t>
            </a:r>
            <a:r>
              <a:rPr lang="en-US" dirty="0"/>
              <a:t> 11010)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RCIRC-2</a:t>
            </a:r>
            <a:r>
              <a:rPr lang="en-US" dirty="0"/>
              <a:t> 01111)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OR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LSHIFT-3</a:t>
            </a:r>
            <a:r>
              <a:rPr lang="en-US" dirty="0"/>
              <a:t> 10010)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RSHIFT-1</a:t>
            </a:r>
            <a:r>
              <a:rPr lang="en-US" dirty="0"/>
              <a:t> 11100)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XOR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LCIRC-2</a:t>
            </a:r>
            <a:r>
              <a:rPr lang="en-US" dirty="0"/>
              <a:t> 01011)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LSHIFT-2</a:t>
            </a:r>
            <a:r>
              <a:rPr lang="en-US" dirty="0"/>
              <a:t> 00110)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OR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RCIRC-1</a:t>
            </a:r>
            <a:r>
              <a:rPr lang="en-US" dirty="0"/>
              <a:t> 10101)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AND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RSHIFT-3</a:t>
            </a:r>
            <a:r>
              <a:rPr lang="en-US" dirty="0"/>
              <a:t> 11101)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LCIRC-3</a:t>
            </a:r>
            <a:r>
              <a:rPr lang="en-US" dirty="0"/>
              <a:t> 11001)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AND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RSHIFT-2</a:t>
            </a:r>
            <a:r>
              <a:rPr lang="en-US" dirty="0"/>
              <a:t> 10110)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RCIRC-4</a:t>
            </a:r>
            <a:r>
              <a:rPr lang="en-US" dirty="0"/>
              <a:t> 10011)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OR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LSHIFT-1</a:t>
            </a:r>
            <a:r>
              <a:rPr lang="en-US" dirty="0"/>
              <a:t> 01101)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RSHIFT-3</a:t>
            </a:r>
            <a:r>
              <a:rPr lang="en-US" dirty="0"/>
              <a:t> 11110)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AND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LCIRC-1</a:t>
            </a:r>
            <a:r>
              <a:rPr lang="en-US" dirty="0"/>
              <a:t> 00111)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OR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LSHIFT-2</a:t>
            </a:r>
            <a:r>
              <a:rPr lang="en-US" dirty="0"/>
              <a:t> 01010)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LSHIFT-2</a:t>
            </a:r>
            <a:r>
              <a:rPr lang="en-US" dirty="0"/>
              <a:t> 01101)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OR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RCIRC-3</a:t>
            </a:r>
            <a:r>
              <a:rPr lang="en-US" dirty="0"/>
              <a:t> 10110)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AND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RSHIFT-1</a:t>
            </a:r>
            <a:r>
              <a:rPr lang="en-US" dirty="0"/>
              <a:t> 11011)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0421984-CC99-1FD5-74F2-4C5D7F9404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7</a:t>
            </a:r>
          </a:p>
        </p:txBody>
      </p:sp>
    </p:spTree>
    <p:extLst>
      <p:ext uri="{BB962C8B-B14F-4D97-AF65-F5344CB8AC3E}">
        <p14:creationId xmlns:p14="http://schemas.microsoft.com/office/powerpoint/2010/main" val="3855716963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4BB2FC-C20D-29F2-EA67-7864CD4337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Answsers</a:t>
            </a:r>
            <a:r>
              <a:rPr lang="en-US" dirty="0"/>
              <a:t> 1..3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0C4EEE-6173-2D24-0658-2C120397B9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LSHIFT-1</a:t>
            </a:r>
            <a:r>
              <a:rPr lang="en-US" dirty="0"/>
              <a:t> 10101)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AND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RSHIFT-2</a:t>
            </a:r>
            <a:r>
              <a:rPr lang="en-US" dirty="0"/>
              <a:t> 11010)</a:t>
            </a:r>
          </a:p>
          <a:p>
            <a:pPr lvl="1"/>
            <a:r>
              <a:rPr lang="en-US" dirty="0"/>
              <a:t>→ 01010 AND 00110 </a:t>
            </a:r>
          </a:p>
          <a:p>
            <a:pPr lvl="1"/>
            <a:r>
              <a:rPr lang="en-US" dirty="0"/>
              <a:t>→ </a:t>
            </a:r>
            <a:r>
              <a:rPr lang="en-US" b="1" dirty="0"/>
              <a:t>00010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RCIRC-2</a:t>
            </a:r>
            <a:r>
              <a:rPr lang="en-US" dirty="0"/>
              <a:t> 01111)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OR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LSHIFT-3</a:t>
            </a:r>
            <a:r>
              <a:rPr lang="en-US" dirty="0"/>
              <a:t> 10010)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→ 11011 OR 10000 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→ </a:t>
            </a:r>
            <a:r>
              <a:rPr lang="en-US" b="1" dirty="0"/>
              <a:t>11011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RSHIFT-1</a:t>
            </a:r>
            <a:r>
              <a:rPr lang="en-US" dirty="0"/>
              <a:t> 11100)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XOR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LCIRC-2</a:t>
            </a:r>
            <a:r>
              <a:rPr lang="en-US" dirty="0"/>
              <a:t> 01011)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→ 01110 XOR 01101 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→ </a:t>
            </a:r>
            <a:r>
              <a:rPr lang="en-US" b="1" dirty="0"/>
              <a:t>00011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0374131-785E-2A52-4D45-ED3F02C6CE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7</a:t>
            </a:r>
          </a:p>
        </p:txBody>
      </p:sp>
    </p:spTree>
    <p:extLst>
      <p:ext uri="{BB962C8B-B14F-4D97-AF65-F5344CB8AC3E}">
        <p14:creationId xmlns:p14="http://schemas.microsoft.com/office/powerpoint/2010/main" val="3860563823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59BD7F-A798-35AE-793C-868D060F56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Answers 4..6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77ECD0-8B39-0692-C574-6ABB3CEA7C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514350" indent="-514350">
              <a:buFont typeface="+mj-lt"/>
              <a:buAutoNum type="arabicPeriod" startAt="4"/>
            </a:pPr>
            <a:r>
              <a:rPr lang="en-US" dirty="0"/>
              <a:t>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LSHIFT-2</a:t>
            </a:r>
            <a:r>
              <a:rPr lang="en-US" dirty="0"/>
              <a:t> 00110)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OR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RCIRC-1</a:t>
            </a:r>
            <a:r>
              <a:rPr lang="en-US" dirty="0"/>
              <a:t> 10101)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AND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RSHIFT-3</a:t>
            </a:r>
            <a:r>
              <a:rPr lang="en-US" dirty="0"/>
              <a:t> 11101)</a:t>
            </a:r>
          </a:p>
          <a:p>
            <a:pPr lvl="1"/>
            <a:r>
              <a:rPr lang="en-US" dirty="0"/>
              <a:t>11000 OR 11010 AND 00011 </a:t>
            </a:r>
            <a:r>
              <a:rPr lang="en-US" i="1" dirty="0"/>
              <a:t>//parenthesis evaluated first</a:t>
            </a:r>
          </a:p>
          <a:p>
            <a:pPr lvl="1"/>
            <a:r>
              <a:rPr lang="en-US" dirty="0"/>
              <a:t>11000 OR 00010 </a:t>
            </a:r>
            <a:r>
              <a:rPr lang="en-US" i="1" dirty="0"/>
              <a:t>// And has higher precedence so evaluated first</a:t>
            </a:r>
          </a:p>
          <a:p>
            <a:pPr lvl="1"/>
            <a:r>
              <a:rPr lang="en-US" b="1" dirty="0"/>
              <a:t>11010</a:t>
            </a:r>
          </a:p>
          <a:p>
            <a:pPr marL="514350" indent="-514350">
              <a:buFont typeface="+mj-lt"/>
              <a:buAutoNum type="arabicPeriod" startAt="4"/>
            </a:pPr>
            <a:r>
              <a:rPr lang="en-US" dirty="0"/>
              <a:t>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LCIRC-3</a:t>
            </a:r>
            <a:r>
              <a:rPr lang="en-US" dirty="0"/>
              <a:t> 11001)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AND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RSHIFT-2</a:t>
            </a:r>
            <a:r>
              <a:rPr lang="en-US" dirty="0"/>
              <a:t> 10110)</a:t>
            </a:r>
          </a:p>
          <a:p>
            <a:pPr lvl="1"/>
            <a:r>
              <a:rPr lang="en-US" dirty="0"/>
              <a:t>01110 AND (RSHIFT-2 10110)</a:t>
            </a:r>
          </a:p>
          <a:p>
            <a:pPr lvl="1"/>
            <a:r>
              <a:rPr lang="en-US" dirty="0"/>
              <a:t>01110 AND 00101</a:t>
            </a:r>
          </a:p>
          <a:p>
            <a:pPr lvl="1"/>
            <a:r>
              <a:rPr lang="en-US" b="1" dirty="0"/>
              <a:t>00100</a:t>
            </a:r>
          </a:p>
          <a:p>
            <a:pPr marL="514350" indent="-514350">
              <a:buFont typeface="+mj-lt"/>
              <a:buAutoNum type="arabicPeriod" startAt="4"/>
            </a:pPr>
            <a:r>
              <a:rPr lang="en-US" dirty="0"/>
              <a:t>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RCIRC-4</a:t>
            </a:r>
            <a:r>
              <a:rPr lang="en-US" dirty="0"/>
              <a:t> 10011)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OR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LSHIFT-1</a:t>
            </a:r>
            <a:r>
              <a:rPr lang="en-US" dirty="0"/>
              <a:t> 01101)</a:t>
            </a:r>
          </a:p>
          <a:p>
            <a:pPr lvl="1"/>
            <a:r>
              <a:rPr lang="en-US" dirty="0"/>
              <a:t>00111 OR 11010</a:t>
            </a:r>
          </a:p>
          <a:p>
            <a:pPr lvl="1"/>
            <a:r>
              <a:rPr lang="en-US" b="1" dirty="0"/>
              <a:t>11111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501B45D-8860-0D15-A406-C0C4369BCC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7</a:t>
            </a:r>
          </a:p>
        </p:txBody>
      </p:sp>
    </p:spTree>
    <p:extLst>
      <p:ext uri="{BB962C8B-B14F-4D97-AF65-F5344CB8AC3E}">
        <p14:creationId xmlns:p14="http://schemas.microsoft.com/office/powerpoint/2010/main" val="3427507082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D75B44-46CD-74DE-1EC2-6C3ABA92D1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Answers 7..8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EA9FC4-3A4E-8667-749A-CA557659A3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 startAt="7"/>
            </a:pPr>
            <a:r>
              <a:rPr lang="en-US" dirty="0"/>
              <a:t>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RSHIFT-3</a:t>
            </a:r>
            <a:r>
              <a:rPr lang="en-US" dirty="0"/>
              <a:t> 11110)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AND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LCIRC-1</a:t>
            </a:r>
            <a:r>
              <a:rPr lang="en-US" dirty="0"/>
              <a:t> 00111)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OR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LSHIFT-2</a:t>
            </a:r>
            <a:r>
              <a:rPr lang="en-US" dirty="0"/>
              <a:t> 01010)</a:t>
            </a:r>
          </a:p>
          <a:p>
            <a:pPr lvl="1"/>
            <a:r>
              <a:rPr lang="en-US" dirty="0"/>
              <a:t>00011 AND 01110 OR (01000)</a:t>
            </a:r>
          </a:p>
          <a:p>
            <a:pPr lvl="1"/>
            <a:r>
              <a:rPr lang="en-US" dirty="0"/>
              <a:t>00010 OR 01000</a:t>
            </a:r>
          </a:p>
          <a:p>
            <a:pPr lvl="1"/>
            <a:r>
              <a:rPr lang="en-US" b="1" dirty="0"/>
              <a:t>01010</a:t>
            </a:r>
          </a:p>
          <a:p>
            <a:pPr marL="514350" indent="-514350">
              <a:buFont typeface="+mj-lt"/>
              <a:buAutoNum type="arabicPeriod" startAt="7"/>
            </a:pPr>
            <a:r>
              <a:rPr lang="en-US" dirty="0"/>
              <a:t>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LSHIFT-2</a:t>
            </a:r>
            <a:r>
              <a:rPr lang="en-US" dirty="0"/>
              <a:t> 01101)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OR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RCIRC-3</a:t>
            </a:r>
            <a:r>
              <a:rPr lang="en-US" dirty="0"/>
              <a:t> 10110)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AND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RSHIFT-1</a:t>
            </a:r>
            <a:r>
              <a:rPr lang="en-US" dirty="0"/>
              <a:t> 11011)</a:t>
            </a:r>
          </a:p>
          <a:p>
            <a:pPr lvl="1"/>
            <a:r>
              <a:rPr lang="en-US" dirty="0"/>
              <a:t>11010 OR 11010 AND 01101</a:t>
            </a:r>
          </a:p>
          <a:p>
            <a:pPr lvl="1"/>
            <a:r>
              <a:rPr lang="en-US" dirty="0"/>
              <a:t>11010 OR 01000</a:t>
            </a:r>
          </a:p>
          <a:p>
            <a:pPr lvl="1"/>
            <a:r>
              <a:rPr lang="en-US" b="1" dirty="0"/>
              <a:t>11010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4BA331-E1C7-68C8-C5A0-75B2600E0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7</a:t>
            </a:r>
          </a:p>
        </p:txBody>
      </p:sp>
    </p:spTree>
    <p:extLst>
      <p:ext uri="{BB962C8B-B14F-4D97-AF65-F5344CB8AC3E}">
        <p14:creationId xmlns:p14="http://schemas.microsoft.com/office/powerpoint/2010/main" val="2930346915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4E72D7-0D7A-A4BC-D0BB-73DEB22982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this Program do ? Q1.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D221D368-6BAD-6E79-AA4D-81A97D91F45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118414" y="1690688"/>
            <a:ext cx="4367986" cy="4220906"/>
          </a:xfrm>
        </p:spPr>
      </p:pic>
    </p:spTree>
    <p:extLst>
      <p:ext uri="{BB962C8B-B14F-4D97-AF65-F5344CB8AC3E}">
        <p14:creationId xmlns:p14="http://schemas.microsoft.com/office/powerpoint/2010/main" val="1366029758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11F38E-FE26-1480-0E2C-4C0A63BA20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591228-AC4D-366F-3D99-F517F0A726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this Program do ? A1.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D1D49E56-D5D1-6578-D76A-29A85AAE67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3490" y="1777399"/>
            <a:ext cx="10515600" cy="4351338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i = 2 </a:t>
            </a:r>
          </a:p>
          <a:p>
            <a:pPr lvl="1"/>
            <a:r>
              <a:rPr lang="en-US" dirty="0"/>
              <a:t>num = 72</a:t>
            </a:r>
          </a:p>
          <a:p>
            <a:pPr lvl="1"/>
            <a:r>
              <a:rPr lang="en-US" dirty="0"/>
              <a:t>72 % 2 == 0 → yes</a:t>
            </a:r>
          </a:p>
          <a:p>
            <a:pPr lvl="2"/>
            <a:r>
              <a:rPr lang="en-US" dirty="0"/>
              <a:t>num = 36, count = 1</a:t>
            </a:r>
          </a:p>
          <a:p>
            <a:pPr lvl="1"/>
            <a:r>
              <a:rPr lang="en-US" dirty="0"/>
              <a:t>36 % 2 == 0 → yes</a:t>
            </a:r>
          </a:p>
          <a:p>
            <a:pPr lvl="2"/>
            <a:r>
              <a:rPr lang="en-US" dirty="0"/>
              <a:t>num = 18, count = 2</a:t>
            </a:r>
          </a:p>
          <a:p>
            <a:pPr lvl="1"/>
            <a:r>
              <a:rPr lang="en-US" dirty="0"/>
              <a:t>18 % 2 == 0 → yes</a:t>
            </a:r>
          </a:p>
          <a:p>
            <a:pPr lvl="2"/>
            <a:r>
              <a:rPr lang="en-US" dirty="0"/>
              <a:t>num = 9, count = 3</a:t>
            </a:r>
          </a:p>
          <a:p>
            <a:pPr lvl="1"/>
            <a:r>
              <a:rPr lang="en-US" dirty="0"/>
              <a:t>9 % 2 != 0 → stop</a:t>
            </a:r>
          </a:p>
          <a:p>
            <a:pPr lvl="1"/>
            <a:r>
              <a:rPr lang="en-US" dirty="0"/>
              <a:t>output → 2 3</a:t>
            </a:r>
          </a:p>
          <a:p>
            <a:r>
              <a:rPr lang="en-US" dirty="0"/>
              <a:t>I =3 </a:t>
            </a:r>
          </a:p>
          <a:p>
            <a:pPr lvl="1"/>
            <a:r>
              <a:rPr lang="en-US" dirty="0"/>
              <a:t>output → 3 2</a:t>
            </a:r>
          </a:p>
          <a:p>
            <a:r>
              <a:rPr lang="en-US" dirty="0"/>
              <a:t>I = 4 ,5, 6</a:t>
            </a:r>
          </a:p>
          <a:p>
            <a:pPr lvl="1"/>
            <a:r>
              <a:rPr lang="en-US" dirty="0"/>
              <a:t>num = 1  ( not divisible by any)</a:t>
            </a:r>
          </a:p>
          <a:p>
            <a:pPr lvl="1"/>
            <a:r>
              <a:rPr lang="en-US" dirty="0"/>
              <a:t>no output</a:t>
            </a:r>
          </a:p>
          <a:p>
            <a:pPr lvl="1"/>
            <a:endParaRPr lang="en-US" dirty="0"/>
          </a:p>
        </p:txBody>
      </p:sp>
      <p:pic>
        <p:nvPicPr>
          <p:cNvPr id="8" name="Content Placeholder 8">
            <a:extLst>
              <a:ext uri="{FF2B5EF4-FFF2-40B4-BE49-F238E27FC236}">
                <a16:creationId xmlns:a16="http://schemas.microsoft.com/office/drawing/2014/main" id="{2E061E9E-3254-CD26-4930-FE889E90EF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524" y="1777399"/>
            <a:ext cx="4367986" cy="42209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5399279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919F7C-64A8-6BBF-B7BD-831EE93538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this Program do ? Q2.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CB231ECF-E15A-8953-C520-04A6C2401B6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24692" y="2030998"/>
            <a:ext cx="5260464" cy="3455402"/>
          </a:xfrm>
        </p:spPr>
      </p:pic>
    </p:spTree>
    <p:extLst>
      <p:ext uri="{BB962C8B-B14F-4D97-AF65-F5344CB8AC3E}">
        <p14:creationId xmlns:p14="http://schemas.microsoft.com/office/powerpoint/2010/main" val="220731870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4CE9ED-6524-DC6A-EE50-03751C9CCB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BB9C47-A844-8024-1E13-0A333A267F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this Program do ? A2.</a:t>
            </a:r>
          </a:p>
        </p:txBody>
      </p:sp>
      <p:pic>
        <p:nvPicPr>
          <p:cNvPr id="5" name="Content Placeholder 6">
            <a:extLst>
              <a:ext uri="{FF2B5EF4-FFF2-40B4-BE49-F238E27FC236}">
                <a16:creationId xmlns:a16="http://schemas.microsoft.com/office/drawing/2014/main" id="{FB000280-F639-4E1F-E662-FF837C26BC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1906" y="1896991"/>
            <a:ext cx="5260464" cy="3455402"/>
          </a:xfrm>
          <a:prstGeom prst="rect">
            <a:avLst/>
          </a:prstGeom>
        </p:spPr>
      </p:pic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DC5B5EE5-1473-E2E4-2C3B-DBE0CE8CDE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Nested loop sum : 35</a:t>
            </a:r>
            <a:br>
              <a:rPr lang="en-US" dirty="0"/>
            </a:br>
            <a:endParaRPr lang="en-US" dirty="0"/>
          </a:p>
        </p:txBody>
      </p:sp>
      <p:graphicFrame>
        <p:nvGraphicFramePr>
          <p:cNvPr id="10" name="Content Placeholder 5">
            <a:extLst>
              <a:ext uri="{FF2B5EF4-FFF2-40B4-BE49-F238E27FC236}">
                <a16:creationId xmlns:a16="http://schemas.microsoft.com/office/drawing/2014/main" id="{29C28563-5938-2EFF-BD4F-B2A285E2A72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137903152"/>
              </p:ext>
            </p:extLst>
          </p:nvPr>
        </p:nvGraphicFramePr>
        <p:xfrm>
          <a:off x="1103654" y="2385301"/>
          <a:ext cx="4766441" cy="35267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91610">
                  <a:extLst>
                    <a:ext uri="{9D8B030D-6E8A-4147-A177-3AD203B41FA5}">
                      <a16:colId xmlns:a16="http://schemas.microsoft.com/office/drawing/2014/main" val="2829498307"/>
                    </a:ext>
                  </a:extLst>
                </a:gridCol>
                <a:gridCol w="1470135">
                  <a:extLst>
                    <a:ext uri="{9D8B030D-6E8A-4147-A177-3AD203B41FA5}">
                      <a16:colId xmlns:a16="http://schemas.microsoft.com/office/drawing/2014/main" val="2236824969"/>
                    </a:ext>
                  </a:extLst>
                </a:gridCol>
                <a:gridCol w="913086">
                  <a:extLst>
                    <a:ext uri="{9D8B030D-6E8A-4147-A177-3AD203B41FA5}">
                      <a16:colId xmlns:a16="http://schemas.microsoft.com/office/drawing/2014/main" val="2084030851"/>
                    </a:ext>
                  </a:extLst>
                </a:gridCol>
                <a:gridCol w="1191610">
                  <a:extLst>
                    <a:ext uri="{9D8B030D-6E8A-4147-A177-3AD203B41FA5}">
                      <a16:colId xmlns:a16="http://schemas.microsoft.com/office/drawing/2014/main" val="1456409771"/>
                    </a:ext>
                  </a:extLst>
                </a:gridCol>
              </a:tblGrid>
              <a:tr h="587795">
                <a:tc>
                  <a:txBody>
                    <a:bodyPr/>
                    <a:lstStyle/>
                    <a:p>
                      <a:r>
                        <a:rPr lang="en-US" dirty="0" err="1"/>
                        <a:t>i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j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i="1" dirty="0"/>
                        <a:t>Added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sum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7576104"/>
                  </a:ext>
                </a:extLst>
              </a:tr>
              <a:tr h="587795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61388876"/>
                  </a:ext>
                </a:extLst>
              </a:tr>
              <a:tr h="587795"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1+2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43299306"/>
                  </a:ext>
                </a:extLst>
              </a:tr>
              <a:tr h="587795"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1+2+3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24753527"/>
                  </a:ext>
                </a:extLst>
              </a:tr>
              <a:tr h="587795"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1+2+3+4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55088139"/>
                  </a:ext>
                </a:extLst>
              </a:tr>
              <a:tr h="587795">
                <a:tc>
                  <a:txBody>
                    <a:bodyPr/>
                    <a:lstStyle/>
                    <a:p>
                      <a:r>
                        <a:rPr lang="en-US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1+2+3+4+5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35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2759667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54589667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598296-BCFA-A4FD-8C84-FABA672558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this Program do ? Q3</a:t>
            </a:r>
          </a:p>
        </p:txBody>
      </p:sp>
      <p:pic>
        <p:nvPicPr>
          <p:cNvPr id="10" name="Content Placeholder 4">
            <a:extLst>
              <a:ext uri="{FF2B5EF4-FFF2-40B4-BE49-F238E27FC236}">
                <a16:creationId xmlns:a16="http://schemas.microsoft.com/office/drawing/2014/main" id="{B306B037-9002-F85B-D8E9-FE58D03DA7F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84885" y="1887466"/>
            <a:ext cx="7176049" cy="3614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018112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185DBA-9053-3108-1DE3-ACD6F73148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8DE529-7D4D-7996-8BA8-098B84D614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this Program do ? A3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D3988ECD-FF80-8C71-0489-3A4ED45427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want </a:t>
            </a:r>
          </a:p>
          <a:p>
            <a:pPr lvl="1"/>
            <a:r>
              <a:rPr lang="en-US" dirty="0"/>
              <a:t>Divisible by 3</a:t>
            </a:r>
          </a:p>
          <a:p>
            <a:pPr lvl="1"/>
            <a:r>
              <a:rPr lang="en-US" dirty="0"/>
              <a:t>NOT divisible by 4</a:t>
            </a:r>
          </a:p>
          <a:p>
            <a:r>
              <a:rPr lang="en-US" dirty="0"/>
              <a:t>15 + 18 = 33</a:t>
            </a:r>
          </a:p>
          <a:p>
            <a:endParaRPr lang="en-US" dirty="0"/>
          </a:p>
        </p:txBody>
      </p:sp>
      <p:pic>
        <p:nvPicPr>
          <p:cNvPr id="8" name="Content Placeholder 4">
            <a:extLst>
              <a:ext uri="{FF2B5EF4-FFF2-40B4-BE49-F238E27FC236}">
                <a16:creationId xmlns:a16="http://schemas.microsoft.com/office/drawing/2014/main" id="{6AD4C6A4-CD8E-35B8-ED9E-5CDCED20BA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48858" y="2022694"/>
            <a:ext cx="6049308" cy="3047141"/>
          </a:xfrm>
          <a:prstGeom prst="rect">
            <a:avLst/>
          </a:prstGeom>
        </p:spPr>
      </p:pic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7D247C17-E352-B075-5C45-0F11A18FF056}"/>
              </a:ext>
            </a:extLst>
          </p:cNvPr>
          <p:cNvGraphicFramePr>
            <a:graphicFrameLocks noGrp="1"/>
          </p:cNvGraphicFramePr>
          <p:nvPr/>
        </p:nvGraphicFramePr>
        <p:xfrm>
          <a:off x="1086068" y="4001294"/>
          <a:ext cx="4069256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7314">
                  <a:extLst>
                    <a:ext uri="{9D8B030D-6E8A-4147-A177-3AD203B41FA5}">
                      <a16:colId xmlns:a16="http://schemas.microsoft.com/office/drawing/2014/main" val="2572898738"/>
                    </a:ext>
                  </a:extLst>
                </a:gridCol>
                <a:gridCol w="1017314">
                  <a:extLst>
                    <a:ext uri="{9D8B030D-6E8A-4147-A177-3AD203B41FA5}">
                      <a16:colId xmlns:a16="http://schemas.microsoft.com/office/drawing/2014/main" val="3945718912"/>
                    </a:ext>
                  </a:extLst>
                </a:gridCol>
                <a:gridCol w="899511">
                  <a:extLst>
                    <a:ext uri="{9D8B030D-6E8A-4147-A177-3AD203B41FA5}">
                      <a16:colId xmlns:a16="http://schemas.microsoft.com/office/drawing/2014/main" val="126023410"/>
                    </a:ext>
                  </a:extLst>
                </a:gridCol>
                <a:gridCol w="1135117">
                  <a:extLst>
                    <a:ext uri="{9D8B030D-6E8A-4147-A177-3AD203B41FA5}">
                      <a16:colId xmlns:a16="http://schemas.microsoft.com/office/drawing/2014/main" val="98415643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 err="1"/>
                        <a:t>i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%3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%4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Include?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588934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922622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288579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5008834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53282175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78A494-CB44-23E6-6167-3B208E6620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D1C93A-4A24-101D-372C-39870A9743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this Program do ? Q4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651F3A36-ABAF-E830-D679-95EBF73FA0A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06462" y="1867741"/>
            <a:ext cx="5128799" cy="3975081"/>
          </a:xfrm>
        </p:spPr>
      </p:pic>
    </p:spTree>
    <p:extLst>
      <p:ext uri="{BB962C8B-B14F-4D97-AF65-F5344CB8AC3E}">
        <p14:creationId xmlns:p14="http://schemas.microsoft.com/office/powerpoint/2010/main" val="472968941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90E92F-AF49-7D7B-050E-B52B454BF4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BDE6CA-C955-4AC7-D595-48528D43D3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this Program do ? A4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40B678F-4154-33E1-671D-916FE686C7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09860"/>
            <a:ext cx="10515600" cy="4351338"/>
          </a:xfrm>
        </p:spPr>
        <p:txBody>
          <a:bodyPr/>
          <a:lstStyle/>
          <a:p>
            <a:r>
              <a:rPr lang="en-US" dirty="0"/>
              <a:t>Output 4</a:t>
            </a:r>
          </a:p>
        </p:txBody>
      </p:sp>
      <p:pic>
        <p:nvPicPr>
          <p:cNvPr id="5" name="Content Placeholder 6">
            <a:extLst>
              <a:ext uri="{FF2B5EF4-FFF2-40B4-BE49-F238E27FC236}">
                <a16:creationId xmlns:a16="http://schemas.microsoft.com/office/drawing/2014/main" id="{A9B3C22B-857E-640E-DCC7-9205A3777F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2144" y="1749500"/>
            <a:ext cx="5128799" cy="3975081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49BEE48A-F157-1798-7EAE-1B4D145A2EED}"/>
              </a:ext>
            </a:extLst>
          </p:cNvPr>
          <p:cNvSpPr txBox="1"/>
          <p:nvPr/>
        </p:nvSpPr>
        <p:spPr>
          <a:xfrm>
            <a:off x="1062201" y="3545471"/>
            <a:ext cx="4495144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u="sng" dirty="0"/>
              <a:t>Step	digit	even?	count</a:t>
            </a:r>
          </a:p>
          <a:p>
            <a:r>
              <a:rPr lang="en-US" dirty="0"/>
              <a:t>8	yes	1	1</a:t>
            </a:r>
          </a:p>
          <a:p>
            <a:r>
              <a:rPr lang="en-US" dirty="0"/>
              <a:t>6	yes	2	2</a:t>
            </a:r>
          </a:p>
          <a:p>
            <a:r>
              <a:rPr lang="en-US" dirty="0"/>
              <a:t>4	yes	3	3</a:t>
            </a:r>
          </a:p>
          <a:p>
            <a:r>
              <a:rPr lang="en-US" dirty="0"/>
              <a:t>2	yes	4	4</a:t>
            </a:r>
          </a:p>
        </p:txBody>
      </p:sp>
    </p:spTree>
    <p:extLst>
      <p:ext uri="{BB962C8B-B14F-4D97-AF65-F5344CB8AC3E}">
        <p14:creationId xmlns:p14="http://schemas.microsoft.com/office/powerpoint/2010/main" val="1526322078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C1662D-56D1-A890-3A90-E5804BAF2E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5A77DD-319B-B8CB-067B-809A82565B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this Program do ? Q5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FC0C0A05-4862-B677-A23E-72B3ADC7198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80142" y="1974397"/>
            <a:ext cx="5115858" cy="3761236"/>
          </a:xfrm>
        </p:spPr>
      </p:pic>
    </p:spTree>
    <p:extLst>
      <p:ext uri="{BB962C8B-B14F-4D97-AF65-F5344CB8AC3E}">
        <p14:creationId xmlns:p14="http://schemas.microsoft.com/office/powerpoint/2010/main" val="2237300741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40BD29-74FC-E5C5-470F-3990F5AACF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979C6D-9E88-105F-5872-247603B44F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this Program do ? A5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334BE19-7D70-249A-4EC2-6DAB233B06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Divide every element by 3</a:t>
            </a:r>
          </a:p>
          <a:p>
            <a:r>
              <a:rPr lang="en-US" dirty="0"/>
              <a:t>Output 1,2,3,4,5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sz="2000" b="1" u="sng" dirty="0"/>
              <a:t>Index	Original		New</a:t>
            </a:r>
          </a:p>
          <a:p>
            <a:pPr marL="0" indent="0">
              <a:buNone/>
            </a:pPr>
            <a:r>
              <a:rPr lang="en-US" sz="2000" dirty="0"/>
              <a:t>0	3		1</a:t>
            </a:r>
          </a:p>
          <a:p>
            <a:pPr marL="0" indent="0">
              <a:buNone/>
            </a:pPr>
            <a:r>
              <a:rPr lang="en-US" sz="2000" dirty="0"/>
              <a:t>1	6		2</a:t>
            </a:r>
          </a:p>
          <a:p>
            <a:pPr marL="0" indent="0">
              <a:buNone/>
            </a:pPr>
            <a:r>
              <a:rPr lang="en-US" sz="2000" dirty="0"/>
              <a:t>2	9		3</a:t>
            </a:r>
          </a:p>
          <a:p>
            <a:pPr marL="0" indent="0">
              <a:buNone/>
            </a:pPr>
            <a:r>
              <a:rPr lang="en-US" sz="2000" dirty="0"/>
              <a:t>3	12		4</a:t>
            </a:r>
          </a:p>
          <a:p>
            <a:pPr marL="0" indent="0">
              <a:buNone/>
            </a:pPr>
            <a:r>
              <a:rPr lang="en-US" sz="2000" dirty="0"/>
              <a:t>4	15		5</a:t>
            </a:r>
          </a:p>
        </p:txBody>
      </p:sp>
      <p:pic>
        <p:nvPicPr>
          <p:cNvPr id="5" name="Content Placeholder 8">
            <a:extLst>
              <a:ext uri="{FF2B5EF4-FFF2-40B4-BE49-F238E27FC236}">
                <a16:creationId xmlns:a16="http://schemas.microsoft.com/office/drawing/2014/main" id="{F3508B81-D07D-9A2E-711A-108335FFF1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4391" y="1825625"/>
            <a:ext cx="5115858" cy="37612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1379389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39EAE1-601F-A56C-2093-29AE055F3D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EDAB8B-D489-C7C1-2756-DEA23A56D4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this Program do ? Q6</a:t>
            </a:r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72843AFF-E13C-780D-9B6E-B591AD0F021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46549" y="1797789"/>
            <a:ext cx="4429201" cy="3822618"/>
          </a:xfrm>
        </p:spPr>
      </p:pic>
    </p:spTree>
    <p:extLst>
      <p:ext uri="{BB962C8B-B14F-4D97-AF65-F5344CB8AC3E}">
        <p14:creationId xmlns:p14="http://schemas.microsoft.com/office/powerpoint/2010/main" val="569505228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662DFB-A262-168F-C564-5942A84A8E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58F048-1DC8-9E32-EFE2-3C47F27D68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this Program do ? A6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5021129-1CA9-751A-B267-B30A3E1BF8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Single pass swap</a:t>
            </a:r>
          </a:p>
          <a:p>
            <a:pPr lvl="1"/>
            <a:r>
              <a:rPr lang="en-US" dirty="0"/>
              <a:t>Output  : 1,4,2,5</a:t>
            </a:r>
          </a:p>
          <a:p>
            <a:pPr lvl="1"/>
            <a:r>
              <a:rPr lang="en-US" b="1" dirty="0"/>
              <a:t>Note : not sorted</a:t>
            </a:r>
          </a:p>
          <a:p>
            <a:r>
              <a:rPr lang="en-US" dirty="0"/>
              <a:t>i =0 </a:t>
            </a:r>
          </a:p>
          <a:p>
            <a:pPr lvl="1"/>
            <a:r>
              <a:rPr lang="en-US" dirty="0"/>
              <a:t>5 &gt; 1 → swap → [1, 5, 4, 2]</a:t>
            </a:r>
          </a:p>
          <a:p>
            <a:r>
              <a:rPr lang="en-US" dirty="0"/>
              <a:t>i =1 </a:t>
            </a:r>
          </a:p>
          <a:p>
            <a:pPr lvl="1"/>
            <a:r>
              <a:rPr lang="en-US" dirty="0"/>
              <a:t>5 &gt; 4 → swap → [1, 4, 5, 2]</a:t>
            </a:r>
          </a:p>
          <a:p>
            <a:r>
              <a:rPr lang="en-US" dirty="0"/>
              <a:t>i = 2</a:t>
            </a:r>
          </a:p>
          <a:p>
            <a:pPr lvl="1"/>
            <a:r>
              <a:rPr lang="en-US" dirty="0"/>
              <a:t>5 &gt; 2 → swap → [1, 4, 2, 5]</a:t>
            </a:r>
          </a:p>
        </p:txBody>
      </p:sp>
      <p:pic>
        <p:nvPicPr>
          <p:cNvPr id="5" name="Content Placeholder 10">
            <a:extLst>
              <a:ext uri="{FF2B5EF4-FFF2-40B4-BE49-F238E27FC236}">
                <a16:creationId xmlns:a16="http://schemas.microsoft.com/office/drawing/2014/main" id="{8FF07BF5-47E4-D416-E383-A4DE395654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3763" y="1794094"/>
            <a:ext cx="4429201" cy="38226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6005300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E41701-2B07-168C-3CE8-98E848A82F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2690C7-DB50-C566-790E-BA6542271B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this Program do ? Q7</a:t>
            </a: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25D88EB9-52CD-71F3-E0F2-B1C3E81007F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93579" y="1865448"/>
            <a:ext cx="6035752" cy="3857435"/>
          </a:xfrm>
        </p:spPr>
      </p:pic>
    </p:spTree>
    <p:extLst>
      <p:ext uri="{BB962C8B-B14F-4D97-AF65-F5344CB8AC3E}">
        <p14:creationId xmlns:p14="http://schemas.microsoft.com/office/powerpoint/2010/main" val="2234398235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6F3EA2-E343-1A42-A5E7-A2086BD5E6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AC3823-B7E6-19CD-407F-88073F85EC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this Program do ? A7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9B6A43E-791C-1ED0-32A3-D7FAA0FD79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Output 5</a:t>
            </a:r>
          </a:p>
          <a:p>
            <a:pPr lvl="1"/>
            <a:endParaRPr lang="en-US" dirty="0"/>
          </a:p>
          <a:p>
            <a:pPr marL="457200" lvl="1" indent="0">
              <a:buNone/>
            </a:pPr>
            <a:r>
              <a:rPr lang="pt-BR" sz="2000" b="1" u="sng" dirty="0"/>
              <a:t>Step  i	result	action</a:t>
            </a:r>
          </a:p>
          <a:p>
            <a:pPr marL="457200" lvl="1" indent="0">
              <a:buNone/>
            </a:pPr>
            <a:r>
              <a:rPr lang="pt-BR" sz="2000" dirty="0"/>
              <a:t>1	   1	1	result &lt; 50 continue</a:t>
            </a:r>
          </a:p>
          <a:p>
            <a:pPr marL="457200" lvl="1" indent="0">
              <a:buNone/>
            </a:pPr>
            <a:r>
              <a:rPr lang="pt-BR" sz="2000" dirty="0"/>
              <a:t>2	   2	2	result &lt; 50 continue</a:t>
            </a:r>
          </a:p>
          <a:p>
            <a:pPr marL="457200" lvl="1" indent="0">
              <a:buNone/>
            </a:pPr>
            <a:r>
              <a:rPr lang="pt-BR" sz="2000" dirty="0"/>
              <a:t>3	   3	6	result &lt; 50 continue</a:t>
            </a:r>
          </a:p>
          <a:p>
            <a:pPr marL="457200" lvl="1" indent="0">
              <a:buNone/>
            </a:pPr>
            <a:r>
              <a:rPr lang="pt-BR" sz="2000" dirty="0"/>
              <a:t>4	   4	24	result &lt; 50 continue</a:t>
            </a:r>
          </a:p>
          <a:p>
            <a:pPr marL="457200" lvl="1" indent="0">
              <a:buNone/>
            </a:pPr>
            <a:r>
              <a:rPr lang="pt-BR" sz="2000" dirty="0"/>
              <a:t>5	   5	120	</a:t>
            </a:r>
            <a:r>
              <a:rPr lang="pt-BR" sz="2000" b="1" dirty="0"/>
              <a:t>result &gt; 50 break</a:t>
            </a:r>
          </a:p>
          <a:p>
            <a:pPr marL="457200" lvl="1" indent="0">
              <a:buNone/>
            </a:pPr>
            <a:endParaRPr lang="pt-BR" sz="2000" dirty="0"/>
          </a:p>
        </p:txBody>
      </p:sp>
      <p:pic>
        <p:nvPicPr>
          <p:cNvPr id="5" name="Content Placeholder 9">
            <a:extLst>
              <a:ext uri="{FF2B5EF4-FFF2-40B4-BE49-F238E27FC236}">
                <a16:creationId xmlns:a16="http://schemas.microsoft.com/office/drawing/2014/main" id="{7A3A6A90-E3AB-179D-99A4-778692989F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2648" y="2072576"/>
            <a:ext cx="6035752" cy="38574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0378485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8B562B-2D71-9CBF-878B-99DEB21729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Boolean Logic/Algebra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DD7531D-AC28-E02E-BDE8-C3CB0B38303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The inputs are    : 0,1 {only}</a:t>
                </a:r>
              </a:p>
              <a:p>
                <a:r>
                  <a:rPr lang="en-US" dirty="0"/>
                  <a:t>The outputs are : 0,1 {only}</a:t>
                </a:r>
              </a:p>
              <a:p>
                <a:r>
                  <a:rPr lang="en-US" dirty="0"/>
                  <a:t>Operators </a:t>
                </a:r>
              </a:p>
              <a:p>
                <a:pPr lvl="1"/>
                <a:r>
                  <a:rPr lang="en-US" dirty="0"/>
                  <a:t>()</a:t>
                </a:r>
              </a:p>
              <a:p>
                <a:pPr lvl="1"/>
                <a:r>
                  <a:rPr lang="en-US" dirty="0"/>
                  <a:t>NOT </a:t>
                </a:r>
                <a:r>
                  <a:rPr lang="en-US" dirty="0">
                    <a:sym typeface="Wingdings" panose="05000000000000000000" pitchFamily="2" charset="2"/>
                  </a:rPr>
                  <a:t>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𝐴</m:t>
                        </m:r>
                      </m:e>
                    </m:acc>
                  </m:oMath>
                </a14:m>
                <a:endParaRPr lang="en-US" dirty="0">
                  <a:sym typeface="Wingdings" panose="05000000000000000000" pitchFamily="2" charset="2"/>
                </a:endParaRPr>
              </a:p>
              <a:p>
                <a:pPr lvl="1"/>
                <a:r>
                  <a:rPr lang="en-US" dirty="0"/>
                  <a:t>AND</a:t>
                </a:r>
                <a:r>
                  <a:rPr lang="en-US" dirty="0">
                    <a:sym typeface="Wingdings" panose="05000000000000000000" pitchFamily="2" charset="2"/>
                  </a:rPr>
                  <a:t>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 .</m:t>
                    </m:r>
                    <m:r>
                      <a:rPr lang="en-US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𝐵</m:t>
                    </m:r>
                  </m:oMath>
                </a14:m>
                <a:endParaRPr lang="en-US" dirty="0">
                  <a:sym typeface="Wingdings" panose="05000000000000000000" pitchFamily="2" charset="2"/>
                </a:endParaRPr>
              </a:p>
              <a:p>
                <a:pPr lvl="1"/>
                <a:r>
                  <a:rPr lang="en-US" dirty="0"/>
                  <a:t>XOR </a:t>
                </a:r>
                <a:r>
                  <a:rPr lang="en-US" dirty="0">
                    <a:sym typeface="Wingdings" panose="05000000000000000000" pitchFamily="2" charset="2"/>
                  </a:rPr>
                  <a:t>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𝐴</m:t>
                    </m:r>
                    <m:r>
                      <a:rPr lang="en-US" b="0" i="1" dirty="0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⊕</m:t>
                    </m:r>
                    <m:r>
                      <a:rPr lang="en-US" b="0" i="1" dirty="0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𝐵</m:t>
                    </m:r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XNOR </a:t>
                </a:r>
                <a:r>
                  <a:rPr lang="en-US" dirty="0">
                    <a:sym typeface="Wingdings" panose="05000000000000000000" pitchFamily="2" charset="2"/>
                  </a:rPr>
                  <a:t>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b="0" i="1" dirty="0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</m:ctrlPr>
                      </m:accPr>
                      <m:e>
                        <m:r>
                          <a:rPr lang="en-US" i="1" dirty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𝐴</m:t>
                        </m:r>
                        <m:r>
                          <a:rPr lang="en-US" i="1" dirty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⊕</m:t>
                        </m:r>
                        <m:r>
                          <a:rPr lang="en-US" i="1" dirty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𝐵</m:t>
                        </m:r>
                      </m:e>
                    </m:acc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OR    </a:t>
                </a:r>
                <a:r>
                  <a:rPr lang="en-US" dirty="0">
                    <a:sym typeface="Wingdings" panose="05000000000000000000" pitchFamily="2" charset="2"/>
                  </a:rPr>
                  <a:t>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𝐵</m:t>
                    </m:r>
                  </m:oMath>
                </a14:m>
                <a:endParaRPr lang="en-US" dirty="0"/>
              </a:p>
              <a:p>
                <a:pPr lvl="2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DD7531D-AC28-E02E-BDE8-C3CB0B38303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52314869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CEF463-8E69-9B0E-5E1E-A8A4361A30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69F375-B6F2-5C4F-0378-385B893AA5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Truth Tables </a:t>
            </a:r>
            <a:r>
              <a:rPr lang="en-US" sz="2000" dirty="0"/>
              <a:t>( same as bitwise operations </a:t>
            </a:r>
            <a:r>
              <a:rPr lang="en-US" sz="2000" dirty="0">
                <a:sym typeface="Wingdings" panose="05000000000000000000" pitchFamily="2" charset="2"/>
              </a:rPr>
              <a:t> easy</a:t>
            </a:r>
            <a:r>
              <a:rPr lang="en-US" sz="2000" dirty="0"/>
              <a:t>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Content Placeholder 3">
                <a:extLst>
                  <a:ext uri="{FF2B5EF4-FFF2-40B4-BE49-F238E27FC236}">
                    <a16:creationId xmlns:a16="http://schemas.microsoft.com/office/drawing/2014/main" id="{85C206E2-06FC-C7B2-FAED-73E2B11D88E4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683151470"/>
                  </p:ext>
                </p:extLst>
              </p:nvPr>
            </p:nvGraphicFramePr>
            <p:xfrm>
              <a:off x="950310" y="3429000"/>
              <a:ext cx="8784895" cy="18993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756979">
                      <a:extLst>
                        <a:ext uri="{9D8B030D-6E8A-4147-A177-3AD203B41FA5}">
                          <a16:colId xmlns:a16="http://schemas.microsoft.com/office/drawing/2014/main" val="4184432793"/>
                        </a:ext>
                      </a:extLst>
                    </a:gridCol>
                    <a:gridCol w="1756979">
                      <a:extLst>
                        <a:ext uri="{9D8B030D-6E8A-4147-A177-3AD203B41FA5}">
                          <a16:colId xmlns:a16="http://schemas.microsoft.com/office/drawing/2014/main" val="1084674688"/>
                        </a:ext>
                      </a:extLst>
                    </a:gridCol>
                    <a:gridCol w="1756979">
                      <a:extLst>
                        <a:ext uri="{9D8B030D-6E8A-4147-A177-3AD203B41FA5}">
                          <a16:colId xmlns:a16="http://schemas.microsoft.com/office/drawing/2014/main" val="2121035788"/>
                        </a:ext>
                      </a:extLst>
                    </a:gridCol>
                    <a:gridCol w="1756979">
                      <a:extLst>
                        <a:ext uri="{9D8B030D-6E8A-4147-A177-3AD203B41FA5}">
                          <a16:colId xmlns:a16="http://schemas.microsoft.com/office/drawing/2014/main" val="1496895670"/>
                        </a:ext>
                      </a:extLst>
                    </a:gridCol>
                    <a:gridCol w="1756979">
                      <a:extLst>
                        <a:ext uri="{9D8B030D-6E8A-4147-A177-3AD203B41FA5}">
                          <a16:colId xmlns:a16="http://schemas.microsoft.com/office/drawing/2014/main" val="4230776581"/>
                        </a:ext>
                      </a:extLst>
                    </a:gridCol>
                  </a:tblGrid>
                  <a:tr h="379872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X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𝑿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𝒀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dirty="0" smtClean="0">
                                    <a:latin typeface="Cambria Math" panose="02040503050406030204" pitchFamily="18" charset="0"/>
                                  </a:rPr>
                                  <m:t>𝑿</m:t>
                                </m:r>
                                <m:r>
                                  <a:rPr lang="en-US" b="1" i="1" dirty="0" smtClean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US" b="1" i="1" dirty="0" smtClean="0">
                                    <a:latin typeface="Cambria Math" panose="02040503050406030204" pitchFamily="18" charset="0"/>
                                  </a:rPr>
                                  <m:t>𝒀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𝑿</m:t>
                                </m:r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  <a:sym typeface="Wingdings" panose="05000000000000000000" pitchFamily="2" charset="2"/>
                                  </a:rPr>
                                  <m:t>⊕</m:t>
                                </m:r>
                                <m:r>
                                  <m:rPr>
                                    <m:nor/>
                                  </m:rPr>
                                  <a:rPr lang="en-US" dirty="0"/>
                                  <m:t> </m:t>
                                </m:r>
                                <m:r>
                                  <m:rPr>
                                    <m:nor/>
                                  </m:rPr>
                                  <a:rPr lang="en-US" dirty="0"/>
                                  <m:t>Y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94535812"/>
                      </a:ext>
                    </a:extLst>
                  </a:tr>
                  <a:tr h="379872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87256894"/>
                      </a:ext>
                    </a:extLst>
                  </a:tr>
                  <a:tr h="379872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194711834"/>
                      </a:ext>
                    </a:extLst>
                  </a:tr>
                  <a:tr h="379872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86581744"/>
                      </a:ext>
                    </a:extLst>
                  </a:tr>
                  <a:tr h="379872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7125282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Content Placeholder 3">
                <a:extLst>
                  <a:ext uri="{FF2B5EF4-FFF2-40B4-BE49-F238E27FC236}">
                    <a16:creationId xmlns:a16="http://schemas.microsoft.com/office/drawing/2014/main" id="{85C206E2-06FC-C7B2-FAED-73E2B11D88E4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683151470"/>
                  </p:ext>
                </p:extLst>
              </p:nvPr>
            </p:nvGraphicFramePr>
            <p:xfrm>
              <a:off x="950310" y="3429000"/>
              <a:ext cx="8784895" cy="18993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756979">
                      <a:extLst>
                        <a:ext uri="{9D8B030D-6E8A-4147-A177-3AD203B41FA5}">
                          <a16:colId xmlns:a16="http://schemas.microsoft.com/office/drawing/2014/main" val="4184432793"/>
                        </a:ext>
                      </a:extLst>
                    </a:gridCol>
                    <a:gridCol w="1756979">
                      <a:extLst>
                        <a:ext uri="{9D8B030D-6E8A-4147-A177-3AD203B41FA5}">
                          <a16:colId xmlns:a16="http://schemas.microsoft.com/office/drawing/2014/main" val="1084674688"/>
                        </a:ext>
                      </a:extLst>
                    </a:gridCol>
                    <a:gridCol w="1756979">
                      <a:extLst>
                        <a:ext uri="{9D8B030D-6E8A-4147-A177-3AD203B41FA5}">
                          <a16:colId xmlns:a16="http://schemas.microsoft.com/office/drawing/2014/main" val="2121035788"/>
                        </a:ext>
                      </a:extLst>
                    </a:gridCol>
                    <a:gridCol w="1756979">
                      <a:extLst>
                        <a:ext uri="{9D8B030D-6E8A-4147-A177-3AD203B41FA5}">
                          <a16:colId xmlns:a16="http://schemas.microsoft.com/office/drawing/2014/main" val="1496895670"/>
                        </a:ext>
                      </a:extLst>
                    </a:gridCol>
                    <a:gridCol w="1756979">
                      <a:extLst>
                        <a:ext uri="{9D8B030D-6E8A-4147-A177-3AD203B41FA5}">
                          <a16:colId xmlns:a16="http://schemas.microsoft.com/office/drawing/2014/main" val="4230776581"/>
                        </a:ext>
                      </a:extLst>
                    </a:gridCol>
                  </a:tblGrid>
                  <a:tr h="379872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X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694" t="-6349" r="-202083" b="-41904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99654" t="-6349" r="-101384" b="-41904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401042" t="-6349" r="-1736" b="-41904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94535812"/>
                      </a:ext>
                    </a:extLst>
                  </a:tr>
                  <a:tr h="379872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87256894"/>
                      </a:ext>
                    </a:extLst>
                  </a:tr>
                  <a:tr h="379872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194711834"/>
                      </a:ext>
                    </a:extLst>
                  </a:tr>
                  <a:tr h="379872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86581744"/>
                      </a:ext>
                    </a:extLst>
                  </a:tr>
                  <a:tr h="379872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71252828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Table 4">
                <a:extLst>
                  <a:ext uri="{FF2B5EF4-FFF2-40B4-BE49-F238E27FC236}">
                    <a16:creationId xmlns:a16="http://schemas.microsoft.com/office/drawing/2014/main" id="{04EA78DC-E72B-AA3F-DD05-4D1D66508E4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960588175"/>
                  </p:ext>
                </p:extLst>
              </p:nvPr>
            </p:nvGraphicFramePr>
            <p:xfrm>
              <a:off x="950310" y="1839017"/>
              <a:ext cx="3619938" cy="111252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809969">
                      <a:extLst>
                        <a:ext uri="{9D8B030D-6E8A-4147-A177-3AD203B41FA5}">
                          <a16:colId xmlns:a16="http://schemas.microsoft.com/office/drawing/2014/main" val="923450553"/>
                        </a:ext>
                      </a:extLst>
                    </a:gridCol>
                    <a:gridCol w="1809969">
                      <a:extLst>
                        <a:ext uri="{9D8B030D-6E8A-4147-A177-3AD203B41FA5}">
                          <a16:colId xmlns:a16="http://schemas.microsoft.com/office/drawing/2014/main" val="301574198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X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̅"/>
                                    <m:ctrlPr>
                                      <a:rPr lang="en-US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  <m:t>𝑿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1486493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73746313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8450015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Table 4">
                <a:extLst>
                  <a:ext uri="{FF2B5EF4-FFF2-40B4-BE49-F238E27FC236}">
                    <a16:creationId xmlns:a16="http://schemas.microsoft.com/office/drawing/2014/main" id="{04EA78DC-E72B-AA3F-DD05-4D1D66508E4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960588175"/>
                  </p:ext>
                </p:extLst>
              </p:nvPr>
            </p:nvGraphicFramePr>
            <p:xfrm>
              <a:off x="950310" y="1839017"/>
              <a:ext cx="3619938" cy="111252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809969">
                      <a:extLst>
                        <a:ext uri="{9D8B030D-6E8A-4147-A177-3AD203B41FA5}">
                          <a16:colId xmlns:a16="http://schemas.microsoft.com/office/drawing/2014/main" val="923450553"/>
                        </a:ext>
                      </a:extLst>
                    </a:gridCol>
                    <a:gridCol w="1809969">
                      <a:extLst>
                        <a:ext uri="{9D8B030D-6E8A-4147-A177-3AD203B41FA5}">
                          <a16:colId xmlns:a16="http://schemas.microsoft.com/office/drawing/2014/main" val="301574198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X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00673" t="-6557" r="-1347" b="-22623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81486493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73746313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84500155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6AD3397B-377F-7A84-0DDF-99BD55E4C2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7</a:t>
            </a:r>
          </a:p>
        </p:txBody>
      </p:sp>
    </p:spTree>
    <p:extLst>
      <p:ext uri="{BB962C8B-B14F-4D97-AF65-F5344CB8AC3E}">
        <p14:creationId xmlns:p14="http://schemas.microsoft.com/office/powerpoint/2010/main" val="2380609652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03C287-FA78-3AE8-013F-3406E803B2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expressions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03F2FEC-2754-1535-B2D9-82B5447468F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Evaluate for A = 1 , B = 0 , C =0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</m:oMath>
                </a14:m>
                <a:endParaRPr lang="en-US" b="0" dirty="0"/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</m:oMath>
                </a14:m>
                <a:endParaRPr lang="en-US" b="0" dirty="0"/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acc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</m:oMath>
                </a14:m>
                <a:endParaRPr lang="en-US" b="0" dirty="0"/>
              </a:p>
              <a:p>
                <a:pPr lvl="1"/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</m:oMath>
                </a14:m>
                <a:endParaRPr lang="en-US" b="0" dirty="0"/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̅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</m:oMath>
                </a14:m>
                <a:r>
                  <a:rPr lang="en-US" dirty="0"/>
                  <a:t>.B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𝐴𝐵</m:t>
                    </m:r>
                  </m:oMath>
                </a14:m>
                <a:endParaRPr lang="en-US" b="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03F2FEC-2754-1535-B2D9-82B5447468F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48809675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AE6A50-A7B2-0EAB-DAA1-4E6F7C1B0D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Rules/Discovery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509C67C-D956-457B-6C5F-D3356D10E3B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r>
                  <a:rPr lang="en-US" dirty="0"/>
                  <a:t>Identity</a:t>
                </a:r>
              </a:p>
              <a:p>
                <a:pPr lvl="1"/>
                <a:r>
                  <a:rPr lang="en-US" dirty="0"/>
                  <a:t>A + 0 = A</a:t>
                </a:r>
              </a:p>
              <a:p>
                <a:pPr lvl="1"/>
                <a:r>
                  <a:rPr lang="en-US" dirty="0"/>
                  <a:t>A  . 1 = A</a:t>
                </a:r>
              </a:p>
              <a:p>
                <a:pPr lvl="1"/>
                <a:r>
                  <a:rPr lang="en-US" dirty="0"/>
                  <a:t>A + 1 = 1</a:t>
                </a:r>
              </a:p>
              <a:p>
                <a:pPr lvl="1"/>
                <a:r>
                  <a:rPr lang="en-US" dirty="0"/>
                  <a:t>A  . 0 = 0 </a:t>
                </a:r>
              </a:p>
              <a:p>
                <a:r>
                  <a:rPr lang="en-US" dirty="0"/>
                  <a:t>Idempotent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 = A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.  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 = A</a:t>
                </a:r>
              </a:p>
              <a:p>
                <a:r>
                  <a:rPr lang="en-US" dirty="0"/>
                  <a:t>Complement 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̅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</m:oMath>
                </a14:m>
                <a:r>
                  <a:rPr lang="en-US" dirty="0"/>
                  <a:t> = 1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. 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m:rPr>
                        <m:nor/>
                      </m:rPr>
                      <a:rPr lang="en-US" dirty="0"/>
                      <m:t> = </m:t>
                    </m:r>
                    <m:r>
                      <m:rPr>
                        <m:nor/>
                      </m:rPr>
                      <a:rPr lang="en-US" b="0" i="0" dirty="0" smtClean="0"/>
                      <m:t>0</m:t>
                    </m:r>
                  </m:oMath>
                </a14:m>
                <a:endParaRPr lang="en-US" dirty="0"/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509C67C-D956-457B-6C5F-D3356D10E3B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3081" b="-4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88007270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4FF6AD-9969-0048-8C5F-54BA5AA34F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more rules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ECA680E-8CFC-1B8B-7486-EFBB399E03E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Double Negation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̿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endParaRPr lang="en-US" dirty="0"/>
              </a:p>
              <a:p>
                <a:r>
                  <a:rPr lang="en-US" b="0" dirty="0"/>
                  <a:t>Absorption law</a:t>
                </a:r>
                <a:endParaRPr lang="en-US" b="0" i="1" dirty="0">
                  <a:latin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endParaRPr lang="en-US" b="0" dirty="0"/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endParaRPr lang="en-US" b="0" dirty="0"/>
              </a:p>
              <a:p>
                <a:r>
                  <a:rPr lang="en-US" b="1" dirty="0"/>
                  <a:t>Distribution law </a:t>
                </a:r>
                <a:br>
                  <a:rPr lang="en-US" b="1" dirty="0"/>
                </a:br>
                <a:r>
                  <a:rPr lang="en-US" dirty="0"/>
                  <a:t>(symmetrical to both . and +)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)+(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.(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b="0" dirty="0"/>
              </a:p>
              <a:p>
                <a:pPr marL="457200" lvl="1" indent="0">
                  <a:buNone/>
                </a:pPr>
                <a:endParaRPr lang="en-US" dirty="0"/>
              </a:p>
              <a:p>
                <a:pPr lvl="1"/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ECA680E-8CFC-1B8B-7486-EFBB399E03E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24609008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C4F640-25A8-B0E4-213D-D5B78CE0B6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 it yourself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2EB442C-84D6-F51D-7B8F-DF5C3E1F83E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Hint : These may be actual theorems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=?</m:t>
                    </m:r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=?</m:t>
                    </m:r>
                  </m:oMath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 ?</m:t>
                    </m:r>
                  </m:oMath>
                </a14:m>
                <a:endParaRPr lang="en-US" b="0" dirty="0"/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 ?</m:t>
                    </m:r>
                  </m:oMath>
                </a14:m>
                <a:endParaRPr lang="en-US" b="0" dirty="0"/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̅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 ?</m:t>
                    </m:r>
                  </m:oMath>
                </a14:m>
                <a:endParaRPr lang="en-US" b="0" dirty="0"/>
              </a:p>
              <a:p>
                <a:pPr lvl="1"/>
                <a:endParaRPr lang="en-US" b="0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2EB442C-84D6-F51D-7B8F-DF5C3E1F83E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31649206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5A1F26-A2A5-5B10-3A4B-5A4D0A63B8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D8C453-735D-9943-1D52-9282A0E3AA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Solved </a:t>
            </a:r>
            <a:r>
              <a:rPr lang="en-US" sz="2000" dirty="0"/>
              <a:t>(and named)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26A9DC8-04AF-13CC-E010-C4639C34E1C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r>
                  <a:rPr lang="en-US" dirty="0"/>
                  <a:t>Hint : These may be actual theorems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acc>
                      <m:accPr>
                        <m:chr m:val="̅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</m:oMath>
                </a14:m>
                <a:endParaRPr lang="en-US" dirty="0"/>
              </a:p>
              <a:p>
                <a:pPr lvl="2"/>
                <a:r>
                  <a:rPr lang="en-US" dirty="0" err="1"/>
                  <a:t>DeMorgan’s</a:t>
                </a:r>
                <a:r>
                  <a:rPr lang="en-US" dirty="0"/>
                  <a:t> law 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. 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</m:oMath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pPr lvl="2"/>
                <a:r>
                  <a:rPr lang="en-US" dirty="0" err="1"/>
                  <a:t>DeMorgan’s</a:t>
                </a:r>
                <a:r>
                  <a:rPr lang="en-US" dirty="0"/>
                  <a:t> law (again)</a:t>
                </a:r>
              </a:p>
              <a:p>
                <a:pPr lvl="1"/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𝐴𝐶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B</m:t>
                    </m:r>
                    <m:r>
                      <a:rPr lang="en-US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b="0" dirty="0"/>
              </a:p>
              <a:p>
                <a:pPr lvl="2"/>
                <a:r>
                  <a:rPr lang="en-US" dirty="0"/>
                  <a:t>Consensus theorem </a:t>
                </a:r>
                <a:endParaRPr lang="en-US" b="0" dirty="0"/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Redundancy law</a:t>
                </a:r>
              </a:p>
              <a:p>
                <a:pPr lvl="2"/>
                <a:r>
                  <a:rPr lang="en-US" dirty="0"/>
                  <a:t>Also called, Second Absorption law</a:t>
                </a:r>
                <a:endParaRPr lang="en-US" b="0" dirty="0"/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̅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endParaRPr lang="en-US" b="0" dirty="0"/>
              </a:p>
              <a:p>
                <a:pPr lvl="2"/>
                <a:r>
                  <a:rPr lang="en-US" dirty="0"/>
                  <a:t>Redundancy law (again)</a:t>
                </a:r>
              </a:p>
              <a:p>
                <a:pPr lvl="2"/>
                <a:r>
                  <a:rPr lang="en-US" b="0" dirty="0"/>
                  <a:t>Also called , Third distributive law</a:t>
                </a:r>
              </a:p>
              <a:p>
                <a:pPr lvl="2"/>
                <a:endParaRPr lang="en-US" b="0" dirty="0"/>
              </a:p>
              <a:p>
                <a:pPr lvl="2"/>
                <a:endParaRPr lang="en-US" b="0" dirty="0"/>
              </a:p>
              <a:p>
                <a:pPr lvl="1"/>
                <a:endParaRPr lang="en-US" b="0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26A9DC8-04AF-13CC-E010-C4639C34E1C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928" t="-2801" b="-15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409655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82A8DE-70D1-F0C4-50B6-932DB537A1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Lets Simplify 1..4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9F0D293-2E99-8E01-9D02-C3EB766841D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</m:oMath>
                </a14:m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</m:oMath>
                </a14:m>
                <a:endParaRPr lang="en-US" dirty="0"/>
              </a:p>
              <a:p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</m:oMath>
                </a14:m>
                <a:endParaRPr lang="en-US" b="0" dirty="0"/>
              </a:p>
              <a:p>
                <a:r>
                  <a:rPr lang="en-US" b="0" dirty="0"/>
                  <a:t>(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).(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̅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9F0D293-2E99-8E01-9D02-C3EB766841D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39528823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7B0124-F2C3-D388-3D32-C9F41B1593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90C5AF-27A6-2DE7-E719-D9C62BD3DC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Lets Simplify 1..4 : answers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A0895C6-0364-139E-297D-2D74CFF1C09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0000" lnSpcReduction="20000"/>
              </a:bodyPr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By Absorption law = A, OR</a:t>
                </a:r>
              </a:p>
              <a:p>
                <a:pPr lvl="2"/>
                <a:r>
                  <a:rPr lang="en-US" dirty="0"/>
                  <a:t>A.A + A.B</a:t>
                </a:r>
              </a:p>
              <a:p>
                <a:pPr lvl="2"/>
                <a:r>
                  <a:rPr lang="en-US" dirty="0"/>
                  <a:t>A + AB  </a:t>
                </a:r>
                <a:r>
                  <a:rPr lang="en-US" dirty="0">
                    <a:solidFill>
                      <a:srgbClr val="00B050"/>
                    </a:solidFill>
                  </a:rPr>
                  <a:t>//(A.A = A), Idempotent Law</a:t>
                </a:r>
              </a:p>
              <a:p>
                <a:pPr lvl="2"/>
                <a:r>
                  <a:rPr lang="en-US" dirty="0"/>
                  <a:t>A (1+ B) </a:t>
                </a:r>
                <a:r>
                  <a:rPr lang="en-US" dirty="0">
                    <a:solidFill>
                      <a:srgbClr val="00B050"/>
                    </a:solidFill>
                  </a:rPr>
                  <a:t>// factor A out</a:t>
                </a:r>
              </a:p>
              <a:p>
                <a:pPr lvl="2"/>
                <a:r>
                  <a:rPr lang="en-US" dirty="0"/>
                  <a:t>A </a:t>
                </a:r>
                <a:r>
                  <a:rPr lang="en-US" dirty="0">
                    <a:solidFill>
                      <a:srgbClr val="00B050"/>
                    </a:solidFill>
                  </a:rPr>
                  <a:t>// By null law 1+B = 1 and A.1 = A</a:t>
                </a:r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A</a:t>
                </a:r>
              </a:p>
              <a:p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</m:oMath>
                </a14:m>
                <a:endParaRPr lang="en-US" b="0" dirty="0"/>
              </a:p>
              <a:p>
                <a:pPr lvl="1"/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.(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</m:oMath>
                </a14:m>
                <a:r>
                  <a:rPr lang="en-US" b="0" i="1" dirty="0">
                    <a:latin typeface="Cambria Math" panose="02040503050406030204" pitchFamily="18" charset="0"/>
                  </a:rPr>
                  <a:t> B) </a:t>
                </a:r>
                <a:r>
                  <a:rPr lang="en-US" dirty="0">
                    <a:solidFill>
                      <a:srgbClr val="00B050"/>
                    </a:solidFill>
                  </a:rPr>
                  <a:t>//Distribution law</a:t>
                </a:r>
                <a:endParaRPr lang="en-US" b="0" i="1" dirty="0">
                  <a:latin typeface="Cambria Math" panose="02040503050406030204" pitchFamily="18" charset="0"/>
                </a:endParaRPr>
              </a:p>
              <a:p>
                <a:pPr lvl="1"/>
                <a:r>
                  <a:rPr lang="en-US" i="1" dirty="0">
                    <a:latin typeface="Cambria Math" panose="02040503050406030204" pitchFamily="18" charset="0"/>
                  </a:rPr>
                  <a:t>1.</a:t>
                </a:r>
                <a:r>
                  <a:rPr lang="en-US" b="0" dirty="0"/>
                  <a:t> 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(</m:t>
                    </m:r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</m:oMath>
                </a14:m>
                <a:r>
                  <a:rPr lang="en-US" b="0" i="1" dirty="0">
                    <a:latin typeface="Cambria Math" panose="02040503050406030204" pitchFamily="18" charset="0"/>
                  </a:rPr>
                  <a:t> B) </a:t>
                </a:r>
                <a:r>
                  <a:rPr lang="en-US" dirty="0">
                    <a:solidFill>
                      <a:srgbClr val="00B050"/>
                    </a:solidFill>
                  </a:rPr>
                  <a:t>// By Complement law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d>
                    <m:r>
                      <a:rPr lang="en-US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endParaRPr lang="en-US" dirty="0">
                  <a:solidFill>
                    <a:srgbClr val="00B050"/>
                  </a:solidFill>
                </a:endParaRP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</m:oMath>
                </a14:m>
                <a:r>
                  <a:rPr lang="en-US" b="0" dirty="0"/>
                  <a:t> B </a:t>
                </a:r>
              </a:p>
              <a:p>
                <a:r>
                  <a:rPr lang="en-US" b="0" dirty="0"/>
                  <a:t>(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).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acc>
                          <m:accPr>
                            <m:chr m:val="̅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acc>
                      </m:e>
                    </m:d>
                  </m:oMath>
                </a14:m>
                <a:endParaRPr lang="en-US" b="0" dirty="0"/>
              </a:p>
              <a:p>
                <a:pPr lvl="1"/>
                <a:r>
                  <a:rPr lang="en-US" b="0" dirty="0"/>
                  <a:t>(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)+(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acc>
                      <m:accPr>
                        <m:chr m:val="̅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>
                    <a:solidFill>
                      <a:srgbClr val="00B050"/>
                    </a:solidFill>
                  </a:rPr>
                  <a:t>//Distribution law</a:t>
                </a:r>
              </a:p>
              <a:p>
                <a:pPr lvl="1"/>
                <a:r>
                  <a:rPr lang="en-US" b="0" dirty="0"/>
                  <a:t>A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+0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>
                    <a:solidFill>
                      <a:srgbClr val="00B050"/>
                    </a:solidFill>
                  </a:rPr>
                  <a:t>//Idempotent law + Complement law</a:t>
                </a:r>
              </a:p>
              <a:p>
                <a:pPr lvl="1"/>
                <a:r>
                  <a:rPr lang="en-US" b="0" dirty="0"/>
                  <a:t>A</a:t>
                </a:r>
                <a:endParaRPr lang="en-US" dirty="0">
                  <a:solidFill>
                    <a:srgbClr val="00B050"/>
                  </a:solidFill>
                </a:endParaRPr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A0895C6-0364-139E-297D-2D74CFF1C09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120" b="-15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68270304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A01777-7C6F-76BE-45C2-4D03B4DC52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Lets Simplify 5..11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12C71F2-ACC9-E416-C317-D9E32AD458D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lvl="1"/>
                <a14:m>
                  <m:oMath xmlns:m="http://schemas.openxmlformats.org/officeDocument/2006/math"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.</m:t>
                        </m:r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acc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i="1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</m:oMath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pPr lvl="2"/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𝑨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𝑪</m:t>
                    </m:r>
                  </m:oMath>
                </a14:m>
                <a:endParaRPr lang="en-US" b="1" i="1" dirty="0">
                  <a:latin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acc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pPr lvl="2"/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𝑨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𝑩</m:t>
                    </m:r>
                  </m:oMath>
                </a14:m>
                <a:endParaRPr lang="en-US" b="1" i="1" dirty="0">
                  <a:latin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 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</m:oMath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pPr lvl="2"/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𝑩</m:t>
                        </m:r>
                      </m:e>
                    </m:acc>
                  </m:oMath>
                </a14:m>
                <a:endParaRPr lang="en-US" b="1" i="1" dirty="0">
                  <a:latin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.(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̅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acc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)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𝑩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.(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𝑨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̅"/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𝑪</m:t>
                        </m:r>
                      </m:e>
                    </m:acc>
                  </m:oMath>
                </a14:m>
                <a:r>
                  <a:rPr lang="en-US" b="1" i="1" dirty="0">
                    <a:latin typeface="Cambria Math" panose="02040503050406030204" pitchFamily="18" charset="0"/>
                  </a:rPr>
                  <a:t>)</a:t>
                </a:r>
              </a:p>
              <a:p>
                <a:pPr lvl="1"/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acc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</m:acc>
                      </m:e>
                    </m:d>
                  </m:oMath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 lvl="2"/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𝑨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.</m:t>
                    </m:r>
                    <m:acc>
                      <m:accPr>
                        <m:chr m:val="̅"/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𝑩</m:t>
                        </m:r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𝑪</m:t>
                        </m:r>
                      </m:e>
                    </m:acc>
                    <m:r>
                      <a:rPr lang="en-US" b="1" i="1" smtClean="0">
                        <a:latin typeface="Cambria Math" panose="02040503050406030204" pitchFamily="18" charset="0"/>
                      </a:rPr>
                      <m:t>+ </m:t>
                    </m:r>
                    <m:acc>
                      <m:accPr>
                        <m:chr m:val="̅"/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𝑨</m:t>
                        </m:r>
                      </m:e>
                    </m:acc>
                    <m:r>
                      <a:rPr lang="en-US" b="1" i="1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𝑩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𝑪</m:t>
                    </m:r>
                  </m:oMath>
                </a14:m>
                <a:endParaRPr lang="en-US" b="1" i="1" dirty="0">
                  <a:latin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.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+(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acc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)</a:t>
                </a:r>
              </a:p>
              <a:p>
                <a:pPr lvl="2"/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𝑨</m:t>
                        </m:r>
                      </m:e>
                    </m:acc>
                  </m:oMath>
                </a14:m>
                <a:r>
                  <a:rPr lang="en-US" b="1" i="1" dirty="0">
                    <a:latin typeface="Cambria Math" panose="02040503050406030204" pitchFamily="18" charset="0"/>
                  </a:rPr>
                  <a:t> +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𝑩</m:t>
                        </m:r>
                      </m:e>
                    </m:acc>
                    <m:r>
                      <a:rPr lang="en-US" b="1" i="1" smtClean="0"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̅"/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𝑪</m:t>
                        </m:r>
                      </m:e>
                    </m:acc>
                  </m:oMath>
                </a14:m>
                <a:endParaRPr lang="en-US" b="1" i="1" dirty="0">
                  <a:latin typeface="Cambria Math" panose="02040503050406030204" pitchFamily="18" charset="0"/>
                </a:endParaRPr>
              </a:p>
              <a:p>
                <a:pPr lvl="2"/>
                <a:endParaRPr lang="en-US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12C71F2-ACC9-E416-C317-D9E32AD458D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t="-1261" b="-9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71231373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E9C9B2-45AB-787B-5C91-05A5B558BC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3ADC5A-141E-6F8B-7CFB-CAA9C873BD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Lets Simplify 5..11 : answers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10A3309-A527-5D31-6F50-29E46FDBB2A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These are hard , think of them as puzzles,</a:t>
                </a:r>
                <a:endParaRPr lang="en-US" i="1" dirty="0">
                  <a:latin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.</m:t>
                        </m:r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acc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i="1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</m:oMath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acc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</m:oMath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 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</m:oMath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.(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̅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acc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)</a:t>
                </a:r>
              </a:p>
              <a:p>
                <a:pPr lvl="1"/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acc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</m:acc>
                      </m:e>
                    </m:d>
                  </m:oMath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.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+(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acc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10A3309-A527-5D31-6F50-29E46FDBB2A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98742316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9C7ACA-4DBD-62AB-39CA-F2A3B56B91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Truth Tables/Expressions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4ACED5D-CF97-64FD-7F0B-F9E29704E8A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Create truth table for each and validate/discover simplifications</a:t>
                </a:r>
              </a:p>
              <a:p>
                <a:pPr marL="914400" lvl="1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</m:oMath>
                </a14:m>
                <a:r>
                  <a:rPr lang="en-US" dirty="0"/>
                  <a:t>  = A</a:t>
                </a:r>
              </a:p>
              <a:p>
                <a:pPr marL="914400" lvl="1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</m:oMath>
                </a14:m>
                <a:r>
                  <a:rPr lang="en-US" dirty="0"/>
                  <a:t> = A</a:t>
                </a:r>
              </a:p>
              <a:p>
                <a:pPr marL="914400" lvl="1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</m:oMath>
                </a14:m>
                <a:r>
                  <a:rPr lang="en-US" b="0" dirty="0"/>
                  <a:t> =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</m:oMath>
                </a14:m>
                <a:r>
                  <a:rPr lang="en-US" dirty="0"/>
                  <a:t> B </a:t>
                </a:r>
                <a:endParaRPr lang="en-US" b="0" dirty="0"/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b="0" dirty="0"/>
                  <a:t>(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).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acc>
                          <m:accPr>
                            <m:chr m:val="̅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acc>
                      </m:e>
                    </m:d>
                  </m:oMath>
                </a14:m>
                <a:r>
                  <a:rPr lang="en-US" b="0" dirty="0"/>
                  <a:t> </a:t>
                </a:r>
                <a:r>
                  <a:rPr lang="en-US" dirty="0"/>
                  <a:t>= A</a:t>
                </a:r>
                <a:endParaRPr lang="en-US" b="0" dirty="0"/>
              </a:p>
              <a:p>
                <a:pPr marL="914400" lvl="1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acc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 ?</m:t>
                    </m:r>
                  </m:oMath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pPr marL="914400" lvl="1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 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= ?</m:t>
                    </m:r>
                  </m:oMath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pPr marL="914400" lvl="1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.(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̅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acc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) =?</a:t>
                </a:r>
              </a:p>
              <a:p>
                <a:pPr marL="914400" lvl="1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acc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</m:acc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 ?</m:t>
                    </m:r>
                  </m:oMath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4ACED5D-CF97-64FD-7F0B-F9E29704E8A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30060661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135768-6F15-06E9-C840-DA5612F8D1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0ADE1B-D96A-3D30-68AE-1B60E274DB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Expressions: </a:t>
            </a:r>
            <a:r>
              <a:rPr lang="en-US" dirty="0" err="1"/>
              <a:t>Soln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FE73E7D-16C4-E737-FB0A-9F0380701A1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r>
                  <a:rPr lang="en-US" dirty="0"/>
                  <a:t>Solutions to Boolean </a:t>
                </a:r>
                <a:r>
                  <a:rPr lang="en-US" dirty="0" err="1"/>
                  <a:t>Simplifcations</a:t>
                </a:r>
                <a:r>
                  <a:rPr lang="en-US" dirty="0"/>
                  <a:t> ….</a:t>
                </a:r>
              </a:p>
              <a:p>
                <a:pPr marL="914400" lvl="1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</m:oMath>
                </a14:m>
                <a:r>
                  <a:rPr lang="en-US" dirty="0"/>
                  <a:t>  = </a:t>
                </a:r>
                <a:r>
                  <a:rPr lang="en-US" b="1" dirty="0"/>
                  <a:t>A  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</a:rPr>
                  <a:t>// Use Absorption law</a:t>
                </a:r>
              </a:p>
              <a:p>
                <a:pPr marL="914400" lvl="1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</m:oMath>
                </a14:m>
                <a:r>
                  <a:rPr lang="en-US" dirty="0"/>
                  <a:t> = </a:t>
                </a:r>
                <a:r>
                  <a:rPr lang="en-US" b="1" dirty="0"/>
                  <a:t>A 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</a:rPr>
                  <a:t>// Use Absorption law, </a:t>
                </a:r>
                <a:r>
                  <a:rPr lang="en-US" i="1" dirty="0">
                    <a:solidFill>
                      <a:schemeClr val="accent6">
                        <a:lumMod val="75000"/>
                      </a:schemeClr>
                    </a:solidFill>
                  </a:rPr>
                  <a:t>other one</a:t>
                </a:r>
                <a:endParaRPr lang="en-US" b="1" i="1" dirty="0"/>
              </a:p>
              <a:p>
                <a:pPr marL="914400" lvl="1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i="1" smtClean="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</m:oMath>
                </a14:m>
                <a:r>
                  <a:rPr lang="en-US" dirty="0"/>
                  <a:t> =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/>
                  <a:t> </a:t>
                </a:r>
              </a:p>
              <a:p>
                <a:pPr lvl="2"/>
                <a:r>
                  <a:rPr lang="en-US" dirty="0">
                    <a:sym typeface="Wingdings" panose="05000000000000000000" pitchFamily="2" charset="2"/>
                  </a:rPr>
                  <a:t> </a:t>
                </a:r>
                <a:r>
                  <a:rPr lang="en-US" dirty="0"/>
                  <a:t>(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</m:oMath>
                </a14:m>
                <a:r>
                  <a:rPr lang="en-US" dirty="0"/>
                  <a:t> +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).(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/>
                  <a:t>)      //Distribution Law</a:t>
                </a:r>
              </a:p>
              <a:p>
                <a:pPr lvl="2"/>
                <a:r>
                  <a:rPr lang="en-US" dirty="0">
                    <a:sym typeface="Wingdings" panose="05000000000000000000" pitchFamily="2" charset="2"/>
                  </a:rPr>
                  <a:t> </a:t>
                </a:r>
                <a:r>
                  <a:rPr lang="en-US" dirty="0"/>
                  <a:t>(1). (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/>
                  <a:t>)   // Idempotent Law</a:t>
                </a:r>
              </a:p>
              <a:p>
                <a:pPr lvl="2"/>
                <a:r>
                  <a:rPr lang="en-US" dirty="0">
                    <a:sym typeface="Wingdings" panose="05000000000000000000" pitchFamily="2" charset="2"/>
                  </a:rPr>
                  <a:t></a:t>
                </a:r>
                <a:r>
                  <a:rPr lang="en-US" dirty="0"/>
                  <a:t>(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/>
                  <a:t>)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/>
                  <a:t>(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).</m:t>
                    </m:r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+</m:t>
                        </m:r>
                        <m:acc>
                          <m:accPr>
                            <m:chr m:val="̅"/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acc>
                      </m:e>
                    </m:d>
                  </m:oMath>
                </a14:m>
                <a:r>
                  <a:rPr lang="en-US" dirty="0"/>
                  <a:t> = A</a:t>
                </a:r>
              </a:p>
              <a:p>
                <a:pPr marL="914400" lvl="1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US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+</m:t>
                        </m:r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acc>
                      </m:e>
                    </m:d>
                    <m:r>
                      <a:rPr lang="en-US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US" i="1" smtClean="0">
                        <a:latin typeface="Cambria Math" panose="02040503050406030204" pitchFamily="18" charset="0"/>
                      </a:rPr>
                      <m:t>= </m:t>
                    </m:r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AB</a:t>
                </a:r>
              </a:p>
              <a:p>
                <a:pPr marL="914400" lvl="1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  <m:r>
                      <a:rPr lang="en-US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. 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  <m:r>
                      <a:rPr lang="en-US" i="1" smtClean="0"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</m:oMath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pPr marL="914400" lvl="1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  <m:r>
                      <a:rPr lang="en-US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US" i="1" smtClean="0">
                        <a:latin typeface="Cambria Math" panose="02040503050406030204" pitchFamily="18" charset="0"/>
                      </a:rPr>
                      <m:t>.(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acc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) = B.(A+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acc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)</a:t>
                </a:r>
              </a:p>
              <a:p>
                <a:pPr marL="914400" lvl="1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.</m:t>
                        </m:r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acc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  <m:r>
                      <a:rPr lang="en-US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+</m:t>
                        </m:r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</m:acc>
                      </m:e>
                    </m:d>
                    <m:r>
                      <a:rPr lang="en-US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𝐵𝐶</m:t>
                    </m:r>
                  </m:oMath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FE73E7D-16C4-E737-FB0A-9F0380701A1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30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42498023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52ABC3-2FB2-EB18-7247-2C7A596D65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A9C898-35FC-6EF2-7A80-305B2EB076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Expressions: </a:t>
            </a:r>
            <a:r>
              <a:rPr lang="en-US" dirty="0" err="1"/>
              <a:t>Soln</a:t>
            </a:r>
            <a:r>
              <a:rPr lang="en-US" dirty="0"/>
              <a:t> 1..4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475FFE3-D627-63D4-4E57-5DE63F6C275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Solutions to Boolean </a:t>
                </a:r>
                <a:r>
                  <a:rPr lang="en-US" dirty="0" err="1"/>
                  <a:t>Simplifcations</a:t>
                </a:r>
                <a:r>
                  <a:rPr lang="en-US" dirty="0"/>
                  <a:t> ….</a:t>
                </a:r>
              </a:p>
              <a:p>
                <a:pPr marL="914400" lvl="1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</m:oMath>
                </a14:m>
                <a:r>
                  <a:rPr lang="en-US" dirty="0"/>
                  <a:t>  = </a:t>
                </a:r>
                <a:r>
                  <a:rPr lang="en-US" b="1" dirty="0"/>
                  <a:t>A  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</a:rPr>
                  <a:t>// Use Absorption law</a:t>
                </a:r>
              </a:p>
              <a:p>
                <a:pPr marL="914400" lvl="1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</m:oMath>
                </a14:m>
                <a:r>
                  <a:rPr lang="en-US" dirty="0"/>
                  <a:t> = </a:t>
                </a:r>
                <a:r>
                  <a:rPr lang="en-US" b="1" dirty="0"/>
                  <a:t>A 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</a:rPr>
                  <a:t>// Use Absorption law, </a:t>
                </a:r>
                <a:r>
                  <a:rPr lang="en-US" i="1" dirty="0">
                    <a:solidFill>
                      <a:schemeClr val="accent6">
                        <a:lumMod val="75000"/>
                      </a:schemeClr>
                    </a:solidFill>
                  </a:rPr>
                  <a:t>other one</a:t>
                </a:r>
                <a:endParaRPr lang="en-US" b="1" i="1" dirty="0"/>
              </a:p>
              <a:p>
                <a:pPr marL="914400" lvl="1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i="1" smtClean="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</m:oMath>
                </a14:m>
                <a:r>
                  <a:rPr lang="en-US" dirty="0"/>
                  <a:t> =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/>
                  <a:t> </a:t>
                </a:r>
              </a:p>
              <a:p>
                <a:pPr lvl="2"/>
                <a:r>
                  <a:rPr lang="en-US" dirty="0">
                    <a:sym typeface="Wingdings" panose="05000000000000000000" pitchFamily="2" charset="2"/>
                  </a:rPr>
                  <a:t> </a:t>
                </a:r>
                <a:r>
                  <a:rPr lang="en-US" dirty="0"/>
                  <a:t>(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</m:oMath>
                </a14:m>
                <a:r>
                  <a:rPr lang="en-US" dirty="0"/>
                  <a:t> +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).(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/>
                  <a:t>)     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</a:rPr>
                  <a:t>//Distribution Law</a:t>
                </a:r>
              </a:p>
              <a:p>
                <a:pPr lvl="2"/>
                <a:r>
                  <a:rPr lang="en-US" dirty="0">
                    <a:sym typeface="Wingdings" panose="05000000000000000000" pitchFamily="2" charset="2"/>
                  </a:rPr>
                  <a:t> </a:t>
                </a:r>
                <a:r>
                  <a:rPr lang="en-US" dirty="0"/>
                  <a:t>(1). (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/>
                  <a:t>)  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</a:rPr>
                  <a:t>// Idempotent Law</a:t>
                </a:r>
              </a:p>
              <a:p>
                <a:pPr lvl="2"/>
                <a:r>
                  <a:rPr lang="en-US" dirty="0">
                    <a:sym typeface="Wingdings" panose="05000000000000000000" pitchFamily="2" charset="2"/>
                  </a:rPr>
                  <a:t></a:t>
                </a:r>
                <a:r>
                  <a:rPr lang="en-US" dirty="0"/>
                  <a:t>(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/>
                  <a:t>)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/>
                  <a:t>(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).</m:t>
                    </m:r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+</m:t>
                        </m:r>
                        <m:acc>
                          <m:accPr>
                            <m:chr m:val="̅"/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acc>
                      </m:e>
                    </m:d>
                  </m:oMath>
                </a14:m>
                <a:r>
                  <a:rPr lang="en-US" dirty="0"/>
                  <a:t> = A</a:t>
                </a:r>
              </a:p>
              <a:p>
                <a:pPr lvl="2"/>
                <a:r>
                  <a:rPr lang="en-US" dirty="0">
                    <a:sym typeface="Wingdings" panose="05000000000000000000" pitchFamily="2" charset="2"/>
                  </a:rPr>
                  <a:t>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acc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</a:rPr>
                  <a:t>//Distribution Law </a:t>
                </a:r>
                <a:r>
                  <a:rPr lang="en-US" i="1" dirty="0">
                    <a:solidFill>
                      <a:schemeClr val="accent6">
                        <a:lumMod val="75000"/>
                      </a:schemeClr>
                    </a:solidFill>
                  </a:rPr>
                  <a:t>in reverse</a:t>
                </a:r>
              </a:p>
              <a:p>
                <a:pPr lvl="2"/>
                <a:r>
                  <a:rPr lang="en-US" dirty="0">
                    <a:sym typeface="Wingdings" panose="05000000000000000000" pitchFamily="2" charset="2"/>
                  </a:rPr>
                  <a:t>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+0</m:t>
                    </m:r>
                  </m:oMath>
                </a14:m>
                <a:r>
                  <a:rPr lang="en-US" b="0" i="1" dirty="0"/>
                  <a:t>  </a:t>
                </a:r>
                <a:r>
                  <a:rPr lang="en-US" b="0" dirty="0">
                    <a:solidFill>
                      <a:schemeClr val="accent6">
                        <a:lumMod val="75000"/>
                      </a:schemeClr>
                    </a:solidFill>
                  </a:rPr>
                  <a:t>//Complement Law</a:t>
                </a:r>
              </a:p>
              <a:p>
                <a:pPr lvl="2"/>
                <a:r>
                  <a:rPr lang="en-US" b="0" dirty="0">
                    <a:sym typeface="Wingdings" panose="05000000000000000000" pitchFamily="2" charset="2"/>
                  </a:rPr>
                  <a:t>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endParaRPr lang="en-US" i="1" dirty="0">
                  <a:solidFill>
                    <a:schemeClr val="accent6">
                      <a:lumMod val="75000"/>
                    </a:schemeClr>
                  </a:solidFill>
                </a:endParaRPr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475FFE3-D627-63D4-4E57-5DE63F6C275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09732493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5E7EA4-5E46-1419-52D3-511DA43F86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Expressions: </a:t>
            </a:r>
            <a:r>
              <a:rPr lang="en-US" dirty="0" err="1"/>
              <a:t>Soln</a:t>
            </a:r>
            <a:r>
              <a:rPr lang="en-US" dirty="0"/>
              <a:t> 5,6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89D5AC8-32D5-9E48-B6EB-F9B294EA540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914400" lvl="1" indent="-457200">
                  <a:buFont typeface="+mj-lt"/>
                  <a:buAutoNum type="arabicPeriod" startAt="5"/>
                </a:pPr>
                <a14:m>
                  <m:oMath xmlns:m="http://schemas.openxmlformats.org/officeDocument/2006/math"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US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+</m:t>
                        </m:r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acc>
                      </m:e>
                    </m:d>
                    <m:r>
                      <a:rPr lang="en-US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US" i="1" smtClean="0">
                        <a:latin typeface="Cambria Math" panose="02040503050406030204" pitchFamily="18" charset="0"/>
                      </a:rPr>
                      <m:t>= </m:t>
                    </m:r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AB</a:t>
                </a:r>
              </a:p>
              <a:p>
                <a:pPr lvl="2"/>
                <a:r>
                  <a:rPr lang="en-US" dirty="0">
                    <a:sym typeface="Wingdings" panose="05000000000000000000" pitchFamily="2" charset="2"/>
                  </a:rPr>
                  <a:t>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acc>
                      </m:e>
                    </m:d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.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>
                    <a:latin typeface="Cambria Math" panose="02040503050406030204" pitchFamily="18" charset="0"/>
                  </a:rPr>
                  <a:t>//See 4</a:t>
                </a:r>
              </a:p>
              <a:p>
                <a:pPr lvl="2"/>
                <a:r>
                  <a:rPr lang="en-US" dirty="0">
                    <a:latin typeface="Cambria Math" panose="02040503050406030204" pitchFamily="18" charset="0"/>
                    <a:sym typeface="Wingdings" panose="05000000000000000000" pitchFamily="2" charset="2"/>
                  </a:rPr>
                  <a:t>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.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</m:oMath>
                </a14:m>
                <a:r>
                  <a:rPr lang="en-US" dirty="0">
                    <a:latin typeface="Cambria Math" panose="02040503050406030204" pitchFamily="18" charset="0"/>
                  </a:rPr>
                  <a:t>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Cambria Math" panose="02040503050406030204" pitchFamily="18" charset="0"/>
                  </a:rPr>
                  <a:t>//Complement Law</a:t>
                </a:r>
              </a:p>
              <a:p>
                <a:pPr lvl="2"/>
                <a:r>
                  <a:rPr lang="en-US" b="0" dirty="0">
                    <a:sym typeface="Wingdings" panose="05000000000000000000" pitchFamily="2" charset="2"/>
                  </a:rPr>
                  <a:t></a:t>
                </a:r>
                <a:r>
                  <a:rPr lang="en-US" b="0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 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Cambria Math" panose="02040503050406030204" pitchFamily="18" charset="0"/>
                  </a:rPr>
                  <a:t>//Distribution Law</a:t>
                </a:r>
              </a:p>
              <a:p>
                <a:pPr lvl="2"/>
                <a:r>
                  <a:rPr lang="en-US" b="0" dirty="0">
                    <a:sym typeface="Wingdings" panose="05000000000000000000" pitchFamily="2" charset="2"/>
                  </a:rPr>
                  <a:t>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Cambria Math" panose="02040503050406030204" pitchFamily="18" charset="0"/>
                  </a:rPr>
                  <a:t>//Complement Law</a:t>
                </a:r>
              </a:p>
              <a:p>
                <a:pPr marL="914400" lvl="1" indent="-457200">
                  <a:buFont typeface="+mj-lt"/>
                  <a:buAutoNum type="arabicPeriod" startAt="5"/>
                </a:pP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  <m:r>
                      <a:rPr lang="en-US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. 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  <m:r>
                      <a:rPr lang="en-US" i="1" smtClean="0"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 </a:t>
                </a:r>
              </a:p>
              <a:p>
                <a:pPr marL="1371600" lvl="2" indent="-457200">
                  <a:buFont typeface="+mj-lt"/>
                  <a:buAutoNum type="arabicPeriod" startAt="5"/>
                </a:pP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. 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 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Cambria Math" panose="02040503050406030204" pitchFamily="18" charset="0"/>
                  </a:rPr>
                  <a:t>//De-Morgan’s Law</a:t>
                </a:r>
              </a:p>
              <a:p>
                <a:pPr marL="1371600" lvl="2" indent="-457200">
                  <a:buFont typeface="+mj-lt"/>
                  <a:buAutoNum type="arabicPeriod" startAt="5"/>
                </a:pPr>
                <a14:m>
                  <m:oMath xmlns:m="http://schemas.openxmlformats.org/officeDocument/2006/math"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</m:oMath>
                </a14:m>
                <a:r>
                  <a:rPr lang="en-US" dirty="0">
                    <a:latin typeface="Cambria Math" panose="02040503050406030204" pitchFamily="18" charset="0"/>
                  </a:rPr>
                  <a:t>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Cambria Math" panose="02040503050406030204" pitchFamily="18" charset="0"/>
                  </a:rPr>
                  <a:t>//Factor the like terms</a:t>
                </a:r>
              </a:p>
              <a:p>
                <a:pPr marL="1371600" lvl="2" indent="-457200">
                  <a:buFont typeface="+mj-lt"/>
                  <a:buAutoNum type="arabicPeriod" startAt="5"/>
                </a:pP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</m:oMath>
                </a14:m>
                <a:r>
                  <a:rPr lang="en-US" dirty="0">
                    <a:latin typeface="Cambria Math" panose="02040503050406030204" pitchFamily="18" charset="0"/>
                  </a:rPr>
                  <a:t>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Cambria Math" panose="02040503050406030204" pitchFamily="18" charset="0"/>
                  </a:rPr>
                  <a:t>//Identity Law</a:t>
                </a:r>
              </a:p>
              <a:p>
                <a:pPr marL="914400" lvl="1" indent="-457200">
                  <a:buFont typeface="+mj-lt"/>
                  <a:buAutoNum type="arabicPeriod" startAt="5"/>
                </a:pPr>
                <a14:m>
                  <m:oMath xmlns:m="http://schemas.openxmlformats.org/officeDocument/2006/math"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  <m:r>
                      <a:rPr lang="en-US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US" i="1" smtClean="0">
                        <a:latin typeface="Cambria Math" panose="02040503050406030204" pitchFamily="18" charset="0"/>
                      </a:rPr>
                      <m:t>.(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acc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) = B.(A+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acc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)</a:t>
                </a:r>
              </a:p>
              <a:p>
                <a:pPr marL="914400" lvl="1" indent="-457200">
                  <a:buFont typeface="+mj-lt"/>
                  <a:buAutoNum type="arabicPeriod" startAt="5"/>
                </a:pPr>
                <a14:m>
                  <m:oMath xmlns:m="http://schemas.openxmlformats.org/officeDocument/2006/math"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.</m:t>
                        </m:r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acc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  <m:r>
                      <a:rPr lang="en-US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+</m:t>
                        </m:r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</m:acc>
                      </m:e>
                    </m:d>
                    <m:r>
                      <a:rPr lang="en-US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𝐵𝐶</m:t>
                    </m:r>
                  </m:oMath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89D5AC8-32D5-9E48-B6EB-F9B294EA540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t="-19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87830106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3318A9-801A-714A-A234-6CD3FE66DF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480F5D-20D4-03D8-1456-187A1EC7AC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Expressions: </a:t>
            </a:r>
            <a:r>
              <a:rPr lang="en-US" dirty="0" err="1"/>
              <a:t>Soln</a:t>
            </a:r>
            <a:r>
              <a:rPr lang="en-US" dirty="0"/>
              <a:t> 5,6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2DA508B-0F76-F6D7-26DF-64443D0443B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914400" lvl="1" indent="-457200">
                  <a:buFont typeface="+mj-lt"/>
                  <a:buAutoNum type="arabicPeriod" startAt="7"/>
                </a:pPr>
                <a14:m>
                  <m:oMath xmlns:m="http://schemas.openxmlformats.org/officeDocument/2006/math"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  <m:r>
                      <a:rPr lang="en-US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US" i="1" smtClean="0">
                        <a:latin typeface="Cambria Math" panose="02040503050406030204" pitchFamily="18" charset="0"/>
                      </a:rPr>
                      <m:t>.(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acc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) = B.(A+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acc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)</a:t>
                </a:r>
              </a:p>
              <a:p>
                <a:pPr lvl="2"/>
                <a:r>
                  <a:rPr lang="en-US" i="1" dirty="0">
                    <a:latin typeface="Cambria Math" panose="02040503050406030204" pitchFamily="18" charset="0"/>
                    <a:sym typeface="Wingdings" panose="05000000000000000000" pitchFamily="2" charset="2"/>
                  </a:rPr>
                  <a:t> (A.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+B.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+C.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 . (A+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acc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)</a:t>
                </a:r>
              </a:p>
              <a:p>
                <a:pPr lvl="2"/>
                <a:r>
                  <a:rPr lang="en-US" i="1" dirty="0">
                    <a:latin typeface="Cambria Math" panose="02040503050406030204" pitchFamily="18" charset="0"/>
                    <a:sym typeface="Wingdings" panose="05000000000000000000" pitchFamily="2" charset="2"/>
                  </a:rPr>
                  <a:t> (A.B +B </a:t>
                </a:r>
                <a:r>
                  <a:rPr lang="en-US" dirty="0"/>
                  <a:t> +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C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.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 . (A+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acc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)  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Cambria Math" panose="02040503050406030204" pitchFamily="18" charset="0"/>
                  </a:rPr>
                  <a:t>//Absorption and expansion</a:t>
                </a:r>
              </a:p>
              <a:p>
                <a:pPr lvl="2"/>
                <a:r>
                  <a:rPr lang="en-US" i="1" dirty="0">
                    <a:latin typeface="Cambria Math" panose="02040503050406030204" pitchFamily="18" charset="0"/>
                    <a:sym typeface="Wingdings" panose="05000000000000000000" pitchFamily="2" charset="2"/>
                  </a:rPr>
                  <a:t> (B </a:t>
                </a:r>
                <a:r>
                  <a:rPr lang="en-US" dirty="0"/>
                  <a:t> +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C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.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 . (A+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acc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)  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Cambria Math" panose="02040503050406030204" pitchFamily="18" charset="0"/>
                  </a:rPr>
                  <a:t>//Absorption</a:t>
                </a:r>
              </a:p>
              <a:p>
                <a:pPr lvl="2"/>
                <a:r>
                  <a:rPr lang="en-US" i="1" dirty="0">
                    <a:latin typeface="Cambria Math" panose="02040503050406030204" pitchFamily="18" charset="0"/>
                    <a:sym typeface="Wingdings" panose="05000000000000000000" pitchFamily="2" charset="2"/>
                  </a:rPr>
                  <a:t> A.B  + B.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C</m:t>
                    </m:r>
                    <m:r>
                      <a:rPr lang="en-US">
                        <a:latin typeface="Cambria Math" panose="02040503050406030204" pitchFamily="18" charset="0"/>
                      </a:rPr>
                      <m:t>.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𝐶𝐴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acc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 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Cambria Math" panose="02040503050406030204" pitchFamily="18" charset="0"/>
                  </a:rPr>
                  <a:t>//Complement Law and combine like terms</a:t>
                </a:r>
              </a:p>
              <a:p>
                <a:pPr lvl="2"/>
                <a:r>
                  <a:rPr lang="en-US" i="1" dirty="0">
                    <a:latin typeface="Cambria Math" panose="02040503050406030204" pitchFamily="18" charset="0"/>
                    <a:sym typeface="Wingdings" panose="05000000000000000000" pitchFamily="2" charset="2"/>
                  </a:rPr>
                  <a:t></a:t>
                </a:r>
                <a:r>
                  <a:rPr lang="en-US" i="1" dirty="0">
                    <a:latin typeface="Cambria Math" panose="02040503050406030204" pitchFamily="18" charset="0"/>
                  </a:rPr>
                  <a:t>B.(A+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acc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)</a:t>
                </a:r>
              </a:p>
              <a:p>
                <a:pPr marL="914400" lvl="1" indent="-457200">
                  <a:buFont typeface="+mj-lt"/>
                  <a:buAutoNum type="arabicPeriod" startAt="7"/>
                </a:pPr>
                <a14:m>
                  <m:oMath xmlns:m="http://schemas.openxmlformats.org/officeDocument/2006/math"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.</m:t>
                        </m:r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acc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  <m:r>
                      <a:rPr lang="en-US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+</m:t>
                        </m:r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</m:acc>
                      </m:e>
                    </m:d>
                    <m:r>
                      <a:rPr lang="en-US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𝐵𝐶</m:t>
                    </m:r>
                  </m:oMath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pPr lvl="2"/>
                <a:r>
                  <a:rPr lang="en-US" dirty="0">
                    <a:sym typeface="Wingdings" panose="05000000000000000000" pitchFamily="2" charset="2"/>
                  </a:rPr>
                  <a:t>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.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  <m:r>
                      <a:rPr lang="en-US" i="1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</m:acc>
                      </m:e>
                    </m:d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 + B.C.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</m:acc>
                      </m:e>
                    </m:d>
                  </m:oMath>
                </a14:m>
                <a:r>
                  <a:rPr lang="en-US" dirty="0"/>
                  <a:t>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</a:rPr>
                  <a:t>//Distribute</a:t>
                </a:r>
              </a:p>
              <a:p>
                <a:pPr lvl="2"/>
                <a:r>
                  <a:rPr lang="en-US" i="1" dirty="0">
                    <a:latin typeface="Cambria Math" panose="02040503050406030204" pitchFamily="18" charset="0"/>
                    <a:sym typeface="Wingdings" panose="05000000000000000000" pitchFamily="2" charset="2"/>
                  </a:rPr>
                  <a:t> A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  +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𝐴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𝐵𝐶</m:t>
                        </m:r>
                      </m:e>
                    </m:acc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 + B.C.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</m:acc>
                      </m:e>
                    </m:d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 </a:t>
                </a:r>
              </a:p>
              <a:p>
                <a:pPr lvl="2"/>
                <a:r>
                  <a:rPr lang="en-US" i="1" dirty="0">
                    <a:latin typeface="Cambria Math" panose="02040503050406030204" pitchFamily="18" charset="0"/>
                    <a:sym typeface="Wingdings" panose="05000000000000000000" pitchFamily="2" charset="2"/>
                  </a:rPr>
                  <a:t> 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𝐴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𝐵𝐶</m:t>
                        </m:r>
                      </m:e>
                    </m:acc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 + B.C.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</m:acc>
                      </m:e>
                    </m:d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Cambria Math" panose="02040503050406030204" pitchFamily="18" charset="0"/>
                  </a:rPr>
                  <a:t>//Complement Law</a:t>
                </a:r>
              </a:p>
              <a:p>
                <a:pPr lvl="2"/>
                <a:r>
                  <a:rPr lang="en-US" dirty="0">
                    <a:sym typeface="Wingdings" panose="05000000000000000000" pitchFamily="2" charset="2"/>
                  </a:rPr>
                  <a:t>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𝐴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𝐵𝐶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+ B.C.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 + B.C.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acc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Cambria Math" panose="02040503050406030204" pitchFamily="18" charset="0"/>
                  </a:rPr>
                  <a:t>//Distribute</a:t>
                </a:r>
              </a:p>
              <a:p>
                <a:pPr lvl="2"/>
                <a:r>
                  <a:rPr lang="en-US" i="1" dirty="0">
                    <a:latin typeface="Cambria Math" panose="02040503050406030204" pitchFamily="18" charset="0"/>
                    <a:sym typeface="Wingdings" panose="05000000000000000000" pitchFamily="2" charset="2"/>
                  </a:rPr>
                  <a:t>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𝐴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𝐵𝐶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+ B.C.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  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Cambria Math" panose="02040503050406030204" pitchFamily="18" charset="0"/>
                  </a:rPr>
                  <a:t>//Complement  Law and rearrange</a:t>
                </a:r>
              </a:p>
              <a:p>
                <a:pPr marL="1371600" lvl="2" indent="-457200">
                  <a:buFont typeface="+mj-lt"/>
                  <a:buAutoNum type="arabicPeriod" startAt="5"/>
                </a:pPr>
                <a:endParaRPr lang="en-US" i="1" dirty="0">
                  <a:latin typeface="Cambria Math" panose="02040503050406030204" pitchFamily="18" charset="0"/>
                </a:endParaRPr>
              </a:p>
              <a:p>
                <a:pPr marL="1371600" lvl="2" indent="-457200">
                  <a:buFont typeface="+mj-lt"/>
                  <a:buAutoNum type="arabicPeriod" startAt="5"/>
                </a:pPr>
                <a:endParaRPr lang="en-US" i="1" dirty="0">
                  <a:latin typeface="Cambria Math" panose="02040503050406030204" pitchFamily="18" charset="0"/>
                </a:endParaRPr>
              </a:p>
              <a:p>
                <a:pPr marL="1371600" lvl="2" indent="-457200">
                  <a:buFont typeface="+mj-lt"/>
                  <a:buAutoNum type="arabicPeriod" startAt="5"/>
                </a:pPr>
                <a:endParaRPr lang="en-US" i="1" dirty="0">
                  <a:latin typeface="Cambria Math" panose="02040503050406030204" pitchFamily="18" charset="0"/>
                </a:endParaRPr>
              </a:p>
              <a:p>
                <a:pPr marL="1371600" lvl="2" indent="-457200">
                  <a:buFont typeface="+mj-lt"/>
                  <a:buAutoNum type="arabicPeriod" startAt="5"/>
                </a:pPr>
                <a:endParaRPr lang="en-US" i="1" dirty="0">
                  <a:latin typeface="Cambria Math" panose="02040503050406030204" pitchFamily="18" charset="0"/>
                </a:endParaRP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2DA508B-0F76-F6D7-26DF-64443D0443B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07453919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2434AD-E6F7-D00B-CB66-20747A08BF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Programming Practice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15EE43-FFCC-BF84-FE5A-6984F2C469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Specific to Test2 ,</a:t>
            </a:r>
            <a:r>
              <a:rPr lang="en-US" i="1" dirty="0"/>
              <a:t>(skip if you are already done with test 2)</a:t>
            </a:r>
          </a:p>
          <a:p>
            <a:pPr lvl="1"/>
            <a:r>
              <a:rPr lang="en-US" dirty="0">
                <a:hlinkClick r:id="rId2"/>
              </a:rPr>
              <a:t>https://www.hackerrank.com/acsltest2practise</a:t>
            </a:r>
            <a:r>
              <a:rPr lang="en-US" dirty="0"/>
              <a:t> </a:t>
            </a:r>
          </a:p>
          <a:p>
            <a:r>
              <a:rPr lang="en-US" dirty="0"/>
              <a:t>Specific to Test 3</a:t>
            </a:r>
          </a:p>
          <a:p>
            <a:pPr lvl="1"/>
            <a:r>
              <a:rPr lang="en-US" dirty="0">
                <a:hlinkClick r:id="rId3"/>
              </a:rPr>
              <a:t>https://www.hackerrank.com/acsltest3practise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Knowledge needed</a:t>
            </a:r>
          </a:p>
          <a:p>
            <a:pPr lvl="2"/>
            <a:r>
              <a:rPr lang="en-US" dirty="0"/>
              <a:t>New: Stacks and Queues</a:t>
            </a:r>
          </a:p>
          <a:p>
            <a:pPr lvl="2"/>
            <a:r>
              <a:rPr lang="en-US"/>
              <a:t>Existing</a:t>
            </a:r>
            <a:r>
              <a:rPr lang="en-US" dirty="0"/>
              <a:t>: if else, loops, arrays, functions, …</a:t>
            </a:r>
          </a:p>
        </p:txBody>
      </p:sp>
    </p:spTree>
    <p:extLst>
      <p:ext uri="{BB962C8B-B14F-4D97-AF65-F5344CB8AC3E}">
        <p14:creationId xmlns:p14="http://schemas.microsoft.com/office/powerpoint/2010/main" val="2053329622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80BA96-FDEB-0275-31FE-0F91C76B38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Structures : Queue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FEB8CE-CBD7-DE7D-2F24-555C4474D0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FIFO : First In First Out </a:t>
            </a:r>
          </a:p>
          <a:p>
            <a:pPr lvl="1"/>
            <a:r>
              <a:rPr lang="en-US" dirty="0"/>
              <a:t>Push</a:t>
            </a:r>
          </a:p>
          <a:p>
            <a:pPr lvl="2"/>
            <a:r>
              <a:rPr lang="en-US" dirty="0"/>
              <a:t>Action: Push an item into queue</a:t>
            </a:r>
          </a:p>
          <a:p>
            <a:pPr lvl="2"/>
            <a:r>
              <a:rPr lang="en-US" dirty="0"/>
              <a:t>Can also be called (enqueue , </a:t>
            </a:r>
            <a:r>
              <a:rPr lang="en-US" dirty="0" err="1"/>
              <a:t>push_back</a:t>
            </a:r>
            <a:r>
              <a:rPr lang="en-US" dirty="0"/>
              <a:t>, …)</a:t>
            </a:r>
          </a:p>
          <a:p>
            <a:pPr lvl="1"/>
            <a:r>
              <a:rPr lang="en-US" dirty="0"/>
              <a:t>Pop</a:t>
            </a:r>
          </a:p>
          <a:p>
            <a:pPr lvl="2"/>
            <a:r>
              <a:rPr lang="en-US" dirty="0"/>
              <a:t>Action :Remove the first item in queue</a:t>
            </a:r>
          </a:p>
          <a:p>
            <a:pPr lvl="2"/>
            <a:r>
              <a:rPr lang="en-US" dirty="0"/>
              <a:t>Can also be called (dequeue , </a:t>
            </a:r>
            <a:r>
              <a:rPr lang="en-US" dirty="0" err="1"/>
              <a:t>pop_front</a:t>
            </a:r>
            <a:r>
              <a:rPr lang="en-US" dirty="0"/>
              <a:t>,…)</a:t>
            </a:r>
          </a:p>
          <a:p>
            <a:pPr lvl="1"/>
            <a:r>
              <a:rPr lang="en-US" dirty="0"/>
              <a:t>Top </a:t>
            </a:r>
          </a:p>
          <a:p>
            <a:pPr lvl="2"/>
            <a:r>
              <a:rPr lang="en-US" dirty="0"/>
              <a:t>Action : Peek (do not remove) the first item in queue</a:t>
            </a:r>
          </a:p>
          <a:p>
            <a:pPr lvl="2"/>
            <a:r>
              <a:rPr lang="en-US" dirty="0"/>
              <a:t>Can also be called ( front, …)</a:t>
            </a:r>
          </a:p>
          <a:p>
            <a:pPr lvl="1"/>
            <a:r>
              <a:rPr lang="en-US" dirty="0"/>
              <a:t>Simulation </a:t>
            </a:r>
          </a:p>
          <a:p>
            <a:pPr lvl="2"/>
            <a:r>
              <a:rPr lang="en-US" dirty="0"/>
              <a:t>ems_winter_2025_acsl101\source\</a:t>
            </a:r>
            <a:r>
              <a:rPr lang="en-US" dirty="0" err="1"/>
              <a:t>queue_stack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96858548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E837F5-6EB6-D652-74CB-258C06155F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348800-5A6E-82AE-A5CB-5CDEE0CFD9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Structures : Stack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6A019D-DD89-5C1B-B36F-A3C88E7A96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LIFO : Last In First Out </a:t>
            </a:r>
          </a:p>
          <a:p>
            <a:pPr lvl="1"/>
            <a:r>
              <a:rPr lang="en-US" dirty="0"/>
              <a:t>Push</a:t>
            </a:r>
          </a:p>
          <a:p>
            <a:pPr lvl="2"/>
            <a:r>
              <a:rPr lang="en-US" dirty="0"/>
              <a:t>Action: Push an item into stack</a:t>
            </a:r>
          </a:p>
          <a:p>
            <a:pPr lvl="2"/>
            <a:r>
              <a:rPr lang="en-US" dirty="0"/>
              <a:t>Can also be called (</a:t>
            </a:r>
            <a:r>
              <a:rPr lang="en-US" dirty="0" err="1"/>
              <a:t>insert,push_back</a:t>
            </a:r>
            <a:r>
              <a:rPr lang="en-US" dirty="0"/>
              <a:t>, …)</a:t>
            </a:r>
          </a:p>
          <a:p>
            <a:pPr lvl="1"/>
            <a:r>
              <a:rPr lang="en-US" dirty="0"/>
              <a:t>Pop</a:t>
            </a:r>
          </a:p>
          <a:p>
            <a:pPr lvl="2"/>
            <a:r>
              <a:rPr lang="en-US" dirty="0"/>
              <a:t>Action :Remove the first item in queue</a:t>
            </a:r>
          </a:p>
          <a:p>
            <a:pPr lvl="2"/>
            <a:r>
              <a:rPr lang="en-US" dirty="0"/>
              <a:t>Can also be called ( </a:t>
            </a:r>
            <a:r>
              <a:rPr lang="en-US" dirty="0" err="1"/>
              <a:t>pop_front</a:t>
            </a:r>
            <a:r>
              <a:rPr lang="en-US" dirty="0"/>
              <a:t>,…)</a:t>
            </a:r>
          </a:p>
          <a:p>
            <a:pPr lvl="1"/>
            <a:r>
              <a:rPr lang="en-US" dirty="0"/>
              <a:t>Top </a:t>
            </a:r>
          </a:p>
          <a:p>
            <a:pPr lvl="2"/>
            <a:r>
              <a:rPr lang="en-US" dirty="0"/>
              <a:t>Action : Peek (do not remove) the first item in queue</a:t>
            </a:r>
          </a:p>
          <a:p>
            <a:pPr lvl="2"/>
            <a:r>
              <a:rPr lang="en-US" dirty="0"/>
              <a:t>Can also be called (back, …)</a:t>
            </a:r>
          </a:p>
          <a:p>
            <a:pPr lvl="1"/>
            <a:r>
              <a:rPr lang="en-US" dirty="0"/>
              <a:t>Simulation </a:t>
            </a:r>
          </a:p>
          <a:p>
            <a:pPr lvl="2"/>
            <a:r>
              <a:rPr lang="en-US" dirty="0"/>
              <a:t>ems_winter_2025_acsl101\source\</a:t>
            </a:r>
            <a:r>
              <a:rPr lang="en-US" dirty="0" err="1"/>
              <a:t>queue_stack</a:t>
            </a:r>
            <a:endParaRPr lang="en-US" dirty="0"/>
          </a:p>
          <a:p>
            <a:pPr marL="914400" lvl="2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38710185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49D11A-E375-E71D-07F3-EE29E11117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this program do ? Q1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F41AE1CA-0CED-FC52-B3A9-B263513E5F3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26062" y="1690688"/>
            <a:ext cx="4036690" cy="4213159"/>
          </a:xfrm>
        </p:spPr>
      </p:pic>
    </p:spTree>
    <p:extLst>
      <p:ext uri="{BB962C8B-B14F-4D97-AF65-F5344CB8AC3E}">
        <p14:creationId xmlns:p14="http://schemas.microsoft.com/office/powerpoint/2010/main" val="3510970545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62178D-935B-AAEE-36BA-F87AA98BAA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6F76CD-D406-A389-02FF-0BA92261C8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this program do ? A1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48ECFA53-052C-D6F6-6B28-122C1A2DBAD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003421758"/>
              </p:ext>
            </p:extLst>
          </p:nvPr>
        </p:nvGraphicFramePr>
        <p:xfrm>
          <a:off x="1224455" y="2948151"/>
          <a:ext cx="4001814" cy="2774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3938">
                  <a:extLst>
                    <a:ext uri="{9D8B030D-6E8A-4147-A177-3AD203B41FA5}">
                      <a16:colId xmlns:a16="http://schemas.microsoft.com/office/drawing/2014/main" val="563773428"/>
                    </a:ext>
                  </a:extLst>
                </a:gridCol>
                <a:gridCol w="1453930">
                  <a:extLst>
                    <a:ext uri="{9D8B030D-6E8A-4147-A177-3AD203B41FA5}">
                      <a16:colId xmlns:a16="http://schemas.microsoft.com/office/drawing/2014/main" val="2982123843"/>
                    </a:ext>
                  </a:extLst>
                </a:gridCol>
                <a:gridCol w="1213946">
                  <a:extLst>
                    <a:ext uri="{9D8B030D-6E8A-4147-A177-3AD203B41FA5}">
                      <a16:colId xmlns:a16="http://schemas.microsoft.com/office/drawing/2014/main" val="905214871"/>
                    </a:ext>
                  </a:extLst>
                </a:gridCol>
              </a:tblGrid>
              <a:tr h="462456"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i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A[</a:t>
                      </a:r>
                      <a:r>
                        <a:rPr lang="en-US" dirty="0" err="1"/>
                        <a:t>i</a:t>
                      </a:r>
                      <a:r>
                        <a:rPr lang="en-US" dirty="0"/>
                        <a:t>] : Before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A[</a:t>
                      </a:r>
                      <a:r>
                        <a:rPr lang="en-US" dirty="0" err="1"/>
                        <a:t>i</a:t>
                      </a:r>
                      <a:r>
                        <a:rPr lang="en-US" dirty="0"/>
                        <a:t>] : After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6903781"/>
                  </a:ext>
                </a:extLst>
              </a:tr>
              <a:tr h="462456"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4111627"/>
                  </a:ext>
                </a:extLst>
              </a:tr>
              <a:tr h="462456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19452181"/>
                  </a:ext>
                </a:extLst>
              </a:tr>
              <a:tr h="462456"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2189348"/>
                  </a:ext>
                </a:extLst>
              </a:tr>
              <a:tr h="462456"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30260239"/>
                  </a:ext>
                </a:extLst>
              </a:tr>
              <a:tr h="462456"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6806729"/>
                  </a:ext>
                </a:extLst>
              </a:tr>
            </a:tbl>
          </a:graphicData>
        </a:graphic>
      </p:graphicFrame>
      <p:pic>
        <p:nvPicPr>
          <p:cNvPr id="7" name="Content Placeholder 4">
            <a:extLst>
              <a:ext uri="{FF2B5EF4-FFF2-40B4-BE49-F238E27FC236}">
                <a16:creationId xmlns:a16="http://schemas.microsoft.com/office/drawing/2014/main" id="{F0E50695-BDC5-0370-1DB9-2A32436F21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5848" y="1675557"/>
            <a:ext cx="4036690" cy="4213159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945E9F79-29BB-4CDA-46A4-57558B564644}"/>
              </a:ext>
            </a:extLst>
          </p:cNvPr>
          <p:cNvSpPr txBox="1"/>
          <p:nvPr/>
        </p:nvSpPr>
        <p:spPr>
          <a:xfrm>
            <a:off x="1224455" y="2088587"/>
            <a:ext cx="412465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/>
              <a:t>9 7 5 3 1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077207006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3160C2-3FE9-DE1C-F670-2471C69081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this program do ? Q2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3A649AB-679F-53E7-0286-70971B8EF84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84934" y="1690688"/>
            <a:ext cx="4516662" cy="4142553"/>
          </a:xfrm>
        </p:spPr>
      </p:pic>
    </p:spTree>
    <p:extLst>
      <p:ext uri="{BB962C8B-B14F-4D97-AF65-F5344CB8AC3E}">
        <p14:creationId xmlns:p14="http://schemas.microsoft.com/office/powerpoint/2010/main" val="1674324199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47532A-6F5A-F03B-491E-8D8610979A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784C87-8A76-0A64-FF44-67BE47DDE5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this program do ? A2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918AF0C-177A-2287-B125-733572E30D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2 4 6 8</a:t>
            </a:r>
          </a:p>
          <a:p>
            <a:pPr marL="0" indent="0">
              <a:buNone/>
            </a:pPr>
            <a:endParaRPr lang="en-US" dirty="0"/>
          </a:p>
          <a:p>
            <a:pPr>
              <a:buFontTx/>
              <a:buChar char="-"/>
            </a:pPr>
            <a:r>
              <a:rPr lang="en-US" dirty="0"/>
              <a:t>This program tried to sort</a:t>
            </a:r>
          </a:p>
          <a:p>
            <a:pPr>
              <a:buFontTx/>
              <a:buChar char="-"/>
            </a:pPr>
            <a:r>
              <a:rPr lang="en-US" dirty="0"/>
              <a:t>Already sorted </a:t>
            </a:r>
            <a:r>
              <a:rPr lang="en-US" dirty="0">
                <a:sym typeface="Wingdings" panose="05000000000000000000" pitchFamily="2" charset="2"/>
              </a:rPr>
              <a:t></a:t>
            </a:r>
            <a:r>
              <a:rPr lang="en-US" dirty="0"/>
              <a:t>Nothing happens </a:t>
            </a:r>
          </a:p>
        </p:txBody>
      </p:sp>
      <p:pic>
        <p:nvPicPr>
          <p:cNvPr id="6" name="Content Placeholder 4">
            <a:extLst>
              <a:ext uri="{FF2B5EF4-FFF2-40B4-BE49-F238E27FC236}">
                <a16:creationId xmlns:a16="http://schemas.microsoft.com/office/drawing/2014/main" id="{3A58DBF8-59D4-4A3D-CD6D-54C16CC7A7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6599" y="1825625"/>
            <a:ext cx="4212021" cy="38631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87973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1DC7EA-2D17-DA29-7BE7-A16B9FCCEC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47385F-E344-2CA5-16FD-C3C3301D0A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this program do ? Q3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8175DD1A-FC8B-A807-42A0-48613AC903E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38313" y="1690688"/>
            <a:ext cx="5064006" cy="4071609"/>
          </a:xfrm>
        </p:spPr>
      </p:pic>
    </p:spTree>
    <p:extLst>
      <p:ext uri="{BB962C8B-B14F-4D97-AF65-F5344CB8AC3E}">
        <p14:creationId xmlns:p14="http://schemas.microsoft.com/office/powerpoint/2010/main" val="1967275122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3586C3-3556-C4E4-2F98-34D72C0EF8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8613A8-03DC-CAC0-8256-B67ADE32A0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this program do ? A3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63127C6-BB4E-AE59-83D7-ECD64EB851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b="1" dirty="0"/>
              <a:t>13</a:t>
            </a:r>
          </a:p>
          <a:p>
            <a:r>
              <a:rPr lang="en-US" dirty="0"/>
              <a:t>Add j only when (</a:t>
            </a:r>
            <a:r>
              <a:rPr lang="en-US" dirty="0" err="1"/>
              <a:t>i+j</a:t>
            </a:r>
            <a:r>
              <a:rPr lang="en-US" dirty="0"/>
              <a:t>) is even</a:t>
            </a:r>
          </a:p>
          <a:p>
            <a:pPr lvl="1"/>
            <a:r>
              <a:rPr lang="en-US" dirty="0" err="1"/>
              <a:t>i</a:t>
            </a:r>
            <a:r>
              <a:rPr lang="en-US" dirty="0"/>
              <a:t> =1</a:t>
            </a:r>
          </a:p>
          <a:p>
            <a:pPr lvl="2"/>
            <a:r>
              <a:rPr lang="en-US" dirty="0"/>
              <a:t>j=1 → 2 (even) → +1 → sum=1</a:t>
            </a:r>
          </a:p>
          <a:p>
            <a:pPr lvl="1"/>
            <a:r>
              <a:rPr lang="en-US" dirty="0" err="1"/>
              <a:t>i</a:t>
            </a:r>
            <a:r>
              <a:rPr lang="en-US" dirty="0"/>
              <a:t>=2</a:t>
            </a:r>
          </a:p>
          <a:p>
            <a:pPr lvl="2"/>
            <a:r>
              <a:rPr lang="en-US" dirty="0"/>
              <a:t>j=1 → 3</a:t>
            </a:r>
          </a:p>
          <a:p>
            <a:pPr lvl="2"/>
            <a:r>
              <a:rPr lang="en-US" dirty="0"/>
              <a:t>j=2 → 4(even) → +2 → sum=3</a:t>
            </a:r>
          </a:p>
          <a:p>
            <a:pPr lvl="1"/>
            <a:r>
              <a:rPr lang="en-US" dirty="0" err="1"/>
              <a:t>i</a:t>
            </a:r>
            <a:r>
              <a:rPr lang="en-US" dirty="0"/>
              <a:t>=3</a:t>
            </a:r>
          </a:p>
          <a:p>
            <a:pPr lvl="2"/>
            <a:r>
              <a:rPr lang="en-US" dirty="0"/>
              <a:t>j=1 → 4 (even) → +1 → sum=4</a:t>
            </a:r>
          </a:p>
          <a:p>
            <a:pPr lvl="2"/>
            <a:r>
              <a:rPr lang="en-US" dirty="0"/>
              <a:t>j=2 → 5 (odd)</a:t>
            </a:r>
          </a:p>
          <a:p>
            <a:pPr lvl="2"/>
            <a:r>
              <a:rPr lang="en-US" dirty="0"/>
              <a:t>j=3 → 6 (even) → +3 → sum=7</a:t>
            </a:r>
          </a:p>
          <a:p>
            <a:pPr lvl="1"/>
            <a:r>
              <a:rPr lang="en-US" dirty="0" err="1"/>
              <a:t>i</a:t>
            </a:r>
            <a:r>
              <a:rPr lang="en-US" dirty="0"/>
              <a:t>=4</a:t>
            </a:r>
          </a:p>
          <a:p>
            <a:pPr lvl="2"/>
            <a:r>
              <a:rPr lang="en-US" dirty="0"/>
              <a:t>j=1 → 5 (odd)</a:t>
            </a:r>
          </a:p>
          <a:p>
            <a:pPr lvl="2"/>
            <a:r>
              <a:rPr lang="en-US" dirty="0"/>
              <a:t>j=2 → 6 (even) → +2 → sum=9</a:t>
            </a:r>
          </a:p>
          <a:p>
            <a:pPr lvl="2"/>
            <a:r>
              <a:rPr lang="en-US" dirty="0"/>
              <a:t>j=3 → 7 (odd)</a:t>
            </a:r>
          </a:p>
          <a:p>
            <a:pPr lvl="2"/>
            <a:r>
              <a:rPr lang="en-US" dirty="0"/>
              <a:t>j=4 → 8 (even) → +4 → sum=13</a:t>
            </a:r>
          </a:p>
          <a:p>
            <a:pPr lvl="2"/>
            <a:endParaRPr lang="en-US" dirty="0"/>
          </a:p>
        </p:txBody>
      </p:sp>
      <p:pic>
        <p:nvPicPr>
          <p:cNvPr id="8" name="Content Placeholder 6">
            <a:extLst>
              <a:ext uri="{FF2B5EF4-FFF2-40B4-BE49-F238E27FC236}">
                <a16:creationId xmlns:a16="http://schemas.microsoft.com/office/drawing/2014/main" id="{3AD373F5-91BE-5532-CE2F-4C5A2A4542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6661" y="1990233"/>
            <a:ext cx="4855249" cy="39037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3839088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064A83-F873-72A7-C405-8ABD45D0BD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this program do ? Q4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B868C33-D8B7-9D19-DBFD-BAAA6B1E4A4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12788" y="1799728"/>
            <a:ext cx="4100645" cy="4563898"/>
          </a:xfrm>
        </p:spPr>
      </p:pic>
    </p:spTree>
    <p:extLst>
      <p:ext uri="{BB962C8B-B14F-4D97-AF65-F5344CB8AC3E}">
        <p14:creationId xmlns:p14="http://schemas.microsoft.com/office/powerpoint/2010/main" val="3622320170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E81A11-13A6-13EA-2BBF-E3F325435E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C073A9-D3A1-EA46-9965-88D807526F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this program do ? A4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AF4CA66-2E1D-A65D-96B1-7D63B9B634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6</a:t>
            </a:r>
          </a:p>
          <a:p>
            <a:r>
              <a:rPr lang="en-US" dirty="0"/>
              <a:t>Count how many times A[</a:t>
            </a:r>
            <a:r>
              <a:rPr lang="en-US" dirty="0" err="1"/>
              <a:t>i</a:t>
            </a:r>
            <a:r>
              <a:rPr lang="en-US" dirty="0"/>
              <a:t>] &lt; A[j]</a:t>
            </a:r>
          </a:p>
          <a:p>
            <a:pPr lvl="1"/>
            <a:r>
              <a:rPr lang="it-IT" dirty="0"/>
              <a:t>1 &lt; 3,5,7 → 3</a:t>
            </a:r>
          </a:p>
          <a:p>
            <a:pPr lvl="1"/>
            <a:r>
              <a:rPr lang="it-IT" dirty="0"/>
              <a:t>3 &lt; 5,7 → 2</a:t>
            </a:r>
          </a:p>
          <a:p>
            <a:pPr lvl="1"/>
            <a:r>
              <a:rPr lang="it-IT" dirty="0"/>
              <a:t>5 &lt; 7 → 1</a:t>
            </a:r>
          </a:p>
          <a:p>
            <a:pPr lvl="1"/>
            <a:r>
              <a:rPr lang="it-IT" dirty="0"/>
              <a:t>7 &lt; none → 0</a:t>
            </a:r>
            <a:endParaRPr lang="en-US" dirty="0"/>
          </a:p>
          <a:p>
            <a:r>
              <a:rPr lang="en-US" dirty="0"/>
              <a:t>Total = 3 + 2 + 1 = 6</a:t>
            </a:r>
            <a:endParaRPr lang="it-IT" dirty="0"/>
          </a:p>
        </p:txBody>
      </p:sp>
      <p:pic>
        <p:nvPicPr>
          <p:cNvPr id="6" name="Content Placeholder 4">
            <a:extLst>
              <a:ext uri="{FF2B5EF4-FFF2-40B4-BE49-F238E27FC236}">
                <a16:creationId xmlns:a16="http://schemas.microsoft.com/office/drawing/2014/main" id="{665AAB9F-0F4E-0B93-A910-68451237E3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94937" y="1690687"/>
            <a:ext cx="3909659" cy="4351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2395078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D58E75-5553-324F-5B48-028B76BBD0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D274CD-93BF-0487-A229-2394EC9B26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this program do ? Q5</a:t>
            </a:r>
          </a:p>
        </p:txBody>
      </p:sp>
      <p:pic>
        <p:nvPicPr>
          <p:cNvPr id="10" name="Content Placeholder 4">
            <a:extLst>
              <a:ext uri="{FF2B5EF4-FFF2-40B4-BE49-F238E27FC236}">
                <a16:creationId xmlns:a16="http://schemas.microsoft.com/office/drawing/2014/main" id="{43C46BAF-D801-5E6F-3276-708F9CF1C94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531615" y="1616107"/>
            <a:ext cx="2220578" cy="47466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1855417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A29693-7FD9-47E4-BA86-B97EB9408F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8C0844-6D66-B048-A14A-CE67FE9B5B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this program do ? Q5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0DFC1A9-4F46-A34B-EC6F-15BA81F9E6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5 2 1</a:t>
            </a:r>
          </a:p>
          <a:p>
            <a:pPr lvl="1"/>
            <a:r>
              <a:rPr lang="en-US" dirty="0"/>
              <a:t>Push 1,2,3,4</a:t>
            </a:r>
          </a:p>
          <a:p>
            <a:pPr lvl="1"/>
            <a:r>
              <a:rPr lang="en-US" dirty="0"/>
              <a:t>Pop twice </a:t>
            </a:r>
          </a:p>
          <a:p>
            <a:pPr lvl="2"/>
            <a:r>
              <a:rPr lang="en-US" dirty="0"/>
              <a:t>4 </a:t>
            </a:r>
            <a:r>
              <a:rPr lang="en-US" dirty="0">
                <a:sym typeface="Wingdings" panose="05000000000000000000" pitchFamily="2" charset="2"/>
              </a:rPr>
              <a:t></a:t>
            </a:r>
            <a:r>
              <a:rPr lang="en-US" dirty="0"/>
              <a:t> 1,2,3</a:t>
            </a:r>
          </a:p>
          <a:p>
            <a:pPr lvl="2"/>
            <a:r>
              <a:rPr lang="en-US" dirty="0"/>
              <a:t>3 </a:t>
            </a:r>
            <a:r>
              <a:rPr lang="en-US" dirty="0">
                <a:sym typeface="Wingdings" panose="05000000000000000000" pitchFamily="2" charset="2"/>
              </a:rPr>
              <a:t> 1,2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Push 5</a:t>
            </a:r>
          </a:p>
          <a:p>
            <a:pPr lvl="2"/>
            <a:r>
              <a:rPr lang="en-US" dirty="0">
                <a:sym typeface="Wingdings" panose="05000000000000000000" pitchFamily="2" charset="2"/>
              </a:rPr>
              <a:t>1,2,5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Pop all </a:t>
            </a:r>
          </a:p>
          <a:p>
            <a:pPr lvl="2"/>
            <a:r>
              <a:rPr lang="en-US" dirty="0">
                <a:sym typeface="Wingdings" panose="05000000000000000000" pitchFamily="2" charset="2"/>
              </a:rPr>
              <a:t>5,2,1</a:t>
            </a:r>
            <a:endParaRPr lang="en-US" dirty="0"/>
          </a:p>
        </p:txBody>
      </p:sp>
      <p:pic>
        <p:nvPicPr>
          <p:cNvPr id="6" name="Content Placeholder 4">
            <a:extLst>
              <a:ext uri="{FF2B5EF4-FFF2-40B4-BE49-F238E27FC236}">
                <a16:creationId xmlns:a16="http://schemas.microsoft.com/office/drawing/2014/main" id="{04979409-7BA8-5D3F-228C-B55060B2B2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2767" y="1690688"/>
            <a:ext cx="2039275" cy="43591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1203417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95AF1E-B94B-B679-DF50-9B417918A5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280D29-E26E-CC89-ED61-E18E39F86F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this program do ? Q6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E720711A-4624-D6E5-76BF-5063A92FAF8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25588" y="1690688"/>
            <a:ext cx="5122423" cy="4260795"/>
          </a:xfrm>
        </p:spPr>
      </p:pic>
    </p:spTree>
    <p:extLst>
      <p:ext uri="{BB962C8B-B14F-4D97-AF65-F5344CB8AC3E}">
        <p14:creationId xmlns:p14="http://schemas.microsoft.com/office/powerpoint/2010/main" val="386232854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1978AA-FE52-CD93-522C-CD1CAD6EA1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2D0B23-C7DE-7BD3-3432-914ED568A9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this program do ? </a:t>
            </a:r>
            <a:r>
              <a:rPr lang="en-US"/>
              <a:t>A6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311FF15-17C3-E624-760A-CCA518D193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1 2 3 4</a:t>
            </a:r>
          </a:p>
          <a:p>
            <a:pPr lvl="1"/>
            <a:r>
              <a:rPr lang="en-US" dirty="0"/>
              <a:t>Bubble sort</a:t>
            </a:r>
          </a:p>
          <a:p>
            <a:pPr lvl="2"/>
            <a:r>
              <a:rPr lang="en-US" dirty="0"/>
              <a:t>Pass 1 </a:t>
            </a:r>
            <a:r>
              <a:rPr lang="en-US" dirty="0">
                <a:sym typeface="Wingdings" panose="05000000000000000000" pitchFamily="2" charset="2"/>
              </a:rPr>
              <a:t> 1,3,2,4</a:t>
            </a:r>
          </a:p>
          <a:p>
            <a:pPr lvl="2"/>
            <a:r>
              <a:rPr lang="en-US" dirty="0">
                <a:sym typeface="Wingdings" panose="05000000000000000000" pitchFamily="2" charset="2"/>
              </a:rPr>
              <a:t>Pass 2  1,2,3,4</a:t>
            </a:r>
          </a:p>
          <a:p>
            <a:pPr lvl="2"/>
            <a:r>
              <a:rPr lang="en-US" dirty="0">
                <a:sym typeface="Wingdings" panose="05000000000000000000" pitchFamily="2" charset="2"/>
              </a:rPr>
              <a:t>Pass 3  (No Change)</a:t>
            </a:r>
          </a:p>
          <a:p>
            <a:pPr lvl="2"/>
            <a:r>
              <a:rPr lang="en-US" dirty="0">
                <a:sym typeface="Wingdings" panose="05000000000000000000" pitchFamily="2" charset="2"/>
              </a:rPr>
              <a:t>Pass 4  (No Change)</a:t>
            </a:r>
            <a:endParaRPr lang="en-US" dirty="0"/>
          </a:p>
        </p:txBody>
      </p:sp>
      <p:pic>
        <p:nvPicPr>
          <p:cNvPr id="6" name="Content Placeholder 4">
            <a:extLst>
              <a:ext uri="{FF2B5EF4-FFF2-40B4-BE49-F238E27FC236}">
                <a16:creationId xmlns:a16="http://schemas.microsoft.com/office/drawing/2014/main" id="{481A62B2-389D-56BD-B428-9D0DBD6C13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83469" y="1943866"/>
            <a:ext cx="4660660" cy="38767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0834063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2E7288-A3E9-2E4B-1CFA-A9FE653B6D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structure : Trees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686A02-254A-2D1D-68EE-6C2694ACFE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Not the green/woody kind </a:t>
            </a:r>
          </a:p>
          <a:p>
            <a:pPr lvl="1"/>
            <a:r>
              <a:rPr lang="en-US" dirty="0"/>
              <a:t>But they actually look like upside down trees </a:t>
            </a:r>
          </a:p>
          <a:p>
            <a:r>
              <a:rPr lang="en-US" dirty="0"/>
              <a:t>Trees are data structures that represents data in parent/child relationships</a:t>
            </a:r>
          </a:p>
          <a:p>
            <a:pPr lvl="1"/>
            <a:r>
              <a:rPr lang="en-US" dirty="0"/>
              <a:t>Start with a </a:t>
            </a:r>
            <a:r>
              <a:rPr lang="en-US" b="1" dirty="0"/>
              <a:t>root</a:t>
            </a:r>
            <a:r>
              <a:rPr lang="en-US" dirty="0"/>
              <a:t> node </a:t>
            </a:r>
          </a:p>
          <a:p>
            <a:pPr lvl="1"/>
            <a:r>
              <a:rPr lang="en-US" dirty="0"/>
              <a:t>(May) point to other nodes </a:t>
            </a:r>
          </a:p>
          <a:p>
            <a:pPr lvl="2"/>
            <a:r>
              <a:rPr lang="en-US" dirty="0"/>
              <a:t>This is </a:t>
            </a:r>
            <a:r>
              <a:rPr lang="en-US" b="1" dirty="0"/>
              <a:t>parent</a:t>
            </a:r>
            <a:r>
              <a:rPr lang="en-US" dirty="0"/>
              <a:t> pointing to </a:t>
            </a:r>
            <a:r>
              <a:rPr lang="en-US" b="1" dirty="0"/>
              <a:t>child</a:t>
            </a:r>
            <a:r>
              <a:rPr lang="en-US" dirty="0"/>
              <a:t> ( generally) or vice versa</a:t>
            </a:r>
          </a:p>
          <a:p>
            <a:pPr lvl="1"/>
            <a:r>
              <a:rPr lang="en-US" dirty="0"/>
              <a:t>The nodes with no children are </a:t>
            </a:r>
            <a:r>
              <a:rPr lang="en-US" b="1" dirty="0"/>
              <a:t>leaf</a:t>
            </a:r>
            <a:r>
              <a:rPr lang="en-US" dirty="0"/>
              <a:t> nodes</a:t>
            </a:r>
          </a:p>
        </p:txBody>
      </p:sp>
    </p:spTree>
    <p:extLst>
      <p:ext uri="{BB962C8B-B14F-4D97-AF65-F5344CB8AC3E}">
        <p14:creationId xmlns:p14="http://schemas.microsoft.com/office/powerpoint/2010/main" val="3286981973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D1CE6-1DED-8A20-394D-424C73A11C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Tree: Visuals 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B0807D5B-BD36-72DB-EF4C-02875547AB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429D248-619E-F8D5-1EB5-7C1366A17B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5887" y="2540719"/>
            <a:ext cx="8820603" cy="29211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3103471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48C887-3C8C-169D-F409-469D624AD7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Trees :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EB5F16-DAD5-744D-2F75-11549F6BE9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Based on child count</a:t>
            </a:r>
          </a:p>
          <a:p>
            <a:pPr lvl="1"/>
            <a:r>
              <a:rPr lang="en-US" dirty="0"/>
              <a:t>Binary trees (most popular)</a:t>
            </a:r>
          </a:p>
          <a:p>
            <a:pPr lvl="2"/>
            <a:r>
              <a:rPr lang="en-US" dirty="0"/>
              <a:t>Each node max 2 children (</a:t>
            </a:r>
            <a:r>
              <a:rPr lang="en-US" dirty="0" err="1"/>
              <a:t>i.e</a:t>
            </a:r>
            <a:r>
              <a:rPr lang="en-US" dirty="0"/>
              <a:t> 0,1 or 2 )</a:t>
            </a:r>
          </a:p>
          <a:p>
            <a:pPr lvl="1"/>
            <a:r>
              <a:rPr lang="en-US" dirty="0"/>
              <a:t>Ternary trees</a:t>
            </a:r>
          </a:p>
          <a:p>
            <a:pPr lvl="2"/>
            <a:r>
              <a:rPr lang="en-US" dirty="0"/>
              <a:t>Max 3 children</a:t>
            </a:r>
          </a:p>
          <a:p>
            <a:pPr lvl="1"/>
            <a:r>
              <a:rPr lang="en-US" dirty="0"/>
              <a:t>N-</a:t>
            </a:r>
            <a:r>
              <a:rPr lang="en-US" dirty="0" err="1"/>
              <a:t>ary</a:t>
            </a:r>
            <a:r>
              <a:rPr lang="en-US" dirty="0"/>
              <a:t> </a:t>
            </a:r>
          </a:p>
          <a:p>
            <a:pPr lvl="2"/>
            <a:r>
              <a:rPr lang="en-US" dirty="0"/>
              <a:t>Max N children</a:t>
            </a:r>
          </a:p>
          <a:p>
            <a:pPr marL="0" indent="0">
              <a:buNone/>
            </a:pPr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66626073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C42CB8-C999-0471-92B1-89909ABF72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Trees: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2502A5-1746-0B16-F272-087655FC8B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Based on data organization</a:t>
            </a:r>
          </a:p>
          <a:p>
            <a:pPr lvl="1"/>
            <a:r>
              <a:rPr lang="en-US" dirty="0"/>
              <a:t>Binary Tree</a:t>
            </a:r>
          </a:p>
          <a:p>
            <a:pPr lvl="2"/>
            <a:r>
              <a:rPr lang="en-US" dirty="0"/>
              <a:t>No organization requirement</a:t>
            </a:r>
          </a:p>
          <a:p>
            <a:pPr lvl="1"/>
            <a:r>
              <a:rPr lang="en-US" dirty="0"/>
              <a:t>Binary Search trees , </a:t>
            </a:r>
          </a:p>
          <a:p>
            <a:pPr lvl="2"/>
            <a:r>
              <a:rPr lang="en-US" dirty="0"/>
              <a:t>Left child is smaller ( or equal to) the root</a:t>
            </a:r>
          </a:p>
          <a:p>
            <a:pPr lvl="2"/>
            <a:r>
              <a:rPr lang="en-US" dirty="0"/>
              <a:t>Right child is bigger than the root</a:t>
            </a:r>
          </a:p>
          <a:p>
            <a:pPr lvl="1"/>
            <a:r>
              <a:rPr lang="en-US" b="1" dirty="0"/>
              <a:t>AVL tree </a:t>
            </a:r>
            <a:r>
              <a:rPr lang="en-US" dirty="0"/>
              <a:t>(Adelson-</a:t>
            </a:r>
            <a:r>
              <a:rPr lang="en-US" dirty="0" err="1"/>
              <a:t>Velsky</a:t>
            </a:r>
            <a:r>
              <a:rPr lang="en-US" dirty="0"/>
              <a:t> and Landis)</a:t>
            </a:r>
          </a:p>
          <a:p>
            <a:pPr lvl="2"/>
            <a:r>
              <a:rPr lang="en-US" dirty="0"/>
              <a:t>Binary search tree with limits on height </a:t>
            </a:r>
          </a:p>
          <a:p>
            <a:pPr lvl="2"/>
            <a:r>
              <a:rPr lang="en-US" dirty="0"/>
              <a:t>No one leaf can be more than a 1 distance </a:t>
            </a:r>
            <a:r>
              <a:rPr lang="en-US" dirty="0" err="1"/>
              <a:t>logner</a:t>
            </a:r>
            <a:r>
              <a:rPr lang="en-US" dirty="0"/>
              <a:t> than any other leaf node</a:t>
            </a:r>
          </a:p>
          <a:p>
            <a:pPr lvl="1"/>
            <a:r>
              <a:rPr lang="en-US" dirty="0"/>
              <a:t>Red black tree</a:t>
            </a:r>
          </a:p>
          <a:p>
            <a:pPr lvl="2"/>
            <a:r>
              <a:rPr lang="en-US" dirty="0"/>
              <a:t>A representation of AVL tree that color codes the nodes ( red/black) to organize info.</a:t>
            </a:r>
          </a:p>
          <a:p>
            <a:pPr lvl="1"/>
            <a:r>
              <a:rPr lang="en-US" dirty="0"/>
              <a:t>…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1062767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2DF003-F9A9-1475-DB83-84CB2D6016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Binary Tree : Key terms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6C6801-7726-EB38-A181-96B8F89CCB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Root : there is only 1 root( 0 for empty tree)</a:t>
            </a:r>
          </a:p>
          <a:p>
            <a:r>
              <a:rPr lang="en-US" dirty="0"/>
              <a:t>Parent </a:t>
            </a:r>
          </a:p>
          <a:p>
            <a:pPr lvl="1"/>
            <a:r>
              <a:rPr lang="en-US" dirty="0"/>
              <a:t>All other nodes have one parent (except the root node)</a:t>
            </a:r>
          </a:p>
          <a:p>
            <a:r>
              <a:rPr lang="en-US" dirty="0"/>
              <a:t>Children </a:t>
            </a:r>
          </a:p>
          <a:p>
            <a:pPr lvl="1"/>
            <a:r>
              <a:rPr lang="en-US" dirty="0"/>
              <a:t>In Binary Tree : there can be at most 2 children</a:t>
            </a:r>
          </a:p>
          <a:p>
            <a:pPr lvl="1"/>
            <a:r>
              <a:rPr lang="en-US" dirty="0"/>
              <a:t>The 2 children are also referred as siblings</a:t>
            </a:r>
          </a:p>
          <a:p>
            <a:r>
              <a:rPr lang="en-US" dirty="0"/>
              <a:t>Leaf nodes : nodes with no children are leaf nodes</a:t>
            </a:r>
          </a:p>
          <a:p>
            <a:r>
              <a:rPr lang="en-US" dirty="0"/>
              <a:t>Height : the distance from the root to furthest leaf node is height of the tree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0613917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696E64-3C52-4650-4748-F1D6527BB6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Binary Search tree : Examples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FF3575-C8F7-080A-D3E0-6D7604D245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Left child must be smaller than or equal to the  parent</a:t>
            </a:r>
          </a:p>
          <a:p>
            <a:r>
              <a:rPr lang="en-US" dirty="0"/>
              <a:t>Right child must be larger than the parent</a:t>
            </a:r>
          </a:p>
          <a:p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BC87756-9D75-31B8-6253-ECE1FBD69E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0617" y="2768028"/>
            <a:ext cx="5164154" cy="3040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2210751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1B119-127E-62DE-A543-B9405E529D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Creation of a BST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AF40EE-91EE-F334-EACC-374919DC78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52, 18, 74, 5, 33, 61, 89, 25, 42, 67</a:t>
            </a:r>
          </a:p>
          <a:p>
            <a:pPr marL="0" indent="0">
              <a:buNone/>
            </a:pPr>
            <a:r>
              <a:rPr lang="en-US" dirty="0"/>
              <a:t>  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B579547-A6B0-EB11-4B61-2AEB9D57A95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08015" y="2348917"/>
            <a:ext cx="6417578" cy="35899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4556675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79B443-40AD-BC01-446B-D41711F9C1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Binary Search Tree : exercise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AEE65A-AAAA-2D72-CFD9-35F9EE48EF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Create a tree for </a:t>
            </a:r>
          </a:p>
          <a:p>
            <a:pPr lvl="1"/>
            <a:r>
              <a:rPr lang="en-US" dirty="0"/>
              <a:t>S U P E R N A T U R A L </a:t>
            </a:r>
          </a:p>
          <a:p>
            <a:pPr lvl="1"/>
            <a:r>
              <a:rPr lang="en-US" dirty="0"/>
              <a:t>16  93  81  37  98  84 </a:t>
            </a:r>
          </a:p>
          <a:p>
            <a:pPr lvl="1"/>
            <a:r>
              <a:rPr lang="en-US" dirty="0"/>
              <a:t>0  9  2  6  2  3  5  1  4  2  9  7  6  8   9   2   7</a:t>
            </a:r>
          </a:p>
          <a:p>
            <a:pPr lvl="1"/>
            <a:r>
              <a:rPr lang="en-US" dirty="0"/>
              <a:t>C O N I O S I S</a:t>
            </a:r>
          </a:p>
          <a:p>
            <a:pPr lvl="1"/>
            <a:r>
              <a:rPr lang="en-US" dirty="0"/>
              <a:t>A L P H A B E T I C A L</a:t>
            </a:r>
          </a:p>
          <a:p>
            <a:pPr lvl="1"/>
            <a:r>
              <a:rPr lang="en-US" dirty="0"/>
              <a:t>M A T H E M A T I C S</a:t>
            </a:r>
          </a:p>
        </p:txBody>
      </p:sp>
    </p:spTree>
    <p:extLst>
      <p:ext uri="{BB962C8B-B14F-4D97-AF65-F5344CB8AC3E}">
        <p14:creationId xmlns:p14="http://schemas.microsoft.com/office/powerpoint/2010/main" val="2784839578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2FBD44-EBD1-07DC-DF8E-F30552C654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Structure : Graphs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79665F-B850-FB04-2549-9B4B1250FF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Graphs are data structure that can represent complex relationships between items. They are made of </a:t>
            </a:r>
          </a:p>
          <a:p>
            <a:pPr lvl="1"/>
            <a:r>
              <a:rPr lang="en-US" dirty="0"/>
              <a:t>Vertices( also called nodes)</a:t>
            </a:r>
          </a:p>
          <a:p>
            <a:pPr lvl="1"/>
            <a:r>
              <a:rPr lang="en-US" dirty="0"/>
              <a:t>Edges</a:t>
            </a:r>
          </a:p>
          <a:p>
            <a:pPr marL="0" indent="0">
              <a:buNone/>
            </a:pPr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F8DAD95-1C7C-BBBF-5940-31D7F058100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45790" y="2842243"/>
            <a:ext cx="4107401" cy="31672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2381865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D799F5-A503-C753-D924-BDEF6972DA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Graphs : uses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4BA19D-0D87-CD7F-2436-A90504790B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Major part of day to day life </a:t>
            </a:r>
          </a:p>
          <a:p>
            <a:pPr lvl="1"/>
            <a:r>
              <a:rPr lang="en-US" dirty="0"/>
              <a:t>Maps</a:t>
            </a:r>
          </a:p>
          <a:p>
            <a:pPr lvl="2"/>
            <a:r>
              <a:rPr lang="en-US" dirty="0"/>
              <a:t>Shortest/fastest routes</a:t>
            </a:r>
          </a:p>
          <a:p>
            <a:pPr lvl="1"/>
            <a:r>
              <a:rPr lang="en-US" dirty="0"/>
              <a:t>Internet/Computer networks</a:t>
            </a:r>
          </a:p>
          <a:p>
            <a:pPr lvl="2"/>
            <a:r>
              <a:rPr lang="en-US" dirty="0"/>
              <a:t>Communication over internet</a:t>
            </a:r>
          </a:p>
          <a:p>
            <a:pPr lvl="1"/>
            <a:r>
              <a:rPr lang="en-US" dirty="0"/>
              <a:t>Commerce</a:t>
            </a:r>
          </a:p>
          <a:p>
            <a:pPr lvl="2"/>
            <a:r>
              <a:rPr lang="en-US" dirty="0"/>
              <a:t>Stocks</a:t>
            </a:r>
          </a:p>
          <a:p>
            <a:pPr lvl="2"/>
            <a:r>
              <a:rPr lang="en-US" dirty="0"/>
              <a:t>goods</a:t>
            </a:r>
          </a:p>
          <a:p>
            <a:pPr lvl="1"/>
            <a:r>
              <a:rPr lang="en-US" dirty="0"/>
              <a:t>Social Networks </a:t>
            </a:r>
          </a:p>
          <a:p>
            <a:pPr lvl="2"/>
            <a:r>
              <a:rPr lang="en-US" dirty="0"/>
              <a:t>Friends</a:t>
            </a:r>
          </a:p>
          <a:p>
            <a:pPr lvl="2"/>
            <a:r>
              <a:rPr lang="en-US" dirty="0"/>
              <a:t>Ads</a:t>
            </a:r>
          </a:p>
          <a:p>
            <a:pPr lvl="1"/>
            <a:r>
              <a:rPr lang="en-US" dirty="0"/>
              <a:t>Circuits</a:t>
            </a:r>
          </a:p>
          <a:p>
            <a:pPr lvl="2"/>
            <a:r>
              <a:rPr lang="en-US" dirty="0"/>
              <a:t>Computer</a:t>
            </a:r>
          </a:p>
          <a:p>
            <a:pPr lvl="1"/>
            <a:r>
              <a:rPr lang="en-US" dirty="0"/>
              <a:t>Schedules</a:t>
            </a:r>
          </a:p>
          <a:p>
            <a:pPr lvl="2"/>
            <a:r>
              <a:rPr lang="en-US" dirty="0"/>
              <a:t>dependency</a:t>
            </a:r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06691351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8594CF-E56D-9A6C-E3FF-4352F59F7E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Graphs : by Edge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D29D19-9EC9-463D-5938-7DFED8B7F4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Directed </a:t>
            </a:r>
            <a:r>
              <a:rPr lang="en-US" dirty="0"/>
              <a:t>: think one way</a:t>
            </a:r>
          </a:p>
          <a:p>
            <a:pPr lvl="1"/>
            <a:r>
              <a:rPr lang="en-US" dirty="0"/>
              <a:t>The edges have a </a:t>
            </a:r>
            <a:r>
              <a:rPr lang="en-US" b="1" dirty="0"/>
              <a:t>source</a:t>
            </a:r>
            <a:r>
              <a:rPr lang="en-US" dirty="0"/>
              <a:t> where they begin from </a:t>
            </a:r>
          </a:p>
          <a:p>
            <a:pPr lvl="1"/>
            <a:r>
              <a:rPr lang="en-US" dirty="0"/>
              <a:t>And a </a:t>
            </a:r>
            <a:r>
              <a:rPr lang="en-US" b="1" dirty="0"/>
              <a:t>destination</a:t>
            </a:r>
            <a:r>
              <a:rPr lang="en-US" dirty="0"/>
              <a:t> where they end.</a:t>
            </a:r>
          </a:p>
          <a:p>
            <a:pPr lvl="1"/>
            <a:r>
              <a:rPr lang="en-US" b="1" i="1" dirty="0"/>
              <a:t>Think of this as one way connection</a:t>
            </a:r>
          </a:p>
          <a:p>
            <a:r>
              <a:rPr lang="en-US" i="1" dirty="0"/>
              <a:t>Undirected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EE376AB-227B-DBD3-7622-5859089D783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56453" y="3773614"/>
            <a:ext cx="4578989" cy="18732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0364458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EFF23-6F34-7ED0-BAD1-7D662ED24F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88A1DF-487F-705B-EEB9-D66C72F2A6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Graphs : by Edge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D8D58B-0329-19D7-2F29-84ACB5C9D3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Directed</a:t>
            </a:r>
          </a:p>
          <a:p>
            <a:r>
              <a:rPr lang="en-US" b="1" dirty="0"/>
              <a:t>Undirected</a:t>
            </a:r>
          </a:p>
          <a:p>
            <a:pPr lvl="1"/>
            <a:r>
              <a:rPr lang="en-US" dirty="0"/>
              <a:t>The edges do not have direction</a:t>
            </a:r>
          </a:p>
          <a:p>
            <a:pPr lvl="1"/>
            <a:r>
              <a:rPr lang="en-US" dirty="0"/>
              <a:t>The edge connects vertices in both direction</a:t>
            </a:r>
          </a:p>
          <a:p>
            <a:pPr lvl="1"/>
            <a:r>
              <a:rPr lang="en-US" b="1" i="1" dirty="0"/>
              <a:t>Think of this as two way connection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9555328-ED29-B541-3570-7CDE3FDBC8F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80284" y="4001294"/>
            <a:ext cx="4578989" cy="18732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15551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3377F6-CB3C-29C3-E593-4C149CA50A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Graph representation(s)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DAFD61-5580-96EB-7E35-D315B16E54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9820"/>
            <a:ext cx="10515600" cy="4351338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Assuming </a:t>
            </a:r>
            <a:r>
              <a:rPr lang="en-US" b="1" dirty="0"/>
              <a:t>graph with ‘V’ vertices and ‘E’ edges</a:t>
            </a:r>
          </a:p>
          <a:p>
            <a:r>
              <a:rPr lang="en-US" dirty="0"/>
              <a:t>Adjacency matrix </a:t>
            </a:r>
            <a:r>
              <a:rPr lang="en-US" i="1" dirty="0"/>
              <a:t>(double dimension array)</a:t>
            </a:r>
          </a:p>
          <a:p>
            <a:pPr lvl="1"/>
            <a:r>
              <a:rPr lang="en-US" dirty="0" err="1"/>
              <a:t>VxV</a:t>
            </a:r>
            <a:r>
              <a:rPr lang="en-US" dirty="0"/>
              <a:t> array, entry in row ‘</a:t>
            </a:r>
            <a:r>
              <a:rPr lang="en-US" dirty="0" err="1"/>
              <a:t>i</a:t>
            </a:r>
            <a:r>
              <a:rPr lang="en-US" dirty="0"/>
              <a:t>’ column ‘j’ denotes connectivity between node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>
                <a:sym typeface="Wingdings" panose="05000000000000000000" pitchFamily="2" charset="2"/>
              </a:rPr>
              <a:t>: j</a:t>
            </a:r>
          </a:p>
          <a:p>
            <a:pPr lvl="1"/>
            <a:r>
              <a:rPr lang="en-US" i="1" dirty="0">
                <a:sym typeface="Wingdings" panose="05000000000000000000" pitchFamily="2" charset="2"/>
              </a:rPr>
              <a:t>Very useful and efficient representation</a:t>
            </a:r>
            <a:endParaRPr lang="en-US" i="1" dirty="0"/>
          </a:p>
          <a:p>
            <a:r>
              <a:rPr lang="en-US" dirty="0"/>
              <a:t>array of edges</a:t>
            </a:r>
          </a:p>
          <a:p>
            <a:pPr lvl="1"/>
            <a:r>
              <a:rPr lang="en-US" dirty="0"/>
              <a:t>Array of size ‘E’ containing source and destination of edges</a:t>
            </a:r>
          </a:p>
          <a:p>
            <a:pPr lvl="1"/>
            <a:r>
              <a:rPr lang="en-US" i="1" dirty="0"/>
              <a:t>Simple but slower representation</a:t>
            </a:r>
          </a:p>
          <a:p>
            <a:r>
              <a:rPr lang="en-US" dirty="0"/>
              <a:t>Array of adjacency lists </a:t>
            </a:r>
          </a:p>
          <a:p>
            <a:pPr lvl="1"/>
            <a:r>
              <a:rPr lang="en-US" dirty="0"/>
              <a:t>Vertex indexed array of edges. </a:t>
            </a:r>
          </a:p>
          <a:p>
            <a:pPr lvl="1"/>
            <a:r>
              <a:rPr lang="en-US" i="1" dirty="0"/>
              <a:t>Flexible and quite efficient </a:t>
            </a:r>
            <a:r>
              <a:rPr lang="en-US" dirty="0"/>
              <a:t>(the goat)</a:t>
            </a:r>
          </a:p>
          <a:p>
            <a:r>
              <a:rPr lang="en-US" dirty="0"/>
              <a:t>…(and there are more representations)</a:t>
            </a:r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0748017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BE521D-C6E0-32CE-A5F4-A5A5C1BA7C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 class exercises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F1CB59-8274-EDDE-2358-516BE319A8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828088541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B11076-F3E4-1031-12A9-F4565731A0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Logic gates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30DD9E-4067-269B-1E64-829DFCC45A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</a:t>
            </a:r>
            <a:r>
              <a:rPr lang="en-US" dirty="0" err="1"/>
              <a:t>Cictuits</a:t>
            </a:r>
            <a:r>
              <a:rPr lang="en-US" dirty="0"/>
              <a:t> in electronics ( Pcs, gaming consoles, phones) are made of basic logic units, called </a:t>
            </a:r>
            <a:r>
              <a:rPr lang="en-US" b="1" dirty="0"/>
              <a:t>logic gates</a:t>
            </a:r>
          </a:p>
          <a:p>
            <a:pPr lvl="1"/>
            <a:r>
              <a:rPr lang="en-US" dirty="0"/>
              <a:t>Basic :</a:t>
            </a:r>
            <a:r>
              <a:rPr lang="en-US" b="1" dirty="0"/>
              <a:t> AND, OR, NOT , XOR</a:t>
            </a:r>
          </a:p>
          <a:p>
            <a:pPr lvl="1"/>
            <a:r>
              <a:rPr lang="en-US" dirty="0"/>
              <a:t>Negated : </a:t>
            </a:r>
            <a:r>
              <a:rPr lang="en-US" b="1" dirty="0"/>
              <a:t>NAND, NOR , XNOR</a:t>
            </a:r>
          </a:p>
          <a:p>
            <a:pPr lvl="2"/>
            <a:r>
              <a:rPr lang="en-US" dirty="0"/>
              <a:t>Similar to AND , OR, XOR respectively but with extra NOT at the end</a:t>
            </a:r>
          </a:p>
          <a:p>
            <a:pPr lvl="1"/>
            <a:r>
              <a:rPr lang="en-US" i="1" dirty="0"/>
              <a:t>There are more custom gates but these are basic ones</a:t>
            </a:r>
          </a:p>
          <a:p>
            <a:r>
              <a:rPr lang="en-US" dirty="0"/>
              <a:t>These are visual representation of the Boolean algebra</a:t>
            </a:r>
          </a:p>
          <a:p>
            <a:r>
              <a:rPr lang="en-US" dirty="0"/>
              <a:t>All the complex calculations you can think of are fundamentally run by these gates</a:t>
            </a:r>
          </a:p>
          <a:p>
            <a:pPr marL="0" indent="0">
              <a:buNone/>
            </a:pPr>
            <a:endParaRPr lang="en-US" dirty="0"/>
          </a:p>
          <a:p>
            <a:pPr marL="457200" lvl="1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76933006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9E9EFF-479C-4084-0898-6CD2DF5A30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Logic gates 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E54731AC-5492-99CF-3E60-19F9DA06294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88001" y="1728206"/>
            <a:ext cx="3257143" cy="3866667"/>
          </a:xfr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65C96D6-89CC-83D8-DB78-AE34A991351F}"/>
                  </a:ext>
                </a:extLst>
              </p:cNvPr>
              <p:cNvSpPr txBox="1"/>
              <p:nvPr/>
            </p:nvSpPr>
            <p:spPr>
              <a:xfrm>
                <a:off x="2386667" y="2269222"/>
                <a:ext cx="650147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  <a:sym typeface="Wingdings" panose="05000000000000000000" pitchFamily="2" charset="2"/>
                        </a:rPr>
                        <m:t>𝐴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sym typeface="Wingdings" panose="05000000000000000000" pitchFamily="2" charset="2"/>
                        </a:rPr>
                        <m:t> .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sym typeface="Wingdings" panose="05000000000000000000" pitchFamily="2" charset="2"/>
                        </a:rPr>
                        <m:t>𝐵</m:t>
                      </m:r>
                    </m:oMath>
                  </m:oMathPara>
                </a14:m>
                <a:endParaRPr lang="en-US" dirty="0">
                  <a:sym typeface="Wingdings" panose="05000000000000000000" pitchFamily="2" charset="2"/>
                </a:endParaRP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65C96D6-89CC-83D8-DB78-AE34A99135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86667" y="2269222"/>
                <a:ext cx="650147" cy="64633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A4D27392-E3E8-AE04-9B73-B0E569D7E67A}"/>
                  </a:ext>
                </a:extLst>
              </p:cNvPr>
              <p:cNvSpPr txBox="1"/>
              <p:nvPr/>
            </p:nvSpPr>
            <p:spPr>
              <a:xfrm>
                <a:off x="2398203" y="3214973"/>
                <a:ext cx="579889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A4D27392-E3E8-AE04-9B73-B0E569D7E6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98203" y="3214973"/>
                <a:ext cx="579889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2453047D-6311-1B2A-9E7D-13D6101BF77B}"/>
                  </a:ext>
                </a:extLst>
              </p:cNvPr>
              <p:cNvSpPr txBox="1"/>
              <p:nvPr/>
            </p:nvSpPr>
            <p:spPr>
              <a:xfrm>
                <a:off x="2336683" y="4160724"/>
                <a:ext cx="579889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acc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2453047D-6311-1B2A-9E7D-13D6101BF7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36683" y="4160724"/>
                <a:ext cx="579889" cy="369332"/>
              </a:xfrm>
              <a:prstGeom prst="rect">
                <a:avLst/>
              </a:prstGeom>
              <a:blipFill>
                <a:blip r:embed="rId5"/>
                <a:stretch>
                  <a:fillRect r="-273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19C1AD9-B7E1-E94E-F295-2063EFA912DC}"/>
                  </a:ext>
                </a:extLst>
              </p:cNvPr>
              <p:cNvSpPr txBox="1"/>
              <p:nvPr/>
            </p:nvSpPr>
            <p:spPr>
              <a:xfrm>
                <a:off x="5113090" y="2269222"/>
                <a:ext cx="918594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  <a:sym typeface="Wingdings" panose="05000000000000000000" pitchFamily="2" charset="2"/>
                        </a:rPr>
                        <m:t>𝐴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sym typeface="Wingdings" panose="05000000000000000000" pitchFamily="2" charset="2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sym typeface="Wingdings" panose="05000000000000000000" pitchFamily="2" charset="2"/>
                        </a:rPr>
                        <m:t>𝐵</m:t>
                      </m:r>
                    </m:oMath>
                  </m:oMathPara>
                </a14:m>
                <a:endParaRPr lang="en-US" dirty="0">
                  <a:sym typeface="Wingdings" panose="05000000000000000000" pitchFamily="2" charset="2"/>
                </a:endParaRP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19C1AD9-B7E1-E94E-F295-2063EFA912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13090" y="2269222"/>
                <a:ext cx="918594" cy="646331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ADA6EF8D-55B5-EED8-761B-57BA076D458B}"/>
                  </a:ext>
                </a:extLst>
              </p:cNvPr>
              <p:cNvSpPr txBox="1"/>
              <p:nvPr/>
            </p:nvSpPr>
            <p:spPr>
              <a:xfrm>
                <a:off x="5113090" y="3214973"/>
                <a:ext cx="798002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ADA6EF8D-55B5-EED8-761B-57BA076D45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13090" y="3214973"/>
                <a:ext cx="798002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96F20778-59D5-5E67-0CCD-D0473185BA58}"/>
                  </a:ext>
                </a:extLst>
              </p:cNvPr>
              <p:cNvSpPr txBox="1"/>
              <p:nvPr/>
            </p:nvSpPr>
            <p:spPr>
              <a:xfrm>
                <a:off x="5113090" y="4206646"/>
                <a:ext cx="864065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latin typeface="Cambria Math" panose="02040503050406030204" pitchFamily="18" charset="0"/>
                          <a:sym typeface="Wingdings" panose="05000000000000000000" pitchFamily="2" charset="2"/>
                        </a:rPr>
                        <m:t>𝐴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  <a:sym typeface="Wingdings" panose="05000000000000000000" pitchFamily="2" charset="2"/>
                        </a:rPr>
                        <m:t>⊕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  <a:sym typeface="Wingdings" panose="05000000000000000000" pitchFamily="2" charset="2"/>
                        </a:rPr>
                        <m:t>𝐵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96F20778-59D5-5E67-0CCD-D0473185BA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13090" y="4206646"/>
                <a:ext cx="864065" cy="369332"/>
              </a:xfrm>
              <a:prstGeom prst="rect">
                <a:avLst/>
              </a:prstGeom>
              <a:blipFill>
                <a:blip r:embed="rId8"/>
                <a:stretch>
                  <a:fillRect b="-49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FE7254A3-0FB9-8C25-720A-63AC970A119F}"/>
                  </a:ext>
                </a:extLst>
              </p:cNvPr>
              <p:cNvSpPr txBox="1"/>
              <p:nvPr/>
            </p:nvSpPr>
            <p:spPr>
              <a:xfrm>
                <a:off x="5113090" y="5013653"/>
                <a:ext cx="592472" cy="37709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en-US" b="0" i="1" dirty="0" smtClean="0"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</m:ctrlPr>
                        </m:accPr>
                        <m:e>
                          <m:r>
                            <a:rPr lang="en-US" i="1" dirty="0"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  <m:t>𝐴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  <m:t>⊕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  <m:t>𝐵</m:t>
                          </m:r>
                        </m:e>
                      </m:acc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FE7254A3-0FB9-8C25-720A-63AC970A11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13090" y="5013653"/>
                <a:ext cx="592472" cy="377091"/>
              </a:xfrm>
              <a:prstGeom prst="rect">
                <a:avLst/>
              </a:prstGeom>
              <a:blipFill>
                <a:blip r:embed="rId9"/>
                <a:stretch>
                  <a:fillRect r="-35052" b="-48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69491975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85419E-9061-2D41-0402-D7E929B492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a logic diagram …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BF6F0FA-37D1-9644-1AA0-6C234F992DB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.</m:t>
                        </m:r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acc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i="1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</m:oMath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acc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</m:oMath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 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</m:oMath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BF6F0FA-37D1-9644-1AA0-6C234F992DB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0603004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698180-4559-0A9F-B063-70F529A112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a Boolean Expression and Simplify</a:t>
            </a:r>
          </a:p>
        </p:txBody>
      </p:sp>
      <p:pic>
        <p:nvPicPr>
          <p:cNvPr id="75" name="Content Placeholder 74">
            <a:extLst>
              <a:ext uri="{FF2B5EF4-FFF2-40B4-BE49-F238E27FC236}">
                <a16:creationId xmlns:a16="http://schemas.microsoft.com/office/drawing/2014/main" id="{B7A44507-2493-B494-D86F-2481D976DC2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626355" y="1917622"/>
            <a:ext cx="3960301" cy="1291167"/>
          </a:xfr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6F49D9E4-A8FE-C475-E660-CD22BB1520E6}"/>
                  </a:ext>
                </a:extLst>
              </p14:cNvPr>
              <p14:cNvContentPartPr/>
              <p14:nvPr/>
            </p14:nvContentPartPr>
            <p14:xfrm>
              <a:off x="19694" y="9509"/>
              <a:ext cx="6480" cy="5040"/>
            </p14:xfrm>
          </p:contentPart>
        </mc:Choice>
        <mc:Fallback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6F49D9E4-A8FE-C475-E660-CD22BB1520E6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1054" y="869"/>
                <a:ext cx="24120" cy="22680"/>
              </a:xfrm>
              <a:prstGeom prst="rect">
                <a:avLst/>
              </a:prstGeom>
            </p:spPr>
          </p:pic>
        </mc:Fallback>
      </mc:AlternateContent>
      <p:pic>
        <p:nvPicPr>
          <p:cNvPr id="81" name="Picture 80">
            <a:extLst>
              <a:ext uri="{FF2B5EF4-FFF2-40B4-BE49-F238E27FC236}">
                <a16:creationId xmlns:a16="http://schemas.microsoft.com/office/drawing/2014/main" id="{A5C5742F-D204-9E73-4C2A-9A4D6A0AE50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26355" y="3727465"/>
            <a:ext cx="3994269" cy="1346726"/>
          </a:xfrm>
          <a:prstGeom prst="rect">
            <a:avLst/>
          </a:prstGeom>
        </p:spPr>
      </p:pic>
      <p:pic>
        <p:nvPicPr>
          <p:cNvPr id="83" name="Picture 82">
            <a:extLst>
              <a:ext uri="{FF2B5EF4-FFF2-40B4-BE49-F238E27FC236}">
                <a16:creationId xmlns:a16="http://schemas.microsoft.com/office/drawing/2014/main" id="{C11DDAA1-BC9A-8191-CDB4-F3CAC90D930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65242" y="1917622"/>
            <a:ext cx="3767442" cy="1291167"/>
          </a:xfrm>
          <a:prstGeom prst="rect">
            <a:avLst/>
          </a:prstGeom>
        </p:spPr>
      </p:pic>
      <p:pic>
        <p:nvPicPr>
          <p:cNvPr id="85" name="Picture 84">
            <a:extLst>
              <a:ext uri="{FF2B5EF4-FFF2-40B4-BE49-F238E27FC236}">
                <a16:creationId xmlns:a16="http://schemas.microsoft.com/office/drawing/2014/main" id="{103C0698-F6C1-92DA-64AE-E654D09A27E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65242" y="3570652"/>
            <a:ext cx="3691154" cy="15927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2874604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DCDD0B-A632-7D56-A60C-B5777D1D5F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AD4C39-2DAB-261A-6A73-F53F2E4DAB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Answers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A3155E3-9477-D29E-712E-25C51BD058B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0000" lnSpcReduction="20000"/>
              </a:bodyPr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By Absorption law = A, OR</a:t>
                </a:r>
              </a:p>
              <a:p>
                <a:pPr lvl="2"/>
                <a:r>
                  <a:rPr lang="en-US" dirty="0"/>
                  <a:t>A.A + A.B</a:t>
                </a:r>
              </a:p>
              <a:p>
                <a:pPr lvl="2"/>
                <a:r>
                  <a:rPr lang="en-US" dirty="0"/>
                  <a:t>A + AB  </a:t>
                </a:r>
                <a:r>
                  <a:rPr lang="en-US" dirty="0">
                    <a:solidFill>
                      <a:srgbClr val="00B050"/>
                    </a:solidFill>
                  </a:rPr>
                  <a:t>//(A.A = A), Idempotent Law</a:t>
                </a:r>
              </a:p>
              <a:p>
                <a:pPr lvl="2"/>
                <a:r>
                  <a:rPr lang="en-US" dirty="0"/>
                  <a:t>A (1+ B) </a:t>
                </a:r>
                <a:r>
                  <a:rPr lang="en-US" dirty="0">
                    <a:solidFill>
                      <a:srgbClr val="00B050"/>
                    </a:solidFill>
                  </a:rPr>
                  <a:t>// factor A out</a:t>
                </a:r>
              </a:p>
              <a:p>
                <a:pPr lvl="2"/>
                <a:r>
                  <a:rPr lang="en-US" dirty="0"/>
                  <a:t>A </a:t>
                </a:r>
                <a:r>
                  <a:rPr lang="en-US" dirty="0">
                    <a:solidFill>
                      <a:srgbClr val="00B050"/>
                    </a:solidFill>
                  </a:rPr>
                  <a:t>// By null law 1+B = 1 and A.1 = A</a:t>
                </a:r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A</a:t>
                </a:r>
              </a:p>
              <a:p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</m:oMath>
                </a14:m>
                <a:endParaRPr lang="en-US" b="0" dirty="0"/>
              </a:p>
              <a:p>
                <a:pPr lvl="1"/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.(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</m:oMath>
                </a14:m>
                <a:r>
                  <a:rPr lang="en-US" b="0" i="1" dirty="0">
                    <a:latin typeface="Cambria Math" panose="02040503050406030204" pitchFamily="18" charset="0"/>
                  </a:rPr>
                  <a:t> B) </a:t>
                </a:r>
                <a:r>
                  <a:rPr lang="en-US" dirty="0">
                    <a:solidFill>
                      <a:srgbClr val="00B050"/>
                    </a:solidFill>
                  </a:rPr>
                  <a:t>//Distribution law</a:t>
                </a:r>
                <a:endParaRPr lang="en-US" b="0" i="1" dirty="0">
                  <a:latin typeface="Cambria Math" panose="02040503050406030204" pitchFamily="18" charset="0"/>
                </a:endParaRPr>
              </a:p>
              <a:p>
                <a:pPr lvl="1"/>
                <a:r>
                  <a:rPr lang="en-US" i="1" dirty="0">
                    <a:latin typeface="Cambria Math" panose="02040503050406030204" pitchFamily="18" charset="0"/>
                  </a:rPr>
                  <a:t>1.</a:t>
                </a:r>
                <a:r>
                  <a:rPr lang="en-US" b="0" dirty="0"/>
                  <a:t> 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(</m:t>
                    </m:r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</m:oMath>
                </a14:m>
                <a:r>
                  <a:rPr lang="en-US" b="0" i="1" dirty="0">
                    <a:latin typeface="Cambria Math" panose="02040503050406030204" pitchFamily="18" charset="0"/>
                  </a:rPr>
                  <a:t> B) </a:t>
                </a:r>
                <a:r>
                  <a:rPr lang="en-US" dirty="0">
                    <a:solidFill>
                      <a:srgbClr val="00B050"/>
                    </a:solidFill>
                  </a:rPr>
                  <a:t>// By Complement law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d>
                    <m:r>
                      <a:rPr lang="en-US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endParaRPr lang="en-US" dirty="0">
                  <a:solidFill>
                    <a:srgbClr val="00B050"/>
                  </a:solidFill>
                </a:endParaRP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</m:oMath>
                </a14:m>
                <a:r>
                  <a:rPr lang="en-US" b="0" dirty="0"/>
                  <a:t> B </a:t>
                </a:r>
              </a:p>
              <a:p>
                <a:r>
                  <a:rPr lang="en-US" b="0" dirty="0"/>
                  <a:t>(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).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acc>
                          <m:accPr>
                            <m:chr m:val="̅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acc>
                      </m:e>
                    </m:d>
                  </m:oMath>
                </a14:m>
                <a:endParaRPr lang="en-US" b="0" dirty="0"/>
              </a:p>
              <a:p>
                <a:pPr lvl="1"/>
                <a:r>
                  <a:rPr lang="en-US" b="0" dirty="0"/>
                  <a:t>(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)+(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acc>
                      <m:accPr>
                        <m:chr m:val="̅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>
                    <a:solidFill>
                      <a:srgbClr val="00B050"/>
                    </a:solidFill>
                  </a:rPr>
                  <a:t>//Distribution law</a:t>
                </a:r>
              </a:p>
              <a:p>
                <a:pPr lvl="1"/>
                <a:r>
                  <a:rPr lang="en-US" b="0" dirty="0"/>
                  <a:t>A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+0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>
                    <a:solidFill>
                      <a:srgbClr val="00B050"/>
                    </a:solidFill>
                  </a:rPr>
                  <a:t>//Idempotent law + Complement law</a:t>
                </a:r>
              </a:p>
              <a:p>
                <a:pPr lvl="1"/>
                <a:r>
                  <a:rPr lang="en-US" b="0" dirty="0"/>
                  <a:t>A</a:t>
                </a:r>
                <a:endParaRPr lang="en-US" dirty="0">
                  <a:solidFill>
                    <a:srgbClr val="00B050"/>
                  </a:solidFill>
                </a:endParaRPr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A0895C6-0364-139E-297D-2D74CFF1C09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120" b="-15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Content Placeholder 74">
            <a:extLst>
              <a:ext uri="{FF2B5EF4-FFF2-40B4-BE49-F238E27FC236}">
                <a16:creationId xmlns:a16="http://schemas.microsoft.com/office/drawing/2014/main" id="{C18C1A76-4DC7-B781-ADF9-3BAF09AD49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0517" y="1509326"/>
            <a:ext cx="2905335" cy="94721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68DF5B6-3288-B9FF-9B57-870D602D4D1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85198" y="2907789"/>
            <a:ext cx="2840782" cy="95781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6A30D28-2D86-1503-9003-3C3EEE6AAFB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88112" y="4075637"/>
            <a:ext cx="2870144" cy="98364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C9DC05C-2483-F8D0-8638-BB2121DA96C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35069" y="5086072"/>
            <a:ext cx="2840783" cy="12258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0939728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E5B326-5B7C-CA16-D253-A6331E9E4A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Graphs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F34B4B-2F13-75F7-2068-BBD3254245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Identify number of cycles in this graph </a:t>
            </a:r>
          </a:p>
          <a:p>
            <a:pPr lvl="1"/>
            <a:r>
              <a:rPr lang="en-US" dirty="0"/>
              <a:t>Represented as adjacency matrix </a:t>
            </a:r>
          </a:p>
          <a:p>
            <a:pPr lvl="1"/>
            <a:r>
              <a:rPr lang="en-US" dirty="0"/>
              <a:t>Hint : Convert to a graph  first  </a:t>
            </a:r>
            <a:r>
              <a:rPr lang="en-US" i="1" dirty="0"/>
              <a:t>(one that you can see)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CBC7F9B8-D717-4E95-531D-3BFEF32DD4A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10880544"/>
              </p:ext>
            </p:extLst>
          </p:nvPr>
        </p:nvGraphicFramePr>
        <p:xfrm>
          <a:off x="1432187" y="3014054"/>
          <a:ext cx="4347832" cy="2979880"/>
        </p:xfrm>
        <a:graphic>
          <a:graphicData uri="http://schemas.openxmlformats.org/drawingml/2006/table">
            <a:tbl>
              <a:tblPr firstRow="1" bandRow="1">
                <a:tableStyleId>{B301B821-A1FF-4177-AEE7-76D212191A09}</a:tableStyleId>
              </a:tblPr>
              <a:tblGrid>
                <a:gridCol w="543479">
                  <a:extLst>
                    <a:ext uri="{9D8B030D-6E8A-4147-A177-3AD203B41FA5}">
                      <a16:colId xmlns:a16="http://schemas.microsoft.com/office/drawing/2014/main" val="2690793717"/>
                    </a:ext>
                  </a:extLst>
                </a:gridCol>
                <a:gridCol w="543479">
                  <a:extLst>
                    <a:ext uri="{9D8B030D-6E8A-4147-A177-3AD203B41FA5}">
                      <a16:colId xmlns:a16="http://schemas.microsoft.com/office/drawing/2014/main" val="2670579438"/>
                    </a:ext>
                  </a:extLst>
                </a:gridCol>
                <a:gridCol w="543479">
                  <a:extLst>
                    <a:ext uri="{9D8B030D-6E8A-4147-A177-3AD203B41FA5}">
                      <a16:colId xmlns:a16="http://schemas.microsoft.com/office/drawing/2014/main" val="3624113693"/>
                    </a:ext>
                  </a:extLst>
                </a:gridCol>
                <a:gridCol w="543479">
                  <a:extLst>
                    <a:ext uri="{9D8B030D-6E8A-4147-A177-3AD203B41FA5}">
                      <a16:colId xmlns:a16="http://schemas.microsoft.com/office/drawing/2014/main" val="2944418674"/>
                    </a:ext>
                  </a:extLst>
                </a:gridCol>
                <a:gridCol w="543479">
                  <a:extLst>
                    <a:ext uri="{9D8B030D-6E8A-4147-A177-3AD203B41FA5}">
                      <a16:colId xmlns:a16="http://schemas.microsoft.com/office/drawing/2014/main" val="2504296768"/>
                    </a:ext>
                  </a:extLst>
                </a:gridCol>
                <a:gridCol w="543479">
                  <a:extLst>
                    <a:ext uri="{9D8B030D-6E8A-4147-A177-3AD203B41FA5}">
                      <a16:colId xmlns:a16="http://schemas.microsoft.com/office/drawing/2014/main" val="1002408205"/>
                    </a:ext>
                  </a:extLst>
                </a:gridCol>
                <a:gridCol w="543479">
                  <a:extLst>
                    <a:ext uri="{9D8B030D-6E8A-4147-A177-3AD203B41FA5}">
                      <a16:colId xmlns:a16="http://schemas.microsoft.com/office/drawing/2014/main" val="1395760455"/>
                    </a:ext>
                  </a:extLst>
                </a:gridCol>
                <a:gridCol w="543479">
                  <a:extLst>
                    <a:ext uri="{9D8B030D-6E8A-4147-A177-3AD203B41FA5}">
                      <a16:colId xmlns:a16="http://schemas.microsoft.com/office/drawing/2014/main" val="3774186086"/>
                    </a:ext>
                  </a:extLst>
                </a:gridCol>
              </a:tblGrid>
              <a:tr h="372485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</a:p>
                  </a:txBody>
                  <a:tcP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</a:p>
                  </a:txBody>
                  <a:tcP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</a:t>
                      </a:r>
                    </a:p>
                  </a:txBody>
                  <a:tcP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</a:t>
                      </a:r>
                    </a:p>
                  </a:txBody>
                  <a:tcP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6</a:t>
                      </a:r>
                    </a:p>
                  </a:txBody>
                  <a:tcP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</a:t>
                      </a:r>
                    </a:p>
                  </a:txBody>
                  <a:tcPr>
                    <a:solidFill>
                      <a:schemeClr val="accent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07797456"/>
                  </a:ext>
                </a:extLst>
              </a:tr>
              <a:tr h="372485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12217198"/>
                  </a:ext>
                </a:extLst>
              </a:tr>
              <a:tr h="372485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2</a:t>
                      </a:r>
                    </a:p>
                  </a:txBody>
                  <a:tcP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54412084"/>
                  </a:ext>
                </a:extLst>
              </a:tr>
              <a:tr h="372485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3</a:t>
                      </a:r>
                    </a:p>
                  </a:txBody>
                  <a:tcP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928094"/>
                  </a:ext>
                </a:extLst>
              </a:tr>
              <a:tr h="372485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4</a:t>
                      </a:r>
                    </a:p>
                  </a:txBody>
                  <a:tcP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94133716"/>
                  </a:ext>
                </a:extLst>
              </a:tr>
              <a:tr h="372485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5</a:t>
                      </a:r>
                    </a:p>
                  </a:txBody>
                  <a:tcP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38922504"/>
                  </a:ext>
                </a:extLst>
              </a:tr>
              <a:tr h="372485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6</a:t>
                      </a:r>
                    </a:p>
                  </a:txBody>
                  <a:tcP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64427859"/>
                  </a:ext>
                </a:extLst>
              </a:tr>
              <a:tr h="372485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7</a:t>
                      </a:r>
                    </a:p>
                  </a:txBody>
                  <a:tcP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6264425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48280778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D20B8C-4FA4-8707-9062-99D1E18D38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CE501F-C764-46E6-28BC-123771CBE6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Graphs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71BD0E-3A2B-0969-821C-9F75D86796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There are </a:t>
            </a:r>
            <a:r>
              <a:rPr lang="en-US" b="1" dirty="0"/>
              <a:t>2</a:t>
            </a:r>
            <a:r>
              <a:rPr lang="en-US" dirty="0"/>
              <a:t> cycles in this graph </a:t>
            </a:r>
            <a:endParaRPr lang="en-US" i="1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E0C47EAF-5449-5F11-5684-2C1B8CFA6533}"/>
              </a:ext>
            </a:extLst>
          </p:cNvPr>
          <p:cNvGraphicFramePr>
            <a:graphicFrameLocks noGrp="1"/>
          </p:cNvGraphicFramePr>
          <p:nvPr/>
        </p:nvGraphicFramePr>
        <p:xfrm>
          <a:off x="1432187" y="3014054"/>
          <a:ext cx="4347832" cy="2979880"/>
        </p:xfrm>
        <a:graphic>
          <a:graphicData uri="http://schemas.openxmlformats.org/drawingml/2006/table">
            <a:tbl>
              <a:tblPr firstRow="1" bandRow="1">
                <a:tableStyleId>{B301B821-A1FF-4177-AEE7-76D212191A09}</a:tableStyleId>
              </a:tblPr>
              <a:tblGrid>
                <a:gridCol w="543479">
                  <a:extLst>
                    <a:ext uri="{9D8B030D-6E8A-4147-A177-3AD203B41FA5}">
                      <a16:colId xmlns:a16="http://schemas.microsoft.com/office/drawing/2014/main" val="2690793717"/>
                    </a:ext>
                  </a:extLst>
                </a:gridCol>
                <a:gridCol w="543479">
                  <a:extLst>
                    <a:ext uri="{9D8B030D-6E8A-4147-A177-3AD203B41FA5}">
                      <a16:colId xmlns:a16="http://schemas.microsoft.com/office/drawing/2014/main" val="2670579438"/>
                    </a:ext>
                  </a:extLst>
                </a:gridCol>
                <a:gridCol w="543479">
                  <a:extLst>
                    <a:ext uri="{9D8B030D-6E8A-4147-A177-3AD203B41FA5}">
                      <a16:colId xmlns:a16="http://schemas.microsoft.com/office/drawing/2014/main" val="3624113693"/>
                    </a:ext>
                  </a:extLst>
                </a:gridCol>
                <a:gridCol w="543479">
                  <a:extLst>
                    <a:ext uri="{9D8B030D-6E8A-4147-A177-3AD203B41FA5}">
                      <a16:colId xmlns:a16="http://schemas.microsoft.com/office/drawing/2014/main" val="2944418674"/>
                    </a:ext>
                  </a:extLst>
                </a:gridCol>
                <a:gridCol w="543479">
                  <a:extLst>
                    <a:ext uri="{9D8B030D-6E8A-4147-A177-3AD203B41FA5}">
                      <a16:colId xmlns:a16="http://schemas.microsoft.com/office/drawing/2014/main" val="2504296768"/>
                    </a:ext>
                  </a:extLst>
                </a:gridCol>
                <a:gridCol w="543479">
                  <a:extLst>
                    <a:ext uri="{9D8B030D-6E8A-4147-A177-3AD203B41FA5}">
                      <a16:colId xmlns:a16="http://schemas.microsoft.com/office/drawing/2014/main" val="1002408205"/>
                    </a:ext>
                  </a:extLst>
                </a:gridCol>
                <a:gridCol w="543479">
                  <a:extLst>
                    <a:ext uri="{9D8B030D-6E8A-4147-A177-3AD203B41FA5}">
                      <a16:colId xmlns:a16="http://schemas.microsoft.com/office/drawing/2014/main" val="1395760455"/>
                    </a:ext>
                  </a:extLst>
                </a:gridCol>
                <a:gridCol w="543479">
                  <a:extLst>
                    <a:ext uri="{9D8B030D-6E8A-4147-A177-3AD203B41FA5}">
                      <a16:colId xmlns:a16="http://schemas.microsoft.com/office/drawing/2014/main" val="3774186086"/>
                    </a:ext>
                  </a:extLst>
                </a:gridCol>
              </a:tblGrid>
              <a:tr h="372485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</a:p>
                  </a:txBody>
                  <a:tcP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</a:p>
                  </a:txBody>
                  <a:tcP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</a:t>
                      </a:r>
                    </a:p>
                  </a:txBody>
                  <a:tcP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</a:t>
                      </a:r>
                    </a:p>
                  </a:txBody>
                  <a:tcP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6</a:t>
                      </a:r>
                    </a:p>
                  </a:txBody>
                  <a:tcP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</a:t>
                      </a:r>
                    </a:p>
                  </a:txBody>
                  <a:tcPr>
                    <a:solidFill>
                      <a:schemeClr val="accent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07797456"/>
                  </a:ext>
                </a:extLst>
              </a:tr>
              <a:tr h="372485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12217198"/>
                  </a:ext>
                </a:extLst>
              </a:tr>
              <a:tr h="372485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2</a:t>
                      </a:r>
                    </a:p>
                  </a:txBody>
                  <a:tcP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54412084"/>
                  </a:ext>
                </a:extLst>
              </a:tr>
              <a:tr h="372485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3</a:t>
                      </a:r>
                    </a:p>
                  </a:txBody>
                  <a:tcP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928094"/>
                  </a:ext>
                </a:extLst>
              </a:tr>
              <a:tr h="372485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4</a:t>
                      </a:r>
                    </a:p>
                  </a:txBody>
                  <a:tcP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94133716"/>
                  </a:ext>
                </a:extLst>
              </a:tr>
              <a:tr h="372485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5</a:t>
                      </a:r>
                    </a:p>
                  </a:txBody>
                  <a:tcP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38922504"/>
                  </a:ext>
                </a:extLst>
              </a:tr>
              <a:tr h="372485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6</a:t>
                      </a:r>
                    </a:p>
                  </a:txBody>
                  <a:tcP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64427859"/>
                  </a:ext>
                </a:extLst>
              </a:tr>
              <a:tr h="372485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7</a:t>
                      </a:r>
                    </a:p>
                  </a:txBody>
                  <a:tcP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62644250"/>
                  </a:ext>
                </a:extLst>
              </a:tr>
            </a:tbl>
          </a:graphicData>
        </a:graphic>
      </p:graphicFrame>
      <p:pic>
        <p:nvPicPr>
          <p:cNvPr id="8" name="Picture 7">
            <a:extLst>
              <a:ext uri="{FF2B5EF4-FFF2-40B4-BE49-F238E27FC236}">
                <a16:creationId xmlns:a16="http://schemas.microsoft.com/office/drawing/2014/main" id="{BB75F401-EEDD-DF47-E2DE-A6BF31DE23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1" y="3176275"/>
            <a:ext cx="4490416" cy="24779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2498496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B8AF5A-A614-D5E4-8489-1A221132D3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Programs (matrix practice)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BCF001-2C3B-CA70-2D24-965BBEEA53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0086" y="1697605"/>
            <a:ext cx="10515600" cy="4351338"/>
          </a:xfrm>
        </p:spPr>
        <p:txBody>
          <a:bodyPr/>
          <a:lstStyle/>
          <a:p>
            <a:r>
              <a:rPr lang="en-US" dirty="0"/>
              <a:t>Create a 2d array(matrix) and fill it with values</a:t>
            </a:r>
          </a:p>
          <a:p>
            <a:pPr lvl="1"/>
            <a:r>
              <a:rPr lang="en-US" dirty="0"/>
              <a:t>Input N ( size of the matrix would </a:t>
            </a:r>
            <a:r>
              <a:rPr lang="en-US"/>
              <a:t>be N x N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Fill 4 different ways (these are 4 different problems)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F6E1A682-CC45-4041-C59E-6281E56AEB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7743551"/>
              </p:ext>
            </p:extLst>
          </p:nvPr>
        </p:nvGraphicFramePr>
        <p:xfrm>
          <a:off x="1321267" y="2992430"/>
          <a:ext cx="1963024" cy="14630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90756">
                  <a:extLst>
                    <a:ext uri="{9D8B030D-6E8A-4147-A177-3AD203B41FA5}">
                      <a16:colId xmlns:a16="http://schemas.microsoft.com/office/drawing/2014/main" val="3637275985"/>
                    </a:ext>
                  </a:extLst>
                </a:gridCol>
                <a:gridCol w="490756">
                  <a:extLst>
                    <a:ext uri="{9D8B030D-6E8A-4147-A177-3AD203B41FA5}">
                      <a16:colId xmlns:a16="http://schemas.microsoft.com/office/drawing/2014/main" val="3707909197"/>
                    </a:ext>
                  </a:extLst>
                </a:gridCol>
                <a:gridCol w="490756">
                  <a:extLst>
                    <a:ext uri="{9D8B030D-6E8A-4147-A177-3AD203B41FA5}">
                      <a16:colId xmlns:a16="http://schemas.microsoft.com/office/drawing/2014/main" val="356601508"/>
                    </a:ext>
                  </a:extLst>
                </a:gridCol>
                <a:gridCol w="490756">
                  <a:extLst>
                    <a:ext uri="{9D8B030D-6E8A-4147-A177-3AD203B41FA5}">
                      <a16:colId xmlns:a16="http://schemas.microsoft.com/office/drawing/2014/main" val="1255770336"/>
                    </a:ext>
                  </a:extLst>
                </a:gridCol>
              </a:tblGrid>
              <a:tr h="344178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60418042"/>
                  </a:ext>
                </a:extLst>
              </a:tr>
              <a:tr h="344178">
                <a:tc>
                  <a:txBody>
                    <a:bodyPr/>
                    <a:lstStyle/>
                    <a:p>
                      <a:r>
                        <a:rPr lang="en-US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49589920"/>
                  </a:ext>
                </a:extLst>
              </a:tr>
              <a:tr h="344178">
                <a:tc>
                  <a:txBody>
                    <a:bodyPr/>
                    <a:lstStyle/>
                    <a:p>
                      <a:r>
                        <a:rPr lang="en-US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77954733"/>
                  </a:ext>
                </a:extLst>
              </a:tr>
              <a:tr h="344178">
                <a:tc>
                  <a:txBody>
                    <a:bodyPr/>
                    <a:lstStyle/>
                    <a:p>
                      <a:r>
                        <a:rPr lang="en-US" dirty="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70926061"/>
                  </a:ext>
                </a:extLst>
              </a:tr>
            </a:tbl>
          </a:graphicData>
        </a:graphic>
      </p:graphicFrame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BD0CC52B-A625-4AE1-EFA0-0C8CFDD0D90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58664988"/>
              </p:ext>
            </p:extLst>
          </p:nvPr>
        </p:nvGraphicFramePr>
        <p:xfrm>
          <a:off x="4200089" y="2992430"/>
          <a:ext cx="1963024" cy="14630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90756">
                  <a:extLst>
                    <a:ext uri="{9D8B030D-6E8A-4147-A177-3AD203B41FA5}">
                      <a16:colId xmlns:a16="http://schemas.microsoft.com/office/drawing/2014/main" val="3637275985"/>
                    </a:ext>
                  </a:extLst>
                </a:gridCol>
                <a:gridCol w="490756">
                  <a:extLst>
                    <a:ext uri="{9D8B030D-6E8A-4147-A177-3AD203B41FA5}">
                      <a16:colId xmlns:a16="http://schemas.microsoft.com/office/drawing/2014/main" val="3707909197"/>
                    </a:ext>
                  </a:extLst>
                </a:gridCol>
                <a:gridCol w="490756">
                  <a:extLst>
                    <a:ext uri="{9D8B030D-6E8A-4147-A177-3AD203B41FA5}">
                      <a16:colId xmlns:a16="http://schemas.microsoft.com/office/drawing/2014/main" val="356601508"/>
                    </a:ext>
                  </a:extLst>
                </a:gridCol>
                <a:gridCol w="490756">
                  <a:extLst>
                    <a:ext uri="{9D8B030D-6E8A-4147-A177-3AD203B41FA5}">
                      <a16:colId xmlns:a16="http://schemas.microsoft.com/office/drawing/2014/main" val="1255770336"/>
                    </a:ext>
                  </a:extLst>
                </a:gridCol>
              </a:tblGrid>
              <a:tr h="344178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60418042"/>
                  </a:ext>
                </a:extLst>
              </a:tr>
              <a:tr h="344178"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49589920"/>
                  </a:ext>
                </a:extLst>
              </a:tr>
              <a:tr h="344178"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77954733"/>
                  </a:ext>
                </a:extLst>
              </a:tr>
              <a:tr h="344178"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70926061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872B1716-8FC1-D95B-270D-08E5BBE145C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52355711"/>
              </p:ext>
            </p:extLst>
          </p:nvPr>
        </p:nvGraphicFramePr>
        <p:xfrm>
          <a:off x="1321267" y="4651119"/>
          <a:ext cx="1963024" cy="14630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90756">
                  <a:extLst>
                    <a:ext uri="{9D8B030D-6E8A-4147-A177-3AD203B41FA5}">
                      <a16:colId xmlns:a16="http://schemas.microsoft.com/office/drawing/2014/main" val="3637275985"/>
                    </a:ext>
                  </a:extLst>
                </a:gridCol>
                <a:gridCol w="490756">
                  <a:extLst>
                    <a:ext uri="{9D8B030D-6E8A-4147-A177-3AD203B41FA5}">
                      <a16:colId xmlns:a16="http://schemas.microsoft.com/office/drawing/2014/main" val="3707909197"/>
                    </a:ext>
                  </a:extLst>
                </a:gridCol>
                <a:gridCol w="490756">
                  <a:extLst>
                    <a:ext uri="{9D8B030D-6E8A-4147-A177-3AD203B41FA5}">
                      <a16:colId xmlns:a16="http://schemas.microsoft.com/office/drawing/2014/main" val="356601508"/>
                    </a:ext>
                  </a:extLst>
                </a:gridCol>
                <a:gridCol w="490756">
                  <a:extLst>
                    <a:ext uri="{9D8B030D-6E8A-4147-A177-3AD203B41FA5}">
                      <a16:colId xmlns:a16="http://schemas.microsoft.com/office/drawing/2014/main" val="1255770336"/>
                    </a:ext>
                  </a:extLst>
                </a:gridCol>
              </a:tblGrid>
              <a:tr h="344178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60418042"/>
                  </a:ext>
                </a:extLst>
              </a:tr>
              <a:tr h="344178">
                <a:tc>
                  <a:txBody>
                    <a:bodyPr/>
                    <a:lstStyle/>
                    <a:p>
                      <a:r>
                        <a:rPr lang="en-US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49589920"/>
                  </a:ext>
                </a:extLst>
              </a:tr>
              <a:tr h="344178">
                <a:tc>
                  <a:txBody>
                    <a:bodyPr/>
                    <a:lstStyle/>
                    <a:p>
                      <a:r>
                        <a:rPr lang="en-US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77954733"/>
                  </a:ext>
                </a:extLst>
              </a:tr>
              <a:tr h="344178">
                <a:tc>
                  <a:txBody>
                    <a:bodyPr/>
                    <a:lstStyle/>
                    <a:p>
                      <a:r>
                        <a:rPr lang="en-US" dirty="0"/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70926061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63820BFF-D0A1-B2DF-A909-777DAC76B9B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97050131"/>
              </p:ext>
            </p:extLst>
          </p:nvPr>
        </p:nvGraphicFramePr>
        <p:xfrm>
          <a:off x="4200089" y="4690268"/>
          <a:ext cx="1963024" cy="14630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90756">
                  <a:extLst>
                    <a:ext uri="{9D8B030D-6E8A-4147-A177-3AD203B41FA5}">
                      <a16:colId xmlns:a16="http://schemas.microsoft.com/office/drawing/2014/main" val="3637275985"/>
                    </a:ext>
                  </a:extLst>
                </a:gridCol>
                <a:gridCol w="490756">
                  <a:extLst>
                    <a:ext uri="{9D8B030D-6E8A-4147-A177-3AD203B41FA5}">
                      <a16:colId xmlns:a16="http://schemas.microsoft.com/office/drawing/2014/main" val="3707909197"/>
                    </a:ext>
                  </a:extLst>
                </a:gridCol>
                <a:gridCol w="490756">
                  <a:extLst>
                    <a:ext uri="{9D8B030D-6E8A-4147-A177-3AD203B41FA5}">
                      <a16:colId xmlns:a16="http://schemas.microsoft.com/office/drawing/2014/main" val="356601508"/>
                    </a:ext>
                  </a:extLst>
                </a:gridCol>
                <a:gridCol w="490756">
                  <a:extLst>
                    <a:ext uri="{9D8B030D-6E8A-4147-A177-3AD203B41FA5}">
                      <a16:colId xmlns:a16="http://schemas.microsoft.com/office/drawing/2014/main" val="1255770336"/>
                    </a:ext>
                  </a:extLst>
                </a:gridCol>
              </a:tblGrid>
              <a:tr h="344178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60418042"/>
                  </a:ext>
                </a:extLst>
              </a:tr>
              <a:tr h="344178">
                <a:tc>
                  <a:txBody>
                    <a:bodyPr/>
                    <a:lstStyle/>
                    <a:p>
                      <a:r>
                        <a:rPr lang="en-US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49589920"/>
                  </a:ext>
                </a:extLst>
              </a:tr>
              <a:tr h="344178">
                <a:tc>
                  <a:txBody>
                    <a:bodyPr/>
                    <a:lstStyle/>
                    <a:p>
                      <a:r>
                        <a:rPr lang="en-US" dirty="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77954733"/>
                  </a:ext>
                </a:extLst>
              </a:tr>
              <a:tr h="344178">
                <a:tc>
                  <a:txBody>
                    <a:bodyPr/>
                    <a:lstStyle/>
                    <a:p>
                      <a:r>
                        <a:rPr lang="en-US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7092606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874868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5204</TotalTime>
  <Words>7164</Words>
  <Application>Microsoft Office PowerPoint</Application>
  <PresentationFormat>Widescreen</PresentationFormat>
  <Paragraphs>1533</Paragraphs>
  <Slides>122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122</vt:i4>
      </vt:variant>
    </vt:vector>
  </HeadingPairs>
  <TitlesOfParts>
    <vt:vector size="132" baseType="lpstr">
      <vt:lpstr>Aptos</vt:lpstr>
      <vt:lpstr>Aptos Display</vt:lpstr>
      <vt:lpstr>Aptos Narrow</vt:lpstr>
      <vt:lpstr>Arial</vt:lpstr>
      <vt:lpstr>Bahnschrift SemiBold</vt:lpstr>
      <vt:lpstr>Cambria Math</vt:lpstr>
      <vt:lpstr>Cascadia Code</vt:lpstr>
      <vt:lpstr>Consolas</vt:lpstr>
      <vt:lpstr>Wingdings</vt:lpstr>
      <vt:lpstr>Office Theme</vt:lpstr>
      <vt:lpstr>Exploring Computer Science Concepts</vt:lpstr>
      <vt:lpstr>Number Systems</vt:lpstr>
      <vt:lpstr>Digits per base</vt:lpstr>
      <vt:lpstr>Counting in Decimal </vt:lpstr>
      <vt:lpstr>Counting in other bases</vt:lpstr>
      <vt:lpstr>Place Values </vt:lpstr>
      <vt:lpstr>Place values Converting binary decimal</vt:lpstr>
      <vt:lpstr>Converting Binary to Decimal</vt:lpstr>
      <vt:lpstr>Converting Decimal to Binary </vt:lpstr>
      <vt:lpstr>Exercises</vt:lpstr>
      <vt:lpstr>Challenge</vt:lpstr>
      <vt:lpstr>Place values Converting octal,hexadecimaldecimal</vt:lpstr>
      <vt:lpstr>Converting Decimal to Octal </vt:lpstr>
      <vt:lpstr>Exercises</vt:lpstr>
      <vt:lpstr>Converting Decimal to Hexadecimal </vt:lpstr>
      <vt:lpstr> Hexadecimal  Octal </vt:lpstr>
      <vt:lpstr>Octal  Hexadecimal</vt:lpstr>
      <vt:lpstr>Exercises</vt:lpstr>
      <vt:lpstr>Recursion : programming</vt:lpstr>
      <vt:lpstr>Relations</vt:lpstr>
      <vt:lpstr>Functions , mathematical kind</vt:lpstr>
      <vt:lpstr>Evaluating functions</vt:lpstr>
      <vt:lpstr>Recursive Functions</vt:lpstr>
      <vt:lpstr>Programming, , Test #1</vt:lpstr>
      <vt:lpstr>Test 1, observations</vt:lpstr>
      <vt:lpstr>Test 2 , analysis</vt:lpstr>
      <vt:lpstr>Topics for Test 2</vt:lpstr>
      <vt:lpstr>Infix expressions</vt:lpstr>
      <vt:lpstr>Expression : anatomy </vt:lpstr>
      <vt:lpstr>Prefix/Postfix expressions</vt:lpstr>
      <vt:lpstr>Evaluating expression,  but first Stacks and Queues </vt:lpstr>
      <vt:lpstr>Evaluating prefix expression</vt:lpstr>
      <vt:lpstr>Evaluating postfix expression</vt:lpstr>
      <vt:lpstr>Evaluate </vt:lpstr>
      <vt:lpstr>Answers </vt:lpstr>
      <vt:lpstr>Practice: Programming </vt:lpstr>
      <vt:lpstr>Review Evaluating Prefix/Postfix</vt:lpstr>
      <vt:lpstr>Precedence and associativity</vt:lpstr>
      <vt:lpstr>Precedence and associativity</vt:lpstr>
      <vt:lpstr>Precedence and associativity (lets evaluate)</vt:lpstr>
      <vt:lpstr>Precedence and associativity (answers)</vt:lpstr>
      <vt:lpstr>Convert to Prefix/Postfix (examples)</vt:lpstr>
      <vt:lpstr>Convert to Postfix</vt:lpstr>
      <vt:lpstr>Convert to Postfix</vt:lpstr>
      <vt:lpstr>Convert to Prefix and Postfix</vt:lpstr>
      <vt:lpstr>Convert to Prefix and Postfix (answers)</vt:lpstr>
      <vt:lpstr>Logical operators (for bits/bytes)</vt:lpstr>
      <vt:lpstr>Truth Tables</vt:lpstr>
      <vt:lpstr>Truth Tables</vt:lpstr>
      <vt:lpstr>Operations (evaluate)</vt:lpstr>
      <vt:lpstr>Operations (evaluate)</vt:lpstr>
      <vt:lpstr>Operations : Shift (evaluate)</vt:lpstr>
      <vt:lpstr>Answsers 1..3</vt:lpstr>
      <vt:lpstr>Answers 4..6</vt:lpstr>
      <vt:lpstr>Answers 7..8</vt:lpstr>
      <vt:lpstr>What does this Program do ? Q1.</vt:lpstr>
      <vt:lpstr>What does this Program do ? A1.</vt:lpstr>
      <vt:lpstr>What does this Program do ? Q2.</vt:lpstr>
      <vt:lpstr>What does this Program do ? A2.</vt:lpstr>
      <vt:lpstr>What does this Program do ? Q3</vt:lpstr>
      <vt:lpstr>What does this Program do ? A3</vt:lpstr>
      <vt:lpstr>What does this Program do ? Q4</vt:lpstr>
      <vt:lpstr>What does this Program do ? A4</vt:lpstr>
      <vt:lpstr>What does this Program do ? Q5</vt:lpstr>
      <vt:lpstr>What does this Program do ? A5</vt:lpstr>
      <vt:lpstr>What does this Program do ? Q6</vt:lpstr>
      <vt:lpstr>What does this Program do ? A6</vt:lpstr>
      <vt:lpstr>What does this Program do ? Q7</vt:lpstr>
      <vt:lpstr>What does this Program do ? A7</vt:lpstr>
      <vt:lpstr>Boolean Logic/Algebra</vt:lpstr>
      <vt:lpstr>Truth Tables ( same as bitwise operations  easy)</vt:lpstr>
      <vt:lpstr>Some expressions</vt:lpstr>
      <vt:lpstr>Rules/Discovery</vt:lpstr>
      <vt:lpstr>Some more rules</vt:lpstr>
      <vt:lpstr>Do it yourself </vt:lpstr>
      <vt:lpstr>Solved (and named)</vt:lpstr>
      <vt:lpstr>Lets Simplify 1..4</vt:lpstr>
      <vt:lpstr>Lets Simplify 1..4 : answers</vt:lpstr>
      <vt:lpstr>Lets Simplify 5..11</vt:lpstr>
      <vt:lpstr>Lets Simplify 5..11 : answers</vt:lpstr>
      <vt:lpstr>Truth Tables/Expressions</vt:lpstr>
      <vt:lpstr>Expressions: Soln</vt:lpstr>
      <vt:lpstr>Expressions: Soln 1..4</vt:lpstr>
      <vt:lpstr>Expressions: Soln 5,6</vt:lpstr>
      <vt:lpstr>Expressions: Soln 5,6</vt:lpstr>
      <vt:lpstr>Programming Practice</vt:lpstr>
      <vt:lpstr>Data Structures : Queue</vt:lpstr>
      <vt:lpstr>Data Structures : Stack</vt:lpstr>
      <vt:lpstr>What does this program do ? Q1</vt:lpstr>
      <vt:lpstr>What does this program do ? A1</vt:lpstr>
      <vt:lpstr>What does this program do ? Q2</vt:lpstr>
      <vt:lpstr>What does this program do ? A2</vt:lpstr>
      <vt:lpstr>What does this program do ? Q3</vt:lpstr>
      <vt:lpstr>What does this program do ? A3</vt:lpstr>
      <vt:lpstr>What does this program do ? Q4</vt:lpstr>
      <vt:lpstr>What does this program do ? A4</vt:lpstr>
      <vt:lpstr>What does this program do ? Q5</vt:lpstr>
      <vt:lpstr>What does this program do ? Q5</vt:lpstr>
      <vt:lpstr>What does this program do ? Q6</vt:lpstr>
      <vt:lpstr>What does this program do ? A6</vt:lpstr>
      <vt:lpstr>Data structure : Trees</vt:lpstr>
      <vt:lpstr>Tree: Visuals </vt:lpstr>
      <vt:lpstr>Trees : types</vt:lpstr>
      <vt:lpstr>Trees: Types</vt:lpstr>
      <vt:lpstr>Binary Tree : Key terms</vt:lpstr>
      <vt:lpstr>Binary Search tree : Examples</vt:lpstr>
      <vt:lpstr>Creation of a BST</vt:lpstr>
      <vt:lpstr>Binary Search Tree : exercise</vt:lpstr>
      <vt:lpstr>Data Structure : Graphs</vt:lpstr>
      <vt:lpstr>Graphs : uses</vt:lpstr>
      <vt:lpstr>Graphs : by Edge types</vt:lpstr>
      <vt:lpstr>Graphs : by Edge types</vt:lpstr>
      <vt:lpstr>Graph representation(s)</vt:lpstr>
      <vt:lpstr>In class exercises</vt:lpstr>
      <vt:lpstr>Logic gates</vt:lpstr>
      <vt:lpstr>Logic gates </vt:lpstr>
      <vt:lpstr>Create a logic diagram …</vt:lpstr>
      <vt:lpstr>Create a Boolean Expression and Simplify</vt:lpstr>
      <vt:lpstr>Answers</vt:lpstr>
      <vt:lpstr>Graphs</vt:lpstr>
      <vt:lpstr>Graphs</vt:lpstr>
      <vt:lpstr>Programs (matrix practice)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Sankalp Gupta</dc:creator>
  <cp:lastModifiedBy>Sankalp Gupta</cp:lastModifiedBy>
  <cp:revision>63</cp:revision>
  <cp:lastPrinted>2026-04-09T22:42:33Z</cp:lastPrinted>
  <dcterms:created xsi:type="dcterms:W3CDTF">2025-12-04T21:37:48Z</dcterms:created>
  <dcterms:modified xsi:type="dcterms:W3CDTF">2026-04-23T22:04:19Z</dcterms:modified>
</cp:coreProperties>
</file>