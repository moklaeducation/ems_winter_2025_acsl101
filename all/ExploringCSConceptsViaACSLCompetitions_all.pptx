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2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300" r:id="rId38"/>
    <p:sldId id="301" r:id="rId39"/>
    <p:sldId id="310" r:id="rId40"/>
    <p:sldId id="307" r:id="rId41"/>
    <p:sldId id="308" r:id="rId42"/>
    <p:sldId id="302" r:id="rId43"/>
    <p:sldId id="303" r:id="rId44"/>
    <p:sldId id="311" r:id="rId45"/>
    <p:sldId id="297" r:id="rId46"/>
    <p:sldId id="312" r:id="rId47"/>
    <p:sldId id="305" r:id="rId48"/>
    <p:sldId id="313" r:id="rId49"/>
    <p:sldId id="315" r:id="rId50"/>
    <p:sldId id="314" r:id="rId51"/>
    <p:sldId id="316" r:id="rId52"/>
    <p:sldId id="317" r:id="rId53"/>
    <p:sldId id="318" r:id="rId54"/>
    <p:sldId id="319" r:id="rId55"/>
    <p:sldId id="320" r:id="rId56"/>
    <p:sldId id="321" r:id="rId57"/>
    <p:sldId id="329" r:id="rId58"/>
    <p:sldId id="322" r:id="rId59"/>
    <p:sldId id="330" r:id="rId60"/>
    <p:sldId id="323" r:id="rId61"/>
    <p:sldId id="331" r:id="rId62"/>
    <p:sldId id="324" r:id="rId63"/>
    <p:sldId id="332" r:id="rId64"/>
    <p:sldId id="326" r:id="rId65"/>
    <p:sldId id="333" r:id="rId66"/>
    <p:sldId id="327" r:id="rId67"/>
    <p:sldId id="334" r:id="rId68"/>
    <p:sldId id="328" r:id="rId69"/>
    <p:sldId id="335" r:id="rId70"/>
    <p:sldId id="336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7" r:id="rId80"/>
    <p:sldId id="357" r:id="rId81"/>
    <p:sldId id="349" r:id="rId82"/>
    <p:sldId id="351" r:id="rId83"/>
    <p:sldId id="353" r:id="rId84"/>
    <p:sldId id="352" r:id="rId85"/>
    <p:sldId id="354" r:id="rId86"/>
    <p:sldId id="350" r:id="rId87"/>
    <p:sldId id="355" r:id="rId88"/>
    <p:sldId id="356" r:id="rId89"/>
    <p:sldId id="358" r:id="rId90"/>
    <p:sldId id="367" r:id="rId91"/>
    <p:sldId id="359" r:id="rId92"/>
    <p:sldId id="368" r:id="rId93"/>
    <p:sldId id="360" r:id="rId94"/>
    <p:sldId id="369" r:id="rId95"/>
    <p:sldId id="361" r:id="rId96"/>
    <p:sldId id="370" r:id="rId97"/>
    <p:sldId id="363" r:id="rId98"/>
    <p:sldId id="371" r:id="rId99"/>
    <p:sldId id="366" r:id="rId100"/>
    <p:sldId id="372" r:id="rId10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272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 3 have outputs</a:t>
            </a:r>
            <a:br>
              <a:rPr lang="en-US" dirty="0"/>
            </a:br>
            <a:r>
              <a:rPr lang="en-US" dirty="0"/>
              <a:t>4,5,6 don’t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764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729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A952E-9927-1087-C198-76B6E2095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1C7705-C938-649D-740E-28D1AAD8C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DF9E5F5B-B72E-DD3D-016C-BFF5597DE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457200" marR="0" lvl="1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b="0" i="0">
                    <a:latin typeface="Cambria Math" panose="02040503050406030204" pitchFamily="18" charset="0"/>
                  </a:rPr>
                  <a:t>(𝐴+𝐵).(𝐴 ̅+𝐶)=𝐴𝐶+𝐴 ̅B </a:t>
                </a:r>
                <a:br>
                  <a:rPr lang="en-US" b="0" i="0" dirty="0">
                    <a:latin typeface="Cambria Math" panose="02040503050406030204" pitchFamily="18" charset="0"/>
                  </a:rPr>
                </a:br>
                <a:r>
                  <a:rPr lang="en-US" b="0" i="0">
                    <a:latin typeface="Cambria Math" panose="02040503050406030204" pitchFamily="18" charset="0"/>
                  </a:rPr>
                  <a:t>        𝐴(𝐴 ̅+𝐵 )=𝐴.𝐵</a:t>
                </a:r>
                <a:endParaRPr lang="en-US" b="0" dirty="0"/>
              </a:p>
              <a:p>
                <a:pPr lvl="1"/>
                <a:r>
                  <a:rPr lang="en-US" b="0" i="0">
                    <a:latin typeface="Cambria Math" panose="02040503050406030204" pitchFamily="18" charset="0"/>
                  </a:rPr>
                  <a:t>𝐴+𝐴 ̅𝐵=𝐴+𝐵</a:t>
                </a:r>
                <a:endParaRPr lang="en-US" b="0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54519E-BC79-07F8-39D4-1C6BABAB4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88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0159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errank.com/acsltest3practise" TargetMode="External"/><Relationship Id="rId2" Type="http://schemas.openxmlformats.org/officeDocument/2006/relationships/hyperlink" Target="https://www.hackerrank.com/acsltest2practise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got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61EBE-94BF-8DC3-7A70-13327350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Evaluating Prefix/Postfix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4C8D-ACC2-700D-8DC8-D1E3DF891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week </a:t>
            </a:r>
          </a:p>
          <a:p>
            <a:pPr lvl="1"/>
            <a:r>
              <a:rPr lang="en-US" dirty="0"/>
              <a:t>Operator</a:t>
            </a:r>
          </a:p>
          <a:p>
            <a:pPr lvl="1"/>
            <a:r>
              <a:rPr lang="en-US" dirty="0"/>
              <a:t>Operand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</a:t>
            </a:r>
          </a:p>
          <a:p>
            <a:r>
              <a:rPr lang="en-US" dirty="0"/>
              <a:t>Evaluating Prefix/Postfix</a:t>
            </a:r>
          </a:p>
          <a:p>
            <a:pPr lvl="1"/>
            <a:r>
              <a:rPr lang="en-US" dirty="0"/>
              <a:t>&lt;3 questions each&gt;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19EF1-EA0B-AAC3-0AF3-6004E614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92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759E1-3328-9C22-3B68-54F3969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63C0C-0E13-B399-DFBF-3C1B931E6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Precedence ( highest priority first)</a:t>
            </a:r>
          </a:p>
          <a:p>
            <a:pPr lvl="1"/>
            <a:r>
              <a:rPr lang="en-US" dirty="0"/>
              <a:t>()</a:t>
            </a:r>
          </a:p>
          <a:p>
            <a:pPr lvl="1"/>
            <a:r>
              <a:rPr lang="en-US" dirty="0"/>
              <a:t>^</a:t>
            </a:r>
          </a:p>
          <a:p>
            <a:pPr lvl="1"/>
            <a:r>
              <a:rPr lang="en-US" dirty="0"/>
              <a:t>/ * </a:t>
            </a:r>
          </a:p>
          <a:p>
            <a:pPr lvl="1"/>
            <a:r>
              <a:rPr lang="en-US" dirty="0"/>
              <a:t>- +</a:t>
            </a:r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Right to left : ^ </a:t>
            </a:r>
          </a:p>
          <a:p>
            <a:pPr lvl="1"/>
            <a:r>
              <a:rPr lang="en-US" dirty="0"/>
              <a:t>Left to right : + , - , * , /</a:t>
            </a:r>
          </a:p>
          <a:p>
            <a:r>
              <a:rPr lang="en-US" dirty="0"/>
              <a:t>Notes </a:t>
            </a:r>
          </a:p>
          <a:p>
            <a:pPr lvl="1"/>
            <a:r>
              <a:rPr lang="en-US" dirty="0"/>
              <a:t>() not categorized as associative, they represent grouping mechanism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97326-75CB-1EC7-7EDC-E27BCF23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8657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06A23-6060-2190-0369-68E869C5B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35DB-2FC0-BEB4-4F1A-943AC9E39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A6B0-A3AC-84B7-F071-7B7A8C5B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10 + 20 / 2 * 3 –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+((20 / 2) * 3)-5   // added parenthesis for denoting precedence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 (10 * 3 ) -5 // interior most precedence first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10 + 30 - 5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 </a:t>
            </a:r>
            <a:r>
              <a:rPr lang="en-US" b="1" dirty="0">
                <a:sym typeface="Wingdings" panose="05000000000000000000" pitchFamily="2" charset="2"/>
              </a:rPr>
              <a:t>35</a:t>
            </a:r>
            <a:endParaRPr lang="en-US" b="1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80B3E-D3F4-B6F0-D0A1-8630AB30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56195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AB0D3-9A93-3387-68DE-0B08CE7B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(lets 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9DA9E-1EE2-4F6F-68A9-7032500D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2 + 3 * 4 ^2  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B0676-9EC8-6524-C686-59ECD7A1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631713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BB090-BF7B-301A-B062-E97BFE4C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82A2-AB54-D133-9974-37E13F35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(answers)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AC9B0-991C-C5D4-CE00-383566D4A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2 + 3 * 4 ^2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+ 3 * 16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+ 48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50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^ 9 // ^ is evaluated from right to left , so 3 ^ 2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512</a:t>
            </a:r>
          </a:p>
          <a:p>
            <a:pPr lvl="1"/>
            <a:r>
              <a:rPr lang="en-US" strike="sngStrike" dirty="0">
                <a:sym typeface="Wingdings" panose="05000000000000000000" pitchFamily="2" charset="2"/>
              </a:rPr>
              <a:t>Not 64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100 / 2 * 25 // Again 2 ^ 1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50 x 25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b="1" dirty="0">
                <a:sym typeface="Wingdings" panose="05000000000000000000" pitchFamily="2" charset="2"/>
              </a:rPr>
              <a:t>1250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13E5C7-992D-9036-31F0-DE97F948E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364482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93FB-B92E-805D-C84A-070CBB1B0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Prefix/Postfix </a:t>
            </a:r>
            <a:r>
              <a:rPr lang="en-US" sz="2000" dirty="0"/>
              <a:t>(examples)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DC8AB-5242-ADA9-A503-4ECC2166F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B 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B C *</a:t>
            </a:r>
            <a:endParaRPr lang="en-US" b="1" dirty="0"/>
          </a:p>
          <a:p>
            <a:r>
              <a:rPr lang="en-US" dirty="0"/>
              <a:t>A + 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+</a:t>
            </a:r>
            <a:r>
              <a:rPr lang="en-US" b="1" dirty="0">
                <a:sym typeface="Wingdings" panose="05000000000000000000" pitchFamily="2" charset="2"/>
              </a:rPr>
              <a:t>A</a:t>
            </a:r>
            <a:r>
              <a:rPr lang="en-US" b="1" dirty="0"/>
              <a:t>*BC</a:t>
            </a:r>
          </a:p>
          <a:p>
            <a:pPr lvl="1"/>
            <a:r>
              <a:rPr lang="en-US" dirty="0"/>
              <a:t>Postfix :  </a:t>
            </a:r>
            <a:r>
              <a:rPr lang="en-US" b="1" dirty="0"/>
              <a:t>ABC*+</a:t>
            </a:r>
          </a:p>
          <a:p>
            <a:r>
              <a:rPr lang="en-US" dirty="0"/>
              <a:t>(5 + 6) * 3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5 6 + 3 *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779E42-5809-59FE-951E-7B455BB7C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023236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E059-48D8-260A-BA41-3E35FB9D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F769B-CC51-FA9F-B19F-9F5AA32C8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precedence/priority first </a:t>
            </a:r>
          </a:p>
          <a:p>
            <a:pPr lvl="1"/>
            <a:r>
              <a:rPr lang="pt-BR" dirty="0"/>
              <a:t>( do paranthesize for mental ease) </a:t>
            </a:r>
          </a:p>
          <a:p>
            <a:r>
              <a:rPr lang="pt-BR" dirty="0"/>
              <a:t>(a + b) / (c – d ) + e </a:t>
            </a:r>
          </a:p>
          <a:p>
            <a:r>
              <a:rPr lang="pt-BR" dirty="0"/>
              <a:t>x + y  / (g * h – k)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A02D68-CC18-2522-08A7-07B93CCB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162976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564D-B638-9D95-941D-AD014678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6BDC7-1CB3-8A4F-F288-9B357273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24EB7-0DC5-B135-34E7-7DD2D49E8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priority first </a:t>
            </a:r>
          </a:p>
          <a:p>
            <a:pPr lvl="1"/>
            <a:r>
              <a:rPr lang="pt-BR" dirty="0"/>
              <a:t>( and paranthesize for mental ease) </a:t>
            </a:r>
          </a:p>
          <a:p>
            <a:r>
              <a:rPr lang="pt-BR" dirty="0"/>
              <a:t>(a + b) / (c – d ) + e 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/ + a b – c d e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a b + c d - / e +</a:t>
            </a:r>
          </a:p>
          <a:p>
            <a:r>
              <a:rPr lang="pt-BR" dirty="0"/>
              <a:t>x + y  / (g * h – k)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x / y - * g h k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x y g h * k - / +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0253A3-2553-8CEE-4FC1-99E0B3F0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606561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 ^ 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81B0BD-44A6-01E4-B569-E440DFAA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08BA-925D-B446-6102-4DD2DE59B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FCC50-372A-1FA3-A515-CD0B5B7E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 </a:t>
            </a:r>
            <a:r>
              <a:rPr lang="en-US" sz="2000" dirty="0"/>
              <a:t>(answers)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FE5F1B-9892-BDB6-3128-731DCED46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198065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83637947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3698482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295000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91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+ b - c * d + e ^ f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- + a b * c d ^ e 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* - e f ^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006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c - (d - e) * (f + g)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c * - d e +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* d e - f g + *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681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((a + b) * (c + d) / (e - f)) + g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/ * + a b + c d - e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f - / g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36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* (b + c) / (d - e)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/ * a + b c -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+ * d e - 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97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- b / (c * d ^ e)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a / b * c ^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d e ^ * /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753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(c + d) -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+ c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1259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B4F96-5862-C493-CA94-3E72FA84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4109544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81F6A-4CC1-7603-9C25-803B7E6F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 (for bits/bytes)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78BBB-41E3-F605-A10E-B187C7B1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Bitwise </a:t>
            </a:r>
          </a:p>
          <a:p>
            <a:pPr lvl="1"/>
            <a:r>
              <a:rPr lang="en-US" dirty="0"/>
              <a:t>NOT, AND,  XOR , OR</a:t>
            </a:r>
          </a:p>
          <a:p>
            <a:r>
              <a:rPr lang="en-US" dirty="0"/>
              <a:t>Shift</a:t>
            </a:r>
          </a:p>
          <a:p>
            <a:pPr lvl="1"/>
            <a:r>
              <a:rPr lang="en-US" dirty="0"/>
              <a:t>Linear : LSHIFT, RSHIFT,</a:t>
            </a:r>
          </a:p>
          <a:p>
            <a:pPr lvl="1"/>
            <a:r>
              <a:rPr lang="en-US" dirty="0"/>
              <a:t>Circular : RCIRC, LCIRC</a:t>
            </a:r>
          </a:p>
          <a:p>
            <a:r>
              <a:rPr lang="en-US" dirty="0"/>
              <a:t>Precedence</a:t>
            </a:r>
          </a:p>
          <a:p>
            <a:pPr lvl="1"/>
            <a:r>
              <a:rPr lang="en-US" dirty="0"/>
              <a:t>NOT, </a:t>
            </a:r>
          </a:p>
          <a:p>
            <a:pPr lvl="1"/>
            <a:r>
              <a:rPr lang="en-US" dirty="0"/>
              <a:t>SHIFT, CIRC, </a:t>
            </a:r>
          </a:p>
          <a:p>
            <a:pPr lvl="1"/>
            <a:r>
              <a:rPr lang="en-US" dirty="0"/>
              <a:t>AND , </a:t>
            </a:r>
          </a:p>
          <a:p>
            <a:pPr lvl="1"/>
            <a:r>
              <a:rPr lang="en-US" dirty="0"/>
              <a:t>XOR,</a:t>
            </a:r>
          </a:p>
          <a:p>
            <a:pPr lvl="1"/>
            <a:r>
              <a:rPr lang="en-US" dirty="0"/>
              <a:t>OR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11172-56A8-1F96-728C-10483E87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6541120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FA9C-7881-D44C-FBD7-3646B071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8E6D5F-744D-F45D-7743-881CDF0120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7131913"/>
              </p:ext>
            </p:extLst>
          </p:nvPr>
        </p:nvGraphicFramePr>
        <p:xfrm>
          <a:off x="950310" y="3429000"/>
          <a:ext cx="8784895" cy="18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979">
                  <a:extLst>
                    <a:ext uri="{9D8B030D-6E8A-4147-A177-3AD203B41FA5}">
                      <a16:colId xmlns:a16="http://schemas.microsoft.com/office/drawing/2014/main" val="4184432793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0846746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21210357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496895670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4230776581"/>
                    </a:ext>
                  </a:extLst>
                </a:gridCol>
              </a:tblGrid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AND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OR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XOR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535812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25689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71183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58174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5282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5928E5-3976-66FD-A576-965DC0DB5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788260"/>
              </p:ext>
            </p:extLst>
          </p:nvPr>
        </p:nvGraphicFramePr>
        <p:xfrm>
          <a:off x="950310" y="1839017"/>
          <a:ext cx="361993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969">
                  <a:extLst>
                    <a:ext uri="{9D8B030D-6E8A-4147-A177-3AD203B41FA5}">
                      <a16:colId xmlns:a16="http://schemas.microsoft.com/office/drawing/2014/main" val="923450553"/>
                    </a:ext>
                  </a:extLst>
                </a:gridCol>
                <a:gridCol w="1809969">
                  <a:extLst>
                    <a:ext uri="{9D8B030D-6E8A-4147-A177-3AD203B41FA5}">
                      <a16:colId xmlns:a16="http://schemas.microsoft.com/office/drawing/2014/main" val="301574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864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463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00155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ED0B632-E3BD-4605-A56F-29BD0298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3089335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2B2F3-3653-AB0D-1E39-97D45892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0AC6-5722-EADC-4BF4-254281F6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F6501D-1166-2DB8-5AE6-864FFE39E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306533"/>
              </p:ext>
            </p:extLst>
          </p:nvPr>
        </p:nvGraphicFramePr>
        <p:xfrm>
          <a:off x="1117600" y="400129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6521852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5300491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4649717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510856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69889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(LSHIFT-2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(RSHIFT-3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(LCIRC-3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(RCIRC-1 X)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0463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087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9421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636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1011011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1101100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1101101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03312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E2945A-A5F3-713F-EBD6-F32D5F84E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shift , add 0s as padding ( either left or right)</a:t>
            </a:r>
          </a:p>
          <a:p>
            <a:pPr lvl="1"/>
            <a:r>
              <a:rPr lang="en-US" dirty="0"/>
              <a:t>Shifting by word size (or more) would result in all 0s</a:t>
            </a:r>
          </a:p>
          <a:p>
            <a:r>
              <a:rPr lang="en-US" dirty="0"/>
              <a:t>Circular shift just rolls over the bits ( as per direction)</a:t>
            </a:r>
          </a:p>
          <a:p>
            <a:pPr lvl="1"/>
            <a:r>
              <a:rPr lang="en-US" dirty="0"/>
              <a:t>Shifting by the number of word size , same bit sequence would be produced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4F85C7-8DDD-6F3E-CA30-012F6CABA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3866530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AB4E-F19A-BB7D-F60A-959E8419E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85BE8-1CBF-4C83-9A22-9C383BD5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039F9-4927-C643-FB68-EC0CF26E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723854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F13F6-DCD3-F70A-99B5-3DCB1951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07715-F916-4B95-F4FF-7837E4663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10971-A49D-885C-875C-44C95655F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09262-8A0F-6858-976A-183276173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0339899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676B-DF2F-0D75-1F2F-D5706E96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: Shift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903CD-CB6C-2FEA-F395-0E130814E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421984-CC99-1FD5-74F2-4C5D7F940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557169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B2FC-C20D-29F2-EA67-7864CD433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Answsers</a:t>
            </a:r>
            <a:r>
              <a:rPr lang="en-US" dirty="0"/>
              <a:t> 1..3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C4EEE-6173-2D24-0658-2C120397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lvl="1"/>
            <a:r>
              <a:rPr lang="en-US" dirty="0"/>
              <a:t>→ 01010 AND 00110 </a:t>
            </a:r>
          </a:p>
          <a:p>
            <a:pPr lvl="1"/>
            <a:r>
              <a:rPr lang="en-US" dirty="0"/>
              <a:t>→ </a:t>
            </a:r>
            <a:r>
              <a:rPr lang="en-US" b="1" dirty="0"/>
              <a:t>00010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11011 OR 10000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11011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01110 XOR 01101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00011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74131-785E-2A52-4D45-ED3F02C6C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605638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9BD7F-A798-35AE-793C-868D060F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4..6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7ECD0-8B39-0692-C574-6ABB3CEA7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lvl="1"/>
            <a:r>
              <a:rPr lang="en-US" dirty="0"/>
              <a:t>11000 OR 11010 AND 00011 </a:t>
            </a:r>
            <a:r>
              <a:rPr lang="en-US" i="1" dirty="0"/>
              <a:t>//parenthesis evaluated first</a:t>
            </a:r>
          </a:p>
          <a:p>
            <a:pPr lvl="1"/>
            <a:r>
              <a:rPr lang="en-US" dirty="0"/>
              <a:t>11000 OR 00010 </a:t>
            </a:r>
            <a:r>
              <a:rPr lang="en-US" i="1" dirty="0"/>
              <a:t>// And has higher precedence so evaluated first</a:t>
            </a:r>
          </a:p>
          <a:p>
            <a:pPr lvl="1"/>
            <a:r>
              <a:rPr lang="en-US" b="1" dirty="0"/>
              <a:t>11010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lvl="1"/>
            <a:r>
              <a:rPr lang="en-US" dirty="0"/>
              <a:t>01110 AND (RSHIFT-2 10110)</a:t>
            </a:r>
          </a:p>
          <a:p>
            <a:pPr lvl="1"/>
            <a:r>
              <a:rPr lang="en-US" dirty="0"/>
              <a:t>01110 AND 00101</a:t>
            </a:r>
          </a:p>
          <a:p>
            <a:pPr lvl="1"/>
            <a:r>
              <a:rPr lang="en-US" b="1" dirty="0"/>
              <a:t>00100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lvl="1"/>
            <a:r>
              <a:rPr lang="en-US" dirty="0"/>
              <a:t>00111 OR 11010</a:t>
            </a:r>
          </a:p>
          <a:p>
            <a:pPr lvl="1"/>
            <a:r>
              <a:rPr lang="en-US" b="1" dirty="0"/>
              <a:t>11111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1B45D-8860-0D15-A406-C0C4369B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42750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75B44-46CD-74DE-1EC2-6C3ABA92D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7..8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A9FC4-3A4E-8667-749A-CA557659A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lvl="1"/>
            <a:r>
              <a:rPr lang="en-US" dirty="0"/>
              <a:t>00011 AND 01110 OR (01000)</a:t>
            </a:r>
          </a:p>
          <a:p>
            <a:pPr lvl="1"/>
            <a:r>
              <a:rPr lang="en-US" dirty="0"/>
              <a:t>00010 OR 01000</a:t>
            </a:r>
          </a:p>
          <a:p>
            <a:pPr lvl="1"/>
            <a:r>
              <a:rPr lang="en-US" b="1" dirty="0"/>
              <a:t>01010</a:t>
            </a:r>
          </a:p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  <a:p>
            <a:pPr lvl="1"/>
            <a:r>
              <a:rPr lang="en-US" dirty="0"/>
              <a:t>11010 OR 11010 AND 01101</a:t>
            </a:r>
          </a:p>
          <a:p>
            <a:pPr lvl="1"/>
            <a:r>
              <a:rPr lang="en-US" dirty="0"/>
              <a:t>11010 OR 01000</a:t>
            </a:r>
          </a:p>
          <a:p>
            <a:pPr lvl="1"/>
            <a:r>
              <a:rPr lang="en-US" b="1" dirty="0"/>
              <a:t>11010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4BA331-E1C7-68C8-C5A0-75B2600E0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303469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E72D7-0D7A-A4BC-D0BB-73DEB2298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Q1.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221D368-6BAD-6E79-AA4D-81A97D91F4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18414" y="1690688"/>
            <a:ext cx="4367986" cy="4220906"/>
          </a:xfrm>
        </p:spPr>
      </p:pic>
    </p:spTree>
    <p:extLst>
      <p:ext uri="{BB962C8B-B14F-4D97-AF65-F5344CB8AC3E}">
        <p14:creationId xmlns:p14="http://schemas.microsoft.com/office/powerpoint/2010/main" val="13660297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1F38E-FE26-1480-0E2C-4C0A63BA2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91228-AC4D-366F-3D99-F517F0A72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A1.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1D49E56-D5D1-6578-D76A-29A85AAE6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490" y="1777399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 = 2 </a:t>
            </a:r>
          </a:p>
          <a:p>
            <a:pPr lvl="1"/>
            <a:r>
              <a:rPr lang="en-US" dirty="0"/>
              <a:t>num = 72</a:t>
            </a:r>
          </a:p>
          <a:p>
            <a:pPr lvl="1"/>
            <a:r>
              <a:rPr lang="en-US" dirty="0"/>
              <a:t>72 % 2 == 0 → yes</a:t>
            </a:r>
          </a:p>
          <a:p>
            <a:pPr lvl="2"/>
            <a:r>
              <a:rPr lang="en-US" dirty="0"/>
              <a:t>num = 36, count = 1</a:t>
            </a:r>
          </a:p>
          <a:p>
            <a:pPr lvl="1"/>
            <a:r>
              <a:rPr lang="en-US" dirty="0"/>
              <a:t>36 % 2 == 0 → yes</a:t>
            </a:r>
          </a:p>
          <a:p>
            <a:pPr lvl="2"/>
            <a:r>
              <a:rPr lang="en-US" dirty="0"/>
              <a:t>num = 18, count = 2</a:t>
            </a:r>
          </a:p>
          <a:p>
            <a:pPr lvl="1"/>
            <a:r>
              <a:rPr lang="en-US" dirty="0"/>
              <a:t>18 % 2 == 0 → yes</a:t>
            </a:r>
          </a:p>
          <a:p>
            <a:pPr lvl="2"/>
            <a:r>
              <a:rPr lang="en-US" dirty="0"/>
              <a:t>num = 9, count = 3</a:t>
            </a:r>
          </a:p>
          <a:p>
            <a:pPr lvl="1"/>
            <a:r>
              <a:rPr lang="en-US" dirty="0"/>
              <a:t>9 % 2 != 0 → stop</a:t>
            </a:r>
          </a:p>
          <a:p>
            <a:pPr lvl="1"/>
            <a:r>
              <a:rPr lang="en-US" dirty="0"/>
              <a:t>output → 2 3</a:t>
            </a:r>
          </a:p>
          <a:p>
            <a:r>
              <a:rPr lang="en-US" dirty="0"/>
              <a:t>I =3 </a:t>
            </a:r>
          </a:p>
          <a:p>
            <a:pPr lvl="1"/>
            <a:r>
              <a:rPr lang="en-US" dirty="0"/>
              <a:t>output → 3 2</a:t>
            </a:r>
          </a:p>
          <a:p>
            <a:r>
              <a:rPr lang="en-US" dirty="0"/>
              <a:t>I = 4 ,5, 6</a:t>
            </a:r>
          </a:p>
          <a:p>
            <a:pPr lvl="1"/>
            <a:r>
              <a:rPr lang="en-US" dirty="0"/>
              <a:t>num = 1  ( not divisible by any)</a:t>
            </a:r>
          </a:p>
          <a:p>
            <a:pPr lvl="1"/>
            <a:r>
              <a:rPr lang="en-US" dirty="0"/>
              <a:t>no output</a:t>
            </a:r>
          </a:p>
          <a:p>
            <a:pPr lvl="1"/>
            <a:endParaRPr lang="en-US" dirty="0"/>
          </a:p>
        </p:txBody>
      </p:sp>
      <p:pic>
        <p:nvPicPr>
          <p:cNvPr id="8" name="Content Placeholder 8">
            <a:extLst>
              <a:ext uri="{FF2B5EF4-FFF2-40B4-BE49-F238E27FC236}">
                <a16:creationId xmlns:a16="http://schemas.microsoft.com/office/drawing/2014/main" id="{2E061E9E-3254-CD26-4930-FE889E90EF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524" y="1777399"/>
            <a:ext cx="4367986" cy="422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3992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19F7C-64A8-6BBF-B7BD-831EE9353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Q2.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B231ECF-E15A-8953-C520-04A6C2401B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692" y="2030998"/>
            <a:ext cx="5260464" cy="3455402"/>
          </a:xfrm>
        </p:spPr>
      </p:pic>
    </p:spTree>
    <p:extLst>
      <p:ext uri="{BB962C8B-B14F-4D97-AF65-F5344CB8AC3E}">
        <p14:creationId xmlns:p14="http://schemas.microsoft.com/office/powerpoint/2010/main" val="2207318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CE9ED-6524-DC6A-EE50-03751C9CC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9C47-A844-8024-1E13-0A333A267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A2.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FB000280-F639-4E1F-E662-FF837C26B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1906" y="1896991"/>
            <a:ext cx="5260464" cy="345540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5B5EE5-1473-E2E4-2C3B-DBE0CE8CD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Nested loop sum : 35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10" name="Content Placeholder 5">
            <a:extLst>
              <a:ext uri="{FF2B5EF4-FFF2-40B4-BE49-F238E27FC236}">
                <a16:creationId xmlns:a16="http://schemas.microsoft.com/office/drawing/2014/main" id="{29C28563-5938-2EFF-BD4F-B2A285E2A72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37903152"/>
              </p:ext>
            </p:extLst>
          </p:nvPr>
        </p:nvGraphicFramePr>
        <p:xfrm>
          <a:off x="1103654" y="2385301"/>
          <a:ext cx="4766441" cy="3526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610">
                  <a:extLst>
                    <a:ext uri="{9D8B030D-6E8A-4147-A177-3AD203B41FA5}">
                      <a16:colId xmlns:a16="http://schemas.microsoft.com/office/drawing/2014/main" val="2829498307"/>
                    </a:ext>
                  </a:extLst>
                </a:gridCol>
                <a:gridCol w="1470135">
                  <a:extLst>
                    <a:ext uri="{9D8B030D-6E8A-4147-A177-3AD203B41FA5}">
                      <a16:colId xmlns:a16="http://schemas.microsoft.com/office/drawing/2014/main" val="2236824969"/>
                    </a:ext>
                  </a:extLst>
                </a:gridCol>
                <a:gridCol w="913086">
                  <a:extLst>
                    <a:ext uri="{9D8B030D-6E8A-4147-A177-3AD203B41FA5}">
                      <a16:colId xmlns:a16="http://schemas.microsoft.com/office/drawing/2014/main" val="2084030851"/>
                    </a:ext>
                  </a:extLst>
                </a:gridCol>
                <a:gridCol w="1191610">
                  <a:extLst>
                    <a:ext uri="{9D8B030D-6E8A-4147-A177-3AD203B41FA5}">
                      <a16:colId xmlns:a16="http://schemas.microsoft.com/office/drawing/2014/main" val="1456409771"/>
                    </a:ext>
                  </a:extLst>
                </a:gridCol>
              </a:tblGrid>
              <a:tr h="587795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i="1" dirty="0"/>
                        <a:t>Added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576104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138887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3299306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53527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088139"/>
                  </a:ext>
                </a:extLst>
              </a:tr>
              <a:tr h="587795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1+2+3+4+5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596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45896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98296-BCFA-A4FD-8C84-FABA67255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Q3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B306B037-9002-F85B-D8E9-FE58D03DA7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4885" y="1887466"/>
            <a:ext cx="7176049" cy="36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181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85DBA-9053-3108-1DE3-ACD6F7314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E529-7D4D-7996-8BA8-098B84D61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A3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3988ECD-FF80-8C71-0489-3A4ED4542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</a:t>
            </a:r>
          </a:p>
          <a:p>
            <a:pPr lvl="1"/>
            <a:r>
              <a:rPr lang="en-US" dirty="0"/>
              <a:t>Divisible by 3</a:t>
            </a:r>
          </a:p>
          <a:p>
            <a:pPr lvl="1"/>
            <a:r>
              <a:rPr lang="en-US" dirty="0"/>
              <a:t>NOT divisible by 4</a:t>
            </a:r>
          </a:p>
          <a:p>
            <a:r>
              <a:rPr lang="en-US" dirty="0"/>
              <a:t>15 + 18 = 33</a:t>
            </a:r>
          </a:p>
          <a:p>
            <a:endParaRPr lang="en-US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6AD4C6A4-CD8E-35B8-ED9E-5CDCED20B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58" y="2022694"/>
            <a:ext cx="6049308" cy="3047141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D247C17-E352-B075-5C45-0F11A18FF056}"/>
              </a:ext>
            </a:extLst>
          </p:cNvPr>
          <p:cNvGraphicFramePr>
            <a:graphicFrameLocks noGrp="1"/>
          </p:cNvGraphicFramePr>
          <p:nvPr/>
        </p:nvGraphicFramePr>
        <p:xfrm>
          <a:off x="1086068" y="4001294"/>
          <a:ext cx="406925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314">
                  <a:extLst>
                    <a:ext uri="{9D8B030D-6E8A-4147-A177-3AD203B41FA5}">
                      <a16:colId xmlns:a16="http://schemas.microsoft.com/office/drawing/2014/main" val="2572898738"/>
                    </a:ext>
                  </a:extLst>
                </a:gridCol>
                <a:gridCol w="1017314">
                  <a:extLst>
                    <a:ext uri="{9D8B030D-6E8A-4147-A177-3AD203B41FA5}">
                      <a16:colId xmlns:a16="http://schemas.microsoft.com/office/drawing/2014/main" val="3945718912"/>
                    </a:ext>
                  </a:extLst>
                </a:gridCol>
                <a:gridCol w="899511">
                  <a:extLst>
                    <a:ext uri="{9D8B030D-6E8A-4147-A177-3AD203B41FA5}">
                      <a16:colId xmlns:a16="http://schemas.microsoft.com/office/drawing/2014/main" val="126023410"/>
                    </a:ext>
                  </a:extLst>
                </a:gridCol>
                <a:gridCol w="1135117">
                  <a:extLst>
                    <a:ext uri="{9D8B030D-6E8A-4147-A177-3AD203B41FA5}">
                      <a16:colId xmlns:a16="http://schemas.microsoft.com/office/drawing/2014/main" val="9841564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%4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Include?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893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2262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8857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0088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32821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A494-CB44-23E6-6167-3B208E662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1C93A-4A24-101D-372C-39870A974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Q4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51F3A36-ABAF-E830-D679-95EBF73FA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6462" y="1867741"/>
            <a:ext cx="5128799" cy="3975081"/>
          </a:xfrm>
        </p:spPr>
      </p:pic>
    </p:spTree>
    <p:extLst>
      <p:ext uri="{BB962C8B-B14F-4D97-AF65-F5344CB8AC3E}">
        <p14:creationId xmlns:p14="http://schemas.microsoft.com/office/powerpoint/2010/main" val="4729689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0E92F-AF49-7D7B-050E-B52B454B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DE6CA-C955-4AC7-D595-48528D43D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B678F-4154-33E1-671D-916FE686C7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9860"/>
            <a:ext cx="10515600" cy="4351338"/>
          </a:xfrm>
        </p:spPr>
        <p:txBody>
          <a:bodyPr/>
          <a:lstStyle/>
          <a:p>
            <a:r>
              <a:rPr lang="en-US" dirty="0"/>
              <a:t>Output 4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A9B3C22B-857E-640E-DCC7-9205A3777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144" y="1749500"/>
            <a:ext cx="5128799" cy="39750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EE48A-F157-1798-7EAE-1B4D145A2EED}"/>
              </a:ext>
            </a:extLst>
          </p:cNvPr>
          <p:cNvSpPr txBox="1"/>
          <p:nvPr/>
        </p:nvSpPr>
        <p:spPr>
          <a:xfrm>
            <a:off x="1062201" y="3545471"/>
            <a:ext cx="44951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u="sng" dirty="0"/>
              <a:t>Step	digit	even?	count</a:t>
            </a:r>
          </a:p>
          <a:p>
            <a:r>
              <a:rPr lang="en-US" dirty="0"/>
              <a:t>8	yes	1	1</a:t>
            </a:r>
          </a:p>
          <a:p>
            <a:r>
              <a:rPr lang="en-US" dirty="0"/>
              <a:t>6	yes	2	2</a:t>
            </a:r>
          </a:p>
          <a:p>
            <a:r>
              <a:rPr lang="en-US" dirty="0"/>
              <a:t>4	yes	3	3</a:t>
            </a:r>
          </a:p>
          <a:p>
            <a:r>
              <a:rPr lang="en-US" dirty="0"/>
              <a:t>2	yes	4	4</a:t>
            </a:r>
          </a:p>
        </p:txBody>
      </p:sp>
    </p:spTree>
    <p:extLst>
      <p:ext uri="{BB962C8B-B14F-4D97-AF65-F5344CB8AC3E}">
        <p14:creationId xmlns:p14="http://schemas.microsoft.com/office/powerpoint/2010/main" val="15263220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1662D-56D1-A890-3A90-E5804BAF2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A77DD-319B-B8CB-067B-809A8256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C0C0A05-4862-B677-A23E-72B3ADC719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0142" y="1974397"/>
            <a:ext cx="5115858" cy="3761236"/>
          </a:xfrm>
        </p:spPr>
      </p:pic>
    </p:spTree>
    <p:extLst>
      <p:ext uri="{BB962C8B-B14F-4D97-AF65-F5344CB8AC3E}">
        <p14:creationId xmlns:p14="http://schemas.microsoft.com/office/powerpoint/2010/main" val="22373007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BD29-74FC-E5C5-470F-3990F5AA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9C6D-9E88-105F-5872-247603B44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34BE19-7D70-249A-4EC2-6DAB233B0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Divide every element by 3</a:t>
            </a:r>
          </a:p>
          <a:p>
            <a:r>
              <a:rPr lang="en-US" dirty="0"/>
              <a:t>Output 1,2,3,4,5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000" b="1" u="sng" dirty="0"/>
              <a:t>Index	Original		New</a:t>
            </a:r>
          </a:p>
          <a:p>
            <a:pPr marL="0" indent="0">
              <a:buNone/>
            </a:pPr>
            <a:r>
              <a:rPr lang="en-US" sz="2000" dirty="0"/>
              <a:t>0	3		1</a:t>
            </a:r>
          </a:p>
          <a:p>
            <a:pPr marL="0" indent="0">
              <a:buNone/>
            </a:pPr>
            <a:r>
              <a:rPr lang="en-US" sz="2000" dirty="0"/>
              <a:t>1	6		2</a:t>
            </a:r>
          </a:p>
          <a:p>
            <a:pPr marL="0" indent="0">
              <a:buNone/>
            </a:pPr>
            <a:r>
              <a:rPr lang="en-US" sz="2000" dirty="0"/>
              <a:t>2	9		3</a:t>
            </a:r>
          </a:p>
          <a:p>
            <a:pPr marL="0" indent="0">
              <a:buNone/>
            </a:pPr>
            <a:r>
              <a:rPr lang="en-US" sz="2000" dirty="0"/>
              <a:t>3	12		4</a:t>
            </a:r>
          </a:p>
          <a:p>
            <a:pPr marL="0" indent="0">
              <a:buNone/>
            </a:pPr>
            <a:r>
              <a:rPr lang="en-US" sz="2000" dirty="0"/>
              <a:t>4	15		5</a:t>
            </a:r>
          </a:p>
        </p:txBody>
      </p:sp>
      <p:pic>
        <p:nvPicPr>
          <p:cNvPr id="5" name="Content Placeholder 8">
            <a:extLst>
              <a:ext uri="{FF2B5EF4-FFF2-40B4-BE49-F238E27FC236}">
                <a16:creationId xmlns:a16="http://schemas.microsoft.com/office/drawing/2014/main" id="{F3508B81-D07D-9A2E-711A-108335FFF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391" y="1825625"/>
            <a:ext cx="5115858" cy="3761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3793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9EAE1-601F-A56C-2093-29AE055F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DAB8B-D489-C7C1-2756-DEA23A56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Q6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2843AFF-E13C-780D-9B6E-B591AD0F02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6549" y="1797789"/>
            <a:ext cx="4429201" cy="3822618"/>
          </a:xfrm>
        </p:spPr>
      </p:pic>
    </p:spTree>
    <p:extLst>
      <p:ext uri="{BB962C8B-B14F-4D97-AF65-F5344CB8AC3E}">
        <p14:creationId xmlns:p14="http://schemas.microsoft.com/office/powerpoint/2010/main" val="5695052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62DFB-A262-168F-C564-5942A84A8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8F048-1DC8-9E32-EFE2-3C47F27D6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021129-1CA9-751A-B267-B30A3E1B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pass swap</a:t>
            </a:r>
          </a:p>
          <a:p>
            <a:pPr lvl="1"/>
            <a:r>
              <a:rPr lang="en-US" dirty="0"/>
              <a:t>Output  : 1,4,2,5</a:t>
            </a:r>
          </a:p>
          <a:p>
            <a:pPr lvl="1"/>
            <a:r>
              <a:rPr lang="en-US" b="1" dirty="0"/>
              <a:t>Note : not sorted</a:t>
            </a:r>
          </a:p>
          <a:p>
            <a:r>
              <a:rPr lang="en-US" dirty="0"/>
              <a:t>i =0 </a:t>
            </a:r>
          </a:p>
          <a:p>
            <a:pPr lvl="1"/>
            <a:r>
              <a:rPr lang="en-US" dirty="0"/>
              <a:t>5 &gt; 1 → swap → [1, 5, 4, 2]</a:t>
            </a:r>
          </a:p>
          <a:p>
            <a:r>
              <a:rPr lang="en-US" dirty="0"/>
              <a:t>i =1 </a:t>
            </a:r>
          </a:p>
          <a:p>
            <a:pPr lvl="1"/>
            <a:r>
              <a:rPr lang="en-US" dirty="0"/>
              <a:t>5 &gt; 4 → swap → [1, 4, 5, 2]</a:t>
            </a:r>
          </a:p>
          <a:p>
            <a:r>
              <a:rPr lang="en-US" dirty="0"/>
              <a:t>i = 2</a:t>
            </a:r>
          </a:p>
          <a:p>
            <a:pPr lvl="1"/>
            <a:r>
              <a:rPr lang="en-US" dirty="0"/>
              <a:t>5 &gt; 2 → swap → [1, 4, 2, 5]</a:t>
            </a:r>
          </a:p>
        </p:txBody>
      </p:sp>
      <p:pic>
        <p:nvPicPr>
          <p:cNvPr id="5" name="Content Placeholder 10">
            <a:extLst>
              <a:ext uri="{FF2B5EF4-FFF2-40B4-BE49-F238E27FC236}">
                <a16:creationId xmlns:a16="http://schemas.microsoft.com/office/drawing/2014/main" id="{8FF07BF5-47E4-D416-E383-A4DE39565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763" y="1794094"/>
            <a:ext cx="4429201" cy="382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053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41701-2B07-168C-3CE8-98E848A8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690C7-DB50-C566-790E-BA6542271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Q7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5D88EB9-52CD-71F3-E0F2-B1C3E81007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3579" y="1865448"/>
            <a:ext cx="6035752" cy="3857435"/>
          </a:xfrm>
        </p:spPr>
      </p:pic>
    </p:spTree>
    <p:extLst>
      <p:ext uri="{BB962C8B-B14F-4D97-AF65-F5344CB8AC3E}">
        <p14:creationId xmlns:p14="http://schemas.microsoft.com/office/powerpoint/2010/main" val="22343982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F3EA2-E343-1A42-A5E7-A2086BD5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C3823-B7E6-19CD-407F-88073F85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B6A43E-791C-1ED0-32A3-D7FAA0FD7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Output 5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pt-BR" sz="2000" b="1" u="sng" dirty="0"/>
              <a:t>Step  i	result	action</a:t>
            </a:r>
          </a:p>
          <a:p>
            <a:pPr marL="457200" lvl="1" indent="0">
              <a:buNone/>
            </a:pPr>
            <a:r>
              <a:rPr lang="pt-BR" sz="2000" dirty="0"/>
              <a:t>1	   1	1	result &lt; 50 continue</a:t>
            </a:r>
          </a:p>
          <a:p>
            <a:pPr marL="457200" lvl="1" indent="0">
              <a:buNone/>
            </a:pPr>
            <a:r>
              <a:rPr lang="pt-BR" sz="2000" dirty="0"/>
              <a:t>2	   2	2	result &lt; 50 continue</a:t>
            </a:r>
          </a:p>
          <a:p>
            <a:pPr marL="457200" lvl="1" indent="0">
              <a:buNone/>
            </a:pPr>
            <a:r>
              <a:rPr lang="pt-BR" sz="2000" dirty="0"/>
              <a:t>3	   3	6	result &lt; 50 continue</a:t>
            </a:r>
          </a:p>
          <a:p>
            <a:pPr marL="457200" lvl="1" indent="0">
              <a:buNone/>
            </a:pPr>
            <a:r>
              <a:rPr lang="pt-BR" sz="2000" dirty="0"/>
              <a:t>4	   4	24	result &lt; 50 continue</a:t>
            </a:r>
          </a:p>
          <a:p>
            <a:pPr marL="457200" lvl="1" indent="0">
              <a:buNone/>
            </a:pPr>
            <a:r>
              <a:rPr lang="pt-BR" sz="2000" dirty="0"/>
              <a:t>5	   5	120	</a:t>
            </a:r>
            <a:r>
              <a:rPr lang="pt-BR" sz="2000" b="1" dirty="0"/>
              <a:t>result &gt; 50 break</a:t>
            </a:r>
          </a:p>
          <a:p>
            <a:pPr marL="457200" lvl="1" indent="0">
              <a:buNone/>
            </a:pPr>
            <a:endParaRPr lang="pt-BR" sz="2000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7A3A6A90-E3AB-179D-99A4-778692989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648" y="2072576"/>
            <a:ext cx="6035752" cy="3857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3784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B562B-2D71-9CBF-878B-99DEB2172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Logic/Algebra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inputs are    : 0,1 {only}</a:t>
                </a:r>
              </a:p>
              <a:p>
                <a:r>
                  <a:rPr lang="en-US" dirty="0"/>
                  <a:t>The outputs are : 0,1 {only}</a:t>
                </a:r>
              </a:p>
              <a:p>
                <a:r>
                  <a:rPr lang="en-US" dirty="0"/>
                  <a:t>Operators </a:t>
                </a:r>
              </a:p>
              <a:p>
                <a:pPr lvl="1"/>
                <a:r>
                  <a:rPr lang="en-US" dirty="0"/>
                  <a:t>()</a:t>
                </a:r>
              </a:p>
              <a:p>
                <a:pPr lvl="1"/>
                <a:r>
                  <a:rPr lang="en-US" dirty="0"/>
                  <a:t>NOT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</m:e>
                    </m:acc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AND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.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>
                  <a:sym typeface="Wingdings" panose="05000000000000000000" pitchFamily="2" charset="2"/>
                </a:endParaRPr>
              </a:p>
              <a:p>
                <a:pPr lvl="1"/>
                <a:r>
                  <a:rPr lang="en-US" dirty="0"/>
                  <a:t>XOR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⊕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XNOR </a:t>
                </a:r>
                <a:r>
                  <a:rPr lang="en-US" dirty="0"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𝐴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⊕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OR    </a:t>
                </a:r>
                <a:r>
                  <a:rPr lang="en-US" dirty="0">
                    <a:sym typeface="Wingdings" panose="05000000000000000000" pitchFamily="2" charset="2"/>
                  </a:rPr>
                  <a:t>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D7531D-AC28-E02E-BDE8-C3CB0B3830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231486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EF463-8E69-9B0E-5E1E-A8A4361A3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9F375-B6F2-5C4F-0378-385B893AA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 </a:t>
            </a:r>
            <a:r>
              <a:rPr lang="en-US" sz="2000" dirty="0"/>
              <a:t>( same as bitwise operations </a:t>
            </a:r>
            <a:r>
              <a:rPr lang="en-US" sz="2000" dirty="0">
                <a:sym typeface="Wingdings" panose="05000000000000000000" pitchFamily="2" charset="2"/>
              </a:rPr>
              <a:t> easy</a:t>
            </a:r>
            <a:r>
              <a:rPr lang="en-US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𝒀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  <a:sym typeface="Wingdings" panose="05000000000000000000" pitchFamily="2" charset="2"/>
                                  </a:rPr>
                                  <m:t>⊕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en-US" dirty="0"/>
                                  <m:t>Y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85C206E2-06FC-C7B2-FAED-73E2B11D88E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683151470"/>
                  </p:ext>
                </p:extLst>
              </p:nvPr>
            </p:nvGraphicFramePr>
            <p:xfrm>
              <a:off x="950310" y="3429000"/>
              <a:ext cx="8784895" cy="1899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56979">
                      <a:extLst>
                        <a:ext uri="{9D8B030D-6E8A-4147-A177-3AD203B41FA5}">
                          <a16:colId xmlns:a16="http://schemas.microsoft.com/office/drawing/2014/main" val="4184432793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0846746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2121035788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1496895670"/>
                        </a:ext>
                      </a:extLst>
                    </a:gridCol>
                    <a:gridCol w="1756979">
                      <a:extLst>
                        <a:ext uri="{9D8B030D-6E8A-4147-A177-3AD203B41FA5}">
                          <a16:colId xmlns:a16="http://schemas.microsoft.com/office/drawing/2014/main" val="4230776581"/>
                        </a:ext>
                      </a:extLst>
                    </a:gridCol>
                  </a:tblGrid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694" t="-6349" r="-202083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99654" t="-6349" r="-101384" b="-419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1042" t="-6349" r="-1736" b="-4190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4535812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8725689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471183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86581744"/>
                      </a:ext>
                    </a:extLst>
                  </a:tr>
                  <a:tr h="379872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25282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04EA78DC-E72B-AA3F-DD05-4D1D66508E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60588175"/>
                  </p:ext>
                </p:extLst>
              </p:nvPr>
            </p:nvGraphicFramePr>
            <p:xfrm>
              <a:off x="950310" y="1839017"/>
              <a:ext cx="3619938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09969">
                      <a:extLst>
                        <a:ext uri="{9D8B030D-6E8A-4147-A177-3AD203B41FA5}">
                          <a16:colId xmlns:a16="http://schemas.microsoft.com/office/drawing/2014/main" val="923450553"/>
                        </a:ext>
                      </a:extLst>
                    </a:gridCol>
                    <a:gridCol w="1809969">
                      <a:extLst>
                        <a:ext uri="{9D8B030D-6E8A-4147-A177-3AD203B41FA5}">
                          <a16:colId xmlns:a16="http://schemas.microsoft.com/office/drawing/2014/main" val="30157419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673" t="-6557" r="-1347" b="-2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1486493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374631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450015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AD3397B-377F-7A84-0DDF-99BD55E4C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3806096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3C287-FA78-3AE8-013F-3406E803B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expressions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Evaluate for A = 1 , B = 0 , C =0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.B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𝐴𝐵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F2FEC-2754-1535-B2D9-82B5447468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880967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6A50-A7B2-0EAB-DAA1-4E6F7C1B0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Rules/Discovery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Identity</a:t>
                </a:r>
              </a:p>
              <a:p>
                <a:pPr lvl="1"/>
                <a:r>
                  <a:rPr lang="en-US" dirty="0"/>
                  <a:t>A + 0 = A</a:t>
                </a:r>
              </a:p>
              <a:p>
                <a:pPr lvl="1"/>
                <a:r>
                  <a:rPr lang="en-US" dirty="0"/>
                  <a:t>A  . 1 = A</a:t>
                </a:r>
              </a:p>
              <a:p>
                <a:pPr lvl="1"/>
                <a:r>
                  <a:rPr lang="en-US" dirty="0"/>
                  <a:t>A + 1 = 1</a:t>
                </a:r>
              </a:p>
              <a:p>
                <a:pPr lvl="1"/>
                <a:r>
                  <a:rPr lang="en-US" dirty="0"/>
                  <a:t>A  . 0 = 0 </a:t>
                </a:r>
              </a:p>
              <a:p>
                <a:r>
                  <a:rPr lang="en-US" dirty="0"/>
                  <a:t>Idempotent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.  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= A</a:t>
                </a:r>
              </a:p>
              <a:p>
                <a:r>
                  <a:rPr lang="en-US" dirty="0"/>
                  <a:t>Complement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nor/>
                      </m:rPr>
                      <a:rPr lang="en-US" dirty="0"/>
                      <m:t> = </m:t>
                    </m:r>
                    <m:r>
                      <m:rPr>
                        <m:nor/>
                      </m:rPr>
                      <a:rPr lang="en-US" b="0" i="0" dirty="0" smtClean="0"/>
                      <m:t>0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9C67C-D956-457B-6C5F-D3356D10E3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b="-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800727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F6AD-9969-0048-8C5F-54BA5AA34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rules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Double Negation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̿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r>
                  <a:rPr lang="en-US" b="0" dirty="0"/>
                  <a:t>Absorption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b="0" dirty="0"/>
              </a:p>
              <a:p>
                <a:r>
                  <a:rPr lang="en-US" b="1" dirty="0"/>
                  <a:t>Distribution law </a:t>
                </a:r>
                <a:br>
                  <a:rPr lang="en-US" b="1" dirty="0"/>
                </a:br>
                <a:r>
                  <a:rPr lang="en-US" dirty="0"/>
                  <a:t>(symmetrical to both . and +)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CA680E-8CFC-1B8B-7486-EFBB399E03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60900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4F640-25A8-B0E4-213D-D5B78CE0B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it yourself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EB442C-84D6-F51D-7B8F-DF5C3E1F83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16492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A1F26-A2A5-5B10-3A4B-5A4D0A63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8C453-735D-9943-1D52-9282A0E3A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Solved </a:t>
            </a:r>
            <a:r>
              <a:rPr lang="en-US" sz="2000" dirty="0"/>
              <a:t>(and named)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Hint : These may be actual theorems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dirty="0"/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r>
                  <a:rPr lang="en-US" dirty="0" err="1"/>
                  <a:t>DeMorgan’s</a:t>
                </a:r>
                <a:r>
                  <a:rPr lang="en-US" dirty="0"/>
                  <a:t> law (again)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Consensus theorem 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Redundancy law</a:t>
                </a:r>
              </a:p>
              <a:p>
                <a:pPr lvl="2"/>
                <a:r>
                  <a:rPr lang="en-US" dirty="0"/>
                  <a:t>Also called, Second Absorption law</a:t>
                </a:r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Redundancy law (again)</a:t>
                </a:r>
              </a:p>
              <a:p>
                <a:pPr lvl="2"/>
                <a:r>
                  <a:rPr lang="en-US" b="0" dirty="0"/>
                  <a:t>Also called , Third distributive law</a:t>
                </a:r>
              </a:p>
              <a:p>
                <a:pPr lvl="2"/>
                <a:endParaRPr lang="en-US" b="0" dirty="0"/>
              </a:p>
              <a:p>
                <a:pPr lvl="2"/>
                <a:endParaRPr lang="en-US" b="0" dirty="0"/>
              </a:p>
              <a:p>
                <a:pPr lvl="1"/>
                <a:endParaRPr lang="en-US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6A9DC8-04AF-13CC-E010-C4639C34E1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801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096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2A8DE-70D1-F0C4-50B6-932DB537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F0D293-2E99-8E01-9D02-C3EB766841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952882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B0124-F2C3-D388-3D32-C9F41B15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0C5AF-27A6-2DE7-E719-D9C62BD3D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1..4 : answers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By Absorption law = A, OR</a:t>
                </a:r>
              </a:p>
              <a:p>
                <a:pPr lvl="2"/>
                <a:r>
                  <a:rPr lang="en-US" dirty="0"/>
                  <a:t>A.A + A.B</a:t>
                </a:r>
              </a:p>
              <a:p>
                <a:pPr lvl="2"/>
                <a:r>
                  <a:rPr lang="en-US" dirty="0"/>
                  <a:t>A + AB  </a:t>
                </a:r>
                <a:r>
                  <a:rPr lang="en-US" dirty="0">
                    <a:solidFill>
                      <a:srgbClr val="00B050"/>
                    </a:solidFill>
                  </a:rPr>
                  <a:t>//(A.A = A), Idempotent Law</a:t>
                </a:r>
              </a:p>
              <a:p>
                <a:pPr lvl="2"/>
                <a:r>
                  <a:rPr lang="en-US" dirty="0"/>
                  <a:t>A (1+ B) </a:t>
                </a:r>
                <a:r>
                  <a:rPr lang="en-US" dirty="0">
                    <a:solidFill>
                      <a:srgbClr val="00B050"/>
                    </a:solidFill>
                  </a:rPr>
                  <a:t>// factor A out</a:t>
                </a:r>
              </a:p>
              <a:p>
                <a:pPr lvl="2"/>
                <a:r>
                  <a:rPr lang="en-US" dirty="0"/>
                  <a:t>A </a:t>
                </a:r>
                <a:r>
                  <a:rPr lang="en-US" dirty="0">
                    <a:solidFill>
                      <a:srgbClr val="00B050"/>
                    </a:solidFill>
                  </a:rPr>
                  <a:t>// By null law 1+B = 1 and A.1 = 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i="1" dirty="0">
                    <a:latin typeface="Cambria Math" panose="02040503050406030204" pitchFamily="18" charset="0"/>
                  </a:rPr>
                  <a:t>1.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i="1" dirty="0">
                    <a:latin typeface="Cambria Math" panose="02040503050406030204" pitchFamily="18" charset="0"/>
                  </a:rPr>
                  <a:t> B) </a:t>
                </a:r>
                <a:r>
                  <a:rPr lang="en-US" dirty="0">
                    <a:solidFill>
                      <a:srgbClr val="00B050"/>
                    </a:solidFill>
                  </a:rPr>
                  <a:t>// By Complement law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b="0" dirty="0"/>
                  <a:t> B </a:t>
                </a:r>
              </a:p>
              <a:p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//Distribution law</a:t>
                </a:r>
              </a:p>
              <a:p>
                <a:pPr lvl="1"/>
                <a:r>
                  <a:rPr lang="en-US" b="0" dirty="0"/>
                  <a:t>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+0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rgbClr val="00B050"/>
                    </a:solidFill>
                  </a:rPr>
                  <a:t>//Idempotent law + Complement law</a:t>
                </a:r>
              </a:p>
              <a:p>
                <a:pPr lvl="1"/>
                <a:r>
                  <a:rPr lang="en-US" b="0" dirty="0"/>
                  <a:t>A</a:t>
                </a:r>
                <a:endParaRPr lang="en-US" dirty="0">
                  <a:solidFill>
                    <a:srgbClr val="00B050"/>
                  </a:solidFill>
                </a:endParaRP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895C6-0364-139E-297D-2D74CFF1C0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120" b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827030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1777-7C6F-76BE-45C2-4D03B4DC5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5..11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𝑩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+ 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acc>
                    <m:r>
                      <a:rPr lang="en-US" b="1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</m:acc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 +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</m:acc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lvl="2"/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2C71F2-ACC9-E416-C317-D9E32AD45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261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12313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9C9B2-45AB-787B-5C91-05A5B558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DC5A-141E-6F8B-7CFB-CAA9C873B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Lets Simplify 5..11 : answers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0A3309-A527-5D31-6F50-29E46FDBB2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These are hard , think of them as puzzles,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0A3309-A527-5D31-6F50-29E46FDBB2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874231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C7ACA-4DBD-62AB-39CA-F2A3B56B9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Tables/Expressions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CED5D-CF97-64FD-7F0B-F9E29704E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Create truth table for each and validate/discover simplifications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b="0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/>
                  <a:t> B </a:t>
                </a:r>
                <a:endParaRPr lang="en-US" b="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b="0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b="0" dirty="0"/>
                  <a:t> </a:t>
                </a:r>
                <a:r>
                  <a:rPr lang="en-US" dirty="0"/>
                  <a:t>= A</a:t>
                </a:r>
                <a:endParaRPr lang="en-US" b="0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=?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?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CED5D-CF97-64FD-7F0B-F9E29704E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00606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5768-6F15-06E9-C840-DA5612F8D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ADE1B-D96A-3D30-68AE-1B60E274D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E73E7D-16C4-E737-FB0A-9F0380701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Solutions to Boolean </a:t>
                </a:r>
                <a:r>
                  <a:rPr lang="en-US" dirty="0" err="1"/>
                  <a:t>Simplifcations</a:t>
                </a:r>
                <a:r>
                  <a:rPr lang="en-US" dirty="0"/>
                  <a:t> ….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</a:t>
                </a:r>
                <a:r>
                  <a:rPr lang="en-US" b="1" dirty="0"/>
                  <a:t>A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:r>
                  <a:rPr lang="en-US" b="1" dirty="0"/>
                  <a:t>A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law,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other one</a:t>
                </a:r>
                <a:endParaRPr lang="en-US" b="1" i="1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).(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   //Distribution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(1).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// Idempotent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AB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E73E7D-16C4-E737-FB0A-9F0380701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249802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2ABC3-2FB2-EB18-7247-2C7A596D6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9C898-35FC-6EF2-7A80-305B2EB07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1..4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5FFE3-D627-63D4-4E57-5DE63F6C27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Solutions to Boolean </a:t>
                </a:r>
                <a:r>
                  <a:rPr lang="en-US" dirty="0" err="1"/>
                  <a:t>Simplifcations</a:t>
                </a:r>
                <a:r>
                  <a:rPr lang="en-US" dirty="0"/>
                  <a:t> ….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 = </a:t>
                </a:r>
                <a:r>
                  <a:rPr lang="en-US" b="1" dirty="0"/>
                  <a:t>A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:r>
                  <a:rPr lang="en-US" b="1" dirty="0"/>
                  <a:t>A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Use Absorption law,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other one</a:t>
                </a:r>
                <a:endParaRPr lang="en-US" b="1" i="1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/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dirty="0"/>
                  <a:t>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).(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//Distribution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:r>
                  <a:rPr lang="en-US" dirty="0"/>
                  <a:t>(1).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 Idempotent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).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= A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//Distribution Law </a:t>
                </a:r>
                <a:r>
                  <a:rPr lang="en-US" i="1" dirty="0">
                    <a:solidFill>
                      <a:schemeClr val="accent6">
                        <a:lumMod val="75000"/>
                      </a:schemeClr>
                    </a:solidFill>
                  </a:rPr>
                  <a:t>in reverse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+0</m:t>
                    </m:r>
                  </m:oMath>
                </a14:m>
                <a:r>
                  <a:rPr lang="en-US" b="0" i="1" dirty="0"/>
                  <a:t> 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</a:rPr>
                  <a:t>//Complement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i="1" dirty="0">
                  <a:solidFill>
                    <a:schemeClr val="accent6">
                      <a:lumMod val="75000"/>
                    </a:schemeClr>
                  </a:solidFill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75FFE3-D627-63D4-4E57-5DE63F6C27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973249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E7EA4-5E46-1419-52D3-511DA43F8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5,6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9D5AC8-32D5-9E48-B6EB-F9B294EA54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AB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//See 4</a:t>
                </a:r>
              </a:p>
              <a:p>
                <a:pPr lvl="2"/>
                <a:r>
                  <a:rPr lang="en-US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//Distribution Law</a:t>
                </a:r>
              </a:p>
              <a:p>
                <a:pPr lvl="2"/>
                <a:r>
                  <a:rPr lang="en-US" b="0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//De-Morgan’s Law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//Factor the like terms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//Identity Law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 startAt="5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9D5AC8-32D5-9E48-B6EB-F9B294EA54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783010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318A9-801A-714A-A234-6CD3FE66D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80F5D-20D4-03D8-1456-187A1EC7A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Expressions: </a:t>
            </a:r>
            <a:r>
              <a:rPr lang="en-US" dirty="0" err="1"/>
              <a:t>Soln</a:t>
            </a:r>
            <a:r>
              <a:rPr lang="en-US" dirty="0"/>
              <a:t> 5,6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DA508B-0F76-F6D7-26DF-64443D0443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914400" lvl="1" indent="-457200">
                  <a:buFont typeface="+mj-lt"/>
                  <a:buAutoNum type="arabicPeriod" startAt="7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.(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= 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(A.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+B.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(A.B +B </a:t>
                </a:r>
                <a:r>
                  <a:rPr lang="en-US" dirty="0"/>
                  <a:t> +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//Absorption and expansion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(B </a:t>
                </a:r>
                <a:r>
                  <a:rPr lang="en-US" dirty="0"/>
                  <a:t> +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. 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//Absorption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A.B  + B.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𝐶𝐴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 and combine like terms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</a:t>
                </a:r>
                <a:r>
                  <a:rPr lang="en-US" i="1" dirty="0">
                    <a:latin typeface="Cambria Math" panose="02040503050406030204" pitchFamily="18" charset="0"/>
                  </a:rPr>
                  <a:t>B.(A+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)</a:t>
                </a:r>
              </a:p>
              <a:p>
                <a:pPr marL="914400" lvl="1" indent="-457200">
                  <a:buFont typeface="+mj-lt"/>
                  <a:buAutoNum type="arabicPeriod" startAt="7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𝐵𝐶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</a:rPr>
                  <a:t>//Distribute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A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+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Law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+ B.C.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//Distribute</a:t>
                </a:r>
              </a:p>
              <a:p>
                <a:pPr lvl="2"/>
                <a:r>
                  <a:rPr lang="en-US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𝐵𝐶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+ B.C.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//Complement  Law and rearrange</a:t>
                </a: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1371600" lvl="2" indent="-457200">
                  <a:buFont typeface="+mj-lt"/>
                  <a:buAutoNum type="arabicPeriod" startAt="5"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DA508B-0F76-F6D7-26DF-64443D0443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74539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434AD-E6F7-D00B-CB66-20747A08B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5EE43-FFCC-BF84-FE5A-6984F2C46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Specific to Test2 ,</a:t>
            </a:r>
            <a:r>
              <a:rPr lang="en-US" i="1" dirty="0"/>
              <a:t>(skip if you are already done with test 2)</a:t>
            </a:r>
          </a:p>
          <a:p>
            <a:pPr lvl="1"/>
            <a:r>
              <a:rPr lang="en-US" dirty="0">
                <a:hlinkClick r:id="rId2"/>
              </a:rPr>
              <a:t>https://www.hackerrank.com/acsltest2practise</a:t>
            </a:r>
            <a:r>
              <a:rPr lang="en-US" dirty="0"/>
              <a:t> </a:t>
            </a:r>
          </a:p>
          <a:p>
            <a:r>
              <a:rPr lang="en-US" dirty="0"/>
              <a:t>Specific to Test 3</a:t>
            </a:r>
          </a:p>
          <a:p>
            <a:pPr lvl="1"/>
            <a:r>
              <a:rPr lang="en-US" dirty="0">
                <a:hlinkClick r:id="rId3"/>
              </a:rPr>
              <a:t>https://www.hackerrank.com/acsltest3practise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Knowledge needed</a:t>
            </a:r>
          </a:p>
          <a:p>
            <a:pPr lvl="2"/>
            <a:r>
              <a:rPr lang="en-US" dirty="0"/>
              <a:t>New: Stacks and Queues</a:t>
            </a:r>
          </a:p>
          <a:p>
            <a:pPr lvl="2"/>
            <a:r>
              <a:rPr lang="en-US"/>
              <a:t>Existing</a:t>
            </a:r>
            <a:r>
              <a:rPr lang="en-US" dirty="0"/>
              <a:t>: if else, loops, arrays, functions, …</a:t>
            </a:r>
          </a:p>
        </p:txBody>
      </p:sp>
    </p:spTree>
    <p:extLst>
      <p:ext uri="{BB962C8B-B14F-4D97-AF65-F5344CB8AC3E}">
        <p14:creationId xmlns:p14="http://schemas.microsoft.com/office/powerpoint/2010/main" val="205332962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0BA96-FDEB-0275-31FE-0F91C76B3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 :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EB8CE-CBD7-DE7D-2F24-555C4474D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FIFO : First In First Out </a:t>
            </a:r>
          </a:p>
          <a:p>
            <a:pPr lvl="1"/>
            <a:r>
              <a:rPr lang="en-US" dirty="0"/>
              <a:t>Push</a:t>
            </a:r>
          </a:p>
          <a:p>
            <a:pPr lvl="2"/>
            <a:r>
              <a:rPr lang="en-US" dirty="0"/>
              <a:t>Action: Push an item into queue</a:t>
            </a:r>
          </a:p>
          <a:p>
            <a:pPr lvl="2"/>
            <a:r>
              <a:rPr lang="en-US" dirty="0"/>
              <a:t>Can also be called (enqueue , </a:t>
            </a:r>
            <a:r>
              <a:rPr lang="en-US" dirty="0" err="1"/>
              <a:t>push_back</a:t>
            </a:r>
            <a:r>
              <a:rPr lang="en-US" dirty="0"/>
              <a:t>, …)</a:t>
            </a:r>
          </a:p>
          <a:p>
            <a:pPr lvl="1"/>
            <a:r>
              <a:rPr lang="en-US" dirty="0"/>
              <a:t>Pop</a:t>
            </a:r>
          </a:p>
          <a:p>
            <a:pPr lvl="2"/>
            <a:r>
              <a:rPr lang="en-US" dirty="0"/>
              <a:t>Action :Remove the first item in queue</a:t>
            </a:r>
          </a:p>
          <a:p>
            <a:pPr lvl="2"/>
            <a:r>
              <a:rPr lang="en-US" dirty="0"/>
              <a:t>Can also be called (dequeue , </a:t>
            </a:r>
            <a:r>
              <a:rPr lang="en-US" dirty="0" err="1"/>
              <a:t>pop_front</a:t>
            </a:r>
            <a:r>
              <a:rPr lang="en-US" dirty="0"/>
              <a:t>,…)</a:t>
            </a:r>
          </a:p>
          <a:p>
            <a:pPr lvl="1"/>
            <a:r>
              <a:rPr lang="en-US" dirty="0"/>
              <a:t>Top </a:t>
            </a:r>
          </a:p>
          <a:p>
            <a:pPr lvl="2"/>
            <a:r>
              <a:rPr lang="en-US" dirty="0"/>
              <a:t>Action : Peek (do not remove) the first item in queue</a:t>
            </a:r>
          </a:p>
          <a:p>
            <a:pPr lvl="2"/>
            <a:r>
              <a:rPr lang="en-US" dirty="0"/>
              <a:t>Can also be called ( front, …)</a:t>
            </a:r>
          </a:p>
          <a:p>
            <a:pPr lvl="1"/>
            <a:r>
              <a:rPr lang="en-US" dirty="0"/>
              <a:t>Simulation </a:t>
            </a:r>
          </a:p>
          <a:p>
            <a:pPr lvl="2"/>
            <a:r>
              <a:rPr lang="en-US" dirty="0"/>
              <a:t>ems_winter_2025_acsl101\source\</a:t>
            </a:r>
            <a:r>
              <a:rPr lang="en-US" dirty="0" err="1"/>
              <a:t>queue_stack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68585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837F5-6EB6-D652-74CB-258C06155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48800-5A6E-82AE-A5CB-5CDEE0CFD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 :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A019D-DD89-5C1B-B36F-A3C88E7A9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LIFO : Last In First Out </a:t>
            </a:r>
          </a:p>
          <a:p>
            <a:pPr lvl="1"/>
            <a:r>
              <a:rPr lang="en-US" dirty="0"/>
              <a:t>Push</a:t>
            </a:r>
          </a:p>
          <a:p>
            <a:pPr lvl="2"/>
            <a:r>
              <a:rPr lang="en-US" dirty="0"/>
              <a:t>Action: Push an item into stack</a:t>
            </a:r>
          </a:p>
          <a:p>
            <a:pPr lvl="2"/>
            <a:r>
              <a:rPr lang="en-US" dirty="0"/>
              <a:t>Can also be called (</a:t>
            </a:r>
            <a:r>
              <a:rPr lang="en-US" dirty="0" err="1"/>
              <a:t>insert,push_back</a:t>
            </a:r>
            <a:r>
              <a:rPr lang="en-US" dirty="0"/>
              <a:t>, …)</a:t>
            </a:r>
          </a:p>
          <a:p>
            <a:pPr lvl="1"/>
            <a:r>
              <a:rPr lang="en-US" dirty="0"/>
              <a:t>Pop</a:t>
            </a:r>
          </a:p>
          <a:p>
            <a:pPr lvl="2"/>
            <a:r>
              <a:rPr lang="en-US" dirty="0"/>
              <a:t>Action :Remove the first item in queue</a:t>
            </a:r>
          </a:p>
          <a:p>
            <a:pPr lvl="2"/>
            <a:r>
              <a:rPr lang="en-US" dirty="0"/>
              <a:t>Can also be called ( </a:t>
            </a:r>
            <a:r>
              <a:rPr lang="en-US" dirty="0" err="1"/>
              <a:t>pop_front</a:t>
            </a:r>
            <a:r>
              <a:rPr lang="en-US" dirty="0"/>
              <a:t>,…)</a:t>
            </a:r>
          </a:p>
          <a:p>
            <a:pPr lvl="1"/>
            <a:r>
              <a:rPr lang="en-US" dirty="0"/>
              <a:t>Top </a:t>
            </a:r>
          </a:p>
          <a:p>
            <a:pPr lvl="2"/>
            <a:r>
              <a:rPr lang="en-US" dirty="0"/>
              <a:t>Action : Peek (do not remove) the first item in queue</a:t>
            </a:r>
          </a:p>
          <a:p>
            <a:pPr lvl="2"/>
            <a:r>
              <a:rPr lang="en-US" dirty="0"/>
              <a:t>Can also be called (back, …)</a:t>
            </a:r>
          </a:p>
          <a:p>
            <a:pPr lvl="1"/>
            <a:r>
              <a:rPr lang="en-US" dirty="0"/>
              <a:t>Simulation </a:t>
            </a:r>
          </a:p>
          <a:p>
            <a:pPr lvl="2"/>
            <a:r>
              <a:rPr lang="en-US" dirty="0"/>
              <a:t>ems_winter_2025_acsl101\source\</a:t>
            </a:r>
            <a:r>
              <a:rPr lang="en-US" dirty="0" err="1"/>
              <a:t>queue_stack</a:t>
            </a:r>
            <a:endParaRPr lang="en-US" dirty="0"/>
          </a:p>
          <a:p>
            <a:pPr marL="9144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871018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9D11A-E375-E71D-07F3-EE29E1111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Q1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1AE1CA-0CED-FC52-B3A9-B263513E5F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6062" y="1690688"/>
            <a:ext cx="4036690" cy="4213159"/>
          </a:xfrm>
        </p:spPr>
      </p:pic>
    </p:spTree>
    <p:extLst>
      <p:ext uri="{BB962C8B-B14F-4D97-AF65-F5344CB8AC3E}">
        <p14:creationId xmlns:p14="http://schemas.microsoft.com/office/powerpoint/2010/main" val="351097054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2178D-935B-AAEE-36BA-F87AA98BA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F76CD-D406-A389-02FF-0BA92261C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A1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8ECFA53-052C-D6F6-6B28-122C1A2DBA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03421758"/>
              </p:ext>
            </p:extLst>
          </p:nvPr>
        </p:nvGraphicFramePr>
        <p:xfrm>
          <a:off x="1224455" y="2948151"/>
          <a:ext cx="4001814" cy="2774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938">
                  <a:extLst>
                    <a:ext uri="{9D8B030D-6E8A-4147-A177-3AD203B41FA5}">
                      <a16:colId xmlns:a16="http://schemas.microsoft.com/office/drawing/2014/main" val="563773428"/>
                    </a:ext>
                  </a:extLst>
                </a:gridCol>
                <a:gridCol w="1453930">
                  <a:extLst>
                    <a:ext uri="{9D8B030D-6E8A-4147-A177-3AD203B41FA5}">
                      <a16:colId xmlns:a16="http://schemas.microsoft.com/office/drawing/2014/main" val="2982123843"/>
                    </a:ext>
                  </a:extLst>
                </a:gridCol>
                <a:gridCol w="1213946">
                  <a:extLst>
                    <a:ext uri="{9D8B030D-6E8A-4147-A177-3AD203B41FA5}">
                      <a16:colId xmlns:a16="http://schemas.microsoft.com/office/drawing/2014/main" val="905214871"/>
                    </a:ext>
                  </a:extLst>
                </a:gridCol>
              </a:tblGrid>
              <a:tr h="462456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A[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] : 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A[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] : After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03781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4111627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9452181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2189348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0260239"/>
                  </a:ext>
                </a:extLst>
              </a:tr>
              <a:tr h="462456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6806729"/>
                  </a:ext>
                </a:extLst>
              </a:tr>
            </a:tbl>
          </a:graphicData>
        </a:graphic>
      </p:graphicFrame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F0E50695-BDC5-0370-1DB9-2A32436F2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5848" y="1675557"/>
            <a:ext cx="4036690" cy="4213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45E9F79-29BB-4CDA-46A4-57558B564644}"/>
              </a:ext>
            </a:extLst>
          </p:cNvPr>
          <p:cNvSpPr txBox="1"/>
          <p:nvPr/>
        </p:nvSpPr>
        <p:spPr>
          <a:xfrm>
            <a:off x="1224455" y="2088587"/>
            <a:ext cx="41246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9 7 5 3 1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772070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60C2-3FE9-DE1C-F670-2471C6908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3A649AB-679F-53E7-0286-70971B8EF8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4934" y="1690688"/>
            <a:ext cx="4516662" cy="4142553"/>
          </a:xfrm>
        </p:spPr>
      </p:pic>
    </p:spTree>
    <p:extLst>
      <p:ext uri="{BB962C8B-B14F-4D97-AF65-F5344CB8AC3E}">
        <p14:creationId xmlns:p14="http://schemas.microsoft.com/office/powerpoint/2010/main" val="167432419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7532A-6F5A-F03B-491E-8D8610979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84C87-8A76-0A64-FF44-67BE47DDE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18AF0C-177A-2287-B125-733572E30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2 4 6 8</a:t>
            </a:r>
          </a:p>
          <a:p>
            <a:pPr marL="0" indent="0">
              <a:buNone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This program tried to sort</a:t>
            </a:r>
          </a:p>
          <a:p>
            <a:pPr>
              <a:buFontTx/>
              <a:buChar char="-"/>
            </a:pPr>
            <a:r>
              <a:rPr lang="en-US" dirty="0"/>
              <a:t>Already sorted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Nothing happens 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3A58DBF8-59D4-4A3D-CD6D-54C16CC7A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599" y="1825625"/>
            <a:ext cx="4212021" cy="38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797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DC7EA-2D17-DA29-7BE7-A16B9FCCE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7385F-E344-2CA5-16FD-C3C3301D0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Q3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175DD1A-FC8B-A807-42A0-48613AC903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38313" y="1690688"/>
            <a:ext cx="5064006" cy="4071609"/>
          </a:xfrm>
        </p:spPr>
      </p:pic>
    </p:spTree>
    <p:extLst>
      <p:ext uri="{BB962C8B-B14F-4D97-AF65-F5344CB8AC3E}">
        <p14:creationId xmlns:p14="http://schemas.microsoft.com/office/powerpoint/2010/main" val="196727512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586C3-3556-C4E4-2F98-34D72C0EF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613A8-03DC-CAC0-8256-B67ADE32A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A3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127C6-BB4E-AE59-83D7-ECD64EB85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13</a:t>
            </a:r>
          </a:p>
          <a:p>
            <a:r>
              <a:rPr lang="en-US" dirty="0"/>
              <a:t>Add j only when (</a:t>
            </a:r>
            <a:r>
              <a:rPr lang="en-US" dirty="0" err="1"/>
              <a:t>i+j</a:t>
            </a:r>
            <a:r>
              <a:rPr lang="en-US" dirty="0"/>
              <a:t>) is even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 =1</a:t>
            </a:r>
          </a:p>
          <a:p>
            <a:pPr lvl="2"/>
            <a:r>
              <a:rPr lang="en-US" dirty="0"/>
              <a:t>j=1 → 2 (even) → +1 → sum=1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=2</a:t>
            </a:r>
          </a:p>
          <a:p>
            <a:pPr lvl="2"/>
            <a:r>
              <a:rPr lang="en-US" dirty="0"/>
              <a:t>j=1 → 3</a:t>
            </a:r>
          </a:p>
          <a:p>
            <a:pPr lvl="2"/>
            <a:r>
              <a:rPr lang="en-US" dirty="0"/>
              <a:t>j=2 → 4(even) → +2 → sum=3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=3</a:t>
            </a:r>
          </a:p>
          <a:p>
            <a:pPr lvl="2"/>
            <a:r>
              <a:rPr lang="en-US" dirty="0"/>
              <a:t>j=1 → 4 (even) → +1 → sum=4</a:t>
            </a:r>
          </a:p>
          <a:p>
            <a:pPr lvl="2"/>
            <a:r>
              <a:rPr lang="en-US" dirty="0"/>
              <a:t>j=2 → 5 (odd)</a:t>
            </a:r>
          </a:p>
          <a:p>
            <a:pPr lvl="2"/>
            <a:r>
              <a:rPr lang="en-US" dirty="0"/>
              <a:t>j=3 → 6 (even) → +3 → sum=7</a:t>
            </a:r>
          </a:p>
          <a:p>
            <a:pPr lvl="1"/>
            <a:r>
              <a:rPr lang="en-US" dirty="0" err="1"/>
              <a:t>i</a:t>
            </a:r>
            <a:r>
              <a:rPr lang="en-US" dirty="0"/>
              <a:t>=4</a:t>
            </a:r>
          </a:p>
          <a:p>
            <a:pPr lvl="2"/>
            <a:r>
              <a:rPr lang="en-US" dirty="0"/>
              <a:t>j=1 → 5 (odd)</a:t>
            </a:r>
          </a:p>
          <a:p>
            <a:pPr lvl="2"/>
            <a:r>
              <a:rPr lang="en-US" dirty="0"/>
              <a:t>j=2 → 6 (even) → +2 → sum=9</a:t>
            </a:r>
          </a:p>
          <a:p>
            <a:pPr lvl="2"/>
            <a:r>
              <a:rPr lang="en-US" dirty="0"/>
              <a:t>j=3 → 7 (odd)</a:t>
            </a:r>
          </a:p>
          <a:p>
            <a:pPr lvl="2"/>
            <a:r>
              <a:rPr lang="en-US" dirty="0"/>
              <a:t>j=4 → 8 (even) → +4 → sum=13</a:t>
            </a:r>
          </a:p>
          <a:p>
            <a:pPr lvl="2"/>
            <a:endParaRPr lang="en-US" dirty="0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3AD373F5-91BE-5532-CE2F-4C5A2A4542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6661" y="1990233"/>
            <a:ext cx="4855249" cy="3903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83908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64A83-F873-72A7-C405-8ABD45D0B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Q4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868C33-D8B7-9D19-DBFD-BAAA6B1E4A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2788" y="1799728"/>
            <a:ext cx="4100645" cy="4563898"/>
          </a:xfrm>
        </p:spPr>
      </p:pic>
    </p:spTree>
    <p:extLst>
      <p:ext uri="{BB962C8B-B14F-4D97-AF65-F5344CB8AC3E}">
        <p14:creationId xmlns:p14="http://schemas.microsoft.com/office/powerpoint/2010/main" val="362232017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1A11-13A6-13EA-2BBF-E3F325435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073A9-D3A1-EA46-9965-88D807526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A4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F4CA66-2E1D-A65D-96B1-7D63B9B63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</a:t>
            </a:r>
          </a:p>
          <a:p>
            <a:r>
              <a:rPr lang="en-US" dirty="0"/>
              <a:t>Count how many times A[</a:t>
            </a:r>
            <a:r>
              <a:rPr lang="en-US" dirty="0" err="1"/>
              <a:t>i</a:t>
            </a:r>
            <a:r>
              <a:rPr lang="en-US" dirty="0"/>
              <a:t>] &lt; A[j]</a:t>
            </a:r>
          </a:p>
          <a:p>
            <a:pPr lvl="1"/>
            <a:r>
              <a:rPr lang="it-IT" dirty="0"/>
              <a:t>1 &lt; 3,5,7 → 3</a:t>
            </a:r>
          </a:p>
          <a:p>
            <a:pPr lvl="1"/>
            <a:r>
              <a:rPr lang="it-IT" dirty="0"/>
              <a:t>3 &lt; 5,7 → 2</a:t>
            </a:r>
          </a:p>
          <a:p>
            <a:pPr lvl="1"/>
            <a:r>
              <a:rPr lang="it-IT" dirty="0"/>
              <a:t>5 &lt; 7 → 1</a:t>
            </a:r>
          </a:p>
          <a:p>
            <a:pPr lvl="1"/>
            <a:r>
              <a:rPr lang="it-IT" dirty="0"/>
              <a:t>7 &lt; none → 0</a:t>
            </a:r>
            <a:endParaRPr lang="en-US" dirty="0"/>
          </a:p>
          <a:p>
            <a:r>
              <a:rPr lang="en-US" dirty="0"/>
              <a:t>Total = 3 + 2 + 1 = 6</a:t>
            </a:r>
            <a:endParaRPr lang="it-IT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665AAB9F-0F4E-0B93-A910-68451237E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937" y="1690687"/>
            <a:ext cx="3909659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39507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58E75-5553-324F-5B48-028B76BBD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274CD-93BF-0487-A229-2394EC9B2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3C46BAF-D801-5E6F-3276-708F9CF1C9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1615" y="1616107"/>
            <a:ext cx="2220578" cy="4746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85541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29693-7FD9-47E4-BA86-B97EB9408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C0844-6D66-B048-A14A-CE67FE9B5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Q5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DFC1A9-4F46-A34B-EC6F-15BA81F9E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5 2 1</a:t>
            </a:r>
          </a:p>
          <a:p>
            <a:pPr lvl="1"/>
            <a:r>
              <a:rPr lang="en-US" dirty="0"/>
              <a:t>Push 1,2,3,4</a:t>
            </a:r>
          </a:p>
          <a:p>
            <a:pPr lvl="1"/>
            <a:r>
              <a:rPr lang="en-US" dirty="0"/>
              <a:t>Pop twice </a:t>
            </a:r>
          </a:p>
          <a:p>
            <a:pPr lvl="2"/>
            <a:r>
              <a:rPr lang="en-US" dirty="0"/>
              <a:t>4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1,2,3</a:t>
            </a:r>
          </a:p>
          <a:p>
            <a:pPr lvl="2"/>
            <a:r>
              <a:rPr lang="en-US" dirty="0"/>
              <a:t>3 </a:t>
            </a:r>
            <a:r>
              <a:rPr lang="en-US" dirty="0">
                <a:sym typeface="Wingdings" panose="05000000000000000000" pitchFamily="2" charset="2"/>
              </a:rPr>
              <a:t> 1,2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Push 5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1,2,5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Pop all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5,2,1</a:t>
            </a:r>
            <a:endParaRPr lang="en-US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04979409-7BA8-5D3F-228C-B55060B2B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767" y="1690688"/>
            <a:ext cx="2039275" cy="435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20341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5AF1E-B94B-B679-DF50-9B417918A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80D29-E26E-CC89-ED61-E18E39F86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Q6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720711A-4624-D6E5-76BF-5063A92FAF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5588" y="1690688"/>
            <a:ext cx="5122423" cy="4260795"/>
          </a:xfrm>
        </p:spPr>
      </p:pic>
    </p:spTree>
    <p:extLst>
      <p:ext uri="{BB962C8B-B14F-4D97-AF65-F5344CB8AC3E}">
        <p14:creationId xmlns:p14="http://schemas.microsoft.com/office/powerpoint/2010/main" val="38623285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978AA-FE52-CD93-522C-CD1CAD6E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D0B23-C7DE-7BD3-3432-914ED568A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this program do ? </a:t>
            </a:r>
            <a:r>
              <a:rPr lang="en-US"/>
              <a:t>A6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1FF15-17C3-E624-760A-CCA518D19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1 2 3 4</a:t>
            </a:r>
          </a:p>
          <a:p>
            <a:pPr lvl="1"/>
            <a:r>
              <a:rPr lang="en-US" dirty="0"/>
              <a:t>Bubble sort</a:t>
            </a:r>
          </a:p>
          <a:p>
            <a:pPr lvl="2"/>
            <a:r>
              <a:rPr lang="en-US" dirty="0"/>
              <a:t>Pass 1 </a:t>
            </a:r>
            <a:r>
              <a:rPr lang="en-US" dirty="0">
                <a:sym typeface="Wingdings" panose="05000000000000000000" pitchFamily="2" charset="2"/>
              </a:rPr>
              <a:t> 1,3,2,4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Pass 2  1,2,3,4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Pass 3  (No Change)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Pass 4  (No Change)</a:t>
            </a:r>
            <a:endParaRPr lang="en-US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481A62B2-389D-56BD-B428-9D0DBD6C1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3469" y="1943866"/>
            <a:ext cx="4660660" cy="387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834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4065</TotalTime>
  <Words>6049</Words>
  <Application>Microsoft Office PowerPoint</Application>
  <PresentationFormat>Widescreen</PresentationFormat>
  <Paragraphs>1190</Paragraphs>
  <Slides>100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10" baseType="lpstr">
      <vt:lpstr>Aptos</vt:lpstr>
      <vt:lpstr>Aptos Display</vt:lpstr>
      <vt:lpstr>Aptos Narrow</vt:lpstr>
      <vt:lpstr>Arial</vt:lpstr>
      <vt:lpstr>Bahnschrift SemiBold</vt:lpstr>
      <vt:lpstr>Cambria Math</vt:lpstr>
      <vt:lpstr>Cascadia Code</vt:lpstr>
      <vt:lpstr>Consolas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Review Evaluating Prefix/Postfix</vt:lpstr>
      <vt:lpstr>Precedence and associativity</vt:lpstr>
      <vt:lpstr>Precedence and associativity</vt:lpstr>
      <vt:lpstr>Precedence and associativity (lets evaluate)</vt:lpstr>
      <vt:lpstr>Precedence and associativity (answers)</vt:lpstr>
      <vt:lpstr>Convert to Prefix/Postfix (examples)</vt:lpstr>
      <vt:lpstr>Convert to Postfix</vt:lpstr>
      <vt:lpstr>Convert to Postfix</vt:lpstr>
      <vt:lpstr>Convert to Prefix and Postfix</vt:lpstr>
      <vt:lpstr>Convert to Prefix and Postfix (answers)</vt:lpstr>
      <vt:lpstr>Logical operators (for bits/bytes)</vt:lpstr>
      <vt:lpstr>Truth Tables</vt:lpstr>
      <vt:lpstr>Truth Tables</vt:lpstr>
      <vt:lpstr>Operations (evaluate)</vt:lpstr>
      <vt:lpstr>Operations (evaluate)</vt:lpstr>
      <vt:lpstr>Operations : Shift (evaluate)</vt:lpstr>
      <vt:lpstr>Answsers 1..3</vt:lpstr>
      <vt:lpstr>Answers 4..6</vt:lpstr>
      <vt:lpstr>Answers 7..8</vt:lpstr>
      <vt:lpstr>What does this Program do ? Q1.</vt:lpstr>
      <vt:lpstr>What does this Program do ? A1.</vt:lpstr>
      <vt:lpstr>What does this Program do ? Q2.</vt:lpstr>
      <vt:lpstr>What does this Program do ? A2.</vt:lpstr>
      <vt:lpstr>What does this Program do ? Q3</vt:lpstr>
      <vt:lpstr>What does this Program do ? A3</vt:lpstr>
      <vt:lpstr>What does this Program do ? Q4</vt:lpstr>
      <vt:lpstr>What does this Program do ? A4</vt:lpstr>
      <vt:lpstr>What does this Program do ? Q5</vt:lpstr>
      <vt:lpstr>What does this Program do ? A5</vt:lpstr>
      <vt:lpstr>What does this Program do ? Q6</vt:lpstr>
      <vt:lpstr>What does this Program do ? A6</vt:lpstr>
      <vt:lpstr>What does this Program do ? Q7</vt:lpstr>
      <vt:lpstr>What does this Program do ? A7</vt:lpstr>
      <vt:lpstr>Boolean Logic/Algebra</vt:lpstr>
      <vt:lpstr>Truth Tables ( same as bitwise operations  easy)</vt:lpstr>
      <vt:lpstr>Some expressions</vt:lpstr>
      <vt:lpstr>Rules/Discovery</vt:lpstr>
      <vt:lpstr>Some more rules</vt:lpstr>
      <vt:lpstr>Do it yourself </vt:lpstr>
      <vt:lpstr>Solved (and named)</vt:lpstr>
      <vt:lpstr>Lets Simplify 1..4</vt:lpstr>
      <vt:lpstr>Lets Simplify 1..4 : answers</vt:lpstr>
      <vt:lpstr>Lets Simplify 5..11</vt:lpstr>
      <vt:lpstr>Lets Simplify 5..11 : answers</vt:lpstr>
      <vt:lpstr>Truth Tables/Expressions</vt:lpstr>
      <vt:lpstr>Expressions: Soln</vt:lpstr>
      <vt:lpstr>Expressions: Soln 1..4</vt:lpstr>
      <vt:lpstr>Expressions: Soln 5,6</vt:lpstr>
      <vt:lpstr>Expressions: Soln 5,6</vt:lpstr>
      <vt:lpstr>Programming Practice</vt:lpstr>
      <vt:lpstr>Data Structures : Queue</vt:lpstr>
      <vt:lpstr>Data Structures : Stack</vt:lpstr>
      <vt:lpstr>What does this program do ? Q1</vt:lpstr>
      <vt:lpstr>What does this program do ? A1</vt:lpstr>
      <vt:lpstr>What does this program do ? Q2</vt:lpstr>
      <vt:lpstr>What does this program do ? A2</vt:lpstr>
      <vt:lpstr>What does this program do ? Q3</vt:lpstr>
      <vt:lpstr>What does this program do ? A3</vt:lpstr>
      <vt:lpstr>What does this program do ? Q4</vt:lpstr>
      <vt:lpstr>What does this program do ? A4</vt:lpstr>
      <vt:lpstr>What does this program do ? Q5</vt:lpstr>
      <vt:lpstr>What does this program do ? Q5</vt:lpstr>
      <vt:lpstr>What does this program do ? Q6</vt:lpstr>
      <vt:lpstr>What does this program do ? A6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52</cp:revision>
  <dcterms:created xsi:type="dcterms:W3CDTF">2025-12-04T21:37:48Z</dcterms:created>
  <dcterms:modified xsi:type="dcterms:W3CDTF">2026-03-19T22:03:50Z</dcterms:modified>
</cp:coreProperties>
</file>