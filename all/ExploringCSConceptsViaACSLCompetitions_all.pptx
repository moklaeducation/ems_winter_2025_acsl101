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2" r:id="rId6"/>
    <p:sldId id="264" r:id="rId7"/>
    <p:sldId id="263" r:id="rId8"/>
    <p:sldId id="267" r:id="rId9"/>
    <p:sldId id="269" r:id="rId10"/>
    <p:sldId id="270" r:id="rId11"/>
    <p:sldId id="271" r:id="rId12"/>
    <p:sldId id="273" r:id="rId13"/>
    <p:sldId id="275" r:id="rId14"/>
    <p:sldId id="277" r:id="rId15"/>
    <p:sldId id="278" r:id="rId16"/>
    <p:sldId id="276" r:id="rId17"/>
    <p:sldId id="280" r:id="rId18"/>
    <p:sldId id="279" r:id="rId19"/>
    <p:sldId id="281" r:id="rId20"/>
    <p:sldId id="282" r:id="rId21"/>
    <p:sldId id="283" r:id="rId22"/>
    <p:sldId id="284" r:id="rId23"/>
    <p:sldId id="285" r:id="rId24"/>
    <p:sldId id="286" r:id="rId2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9" autoAdjust="0"/>
    <p:restoredTop sz="94660"/>
  </p:normalViewPr>
  <p:slideViewPr>
    <p:cSldViewPr snapToGrid="0">
      <p:cViewPr varScale="1">
        <p:scale>
          <a:sx n="152" d="100"/>
          <a:sy n="152" d="100"/>
        </p:scale>
        <p:origin x="576" y="1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19:53.877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0 0 24575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08.4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0 262 24575,'3'0'0,"0"1"0,-1-1 0,1 1 0,-1 0 0,1 0 0,-1 0 0,1 0 0,-1 0 0,4 3 0,16 6 0,-15-8 0,0-1 0,1 0 0,0 0 0,-1-1 0,1 0 0,-1-1 0,1 1 0,-1-1 0,1-1 0,9-2 0,1-3 0,1 0 0,26-17 0,-35 19 0,33-15 0,2 2 0,92-24 0,-70 23 0,-3 3 0,-45 12 0,-1 0 0,0-1 0,0-1 0,0-1 0,20-11 0,-25 11 0,0 0 0,1 0 0,0 2 0,0 0 0,1 0 0,-1 1 0,1 1 0,0 1 0,0 0 0,27 0 0,-37 2 0,9 1 0,0-1 0,0 0 0,0-1 0,-1-1 0,1 0 0,0-1 0,-1 0 0,14-6 0,-53 2-1365,14 4-5461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0.12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145 1 24575,'1'4'0,"0"0"0,1 0 0,0 0 0,-1 0 0,2 0 0,-1 0 0,0-1 0,1 1 0,0-1 0,-1 0 0,8 6 0,-7-7 0,0 0 0,0 0 0,1-1 0,-1 1 0,0-1 0,1 0 0,0 0 0,-1 0 0,1 0 0,-1-1 0,8 1 0,48-3 0,-28 0 0,-19 2 0,-4-1 0,-1 1 0,0 0 0,0 1 0,0 0 0,8 1 0,-13-1 0,0-1 0,-1 1 0,1 0 0,0 0 0,0 0 0,-1 0 0,1 0 0,-1 0 0,1 0 0,-1 0 0,0 0 0,1 1 0,-1-1 0,0 1 0,0-1 0,0 1 0,0-1 0,0 1 0,0 0 0,0-1 0,0 1 0,-1 0 0,1 0 0,0 2 0,0 0 0,-1-1 0,1 1 0,0 0 0,-1-1 0,0 1 0,0-1 0,0 1 0,0 0 0,-1-1 0,0 1 0,1 0 0,-1-1 0,0 1 0,-3 4 0,1-4 0,1 0 0,-1 0 0,0-1 0,-1 1 0,1-1 0,-1 0 0,1 0 0,-1 0 0,0 0 0,0-1 0,-5 3 0,-18 10 0,5-2 0,-2 0 0,0-1 0,-48 15 0,57-22 0,-1 1 0,2 1 0,-1 0 0,1 1 0,0 0 0,0 1 0,-22 20 0,0-1 0,35-27 27,1-1-59,-1 0 1,1 1-1,0-1 0,0 0 1,-1 1-1,1-1 0,0 0 1,0 0-1,-1 1 1,1-1-1,0 0 0,-1 0 1,1 0-1,0 1 0,-1-1 1,1 0-1,0 0 0,-1 0 1,1 0-1,-1 0 1,1 0-1,0 0 0,-1 0 1,1 0-1,0 0 0,-1 0 1,1 0-1,-1 0 0,1 0 1,0 0-1,-1 0 1,1 0-1,0-1 0,-1 1 1,1 0-1,0 0 0,-1 0 1,1 0-1,0-1 0,-1 1 1,1 0-1,0-1 1,-1 1-1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1.438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1 109 24575,'3'2'0,"0"0"0,1 0 0,-1-1 0,0 0 0,1 1 0,0-1 0,-1-1 0,1 1 0,0 0 0,-1-1 0,1 0 0,0 0 0,5 0 0,7 0 0,383 4 0,-385-5 0,216-3 0,-174-2 0,14 0 0,-54 5 0,0-1 0,-1 0 0,1-1 0,20-7 0,-20 5 0,-15 5 7,0 0-1,-1 0 0,1 0 1,-1 0-1,1-1 1,0 1-1,-1 0 0,1 0 1,-1-1-1,1 1 1,-1-1-1,1 1 1,-1 0-1,1-1 0,-1 1 1,1-1-1,-1 1 1,1-1-1,-1 1 0,0-1 1,1 1-1,-1-1 1,0 0-1,0 1 0,1-1 1,-1 1-1,0-1 1,0 0-1,0 1 0,0-1 1,0 0-1,0 1 1,0-1-1,0 0 0,0 1 1,0-1-1,0 1 1,0-1-1,0 0 0,-1 1 1,1-1-1,0 0 1,0 1-1,-1-1 1,1 1-1,0-1 0,-1 1 1,1-1-1,-1 0 1,-26-31-717,20 24-266,-11-12-5850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2.343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147 1 24575,'8'1'0,"-1"1"0,0 0 0,0 0 0,0 1 0,0 0 0,-1 0 0,1 1 0,-1-1 0,0 2 0,7 4 0,0 0 0,12 9 0,0 1 0,29 32 0,-5-5 0,-46-44 0,-1 0 0,1 0 0,-1 0 0,1 1 0,-1-1 0,0 1 0,0-1 0,3 6 0,-5-7 0,0 0 0,0-1 0,0 1 0,1 0 0,-1 0 0,0 0 0,0 0 0,-1-1 0,1 1 0,0 0 0,0 0 0,0 0 0,-1 0 0,1-1 0,0 1 0,-1 0 0,1 0 0,0-1 0,-1 1 0,1 0 0,-1-1 0,1 1 0,-1 0 0,0-1 0,1 1 0,-1-1 0,1 1 0,-1-1 0,0 1 0,0-1 0,1 0 0,-1 1 0,0-1 0,0 0 0,1 1 0,-3-1 0,-25 12 0,-2-2 0,0-1 0,0-1 0,-45 5 0,-36 10 0,87-18 0,17-4 0,-1 1 0,0 0 0,1 1 0,-1-1 0,-9 6 0,16-7 0,1-1 0,0 0-1,0 0 1,-1 0 0,1 0-1,0 0 1,0 0-1,-1 1 1,1-1 0,0 0-1,0 0 1,-1 0 0,1 0-1,0 0 1,-1 0 0,1 0-1,0 0 1,0 0 0,-1 0-1,1 0 1,0 0 0,-1-1-1,1 1 1,0 0 0,0 0-1,-1 0 1,1 0 0,0 0-1,0 0 1,-1-1 0,1 1-1,0 0 1,0 0-1,0 0 1,-1-1 0,1 1-1,0 0 1,0 0 0,0-1-1,0 1 1,0 0 0,-1 0-1,1-1 1,0 1 0,0 0-1,0 0 1,0-1 0,0 1-1,0 0 1,0-1 0,0 1-1,-2-5-1346,-3-4-5479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3.85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1 0 24575,'24'1'0,"0"1"0,0 1 0,0 2 0,-1 0 0,1 1 0,-1 1 0,0 1 0,-1 2 0,0 0 0,-1 1 0,0 1 0,39 29 0,-39-25 0,275 230 0,-281-234 0,1-1 0,1-1 0,-1 0 0,1-1 0,1-1 0,0 0 0,0-2 0,23 6 0,-31-9 0,0-2 0,19 2 0,-22-2 0,1-1 0,-1 1 0,0 0 0,1 1 0,-1 0 0,11 4 0,-22-9 21,1 1 0,0 0 1,0-1-1,0 0 0,0 1 0,1-1 0,-5-6 0,-4-4-1555,-5-4-5292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1-08T16:20:14.634"/>
    </inkml:context>
    <inkml:brush xml:id="br0">
      <inkml:brushProperty name="width" value="0.05" units="cm"/>
      <inkml:brushProperty name="height" value="0.05" units="cm"/>
    </inkml:brush>
  </inkml:definitions>
  <inkml:trace contextRef="#ctx0" brushRef="#br0">292 1 24575,'4'1'0,"1"0"0,-1 1 0,1-1 0,-1 1 0,0 0 0,1 1 0,-1-1 0,0 1 0,-1 0 0,1 0 0,0 0 0,-1 0 0,6 7 0,13 10 0,108 88 0,-106-89 0,-19-17 0,0 1 0,-1 0 0,0 1 0,0-1 0,0 1 0,5 7 0,-8-11 0,-1 1 0,0-1 0,0 1 0,0-1 0,0 1 0,0-1 0,0 1 0,0-1 0,0 1 0,0 0 0,0-1 0,0 1 0,0-1 0,-1 1 0,1-1 0,0 1 0,0-1 0,0 1 0,-1-1 0,1 1 0,0-1 0,-1 1 0,1-1 0,0 0 0,-1 1 0,1-1 0,-1 1 0,1-1 0,0 0 0,-1 1 0,1-1 0,-1 0 0,1 0 0,-1 1 0,1-1 0,-1 0 0,0 0 0,1 0 0,-2 0 0,-23 8 0,-97 15 0,-118 31 0,222-48 0,1 2 0,0 0 0,-27 18 0,24-14 0,-29 14 0,48-27-2,1 1-1,0-1 0,0 1 1,0-1-1,0 1 1,-1-1-1,1 1 1,0-1-1,0 1 0,0-1 1,0 1-1,0-1 1,0 1-1,1-1 0,-1 1 1,0-1-1,0 1 1,0-1-1,0 1 0,0-1 1,1 1-1,-1 0 1,0-1-1,1 0 0,0-4-1297,2-5-5526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5653688-98A8-4F3B-A740-8E6568AE1BC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4216765-C83A-46F1-AE07-8E4F9D1EDA9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164351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6910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DCBE1C-5242-F3AB-FAB7-2C60DCC6BF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2F9C86-8BD7-D89B-3647-1E2326E2FB3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7D48978-E736-BB7A-C2B2-1C0F341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9456E3B-A427-F36C-F340-20964451EB6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4216765-C83A-46F1-AE07-8E4F9D1EDA9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06368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0A094-8FF7-972C-BAAE-99F40FE451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370CA27-926A-40A9-EDE4-2642234DDA7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30D44-6D9F-D9C9-934E-1B2403DE5D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05128-3533-A992-8CE5-6E47665087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B6D845D-F098-341F-958A-B8E24683F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6871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37C067-CC2D-34FB-4336-E199FD6B34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116F61-ED0C-EB25-5321-0FD580AC21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489DAA7-FC13-4D1B-F2BE-06D43C3DE8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E07BE-ED07-1C67-3D9B-6B9BA45F4B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13BD72-AEC0-7574-D49B-C08E123A79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6444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794D0-2554-CB82-AB44-3441BC67B0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D5B23FD-C516-9866-2CC2-FED8EB2965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B80210-F129-4B24-BB14-5C1B9B0B8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D5700D7-A769-FBA0-EDD4-4105D8EE40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4F88D0-D023-1A82-19D9-E047FC1A31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99330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8D559F-866B-752C-3654-B5D2DB9D3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7DF7D-C812-5CB3-1058-5E6219DAD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64CD83-5F30-A379-A403-E36E37AED69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FFF4C34-5187-7189-8EAD-A28D8CBA5D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A469AC8-BFBE-6B74-CC5E-4CFEBAF0AE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837E9D0-D50F-D112-BFBA-F3A9A82B5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461931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728476-BEF9-77BC-A341-AB2955E358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EC7042-DA62-42AD-912A-980E24B30B4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EE5677-4D00-AC69-3257-B9F812B6CB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753C5D-745D-F3A9-45DB-2572599F8D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197C56-33AA-9D2A-8C22-C2E0B08076F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961478C-3EB0-624A-5735-D6FD4830A4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02A1B1-B3F1-F824-8324-AD2ABC1F9A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2392A1E-149A-8D8E-85BB-2C3594CF59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94344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B2D167-9FE6-5BAC-23F6-05A6E9E54E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6A46D61-F4C2-06F0-3F32-A15D9AA76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23A2F24-5D1A-BA17-A501-616D683F2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7EBBE9C-852C-5999-A647-D07EA01F17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98279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14083C6-FF62-1742-AE64-F8ACE6B3F3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0CFB856-5B25-E3AD-2CBA-8DACEC0C87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7C541F-E44C-9BAD-6FC5-6EC82D2BE6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88579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212E7B-47C4-2F88-DB03-87C8C3C17B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608C8A6-2420-D516-FA94-778076015E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68546E0-93F8-BB16-02B5-FAEB313D3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EDF9D7-AF07-D6FB-F398-ED3CB41D5D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E1F7F0F-B5E4-7897-2EDA-E97C70C1A2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E9BA672-AAA9-00A9-371B-B3880C875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06294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9A9CA6-C640-CC3B-25DC-E731712126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B273641-12E1-7FCD-0ED4-22D91756933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73D13C-584D-2FD6-EA25-3D552F4A725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E2E968-5D7A-9371-D1D3-36FDD53D6D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E847DA-3911-AC61-E16A-51E732C438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6FEA42D-2EE6-D711-93FD-5F42F0D1FD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37476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08F60B-CBA3-4333-0D58-3E8CA758F1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ADDA668-22FB-DC28-8949-EFE202D9760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816147-F5EE-D687-28FE-6ECFD36ACF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E466BA-F157-13E0-8BDA-492CD6A19B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56FE2B5-594A-A28E-F40D-F10FC014E8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57552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D86B02F-69ED-609C-15A5-A27DC993065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6AA4F67-0837-5751-2410-213CAAA0EE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E36F4A0-3F80-3CF9-D997-9E0107E4F8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CB266D-A331-4A79-AB46-FEF40B16CF9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3662CD-1E71-D904-1EC7-EFCA94610C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D5EC73-0654-2B9C-BE3D-9C78C3673A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947716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09F88F3-441E-6109-5B60-4720AB29F5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21B489A-3C59-2749-430B-157F18F26F8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AD6EE25-8FC0-3EC3-5765-380EE3A0C0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CB266D-A331-4A79-AB46-FEF40B16CF9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7455A1F-2039-2D50-C82D-36D1A6ADDC9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C399653-6689-0951-6610-A21828865A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090386C-6F0C-44EB-B795-59C91BEF1ED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1354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13" Type="http://schemas.openxmlformats.org/officeDocument/2006/relationships/customXml" Target="../ink/ink6.xml"/><Relationship Id="rId3" Type="http://schemas.openxmlformats.org/officeDocument/2006/relationships/customXml" Target="../ink/ink1.xml"/><Relationship Id="rId7" Type="http://schemas.openxmlformats.org/officeDocument/2006/relationships/customXml" Target="../ink/ink3.xml"/><Relationship Id="rId12" Type="http://schemas.openxmlformats.org/officeDocument/2006/relationships/image" Target="../media/image6.png"/><Relationship Id="rId2" Type="http://schemas.openxmlformats.org/officeDocument/2006/relationships/hyperlink" Target="https://storage.googleapis.com/content-resources/Math%20unit%20guides/CCSS/CCSS%20Algebra%201/Unit%20guide%20_%20CCSS%20Algebra%201%20_%20Unit%208_%20Functions.pdf" TargetMode="External"/><Relationship Id="rId16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.png"/><Relationship Id="rId11" Type="http://schemas.openxmlformats.org/officeDocument/2006/relationships/customXml" Target="../ink/ink5.xml"/><Relationship Id="rId5" Type="http://schemas.openxmlformats.org/officeDocument/2006/relationships/customXml" Target="../ink/ink2.xml"/><Relationship Id="rId15" Type="http://schemas.openxmlformats.org/officeDocument/2006/relationships/customXml" Target="../ink/ink7.xml"/><Relationship Id="rId10" Type="http://schemas.openxmlformats.org/officeDocument/2006/relationships/image" Target="../media/image5.png"/><Relationship Id="rId4" Type="http://schemas.openxmlformats.org/officeDocument/2006/relationships/image" Target="../media/image2.png"/><Relationship Id="rId9" Type="http://schemas.openxmlformats.org/officeDocument/2006/relationships/customXml" Target="../ink/ink4.xml"/><Relationship Id="rId1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hyperlink" Target="https://writings.stephenwolfram.com/2024/09/nestedly-recursive-functions/" TargetMode="Externa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ackerrank.com/domains/data-structures?filters%5Bsubdomains%5D%5B%5D=arrays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6B5DF9-A4F9-FA18-916B-B242CAADA48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Exploring Computer Science Concepts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568D661-0AFA-99D4-F749-4F399DEF603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Via ACSL Competitions</a:t>
            </a:r>
          </a:p>
        </p:txBody>
      </p:sp>
    </p:spTree>
    <p:extLst>
      <p:ext uri="{BB962C8B-B14F-4D97-AF65-F5344CB8AC3E}">
        <p14:creationId xmlns:p14="http://schemas.microsoft.com/office/powerpoint/2010/main" val="277741359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AB26A93-0DC5-C1EA-5F18-8E3BE1C1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Number Systems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927B5AA-6F01-1B7B-3ADC-6E7DE1910AE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base 10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base 2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base 8</a:t>
            </a:r>
          </a:p>
          <a:p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base 16</a:t>
            </a:r>
          </a:p>
        </p:txBody>
      </p:sp>
    </p:spTree>
    <p:extLst>
      <p:ext uri="{BB962C8B-B14F-4D97-AF65-F5344CB8AC3E}">
        <p14:creationId xmlns:p14="http://schemas.microsoft.com/office/powerpoint/2010/main" val="17642828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910258-22AE-B1D6-966E-1DF59E8E4D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Digits per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EF3F30-4463-B560-E41B-9E2FFF0018F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dirty="0"/>
              <a:t>Decimal </a:t>
            </a:r>
          </a:p>
          <a:p>
            <a:pPr lvl="1"/>
            <a:r>
              <a:rPr lang="en-US" dirty="0"/>
              <a:t>Ten digits </a:t>
            </a:r>
          </a:p>
          <a:p>
            <a:pPr lvl="1"/>
            <a:r>
              <a:rPr lang="en-US" dirty="0"/>
              <a:t>0 1 2 3 4 5 6 7 8 9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dirty="0"/>
              <a:t>Two Digits</a:t>
            </a:r>
          </a:p>
          <a:p>
            <a:pPr lvl="1"/>
            <a:r>
              <a:rPr lang="en-US" dirty="0"/>
              <a:t>0 1</a:t>
            </a:r>
          </a:p>
          <a:p>
            <a:r>
              <a:rPr lang="en-US" dirty="0"/>
              <a:t>Octal </a:t>
            </a:r>
          </a:p>
          <a:p>
            <a:pPr lvl="1"/>
            <a:r>
              <a:rPr lang="en-US" dirty="0"/>
              <a:t>8 digits</a:t>
            </a:r>
          </a:p>
          <a:p>
            <a:pPr lvl="1"/>
            <a:r>
              <a:rPr lang="en-US" dirty="0"/>
              <a:t>0 1 2 3 4 5 6 7 </a:t>
            </a:r>
          </a:p>
          <a:p>
            <a:r>
              <a:rPr lang="en-US" dirty="0"/>
              <a:t>Hexadecimal </a:t>
            </a:r>
          </a:p>
          <a:p>
            <a:pPr lvl="1"/>
            <a:r>
              <a:rPr lang="en-US" dirty="0"/>
              <a:t>16 digits</a:t>
            </a:r>
          </a:p>
          <a:p>
            <a:pPr lvl="1"/>
            <a:r>
              <a:rPr lang="en-US" dirty="0"/>
              <a:t>0 1 2 3 4 5 6 7 8 9 A B C D E F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035750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9AFF5-4CBA-4A8E-8480-C396D07AC7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1A6E79-FF3C-8801-7E97-9E6176DCC4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Increment the lowest place value ( right most digit)</a:t>
            </a:r>
          </a:p>
          <a:p>
            <a:r>
              <a:rPr lang="en-US" dirty="0"/>
              <a:t>When last digit is reached</a:t>
            </a:r>
          </a:p>
          <a:p>
            <a:pPr lvl="1"/>
            <a:r>
              <a:rPr lang="en-US" dirty="0"/>
              <a:t>Set the current column to 0 </a:t>
            </a:r>
          </a:p>
          <a:p>
            <a:pPr lvl="1"/>
            <a:r>
              <a:rPr lang="en-US" dirty="0"/>
              <a:t>Increment the column on the left by 1</a:t>
            </a:r>
          </a:p>
          <a:p>
            <a:r>
              <a:rPr lang="en-US" dirty="0"/>
              <a:t>Lets count with decimal </a:t>
            </a:r>
          </a:p>
          <a:p>
            <a:pPr lvl="1"/>
            <a:r>
              <a:rPr lang="en-US" dirty="0"/>
              <a:t>0 to 10</a:t>
            </a:r>
          </a:p>
          <a:p>
            <a:pPr lvl="1"/>
            <a:r>
              <a:rPr lang="en-US" dirty="0"/>
              <a:t>95 to105</a:t>
            </a:r>
          </a:p>
          <a:p>
            <a:r>
              <a:rPr lang="en-US" dirty="0"/>
              <a:t>How frequently do we add a new digit ?</a:t>
            </a:r>
          </a:p>
          <a:p>
            <a:pPr marL="457200" lvl="1" indent="0">
              <a:buNone/>
            </a:pPr>
            <a:endParaRPr lang="en-US" dirty="0"/>
          </a:p>
          <a:p>
            <a:pPr marL="457200" lvl="1" indent="0">
              <a:buNone/>
            </a:pPr>
            <a:endParaRPr lang="en-US" dirty="0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CCE4FAB2-9F0E-284D-CEBB-CE9E304BA1C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4979008"/>
              </p:ext>
            </p:extLst>
          </p:nvPr>
        </p:nvGraphicFramePr>
        <p:xfrm>
          <a:off x="7266905" y="2324099"/>
          <a:ext cx="2862801" cy="3468504"/>
        </p:xfrm>
        <a:graphic>
          <a:graphicData uri="http://schemas.openxmlformats.org/drawingml/2006/table">
            <a:tbl>
              <a:tblPr/>
              <a:tblGrid>
                <a:gridCol w="1416643">
                  <a:extLst>
                    <a:ext uri="{9D8B030D-6E8A-4147-A177-3AD203B41FA5}">
                      <a16:colId xmlns:a16="http://schemas.microsoft.com/office/drawing/2014/main" val="3193197147"/>
                    </a:ext>
                  </a:extLst>
                </a:gridCol>
                <a:gridCol w="1446158">
                  <a:extLst>
                    <a:ext uri="{9D8B030D-6E8A-4147-A177-3AD203B41FA5}">
                      <a16:colId xmlns:a16="http://schemas.microsoft.com/office/drawing/2014/main" val="1376048237"/>
                    </a:ext>
                  </a:extLst>
                </a:gridCol>
              </a:tblGrid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8139594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053262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7587604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319259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7190043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7509285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5379438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0771007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8370641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6157029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86003880"/>
                  </a:ext>
                </a:extLst>
              </a:tr>
              <a:tr h="28904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105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11181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954133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A81C3D-9409-A178-58C3-4C72CCAFB8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Counting in other 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173C8F-B7A4-E2F1-2733-967CFAD941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Counting in binary </a:t>
            </a:r>
          </a:p>
          <a:p>
            <a:pPr lvl="1"/>
            <a:r>
              <a:rPr lang="en-US" dirty="0"/>
              <a:t>We add a new digit frequently </a:t>
            </a:r>
          </a:p>
          <a:p>
            <a:pPr lvl="2"/>
            <a:r>
              <a:rPr lang="en-US" dirty="0"/>
              <a:t>At 2 , 4, 8, 16 … decimal values</a:t>
            </a:r>
          </a:p>
          <a:p>
            <a:r>
              <a:rPr lang="en-US" dirty="0"/>
              <a:t>Counting in Octal</a:t>
            </a:r>
          </a:p>
          <a:p>
            <a:pPr lvl="1"/>
            <a:r>
              <a:rPr lang="en-US" dirty="0"/>
              <a:t>We add a new digit at every</a:t>
            </a:r>
          </a:p>
          <a:p>
            <a:pPr lvl="2"/>
            <a:r>
              <a:rPr lang="en-US" dirty="0"/>
              <a:t>At 8, 64,128 …</a:t>
            </a:r>
          </a:p>
          <a:p>
            <a:r>
              <a:rPr lang="en-US" dirty="0"/>
              <a:t>Counting in </a:t>
            </a:r>
            <a:r>
              <a:rPr lang="en-US" dirty="0" err="1"/>
              <a:t>HexaDecimal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We add a new digit at every </a:t>
            </a:r>
          </a:p>
          <a:p>
            <a:pPr lvl="2"/>
            <a:r>
              <a:rPr lang="en-US" dirty="0"/>
              <a:t>At 16, 256 … values</a:t>
            </a:r>
          </a:p>
          <a:p>
            <a:pPr lvl="2"/>
            <a:endParaRPr lang="en-US" dirty="0"/>
          </a:p>
          <a:p>
            <a:endParaRPr lang="en-US" baseline="30000" dirty="0"/>
          </a:p>
          <a:p>
            <a:pPr lvl="2"/>
            <a:endParaRPr lang="en-US" dirty="0"/>
          </a:p>
        </p:txBody>
      </p:sp>
      <p:graphicFrame>
        <p:nvGraphicFramePr>
          <p:cNvPr id="4" name="Content Placeholder 8">
            <a:extLst>
              <a:ext uri="{FF2B5EF4-FFF2-40B4-BE49-F238E27FC236}">
                <a16:creationId xmlns:a16="http://schemas.microsoft.com/office/drawing/2014/main" id="{E8E78130-726D-374A-AFCF-C54987DAD7D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774296934"/>
              </p:ext>
            </p:extLst>
          </p:nvPr>
        </p:nvGraphicFramePr>
        <p:xfrm>
          <a:off x="6723777" y="1825625"/>
          <a:ext cx="3938164" cy="3771719"/>
        </p:xfrm>
        <a:graphic>
          <a:graphicData uri="http://schemas.openxmlformats.org/drawingml/2006/table">
            <a:tbl>
              <a:tblPr/>
              <a:tblGrid>
                <a:gridCol w="984541">
                  <a:extLst>
                    <a:ext uri="{9D8B030D-6E8A-4147-A177-3AD203B41FA5}">
                      <a16:colId xmlns:a16="http://schemas.microsoft.com/office/drawing/2014/main" val="1475462977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1475054408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923081006"/>
                    </a:ext>
                  </a:extLst>
                </a:gridCol>
                <a:gridCol w="984541">
                  <a:extLst>
                    <a:ext uri="{9D8B030D-6E8A-4147-A177-3AD203B41FA5}">
                      <a16:colId xmlns:a16="http://schemas.microsoft.com/office/drawing/2014/main" val="3248402632"/>
                    </a:ext>
                  </a:extLst>
                </a:gridCol>
              </a:tblGrid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Decimal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Binary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Octal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 dirty="0" err="1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HexaDecimal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C7A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405435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6309703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8237969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234856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202086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5243755"/>
                  </a:ext>
                </a:extLst>
              </a:tr>
              <a:tr h="218022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699088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158523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851579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8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393307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9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827514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A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6523302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1011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B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645197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12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C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9125880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13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1101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D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27172534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14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1110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E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0030223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15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1111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17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F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43397521"/>
                  </a:ext>
                </a:extLst>
              </a:tr>
              <a:tr h="209041"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0" i="0" u="none" strike="noStrike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16</a:t>
                      </a:r>
                    </a:p>
                  </a:txBody>
                  <a:tcPr marL="6350" marR="6350" marT="6350" marB="0" anchor="b">
                    <a:lnL>
                      <a:noFill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10000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20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b"/>
                      <a:r>
                        <a:rPr lang="en-US" sz="1100" b="1" i="0" u="none" strike="noStrike" dirty="0">
                          <a:solidFill>
                            <a:srgbClr val="FA7D00"/>
                          </a:solidFill>
                          <a:effectLst/>
                          <a:latin typeface="Aptos Narrow" panose="020B0004020202020204" pitchFamily="34" charset="0"/>
                        </a:rPr>
                        <a:t>10</a:t>
                      </a:r>
                    </a:p>
                  </a:txBody>
                  <a:tcPr marL="6350" marR="6350" marT="6350" marB="0" anchor="b">
                    <a:lnL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7F7F7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8492242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4543489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99490B-DA55-CC9D-B2B9-C557BBD477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Place Values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7FFD3-8283-2BEB-7491-131EE4D269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Decimal</a:t>
            </a:r>
          </a:p>
          <a:p>
            <a:pPr lvl="1"/>
            <a:r>
              <a:rPr lang="en-US" i="1" dirty="0"/>
              <a:t>We deal in power of 10s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2452</a:t>
            </a:r>
            <a:r>
              <a:rPr lang="en-US" dirty="0"/>
              <a:t> =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1000</a:t>
            </a:r>
            <a:r>
              <a:rPr lang="en-US" dirty="0"/>
              <a:t> + 4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+ 5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</a:t>
            </a:r>
            <a:r>
              <a:rPr lang="en-US" dirty="0"/>
              <a:t> + 2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</a:t>
            </a:r>
            <a:r>
              <a:rPr lang="en-US" dirty="0"/>
              <a:t>    =                      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100</a:t>
            </a:r>
            <a:r>
              <a:rPr lang="en-US" dirty="0"/>
              <a:t> + 0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10 </a:t>
            </a:r>
            <a:r>
              <a:rPr lang="en-US" dirty="0"/>
              <a:t>+ 1 * </a:t>
            </a:r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r>
              <a:rPr lang="en-US" dirty="0"/>
              <a:t>Binary </a:t>
            </a:r>
          </a:p>
          <a:p>
            <a:pPr lvl="1"/>
            <a:r>
              <a:rPr lang="en-US" i="1" dirty="0"/>
              <a:t>We deal in power of 2s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111</a:t>
            </a:r>
            <a:r>
              <a:rPr lang="en-US" dirty="0"/>
              <a:t>   =               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  <a:r>
              <a:rPr lang="en-US" dirty="0"/>
              <a:t> </a:t>
            </a:r>
          </a:p>
          <a:p>
            <a:pPr lvl="1"/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1010 </a:t>
            </a:r>
            <a:r>
              <a:rPr lang="en-US" dirty="0"/>
              <a:t>=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8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4</a:t>
            </a:r>
            <a:r>
              <a:rPr lang="en-US" dirty="0"/>
              <a:t> + 1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2</a:t>
            </a:r>
            <a:r>
              <a:rPr lang="en-US" dirty="0"/>
              <a:t> + 0 * </a:t>
            </a:r>
            <a:r>
              <a:rPr lang="en-US" dirty="0">
                <a:solidFill>
                  <a:schemeClr val="accent4">
                    <a:lumMod val="75000"/>
                  </a:schemeClr>
                </a:solidFill>
              </a:rPr>
              <a:t>1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566642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653AF-4DCF-5D83-F4FD-272465A13E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binary </a:t>
            </a:r>
            <a:r>
              <a:rPr lang="en-US" dirty="0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9D19918D-74D4-3820-44F9-8BBF95FA1A1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688250292"/>
              </p:ext>
            </p:extLst>
          </p:nvPr>
        </p:nvGraphicFramePr>
        <p:xfrm>
          <a:off x="838198" y="1501628"/>
          <a:ext cx="10642136" cy="4978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2452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2 x 10^3 = 2000</a:t>
                      </a:r>
                    </a:p>
                    <a:p>
                      <a:r>
                        <a:rPr lang="en-US" dirty="0"/>
                        <a:t>                   4 x 10^2 =    400</a:t>
                      </a:r>
                    </a:p>
                    <a:p>
                      <a:r>
                        <a:rPr lang="en-US" dirty="0"/>
                        <a:t>                   5 x 10^1 =       50  </a:t>
                      </a:r>
                    </a:p>
                    <a:p>
                      <a:r>
                        <a:rPr lang="en-US" dirty="0"/>
                        <a:t>                   2 x 10^0 =          2</a:t>
                      </a:r>
                    </a:p>
                    <a:p>
                      <a:r>
                        <a:rPr lang="en-US" dirty="0"/>
                        <a:t>                                      = 2452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111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2^2 = 1 x 4 =   4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2^1 = 1 x 2 =   2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1 x 2^0 = 1 x 1 =   1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                       =   7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10^2 =    100</a:t>
                      </a:r>
                    </a:p>
                    <a:p>
                      <a:r>
                        <a:rPr lang="en-US" dirty="0"/>
                        <a:t>                   0 x 10^1 =         0  </a:t>
                      </a:r>
                    </a:p>
                    <a:p>
                      <a:r>
                        <a:rPr lang="en-US" dirty="0"/>
                        <a:t>                   1 x 10^0 =          1</a:t>
                      </a:r>
                    </a:p>
                    <a:p>
                      <a:r>
                        <a:rPr lang="en-US" dirty="0"/>
                        <a:t>                                      =    101</a:t>
                      </a: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1 x 2^ 3 = 1 x 8 =   8</a:t>
                      </a:r>
                    </a:p>
                    <a:p>
                      <a:r>
                        <a:rPr lang="en-US" dirty="0"/>
                        <a:t>            0 x 2^ 2 = 0 x 4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1 x 2^ 1 = 0 x 2 =   2</a:t>
                      </a:r>
                      <a:br>
                        <a:rPr lang="en-US" dirty="0"/>
                      </a:br>
                      <a:r>
                        <a:rPr lang="en-US" dirty="0"/>
                        <a:t>            0 x 2^ 0 = 0 x 1 =   0</a:t>
                      </a:r>
                      <a:br>
                        <a:rPr lang="en-US" dirty="0"/>
                      </a:br>
                      <a:r>
                        <a:rPr lang="en-US" dirty="0"/>
                        <a:t>                                           = 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1000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1285896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345474-E3A9-E1C2-833E-1CEBF32A4D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Binary to Decimal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AE40F9-9581-C2BC-5B88-6F1FA10EBA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1      0      0     1      0      0     1   =     64 + 16 + 1 = 81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0       0      0     0      1      1     1   = 128 + 4 + 2 + 1 = 135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1        1       1      0      0     0     0     0     = ?</a:t>
            </a:r>
          </a:p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C0A94F0-7818-1B6D-64C3-C894020E204C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337779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A90C36-D410-83DF-929D-84FA7D5419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A1B1B7D-BAC5-FEE4-4486-F4E90BC4D2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Binary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F00CBA1-A2D0-1059-8DA4-FA156A007D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128    64    32   16     8     4     2     1</a:t>
            </a:r>
            <a:b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</a:b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</a:rPr>
              <a:t>                  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22 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   33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 =   130                   </a:t>
            </a: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98BE95D4-FCA2-7AB1-568B-79F46AD9C1FF}"/>
              </a:ext>
            </a:extLst>
          </p:cNvPr>
          <p:cNvCxnSpPr>
            <a:cxnSpLocks/>
          </p:cNvCxnSpPr>
          <p:nvPr/>
        </p:nvCxnSpPr>
        <p:spPr>
          <a:xfrm>
            <a:off x="989901" y="2290194"/>
            <a:ext cx="4720703" cy="0"/>
          </a:xfrm>
          <a:prstGeom prst="line">
            <a:avLst/>
          </a:prstGeom>
          <a:ln w="381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459158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E2429B-6C6D-B1C6-ECE1-CB36B6B544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670DA09-B148-4228-9B76-3FA17F9BB14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binary </a:t>
            </a:r>
          </a:p>
          <a:p>
            <a:pPr lvl="1"/>
            <a:r>
              <a:rPr lang="en-US" dirty="0"/>
              <a:t>127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128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129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Binary numbers to Decimal</a:t>
            </a:r>
          </a:p>
          <a:p>
            <a:pPr lvl="1"/>
            <a:r>
              <a:rPr lang="en-US" dirty="0"/>
              <a:t>101101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1111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r>
              <a:rPr lang="en-US" dirty="0"/>
              <a:t>0110</a:t>
            </a:r>
            <a:r>
              <a:rPr lang="en-US" baseline="-25000" dirty="0"/>
              <a:t>2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824016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03946-F61B-42B0-4D7C-AAF0808EB36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Challenge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8E3C2EE-2437-1760-3168-B24BD6AF961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binary addition and subtraction work ?</a:t>
            </a:r>
          </a:p>
        </p:txBody>
      </p:sp>
    </p:spTree>
    <p:extLst>
      <p:ext uri="{BB962C8B-B14F-4D97-AF65-F5344CB8AC3E}">
        <p14:creationId xmlns:p14="http://schemas.microsoft.com/office/powerpoint/2010/main" val="20177007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87C36A-D445-ACDC-D463-8E79266F1B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3C0B8B-27E7-8109-A350-5C882F253D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061003"/>
          </a:xfrm>
        </p:spPr>
        <p:txBody>
          <a:bodyPr>
            <a:normAutofit fontScale="90000"/>
          </a:bodyPr>
          <a:lstStyle/>
          <a:p>
            <a:r>
              <a:rPr lang="en-US" dirty="0"/>
              <a:t>Place values</a:t>
            </a:r>
            <a:br>
              <a:rPr lang="en-US" dirty="0"/>
            </a:br>
            <a:r>
              <a:rPr lang="en-US" dirty="0"/>
              <a:t>Converting </a:t>
            </a:r>
            <a:r>
              <a:rPr lang="en-US" dirty="0" err="1"/>
              <a:t>octal,hexadecimal</a:t>
            </a:r>
            <a:r>
              <a:rPr lang="en-US" dirty="0" err="1">
                <a:sym typeface="Wingdings" panose="05000000000000000000" pitchFamily="2" charset="2"/>
              </a:rPr>
              <a:t>decimal</a:t>
            </a:r>
            <a:endParaRPr lang="en-US" dirty="0"/>
          </a:p>
        </p:txBody>
      </p:sp>
      <p:graphicFrame>
        <p:nvGraphicFramePr>
          <p:cNvPr id="5" name="Content Placeholder 4">
            <a:extLst>
              <a:ext uri="{FF2B5EF4-FFF2-40B4-BE49-F238E27FC236}">
                <a16:creationId xmlns:a16="http://schemas.microsoft.com/office/drawing/2014/main" id="{34A2D640-C25D-13E6-D0E4-1BE5615BB99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241214255"/>
              </p:ext>
            </p:extLst>
          </p:nvPr>
        </p:nvGraphicFramePr>
        <p:xfrm>
          <a:off x="838198" y="1501628"/>
          <a:ext cx="10642136" cy="479430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321068">
                  <a:extLst>
                    <a:ext uri="{9D8B030D-6E8A-4147-A177-3AD203B41FA5}">
                      <a16:colId xmlns:a16="http://schemas.microsoft.com/office/drawing/2014/main" val="3982428962"/>
                    </a:ext>
                  </a:extLst>
                </a:gridCol>
                <a:gridCol w="5321068">
                  <a:extLst>
                    <a:ext uri="{9D8B030D-6E8A-4147-A177-3AD203B41FA5}">
                      <a16:colId xmlns:a16="http://schemas.microsoft.com/office/drawing/2014/main" val="1857857529"/>
                    </a:ext>
                  </a:extLst>
                </a:gridCol>
              </a:tblGrid>
              <a:tr h="432048">
                <a:tc>
                  <a:txBody>
                    <a:bodyPr/>
                    <a:lstStyle/>
                    <a:p>
                      <a:r>
                        <a:rPr lang="en-US" dirty="0"/>
                        <a:t>Octal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HexaDecimal</a:t>
                      </a:r>
                      <a:r>
                        <a:rPr lang="en-US" dirty="0"/>
                        <a:t>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 Decimal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2925158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777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r>
                        <a:rPr lang="en-US" dirty="0"/>
                        <a:t>                                               </a:t>
                      </a:r>
                    </a:p>
                    <a:p>
                      <a:r>
                        <a:rPr lang="en-US" dirty="0"/>
                        <a:t>                   7 x 8^2 = 7 x 64 = 448 </a:t>
                      </a:r>
                    </a:p>
                    <a:p>
                      <a:r>
                        <a:rPr lang="en-US" dirty="0"/>
                        <a:t>                   7 x 8^1 = 7 x    8 =    56</a:t>
                      </a:r>
                    </a:p>
                    <a:p>
                      <a:r>
                        <a:rPr lang="en-US" dirty="0"/>
                        <a:t>                   7 x 8^0 = 7 x    1 =       7</a:t>
                      </a:r>
                    </a:p>
                    <a:p>
                      <a:r>
                        <a:rPr lang="en-US" dirty="0"/>
                        <a:t>                                                    =  511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2AB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2</a:t>
                      </a:r>
                      <a:r>
                        <a:rPr lang="en-US" dirty="0"/>
                        <a:t> x 16^2 =    2 x 256 = 512 </a:t>
                      </a:r>
                    </a:p>
                    <a:p>
                      <a:r>
                        <a:rPr lang="en-US" dirty="0"/>
                        <a:t>                   A x 16^1 = 10 x    16 = 160</a:t>
                      </a:r>
                    </a:p>
                    <a:p>
                      <a:r>
                        <a:rPr lang="en-US" dirty="0"/>
                        <a:t>                   B x 16^0 = 11 x       1 =    11</a:t>
                      </a:r>
                    </a:p>
                    <a:p>
                      <a:r>
                        <a:rPr lang="en-US" dirty="0"/>
                        <a:t>                                                             =  683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9229210"/>
                  </a:ext>
                </a:extLst>
              </a:tr>
              <a:tr h="1645448">
                <a:tc>
                  <a:txBody>
                    <a:bodyPr/>
                    <a:lstStyle/>
                    <a:p>
                      <a:r>
                        <a:rPr lang="en-US" dirty="0"/>
                        <a:t>137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</a:p>
                    <a:p>
                      <a:r>
                        <a:rPr lang="en-US" dirty="0">
                          <a:sym typeface="Wingdings" panose="05000000000000000000" pitchFamily="2" charset="2"/>
                        </a:rPr>
                        <a:t>                   1</a:t>
                      </a:r>
                      <a:r>
                        <a:rPr lang="en-US" dirty="0"/>
                        <a:t> x 8^2 = 1 x 64 =  64 </a:t>
                      </a:r>
                    </a:p>
                    <a:p>
                      <a:r>
                        <a:rPr lang="en-US" dirty="0"/>
                        <a:t>                   3 x 8^1 = 3 x    8 =  24</a:t>
                      </a:r>
                    </a:p>
                    <a:p>
                      <a:r>
                        <a:rPr lang="en-US" dirty="0"/>
                        <a:t>                   7 x 8^0 = 7 x    1 =     7</a:t>
                      </a:r>
                    </a:p>
                    <a:p>
                      <a:r>
                        <a:rPr lang="en-US" dirty="0"/>
                        <a:t>                                                    =  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101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  <a:p>
                      <a:r>
                        <a:rPr lang="en-US" dirty="0"/>
                        <a:t>                  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1</a:t>
                      </a:r>
                      <a:r>
                        <a:rPr lang="en-US" dirty="0"/>
                        <a:t> x 16^2 =    1 x 256 = 256 </a:t>
                      </a:r>
                    </a:p>
                    <a:p>
                      <a:r>
                        <a:rPr lang="en-US" dirty="0"/>
                        <a:t>                   0 x 16^1 =    0 x    16 =       0</a:t>
                      </a:r>
                    </a:p>
                    <a:p>
                      <a:r>
                        <a:rPr lang="en-US" dirty="0"/>
                        <a:t>                   1 x 16^0 =    1 x       1 =       1</a:t>
                      </a:r>
                    </a:p>
                    <a:p>
                      <a:r>
                        <a:rPr lang="en-US" dirty="0"/>
                        <a:t>                                                             = 257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33098279"/>
                  </a:ext>
                </a:extLst>
              </a:tr>
              <a:tr h="1071365">
                <a:tc>
                  <a:txBody>
                    <a:bodyPr/>
                    <a:lstStyle/>
                    <a:p>
                      <a:r>
                        <a:rPr lang="en-US" dirty="0"/>
                        <a:t>756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    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 4A3 </a:t>
                      </a:r>
                      <a:r>
                        <a:rPr lang="en-US" dirty="0">
                          <a:sym typeface="Wingdings" panose="05000000000000000000" pitchFamily="2" charset="2"/>
                        </a:rPr>
                        <a:t>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009389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0411224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CB1EAA-B8DD-26EC-19FF-8608881D88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DFBE1-1F09-4E5C-D356-458DFA421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Octal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31B172-61D5-6887-D73A-F28BD607476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8    quotient : 39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39 / 8    quotient :    4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4 / 8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4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470)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8    quotient : 14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14 / 8    quotient :    1   , Remainder 6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 1 / 8 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(160)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223494910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3D12BF-ADDA-0C33-F381-FCCB19EDCE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71732C9-397E-270E-3178-40150E971A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2E31D5-323B-E1FF-6193-D91249E243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Convert following Decimal numbers to Octal</a:t>
            </a:r>
          </a:p>
          <a:p>
            <a:pPr lvl="1"/>
            <a:r>
              <a:rPr lang="en-US" dirty="0"/>
              <a:t>111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88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511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512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513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Octal numbers to Decimal</a:t>
            </a:r>
          </a:p>
          <a:p>
            <a:pPr lvl="1"/>
            <a:r>
              <a:rPr lang="en-US" dirty="0"/>
              <a:t>45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77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8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5797254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5A6EE4-432F-5935-FB55-C980748F46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D81EAC-639E-4B61-800D-0736AC708C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Converting Decimal to Hexadecimal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685F8D8-D8F2-9044-6B8D-B583A4F81AB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(312)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  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312 / 16    quotient : 19   , Remainder 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19 / 16    quotient :    1   , Remainder 3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                         1 / 16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 quotient :    0   , Remainder 1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(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138)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</a:p>
          <a:p>
            <a:pPr marL="0" indent="0">
              <a:buNone/>
            </a:pP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(112)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10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(?)</a:t>
            </a:r>
            <a:r>
              <a:rPr lang="en-US" sz="2400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8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112 / 16    quotient :    7   , Remainder 0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     7 / 16    quotient :    0   , Remainder 7</a:t>
            </a:r>
            <a:endParaRPr lang="en-US" sz="2400" dirty="0">
              <a:solidFill>
                <a:schemeClr val="tx1">
                  <a:lumMod val="75000"/>
                  <a:lumOff val="25000"/>
                </a:schemeClr>
              </a:solidFill>
            </a:endParaRPr>
          </a:p>
          <a:p>
            <a:pPr marL="0" indent="0">
              <a:buNone/>
            </a:pPr>
            <a:r>
              <a:rPr lang="en-US" sz="24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                       </a:t>
            </a:r>
            <a:r>
              <a:rPr lang="en-US" sz="2400" b="1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(70)</a:t>
            </a:r>
            <a:r>
              <a:rPr lang="en-US" sz="2400" b="1" baseline="-25000" dirty="0">
                <a:solidFill>
                  <a:schemeClr val="tx1">
                    <a:lumMod val="75000"/>
                    <a:lumOff val="25000"/>
                  </a:schemeClr>
                </a:solidFill>
                <a:sym typeface="Wingdings" panose="05000000000000000000" pitchFamily="2" charset="2"/>
              </a:rPr>
              <a:t>16</a:t>
            </a:r>
            <a:r>
              <a:rPr lang="en-US" dirty="0">
                <a:solidFill>
                  <a:schemeClr val="accent2">
                    <a:lumMod val="50000"/>
                  </a:schemeClr>
                </a:solidFill>
              </a:rPr>
              <a:t>                                                                      </a:t>
            </a:r>
          </a:p>
        </p:txBody>
      </p:sp>
    </p:spTree>
    <p:extLst>
      <p:ext uri="{BB962C8B-B14F-4D97-AF65-F5344CB8AC3E}">
        <p14:creationId xmlns:p14="http://schemas.microsoft.com/office/powerpoint/2010/main" val="40508050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52DA0DF-0428-A16C-932D-6D90D97490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 Hexadecimal </a:t>
            </a:r>
            <a:r>
              <a:rPr lang="en-US" dirty="0">
                <a:sym typeface="Wingdings" panose="05000000000000000000" pitchFamily="2" charset="2"/>
              </a:rPr>
              <a:t> Octal</a:t>
            </a:r>
            <a:r>
              <a:rPr lang="en-US" dirty="0"/>
              <a:t>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7D1FC0-0FC1-E666-D418-54A07F4485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(AC)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16 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 //Replace </a:t>
            </a:r>
            <a:r>
              <a:rPr lang="en-US" dirty="0" err="1">
                <a:sym typeface="Wingdings" panose="05000000000000000000" pitchFamily="2" charset="2"/>
              </a:rPr>
              <a:t>hexa</a:t>
            </a:r>
            <a:r>
              <a:rPr lang="en-US" dirty="0">
                <a:sym typeface="Wingdings" panose="05000000000000000000" pitchFamily="2" charset="2"/>
              </a:rPr>
              <a:t> with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1010 1100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010 101 100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3s , added extra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br>
              <a:rPr lang="en-US" dirty="0">
                <a:sym typeface="Wingdings" panose="05000000000000000000" pitchFamily="2" charset="2"/>
              </a:rPr>
            </a:b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/>
              <a:t>(1EF)</a:t>
            </a:r>
            <a:r>
              <a:rPr lang="en-US" baseline="-25000" dirty="0"/>
              <a:t>16</a:t>
            </a:r>
            <a:r>
              <a:rPr lang="en-US" dirty="0">
                <a:sym typeface="Wingdings" panose="05000000000000000000" pitchFamily="2" charset="2"/>
              </a:rPr>
              <a:t>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0001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ym typeface="Wingdings" panose="05000000000000000000" pitchFamily="2" charset="2"/>
              </a:rPr>
              <a:t> x 256 + (</a:t>
            </a:r>
            <a:r>
              <a:rPr lang="en-US" b="1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1110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x 16 + (1111) x 1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(0001 1110 1111)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Convert to 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binary</a:t>
            </a:r>
            <a:b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</a:b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            </a:t>
            </a:r>
            <a:r>
              <a:rPr lang="en-US" dirty="0">
                <a:sym typeface="Wingdings" panose="05000000000000000000" pitchFamily="2" charset="2"/>
              </a:rPr>
              <a:t>  (</a:t>
            </a:r>
            <a:r>
              <a:rPr lang="en-US" strike="sngStrike" dirty="0">
                <a:sym typeface="Wingdings" panose="05000000000000000000" pitchFamily="2" charset="2"/>
              </a:rPr>
              <a:t>000</a:t>
            </a:r>
            <a:r>
              <a:rPr lang="en-US" dirty="0">
                <a:sym typeface="Wingdings" panose="05000000000000000000" pitchFamily="2" charset="2"/>
              </a:rPr>
              <a:t> 111 101 111)</a:t>
            </a:r>
            <a:r>
              <a:rPr lang="en-US" baseline="-25000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2</a:t>
            </a:r>
            <a:r>
              <a:rPr lang="en-US" dirty="0">
                <a:solidFill>
                  <a:schemeClr val="accent5">
                    <a:lumMod val="75000"/>
                  </a:schemeClr>
                </a:solidFill>
                <a:sym typeface="Wingdings" panose="05000000000000000000" pitchFamily="2" charset="2"/>
              </a:rPr>
              <a:t> </a:t>
            </a:r>
            <a:r>
              <a:rPr lang="en-US" dirty="0">
                <a:sym typeface="Wingdings" panose="05000000000000000000" pitchFamily="2" charset="2"/>
              </a:rPr>
              <a:t>// group by 3 , removed 0s in the front</a:t>
            </a:r>
          </a:p>
          <a:p>
            <a:pPr marL="0" indent="0">
              <a:buNone/>
            </a:pPr>
            <a:r>
              <a:rPr lang="en-US" dirty="0">
                <a:sym typeface="Wingdings" panose="05000000000000000000" pitchFamily="2" charset="2"/>
              </a:rPr>
              <a:t>               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</a:t>
            </a:r>
            <a:r>
              <a:rPr lang="en-US" dirty="0">
                <a:sym typeface="Wingdings" panose="05000000000000000000" pitchFamily="2" charset="2"/>
              </a:rPr>
              <a:t>// Replace each group by octal value</a:t>
            </a:r>
            <a:endParaRPr lang="en-US" dirty="0">
              <a:solidFill>
                <a:schemeClr val="accent5">
                  <a:lumMod val="75000"/>
                </a:schemeClr>
              </a:solidFill>
              <a:sym typeface="Wingdings" panose="05000000000000000000" pitchFamily="2" charset="2"/>
            </a:endParaRPr>
          </a:p>
          <a:p>
            <a:pPr marL="0" indent="0">
              <a:buNone/>
            </a:pPr>
            <a:endParaRPr lang="en-US" dirty="0">
              <a:solidFill>
                <a:schemeClr val="accent5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72892317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07F378-FBC4-B785-4606-55327891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Octal </a:t>
            </a:r>
            <a:r>
              <a:rPr lang="en-US" dirty="0">
                <a:sym typeface="Wingdings" panose="05000000000000000000" pitchFamily="2" charset="2"/>
              </a:rPr>
              <a:t> Hexadecimal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C29DCD8-512B-7888-2854-B8DFA4AED5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757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</a:p>
          <a:p>
            <a:r>
              <a:rPr lang="en-US" dirty="0">
                <a:sym typeface="Wingdings" panose="05000000000000000000" pitchFamily="2" charset="2"/>
              </a:rPr>
              <a:t>( </a:t>
            </a:r>
            <a:r>
              <a:rPr lang="en-US" b="1" dirty="0">
                <a:solidFill>
                  <a:schemeClr val="accent6">
                    <a:lumMod val="50000"/>
                  </a:schemeClr>
                </a:solidFill>
                <a:sym typeface="Wingdings" panose="05000000000000000000" pitchFamily="2" charset="2"/>
              </a:rPr>
              <a:t>254</a:t>
            </a:r>
            <a:r>
              <a:rPr lang="en-US" dirty="0">
                <a:sym typeface="Wingdings" panose="05000000000000000000" pitchFamily="2" charset="2"/>
              </a:rPr>
              <a:t>)</a:t>
            </a:r>
            <a:r>
              <a:rPr lang="en-US" baseline="-25000" dirty="0">
                <a:sym typeface="Wingdings" panose="05000000000000000000" pitchFamily="2" charset="2"/>
              </a:rPr>
              <a:t>8 </a:t>
            </a:r>
            <a:r>
              <a:rPr lang="en-US" dirty="0">
                <a:sym typeface="Wingdings" panose="05000000000000000000" pitchFamily="2" charset="2"/>
              </a:rPr>
              <a:t>  (?)</a:t>
            </a:r>
            <a:r>
              <a:rPr lang="en-US" baseline="-25000" dirty="0">
                <a:sym typeface="Wingdings" panose="05000000000000000000" pitchFamily="2" charset="2"/>
              </a:rPr>
              <a:t>16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04834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47E173-48F1-8AE4-B589-9212969F0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984FDA8-A7C8-160E-58B2-F46D3A27F9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Exercises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EE79C7-6903-EF1D-ABED-3A14B271B6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Convert following Decimal numbers to </a:t>
            </a:r>
            <a:r>
              <a:rPr lang="en-US" dirty="0" err="1"/>
              <a:t>HexaDecimal</a:t>
            </a:r>
            <a:r>
              <a:rPr lang="en-US" dirty="0"/>
              <a:t>/Octal</a:t>
            </a:r>
          </a:p>
          <a:p>
            <a:pPr lvl="1"/>
            <a:r>
              <a:rPr lang="en-US" dirty="0"/>
              <a:t>255</a:t>
            </a:r>
            <a:r>
              <a:rPr lang="en-US" baseline="-25000" dirty="0"/>
              <a:t>10</a:t>
            </a:r>
          </a:p>
          <a:p>
            <a:pPr lvl="1"/>
            <a:r>
              <a:rPr lang="en-US" dirty="0"/>
              <a:t>256</a:t>
            </a:r>
            <a:r>
              <a:rPr lang="en-US" baseline="-25000" dirty="0"/>
              <a:t>10</a:t>
            </a:r>
            <a:endParaRPr lang="en-US" dirty="0"/>
          </a:p>
          <a:p>
            <a:pPr lvl="1"/>
            <a:r>
              <a:rPr lang="en-US" dirty="0"/>
              <a:t>257</a:t>
            </a:r>
            <a:r>
              <a:rPr lang="en-US" baseline="-25000" dirty="0"/>
              <a:t>10</a:t>
            </a:r>
            <a:endParaRPr lang="en-US" dirty="0"/>
          </a:p>
          <a:p>
            <a:r>
              <a:rPr lang="en-US" dirty="0"/>
              <a:t>Convert following </a:t>
            </a:r>
            <a:r>
              <a:rPr lang="en-US" dirty="0" err="1"/>
              <a:t>HexaDecimal</a:t>
            </a:r>
            <a:r>
              <a:rPr lang="en-US" dirty="0"/>
              <a:t> numbers to Decimal, Octal</a:t>
            </a:r>
          </a:p>
          <a:p>
            <a:pPr lvl="1"/>
            <a:r>
              <a:rPr lang="en-US" dirty="0"/>
              <a:t>99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100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r>
              <a:rPr lang="en-US" dirty="0"/>
              <a:t>101</a:t>
            </a:r>
            <a:r>
              <a:rPr lang="en-US" baseline="-25000" dirty="0"/>
              <a:t>16</a:t>
            </a:r>
            <a:endParaRPr lang="en-US" dirty="0"/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458747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4F8B1A-215C-B042-EA28-08D3F948D8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Recursion : programming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1A67A3-EB34-AD47-4E4D-D1BF4F6A56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Create factorial</a:t>
            </a:r>
          </a:p>
          <a:p>
            <a:pPr lvl="1"/>
            <a:r>
              <a:rPr lang="en-US" dirty="0"/>
              <a:t>5! = 5 x 4 x 3 x 2 x 1 = </a:t>
            </a:r>
            <a:r>
              <a:rPr lang="en-US" b="1" dirty="0"/>
              <a:t>120</a:t>
            </a:r>
          </a:p>
          <a:p>
            <a:pPr lvl="1"/>
            <a:r>
              <a:rPr lang="en-US" dirty="0"/>
              <a:t>2! = </a:t>
            </a:r>
            <a:r>
              <a:rPr lang="en-US" b="1" dirty="0"/>
              <a:t>2</a:t>
            </a:r>
          </a:p>
          <a:p>
            <a:r>
              <a:rPr lang="en-US" dirty="0"/>
              <a:t>Provide sum of Fibonacci numbers using recursion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(13) </a:t>
            </a:r>
          </a:p>
          <a:p>
            <a:pPr lvl="2"/>
            <a:r>
              <a:rPr lang="en-US" dirty="0"/>
              <a:t>0 + 1 + 1 + 2 + 3 + 5 + 8 + 13  = </a:t>
            </a:r>
            <a:r>
              <a:rPr lang="en-US" b="1" dirty="0"/>
              <a:t>33</a:t>
            </a:r>
          </a:p>
          <a:p>
            <a:pPr lvl="1"/>
            <a:r>
              <a:rPr lang="en-US" dirty="0" err="1"/>
              <a:t>fibonacci</a:t>
            </a:r>
            <a:r>
              <a:rPr lang="en-US" dirty="0"/>
              <a:t>(3)</a:t>
            </a:r>
          </a:p>
          <a:p>
            <a:pPr lvl="2"/>
            <a:r>
              <a:rPr lang="en-US" dirty="0"/>
              <a:t>0 + 1 + 1 + 2 + 3 = </a:t>
            </a:r>
            <a:r>
              <a:rPr lang="en-US" b="1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69746454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A35361-C439-F244-59BE-387062C3B2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Relations</a:t>
            </a:r>
            <a:endParaRPr lang="en-US" i="1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A9D45C0-F44A-0C13-FFC8-529E4920413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: connection/mapping between elements of two or more sets, Some characteristics …</a:t>
            </a:r>
          </a:p>
          <a:p>
            <a:pPr lvl="1"/>
            <a:r>
              <a:rPr lang="en-US" dirty="0"/>
              <a:t>It is a </a:t>
            </a:r>
            <a:r>
              <a:rPr lang="en-US" b="1" dirty="0"/>
              <a:t>mapping</a:t>
            </a:r>
            <a:r>
              <a:rPr lang="en-US" dirty="0"/>
              <a:t> as </a:t>
            </a:r>
            <a:r>
              <a:rPr lang="en-US" i="1" dirty="0"/>
              <a:t>shown in figure</a:t>
            </a:r>
          </a:p>
          <a:p>
            <a:pPr lvl="1"/>
            <a:r>
              <a:rPr lang="en-US" dirty="0"/>
              <a:t>Can be written as </a:t>
            </a:r>
            <a:r>
              <a:rPr lang="en-US" b="1" dirty="0"/>
              <a:t>Ordered pairs </a:t>
            </a:r>
          </a:p>
          <a:p>
            <a:pPr lvl="2"/>
            <a:r>
              <a:rPr lang="en-US" dirty="0"/>
              <a:t>{(1,c), (2,n),(5,a),(7,n)}</a:t>
            </a:r>
          </a:p>
          <a:p>
            <a:pPr lvl="1"/>
            <a:r>
              <a:rPr lang="en-US" dirty="0"/>
              <a:t>Not always unique</a:t>
            </a:r>
          </a:p>
          <a:p>
            <a:pPr lvl="2"/>
            <a:r>
              <a:rPr lang="en-US" dirty="0"/>
              <a:t>E.g. y</a:t>
            </a:r>
            <a:r>
              <a:rPr lang="en-US" baseline="30000" dirty="0"/>
              <a:t>2</a:t>
            </a:r>
            <a:r>
              <a:rPr lang="en-US" dirty="0"/>
              <a:t> = 4 has multiple solutions (how many?)</a:t>
            </a:r>
          </a:p>
          <a:p>
            <a:r>
              <a:rPr lang="en-US" dirty="0"/>
              <a:t>Examples</a:t>
            </a:r>
          </a:p>
          <a:p>
            <a:pPr lvl="1"/>
            <a:r>
              <a:rPr lang="en-US" dirty="0"/>
              <a:t>Numerical relationship : 4+3 = 7</a:t>
            </a:r>
          </a:p>
          <a:p>
            <a:pPr lvl="1"/>
            <a:r>
              <a:rPr lang="en-US" dirty="0"/>
              <a:t>Equation : y = 2x+3</a:t>
            </a:r>
          </a:p>
          <a:p>
            <a:pPr lvl="1"/>
            <a:r>
              <a:rPr lang="en-US" dirty="0"/>
              <a:t>Geometry : two congruent triangles</a:t>
            </a:r>
          </a:p>
          <a:p>
            <a:pPr lvl="1"/>
            <a:r>
              <a:rPr lang="en-US" dirty="0"/>
              <a:t>Set theory : A is a subset of B </a:t>
            </a:r>
          </a:p>
          <a:p>
            <a:pPr lvl="2"/>
            <a:endParaRPr lang="en-US" dirty="0"/>
          </a:p>
          <a:p>
            <a:pPr lvl="1"/>
            <a:endParaRPr lang="en-US" dirty="0"/>
          </a:p>
          <a:p>
            <a:pPr lvl="1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96BF3F3-E264-E655-5183-8CDB033A46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00624" y="2247774"/>
            <a:ext cx="3429176" cy="17907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71120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3656C5-174E-2FB6-65E4-CA2111D706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Functions , mathematical kind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84E198-62A9-A7DA-7EB7-D2E9BE70DA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A </a:t>
            </a:r>
            <a:r>
              <a:rPr lang="en-US" b="1" dirty="0"/>
              <a:t>relation</a:t>
            </a:r>
            <a:r>
              <a:rPr lang="en-US" dirty="0"/>
              <a:t> that gives exactly </a:t>
            </a:r>
            <a:r>
              <a:rPr lang="en-US" b="1" dirty="0"/>
              <a:t>one unique output for each input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  y     :this is a function as you always get one answer</a:t>
            </a:r>
          </a:p>
          <a:p>
            <a:pPr marL="0" indent="0">
              <a:buNone/>
            </a:pPr>
            <a:r>
              <a:rPr lang="en-US" dirty="0"/>
              <a:t>x </a:t>
            </a:r>
            <a:r>
              <a:rPr lang="en-US" dirty="0">
                <a:sym typeface="Wingdings" panose="05000000000000000000" pitchFamily="2" charset="2"/>
              </a:rPr>
              <a:t>                           :Not a function as you get multiple answers</a:t>
            </a:r>
          </a:p>
          <a:p>
            <a:endParaRPr lang="en-US" dirty="0">
              <a:sym typeface="Wingdings" panose="05000000000000000000" pitchFamily="2" charset="2"/>
            </a:endParaRPr>
          </a:p>
          <a:p>
            <a:r>
              <a:rPr lang="en-US" dirty="0"/>
              <a:t>Representation </a:t>
            </a:r>
          </a:p>
          <a:p>
            <a:pPr lvl="1"/>
            <a:r>
              <a:rPr lang="en-US" dirty="0"/>
              <a:t>f(x)  = 2x+1 : this is a function </a:t>
            </a:r>
          </a:p>
          <a:p>
            <a:pPr lvl="1"/>
            <a:r>
              <a:rPr lang="en-US" dirty="0"/>
              <a:t>g(x) = ± 3x  : this is </a:t>
            </a:r>
            <a:r>
              <a:rPr lang="en-US" b="1" dirty="0"/>
              <a:t>not </a:t>
            </a:r>
            <a:r>
              <a:rPr lang="en-US" dirty="0"/>
              <a:t>a function , why?</a:t>
            </a:r>
          </a:p>
          <a:p>
            <a:r>
              <a:rPr lang="en-US" dirty="0"/>
              <a:t>Follow up reading </a:t>
            </a:r>
            <a:r>
              <a:rPr lang="en-US" sz="1600" dirty="0"/>
              <a:t>(optional)</a:t>
            </a:r>
            <a:r>
              <a:rPr lang="en-US" dirty="0"/>
              <a:t>: </a:t>
            </a:r>
            <a:r>
              <a:rPr lang="en-US" dirty="0" err="1"/>
              <a:t>pg</a:t>
            </a:r>
            <a:r>
              <a:rPr lang="en-US" dirty="0"/>
              <a:t> 11-13 : </a:t>
            </a:r>
            <a:r>
              <a:rPr lang="en-US" dirty="0">
                <a:hlinkClick r:id="rId2"/>
              </a:rPr>
              <a:t>functions</a:t>
            </a:r>
            <a:endParaRPr lang="en-US" dirty="0"/>
          </a:p>
          <a:p>
            <a:endParaRPr lang="en-US" b="1" dirty="0"/>
          </a:p>
          <a:p>
            <a:pPr lvl="1"/>
            <a:endParaRPr lang="en-US" b="1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8151C7A-8B6C-8009-415E-F91BB003110A}"/>
              </a:ext>
            </a:extLst>
          </p:cNvPr>
          <p:cNvSpPr/>
          <p:nvPr/>
        </p:nvSpPr>
        <p:spPr>
          <a:xfrm>
            <a:off x="1838880" y="234828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C6B4BE5-A952-1A8B-54BC-63ED314339FD}"/>
              </a:ext>
            </a:extLst>
          </p:cNvPr>
          <p:cNvSpPr txBox="1"/>
          <p:nvPr/>
        </p:nvSpPr>
        <p:spPr>
          <a:xfrm>
            <a:off x="1860641" y="2348280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E9EF14B-CA2E-6982-AF5C-489BC285D936}"/>
              </a:ext>
            </a:extLst>
          </p:cNvPr>
          <p:cNvSpPr txBox="1"/>
          <p:nvPr/>
        </p:nvSpPr>
        <p:spPr>
          <a:xfrm>
            <a:off x="1838880" y="2882925"/>
            <a:ext cx="6879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Rule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40DAEC3-6CB2-B53A-492C-9AF9FB397D56}"/>
              </a:ext>
            </a:extLst>
          </p:cNvPr>
          <p:cNvSpPr/>
          <p:nvPr/>
        </p:nvSpPr>
        <p:spPr>
          <a:xfrm>
            <a:off x="1842120" y="2909160"/>
            <a:ext cx="731520" cy="365760"/>
          </a:xfrm>
          <a:prstGeom prst="rect">
            <a:avLst/>
          </a:prstGeom>
          <a:solidFill>
            <a:srgbClr val="000000">
              <a:alpha val="5000"/>
            </a:srgbClr>
          </a:solidFill>
          <a:ln w="18000">
            <a:solidFill>
              <a:srgbClr val="0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000000"/>
              </a:solidFill>
            </a:endParaRP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14:cNvPr>
              <p14:cNvContentPartPr/>
              <p14:nvPr/>
            </p14:nvContentPartPr>
            <p14:xfrm>
              <a:off x="2936679" y="2998246"/>
              <a:ext cx="360" cy="360"/>
            </p14:xfrm>
          </p:contentPart>
        </mc:Choice>
        <mc:Fallback xmlns="">
          <p:pic>
            <p:nvPicPr>
              <p:cNvPr id="17" name="Ink 16">
                <a:extLst>
                  <a:ext uri="{FF2B5EF4-FFF2-40B4-BE49-F238E27FC236}">
                    <a16:creationId xmlns:a16="http://schemas.microsoft.com/office/drawing/2014/main" id="{F875B4C7-A359-6018-2157-AE5ABA315C18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2927679" y="2989246"/>
                <a:ext cx="18000" cy="18000"/>
              </a:xfrm>
              <a:prstGeom prst="rect">
                <a:avLst/>
              </a:prstGeom>
            </p:spPr>
          </p:pic>
        </mc:Fallback>
      </mc:AlternateContent>
      <p:grpSp>
        <p:nvGrpSpPr>
          <p:cNvPr id="25" name="Group 24">
            <a:extLst>
              <a:ext uri="{FF2B5EF4-FFF2-40B4-BE49-F238E27FC236}">
                <a16:creationId xmlns:a16="http://schemas.microsoft.com/office/drawing/2014/main" id="{9C0F5BCF-D0F2-30A7-9946-861FA1711ABA}"/>
              </a:ext>
            </a:extLst>
          </p:cNvPr>
          <p:cNvGrpSpPr/>
          <p:nvPr/>
        </p:nvGrpSpPr>
        <p:grpSpPr>
          <a:xfrm>
            <a:off x="2721039" y="2857126"/>
            <a:ext cx="445320" cy="303840"/>
            <a:chOff x="2721039" y="2857126"/>
            <a:chExt cx="445320" cy="3038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5">
              <p14:nvContentPartPr>
                <p14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14:cNvPr>
                <p14:cNvContentPartPr/>
                <p14:nvPr/>
              </p14:nvContentPartPr>
              <p14:xfrm>
                <a:off x="2721039" y="2908246"/>
                <a:ext cx="376920" cy="104040"/>
              </p14:xfrm>
            </p:contentPart>
          </mc:Choice>
          <mc:Fallback xmlns="">
            <p:pic>
              <p:nvPicPr>
                <p:cNvPr id="19" name="Ink 18">
                  <a:extLst>
                    <a:ext uri="{FF2B5EF4-FFF2-40B4-BE49-F238E27FC236}">
                      <a16:creationId xmlns:a16="http://schemas.microsoft.com/office/drawing/2014/main" id="{B8C7FEF2-D3AE-3E3C-A68D-D3F43971E802}"/>
                    </a:ext>
                  </a:extLst>
                </p:cNvPr>
                <p:cNvPicPr/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2712039" y="2899246"/>
                  <a:ext cx="394560" cy="121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">
              <p14:nvContentPartPr>
                <p14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14:cNvPr>
                <p14:cNvContentPartPr/>
                <p14:nvPr/>
              </p14:nvContentPartPr>
              <p14:xfrm>
                <a:off x="2985639" y="2857126"/>
                <a:ext cx="149040" cy="141120"/>
              </p14:xfrm>
            </p:contentPart>
          </mc:Choice>
          <mc:Fallback xmlns="">
            <p:pic>
              <p:nvPicPr>
                <p:cNvPr id="20" name="Ink 19">
                  <a:extLst>
                    <a:ext uri="{FF2B5EF4-FFF2-40B4-BE49-F238E27FC236}">
                      <a16:creationId xmlns:a16="http://schemas.microsoft.com/office/drawing/2014/main" id="{C8ECC4D9-1F6F-1158-5D0B-145F4119AC69}"/>
                    </a:ext>
                  </a:extLst>
                </p:cNvPr>
                <p:cNvPicPr/>
                <p:nvPr/>
              </p:nvPicPr>
              <p:blipFill>
                <a:blip r:embed="rId8"/>
                <a:stretch>
                  <a:fillRect/>
                </a:stretch>
              </p:blipFill>
              <p:spPr>
                <a:xfrm>
                  <a:off x="2976639" y="2848486"/>
                  <a:ext cx="166680" cy="158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14:cNvPr>
                <p14:cNvContentPartPr/>
                <p14:nvPr/>
              </p14:nvContentPartPr>
              <p14:xfrm>
                <a:off x="2769279" y="3081766"/>
                <a:ext cx="349200" cy="4536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766648FE-AFBB-2E70-8ED4-3195243117CC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2760639" y="3073126"/>
                  <a:ext cx="366840" cy="630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14:cNvPr>
                <p14:cNvContentPartPr/>
                <p14:nvPr/>
              </p14:nvContentPartPr>
              <p14:xfrm>
                <a:off x="3015519" y="3041806"/>
                <a:ext cx="150840" cy="119160"/>
              </p14:xfrm>
            </p:contentPart>
          </mc:Choice>
          <mc:Fallback xmlns="">
            <p:pic>
              <p:nvPicPr>
                <p:cNvPr id="24" name="Ink 23">
                  <a:extLst>
                    <a:ext uri="{FF2B5EF4-FFF2-40B4-BE49-F238E27FC236}">
                      <a16:creationId xmlns:a16="http://schemas.microsoft.com/office/drawing/2014/main" id="{37090F1C-D55F-8CC3-89BB-7EB84048F0D5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3006879" y="3033166"/>
                  <a:ext cx="168480" cy="1368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FFCD7125-712B-D955-04CB-A6D6EA861E7E}"/>
              </a:ext>
            </a:extLst>
          </p:cNvPr>
          <p:cNvGrpSpPr/>
          <p:nvPr/>
        </p:nvGrpSpPr>
        <p:grpSpPr>
          <a:xfrm>
            <a:off x="2769279" y="3244126"/>
            <a:ext cx="389520" cy="255240"/>
            <a:chOff x="2769279" y="3244126"/>
            <a:chExt cx="389520" cy="255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14:cNvPr>
                <p14:cNvContentPartPr/>
                <p14:nvPr/>
              </p14:nvContentPartPr>
              <p14:xfrm>
                <a:off x="2769279" y="3244126"/>
                <a:ext cx="338400" cy="17604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BAD88289-ECFD-B45F-2CF4-BB5A981B9584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760639" y="3235126"/>
                  <a:ext cx="356040" cy="193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14:cNvPr>
                <p14:cNvContentPartPr/>
                <p14:nvPr/>
              </p14:nvContentPartPr>
              <p14:xfrm>
                <a:off x="2954679" y="3353926"/>
                <a:ext cx="204120" cy="145440"/>
              </p14:xfrm>
            </p:contentPart>
          </mc:Choice>
          <mc:Fallback xmlns="">
            <p:pic>
              <p:nvPicPr>
                <p:cNvPr id="27" name="Ink 26">
                  <a:extLst>
                    <a:ext uri="{FF2B5EF4-FFF2-40B4-BE49-F238E27FC236}">
                      <a16:creationId xmlns:a16="http://schemas.microsoft.com/office/drawing/2014/main" id="{30CC6CB1-5945-9D71-1B4F-5864922A7BD9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45679" y="3345286"/>
                  <a:ext cx="221760" cy="16308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80D0CA2-9126-FD7A-E450-E50AFF13D531}"/>
              </a:ext>
            </a:extLst>
          </p:cNvPr>
          <p:cNvSpPr txBox="1"/>
          <p:nvPr/>
        </p:nvSpPr>
        <p:spPr>
          <a:xfrm>
            <a:off x="3201639" y="2714040"/>
            <a:ext cx="52753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</a:t>
            </a:r>
          </a:p>
          <a:p>
            <a:r>
              <a:rPr lang="en-US" dirty="0"/>
              <a:t>b</a:t>
            </a:r>
          </a:p>
          <a:p>
            <a:r>
              <a:rPr lang="en-US" dirty="0"/>
              <a:t>c</a:t>
            </a:r>
          </a:p>
        </p:txBody>
      </p:sp>
    </p:spTree>
    <p:extLst>
      <p:ext uri="{BB962C8B-B14F-4D97-AF65-F5344CB8AC3E}">
        <p14:creationId xmlns:p14="http://schemas.microsoft.com/office/powerpoint/2010/main" val="17757691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902945-0AC2-97D6-21F3-4A5D08BD2A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Evaluating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2889C3-04D9-9556-4A46-3112030614F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Solving </a:t>
            </a:r>
          </a:p>
          <a:p>
            <a:pPr lvl="1"/>
            <a:r>
              <a:rPr lang="en-US" dirty="0"/>
              <a:t>Substitute variables with numerals</a:t>
            </a:r>
          </a:p>
          <a:p>
            <a:pPr lvl="1"/>
            <a:r>
              <a:rPr lang="en-US" dirty="0"/>
              <a:t>Evaluate</a:t>
            </a:r>
          </a:p>
          <a:p>
            <a:pPr lvl="2"/>
            <a:r>
              <a:rPr lang="en-US" dirty="0"/>
              <a:t>Follow PEMDAS/BODMAS</a:t>
            </a:r>
          </a:p>
          <a:p>
            <a:r>
              <a:rPr lang="en-US" dirty="0"/>
              <a:t>Solve for x = 0,1,2,3</a:t>
            </a:r>
          </a:p>
          <a:p>
            <a:pPr lvl="1"/>
            <a:r>
              <a:rPr lang="en-US" dirty="0"/>
              <a:t>f(x) = 3x + 1</a:t>
            </a:r>
          </a:p>
          <a:p>
            <a:pPr lvl="1"/>
            <a:r>
              <a:rPr lang="en-US" dirty="0"/>
              <a:t>g(x) = 2x</a:t>
            </a:r>
            <a:r>
              <a:rPr lang="en-US" baseline="30000" dirty="0"/>
              <a:t>2 </a:t>
            </a:r>
            <a:r>
              <a:rPr lang="en-US" dirty="0"/>
              <a:t>+ 3</a:t>
            </a:r>
          </a:p>
          <a:p>
            <a:pPr lvl="1"/>
            <a:r>
              <a:rPr lang="en-US" dirty="0"/>
              <a:t>h(x) = x</a:t>
            </a:r>
            <a:r>
              <a:rPr lang="en-US" baseline="30000" dirty="0"/>
              <a:t>2</a:t>
            </a:r>
            <a:r>
              <a:rPr lang="en-US" dirty="0"/>
              <a:t> + 2x +1</a:t>
            </a:r>
          </a:p>
        </p:txBody>
      </p:sp>
    </p:spTree>
    <p:extLst>
      <p:ext uri="{BB962C8B-B14F-4D97-AF65-F5344CB8AC3E}">
        <p14:creationId xmlns:p14="http://schemas.microsoft.com/office/powerpoint/2010/main" val="24198639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CBAF36-C99B-4C0F-D9A1-F97EBF1C33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Recursive Functions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D1E908-BFA9-6149-6F25-D118365B8B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dirty="0"/>
              <a:t>Functions calling themselves</a:t>
            </a:r>
          </a:p>
          <a:p>
            <a:pPr marL="0" indent="0">
              <a:buNone/>
            </a:pPr>
            <a:endParaRPr lang="en-US" dirty="0"/>
          </a:p>
          <a:p>
            <a:pPr lvl="1"/>
            <a:endParaRPr lang="en-US" dirty="0"/>
          </a:p>
          <a:p>
            <a:endParaRPr lang="en-US" dirty="0"/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>
              <a:hlinkClick r:id="rId2"/>
            </a:endParaRPr>
          </a:p>
          <a:p>
            <a:endParaRPr lang="en-US" dirty="0"/>
          </a:p>
          <a:p>
            <a:r>
              <a:rPr lang="en-US" dirty="0"/>
              <a:t>Evaluate for ‘n’ = 2 , 4, 5, 6</a:t>
            </a:r>
          </a:p>
          <a:p>
            <a:r>
              <a:rPr lang="en-US" dirty="0"/>
              <a:t>Follow up reading </a:t>
            </a:r>
            <a:r>
              <a:rPr lang="en-US" sz="1500" dirty="0"/>
              <a:t>(optional)</a:t>
            </a:r>
            <a:r>
              <a:rPr lang="en-US" dirty="0"/>
              <a:t>: </a:t>
            </a:r>
            <a:r>
              <a:rPr lang="en-US" dirty="0">
                <a:hlinkClick r:id="rId2"/>
              </a:rPr>
              <a:t>nested functions visualized</a:t>
            </a:r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33B07FF-705F-B2EE-4909-718D1ECDC4F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5136" y="2233628"/>
            <a:ext cx="3333921" cy="1124008"/>
          </a:xfrm>
          <a:prstGeom prst="rect">
            <a:avLst/>
          </a:prstGeom>
        </p:spPr>
      </p:pic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9ED924A9-7C44-EBC3-DDF7-0205456CDCD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7114464"/>
              </p:ext>
            </p:extLst>
          </p:nvPr>
        </p:nvGraphicFramePr>
        <p:xfrm>
          <a:off x="1071459" y="2316479"/>
          <a:ext cx="8861106" cy="2821776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430553">
                  <a:extLst>
                    <a:ext uri="{9D8B030D-6E8A-4147-A177-3AD203B41FA5}">
                      <a16:colId xmlns:a16="http://schemas.microsoft.com/office/drawing/2014/main" val="2496394709"/>
                    </a:ext>
                  </a:extLst>
                </a:gridCol>
                <a:gridCol w="4430553">
                  <a:extLst>
                    <a:ext uri="{9D8B030D-6E8A-4147-A177-3AD203B41FA5}">
                      <a16:colId xmlns:a16="http://schemas.microsoft.com/office/drawing/2014/main" val="1375899388"/>
                    </a:ext>
                  </a:extLst>
                </a:gridCol>
              </a:tblGrid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Fibonacci </a:t>
                      </a:r>
                      <a:r>
                        <a:rPr lang="en-US" b="0" dirty="0"/>
                        <a:t>numbers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18360927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Factorial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fact(n) = n * fact(n-1)</a:t>
                      </a:r>
                    </a:p>
                    <a:p>
                      <a:r>
                        <a:rPr lang="en-US" dirty="0"/>
                        <a:t>    {given, </a:t>
                      </a:r>
                      <a:r>
                        <a:rPr lang="en-US" i="1" dirty="0"/>
                        <a:t> fact(1) = fact(0) =1}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9044372"/>
                  </a:ext>
                </a:extLst>
              </a:tr>
              <a:tr h="940592">
                <a:tc>
                  <a:txBody>
                    <a:bodyPr/>
                    <a:lstStyle/>
                    <a:p>
                      <a:r>
                        <a:rPr lang="en-US" b="1" dirty="0"/>
                        <a:t>Lucas </a:t>
                      </a:r>
                      <a:r>
                        <a:rPr lang="en-US" b="0" dirty="0"/>
                        <a:t>numbers</a:t>
                      </a:r>
                      <a:br>
                        <a:rPr lang="en-US" b="0" dirty="0"/>
                      </a:br>
                      <a:r>
                        <a:rPr lang="en-US" dirty="0"/>
                        <a:t>(</a:t>
                      </a:r>
                      <a:r>
                        <a:rPr lang="en-US" i="1" dirty="0"/>
                        <a:t>same rule as Fibonacci but with different starting values</a:t>
                      </a:r>
                      <a:r>
                        <a:rPr lang="en-U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    l (n) = l(n-1) + l(n-2)</a:t>
                      </a:r>
                    </a:p>
                    <a:p>
                      <a:r>
                        <a:rPr lang="en-US" dirty="0"/>
                        <a:t>    {given , </a:t>
                      </a:r>
                      <a:r>
                        <a:rPr lang="en-US" i="1" dirty="0"/>
                        <a:t>l(0) = 2, l(1) = 1}</a:t>
                      </a:r>
                      <a:endParaRPr lang="en-US" dirty="0"/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629143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1292121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DEB84F-B0DC-79D2-7C5F-8C3A6D23B6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Programming, , Test #1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BEA891-9323-41D9-4413-E83293264D3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Need to know </a:t>
            </a:r>
          </a:p>
          <a:p>
            <a:pPr lvl="1"/>
            <a:r>
              <a:rPr lang="en-US" dirty="0"/>
              <a:t>Data types</a:t>
            </a:r>
          </a:p>
          <a:p>
            <a:pPr lvl="1"/>
            <a:r>
              <a:rPr lang="en-US" dirty="0"/>
              <a:t>Conditionals : If/else</a:t>
            </a:r>
          </a:p>
          <a:p>
            <a:pPr lvl="1"/>
            <a:r>
              <a:rPr lang="en-US" dirty="0"/>
              <a:t>Loops : for</a:t>
            </a:r>
          </a:p>
          <a:p>
            <a:pPr lvl="1"/>
            <a:r>
              <a:rPr lang="en-US" dirty="0"/>
              <a:t>Arrays : 2 dimensional</a:t>
            </a:r>
          </a:p>
          <a:p>
            <a:r>
              <a:rPr lang="en-US" dirty="0"/>
              <a:t>Practice </a:t>
            </a:r>
          </a:p>
          <a:p>
            <a:pPr lvl="1"/>
            <a:r>
              <a:rPr lang="en-US" dirty="0">
                <a:hlinkClick r:id="rId2"/>
              </a:rPr>
              <a:t>Arrays- DS (</a:t>
            </a:r>
            <a:r>
              <a:rPr lang="en-US" dirty="0" err="1">
                <a:hlinkClick r:id="rId2"/>
              </a:rPr>
              <a:t>Hackerrank</a:t>
            </a:r>
            <a:r>
              <a:rPr lang="en-US" dirty="0">
                <a:hlinkClick r:id="rId2"/>
              </a:rPr>
              <a:t>)</a:t>
            </a:r>
            <a:r>
              <a:rPr lang="en-US" dirty="0"/>
              <a:t> </a:t>
            </a:r>
          </a:p>
          <a:p>
            <a:pPr lvl="2"/>
            <a:r>
              <a:rPr lang="en-US"/>
              <a:t>Do the 4 </a:t>
            </a:r>
            <a:r>
              <a:rPr lang="en-US" dirty="0"/>
              <a:t>problems marked “easy”</a:t>
            </a:r>
          </a:p>
          <a:p>
            <a:pPr lvl="2"/>
            <a:r>
              <a:rPr lang="en-US" dirty="0"/>
              <a:t>Optional :“hard”, “medium” one are for extra challenge</a:t>
            </a:r>
          </a:p>
        </p:txBody>
      </p:sp>
    </p:spTree>
    <p:extLst>
      <p:ext uri="{BB962C8B-B14F-4D97-AF65-F5344CB8AC3E}">
        <p14:creationId xmlns:p14="http://schemas.microsoft.com/office/powerpoint/2010/main" val="63354653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814</TotalTime>
  <Words>1571</Words>
  <Application>Microsoft Office PowerPoint</Application>
  <PresentationFormat>Widescreen</PresentationFormat>
  <Paragraphs>352</Paragraphs>
  <Slides>24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30" baseType="lpstr">
      <vt:lpstr>Aptos</vt:lpstr>
      <vt:lpstr>Aptos Display</vt:lpstr>
      <vt:lpstr>Aptos Narrow</vt:lpstr>
      <vt:lpstr>Arial</vt:lpstr>
      <vt:lpstr>Wingdings</vt:lpstr>
      <vt:lpstr>Office Theme</vt:lpstr>
      <vt:lpstr>Exploring Computer Science Concepts</vt:lpstr>
      <vt:lpstr>Number Systems</vt:lpstr>
      <vt:lpstr>Digits per base</vt:lpstr>
      <vt:lpstr>Counting in Decimal </vt:lpstr>
      <vt:lpstr>Counting in other bases</vt:lpstr>
      <vt:lpstr>Place Values </vt:lpstr>
      <vt:lpstr>Place values Converting binary decimal</vt:lpstr>
      <vt:lpstr>Converting Binary to Decimal</vt:lpstr>
      <vt:lpstr>Converting Decimal to Binary </vt:lpstr>
      <vt:lpstr>Exercises</vt:lpstr>
      <vt:lpstr>Challenge</vt:lpstr>
      <vt:lpstr>Place values Converting octal,hexadecimaldecimal</vt:lpstr>
      <vt:lpstr>Converting Decimal to Octal </vt:lpstr>
      <vt:lpstr>Exercises</vt:lpstr>
      <vt:lpstr>Converting Decimal to Hexadecimal </vt:lpstr>
      <vt:lpstr> Hexadecimal  Octal </vt:lpstr>
      <vt:lpstr>Octal  Hexadecimal</vt:lpstr>
      <vt:lpstr>Exercises</vt:lpstr>
      <vt:lpstr>Recursion : programming</vt:lpstr>
      <vt:lpstr>Relations</vt:lpstr>
      <vt:lpstr>Functions , mathematical kind</vt:lpstr>
      <vt:lpstr>Evaluating functions</vt:lpstr>
      <vt:lpstr>Recursive Functions</vt:lpstr>
      <vt:lpstr>Programming, , Test #1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Sankalp Gupta</dc:creator>
  <cp:lastModifiedBy>Sankalp Gupta</cp:lastModifiedBy>
  <cp:revision>17</cp:revision>
  <dcterms:created xsi:type="dcterms:W3CDTF">2025-12-04T21:37:48Z</dcterms:created>
  <dcterms:modified xsi:type="dcterms:W3CDTF">2026-01-09T17:36:20Z</dcterms:modified>
</cp:coreProperties>
</file>