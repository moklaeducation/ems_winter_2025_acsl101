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  <p:sldId id="295" r:id="rId26"/>
    <p:sldId id="296" r:id="rId27"/>
    <p:sldId id="287" r:id="rId28"/>
    <p:sldId id="288" r:id="rId29"/>
    <p:sldId id="289" r:id="rId30"/>
    <p:sldId id="290" r:id="rId31"/>
    <p:sldId id="293" r:id="rId32"/>
    <p:sldId id="291" r:id="rId33"/>
    <p:sldId id="292" r:id="rId34"/>
    <p:sldId id="294" r:id="rId35"/>
    <p:sldId id="298" r:id="rId36"/>
    <p:sldId id="299" r:id="rId37"/>
    <p:sldId id="300" r:id="rId38"/>
    <p:sldId id="301" r:id="rId39"/>
    <p:sldId id="310" r:id="rId40"/>
    <p:sldId id="307" r:id="rId41"/>
    <p:sldId id="308" r:id="rId42"/>
    <p:sldId id="302" r:id="rId43"/>
    <p:sldId id="303" r:id="rId44"/>
    <p:sldId id="311" r:id="rId45"/>
    <p:sldId id="297" r:id="rId46"/>
    <p:sldId id="312" r:id="rId47"/>
    <p:sldId id="305" r:id="rId48"/>
    <p:sldId id="313" r:id="rId49"/>
    <p:sldId id="315" r:id="rId50"/>
    <p:sldId id="314" r:id="rId51"/>
    <p:sldId id="316" r:id="rId52"/>
    <p:sldId id="317" r:id="rId53"/>
    <p:sldId id="318" r:id="rId54"/>
    <p:sldId id="319" r:id="rId55"/>
    <p:sldId id="320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 varScale="1">
        <p:scale>
          <a:sx n="81" d="100"/>
          <a:sy n="81" d="100"/>
        </p:scale>
        <p:origin x="64" y="16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39C56-5A5D-4E4D-4D8E-F37DFB3C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1, 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D378D-5E4D-E294-B700-72DCD213F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8847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Great participation, nearly everyone attempted!</a:t>
            </a:r>
          </a:p>
          <a:p>
            <a:r>
              <a:rPr lang="en-US" dirty="0"/>
              <a:t>Overall students did better in quiz</a:t>
            </a:r>
          </a:p>
          <a:p>
            <a:pPr lvl="1"/>
            <a:r>
              <a:rPr lang="en-US" dirty="0"/>
              <a:t>8x full marks in quiz vs 5x full marks in programming</a:t>
            </a:r>
          </a:p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4 students got a zero in programming </a:t>
            </a:r>
            <a:r>
              <a:rPr lang="en-US" dirty="0"/>
              <a:t>( with 1 not attempted)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89DCDD-2254-1A30-3A13-C6AB2863E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243" y="3707934"/>
            <a:ext cx="3174403" cy="26185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8624B3F-D128-6B7B-1206-8E41B254F3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719" y="3683515"/>
            <a:ext cx="3233606" cy="2667433"/>
          </a:xfrm>
          <a:prstGeom prst="rect">
            <a:avLst/>
          </a:prstGeom>
        </p:spPr>
      </p:pic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F5B24662-16BA-0617-641E-BE5B6C1B1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68875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4546-56C5-F32B-B7B4-0BB3361D7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2 ,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36DBCF-54D6-390D-D097-F17F35024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quizzes </a:t>
            </a:r>
          </a:p>
          <a:p>
            <a:pPr lvl="1"/>
            <a:r>
              <a:rPr lang="en-US" dirty="0"/>
              <a:t>seem to be easier for students to master</a:t>
            </a:r>
          </a:p>
          <a:p>
            <a:pPr lvl="1"/>
            <a:r>
              <a:rPr lang="en-US" dirty="0"/>
              <a:t>Success cause everyone attempted, next we figure out how to raise scores there</a:t>
            </a:r>
          </a:p>
          <a:p>
            <a:pPr lvl="2"/>
            <a:r>
              <a:rPr lang="en-US" dirty="0"/>
              <a:t>Suggestions ?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It was amazing attempt</a:t>
            </a:r>
          </a:p>
          <a:p>
            <a:pPr lvl="1"/>
            <a:r>
              <a:rPr lang="en-US" dirty="0"/>
              <a:t>The codes generally worked</a:t>
            </a:r>
          </a:p>
          <a:p>
            <a:pPr lvl="1"/>
            <a:r>
              <a:rPr lang="en-US" dirty="0"/>
              <a:t>But 4/15 students had zeroes.</a:t>
            </a:r>
          </a:p>
          <a:p>
            <a:pPr lvl="1"/>
            <a:r>
              <a:rPr lang="en-US" dirty="0"/>
              <a:t>Suggestions ?</a:t>
            </a:r>
          </a:p>
          <a:p>
            <a:r>
              <a:rPr lang="en-US" dirty="0"/>
              <a:t>Goal :We need raise scores for everyone and move some in attempted stage</a:t>
            </a:r>
          </a:p>
          <a:p>
            <a:pPr lvl="1"/>
            <a:r>
              <a:rPr lang="en-US" dirty="0"/>
              <a:t>Note</a:t>
            </a:r>
          </a:p>
          <a:p>
            <a:pPr lvl="2"/>
            <a:r>
              <a:rPr lang="en-US" dirty="0"/>
              <a:t>Compete with yourself , Do better than your last attempt </a:t>
            </a:r>
          </a:p>
          <a:p>
            <a:pPr lvl="2"/>
            <a:r>
              <a:rPr lang="en-US" dirty="0"/>
              <a:t>Ask for help </a:t>
            </a:r>
          </a:p>
          <a:p>
            <a:pPr lvl="3"/>
            <a:r>
              <a:rPr lang="en-US" dirty="0"/>
              <a:t>on what you don’t know, to learn it.</a:t>
            </a:r>
          </a:p>
          <a:p>
            <a:pPr lvl="3"/>
            <a:r>
              <a:rPr lang="en-US" dirty="0"/>
              <a:t>And even on what you know , i.e. to master it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07F394-AD18-1EC7-38C3-9A61FEB14D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908428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10063-C526-EA6B-3D7A-9BD910729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Test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8505C-A605-E7E4-9046-72C419C36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Mathematical expressions</a:t>
            </a:r>
          </a:p>
          <a:p>
            <a:pPr lvl="1"/>
            <a:r>
              <a:rPr lang="en-US" dirty="0"/>
              <a:t>Representations ( infix, prefix, postfix)</a:t>
            </a:r>
          </a:p>
          <a:p>
            <a:pPr lvl="1"/>
            <a:r>
              <a:rPr lang="en-US" dirty="0"/>
              <a:t>Evaluation or expression</a:t>
            </a:r>
          </a:p>
          <a:p>
            <a:r>
              <a:rPr lang="en-US" dirty="0"/>
              <a:t>Discrete Mathematics</a:t>
            </a:r>
          </a:p>
          <a:p>
            <a:pPr lvl="1"/>
            <a:r>
              <a:rPr lang="en-US" dirty="0"/>
              <a:t>Logical Operators (AND , OR , NOT, SHIFT,…)</a:t>
            </a:r>
          </a:p>
          <a:p>
            <a:pPr lvl="1"/>
            <a:r>
              <a:rPr lang="en-US" dirty="0"/>
              <a:t>Boolean logic</a:t>
            </a:r>
          </a:p>
          <a:p>
            <a:r>
              <a:rPr lang="en-US" dirty="0"/>
              <a:t>Programming </a:t>
            </a:r>
          </a:p>
          <a:p>
            <a:pPr lvl="1"/>
            <a:r>
              <a:rPr lang="en-US" dirty="0"/>
              <a:t>char, string ,arrays</a:t>
            </a:r>
          </a:p>
          <a:p>
            <a:pPr lvl="1"/>
            <a:r>
              <a:rPr lang="en-US" dirty="0"/>
              <a:t>Loops </a:t>
            </a:r>
          </a:p>
          <a:p>
            <a:pPr lvl="1"/>
            <a:r>
              <a:rPr lang="en-US" dirty="0"/>
              <a:t>Conditionals</a:t>
            </a:r>
          </a:p>
          <a:p>
            <a:pPr lvl="2"/>
            <a:r>
              <a:rPr lang="en-US" dirty="0"/>
              <a:t>If/else</a:t>
            </a:r>
          </a:p>
          <a:p>
            <a:pPr lvl="2"/>
            <a:r>
              <a:rPr lang="en-US" dirty="0"/>
              <a:t>switch/case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FCFCBD-DCB6-DA2A-15CD-C1320C57B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69536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09036-DB73-EF71-EE0A-E0F5D254B4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A8B8B-A6D4-B8E0-9265-7EBCA0EDA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Encounter them in grade </a:t>
            </a:r>
            <a:r>
              <a:rPr lang="en-US" dirty="0" err="1"/>
              <a:t>maths</a:t>
            </a:r>
            <a:r>
              <a:rPr lang="en-US" dirty="0"/>
              <a:t>. e.g. </a:t>
            </a:r>
          </a:p>
          <a:p>
            <a:pPr lvl="1"/>
            <a:r>
              <a:rPr lang="en-US" dirty="0"/>
              <a:t>(11+14)/(9 - 3) + 2</a:t>
            </a:r>
          </a:p>
          <a:p>
            <a:pPr lvl="1"/>
            <a:r>
              <a:rPr lang="en-US" dirty="0"/>
              <a:t>3+7 / (4 * 5 - 6)</a:t>
            </a:r>
          </a:p>
          <a:p>
            <a:pPr lvl="1"/>
            <a:r>
              <a:rPr lang="en-US" dirty="0"/>
              <a:t>- 2 + 8 / 2</a:t>
            </a:r>
          </a:p>
          <a:p>
            <a:r>
              <a:rPr lang="en-US" dirty="0"/>
              <a:t>Can also be written using variables</a:t>
            </a:r>
          </a:p>
          <a:p>
            <a:pPr lvl="1"/>
            <a:r>
              <a:rPr lang="en-US" dirty="0"/>
              <a:t>(a + b) / (c – d ) + e </a:t>
            </a:r>
          </a:p>
          <a:p>
            <a:pPr lvl="1"/>
            <a:r>
              <a:rPr lang="en-US" dirty="0"/>
              <a:t>x + y  / (g * h – k)</a:t>
            </a:r>
          </a:p>
          <a:p>
            <a:r>
              <a:rPr lang="en-US" dirty="0"/>
              <a:t>Evaluated using </a:t>
            </a:r>
          </a:p>
          <a:p>
            <a:pPr lvl="1"/>
            <a:r>
              <a:rPr lang="en-US" dirty="0"/>
              <a:t>PEMDAS / BODMAS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4BE138-382D-4140-3301-E9A9F4B74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30643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8543D-4AED-1560-6020-DBDF03CC2A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: anatomy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6B474B-E50F-9A75-FDCD-ECE8C37DB9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Expression is made of</a:t>
            </a:r>
          </a:p>
          <a:p>
            <a:pPr lvl="1"/>
            <a:r>
              <a:rPr lang="en-US" dirty="0"/>
              <a:t>Operators ( + , - , * , /)</a:t>
            </a:r>
          </a:p>
          <a:p>
            <a:pPr lvl="1"/>
            <a:r>
              <a:rPr lang="en-US" dirty="0"/>
              <a:t>Operands (numbers, variables)</a:t>
            </a:r>
          </a:p>
          <a:p>
            <a:r>
              <a:rPr lang="en-US" dirty="0"/>
              <a:t>Unary operators :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</a:p>
          <a:p>
            <a:pPr lvl="1"/>
            <a:r>
              <a:rPr lang="en-US" dirty="0"/>
              <a:t>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r>
              <a:rPr lang="en-US" dirty="0"/>
              <a:t> Binary operators (infix) :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a</a:t>
            </a:r>
            <a:r>
              <a:rPr lang="en-US" dirty="0"/>
              <a:t>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b </a:t>
            </a:r>
          </a:p>
          <a:p>
            <a:pPr lvl="1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 &lt;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operand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BB1C1A-17CA-D188-02EC-25677E359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3983034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98428-71F3-9434-03CF-F3DD0692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Prefix/Postfix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E221BA-4008-7A96-D38C-705D413BB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Remove ambiguity( i.e. can  forget PEMDAS, BODMAS) </a:t>
            </a:r>
          </a:p>
          <a:p>
            <a:pPr lvl="1"/>
            <a:r>
              <a:rPr lang="en-US" dirty="0"/>
              <a:t>Computer friendly </a:t>
            </a:r>
          </a:p>
          <a:p>
            <a:pPr lvl="1"/>
            <a:r>
              <a:rPr lang="en-US" dirty="0"/>
              <a:t>Works with both unary/binary</a:t>
            </a:r>
          </a:p>
          <a:p>
            <a:pPr lvl="1"/>
            <a:r>
              <a:rPr lang="en-US" dirty="0"/>
              <a:t>Faster evaluation </a:t>
            </a:r>
          </a:p>
          <a:p>
            <a:r>
              <a:rPr lang="en-US" dirty="0"/>
              <a:t>Expression styles</a:t>
            </a:r>
          </a:p>
          <a:p>
            <a:pPr lvl="1"/>
            <a:r>
              <a:rPr lang="en-US" dirty="0"/>
              <a:t>Infix : operator in </a:t>
            </a:r>
            <a:r>
              <a:rPr lang="en-US" b="1" dirty="0"/>
              <a:t>middle</a:t>
            </a:r>
            <a:r>
              <a:rPr lang="en-US" dirty="0"/>
              <a:t> of operands</a:t>
            </a:r>
          </a:p>
          <a:p>
            <a:pPr lvl="2"/>
            <a:r>
              <a:rPr lang="en-US" dirty="0"/>
              <a:t>(5+6)*3  </a:t>
            </a:r>
          </a:p>
          <a:p>
            <a:pPr lvl="2"/>
            <a:r>
              <a:rPr lang="en-US" dirty="0"/>
              <a:t>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: operator </a:t>
            </a:r>
            <a:r>
              <a:rPr lang="en-US" b="1" dirty="0">
                <a:sym typeface="Wingdings" panose="05000000000000000000" pitchFamily="2" charset="2"/>
              </a:rPr>
              <a:t>before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2"/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operator </a:t>
            </a:r>
            <a:r>
              <a:rPr lang="en-US" b="1" dirty="0">
                <a:sym typeface="Wingdings" panose="05000000000000000000" pitchFamily="2" charset="2"/>
              </a:rPr>
              <a:t>after</a:t>
            </a:r>
            <a:r>
              <a:rPr lang="en-US" dirty="0">
                <a:sym typeface="Wingdings" panose="05000000000000000000" pitchFamily="2" charset="2"/>
              </a:rPr>
              <a:t>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5 6 + 3 *</a:t>
            </a:r>
          </a:p>
          <a:p>
            <a:pPr lvl="2"/>
            <a:r>
              <a:rPr lang="en-US" dirty="0"/>
              <a:t>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6621B-5CCF-4F7B-2238-5B2FA2BBC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4045988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9DA08-124C-F08B-AE2A-330F62990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expression, </a:t>
            </a:r>
            <a:br>
              <a:rPr lang="en-US" dirty="0"/>
            </a:br>
            <a:r>
              <a:rPr lang="en-US" sz="3200" i="1" dirty="0"/>
              <a:t>but first </a:t>
            </a:r>
            <a:r>
              <a:rPr lang="en-US" sz="3200" b="1" i="1" dirty="0"/>
              <a:t>Stacks</a:t>
            </a:r>
            <a:r>
              <a:rPr lang="en-US" sz="3200" i="1" dirty="0"/>
              <a:t> and </a:t>
            </a:r>
            <a:r>
              <a:rPr lang="en-US" sz="3200" b="1" i="1" dirty="0"/>
              <a:t>Queues</a:t>
            </a:r>
            <a:r>
              <a:rPr lang="en-US" sz="3200" i="1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B435E2-ED41-222B-756A-12721F4F2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What is a </a:t>
            </a:r>
            <a:r>
              <a:rPr lang="en-US" b="1" dirty="0"/>
              <a:t>Stack</a:t>
            </a:r>
            <a:r>
              <a:rPr lang="en-US" dirty="0"/>
              <a:t> ?</a:t>
            </a:r>
          </a:p>
          <a:p>
            <a:pPr lvl="1"/>
            <a:r>
              <a:rPr lang="en-US" dirty="0"/>
              <a:t>This is a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 </a:t>
            </a:r>
            <a:r>
              <a:rPr lang="en-US" b="1" dirty="0"/>
              <a:t>pushed at one end 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 the</a:t>
            </a:r>
            <a:r>
              <a:rPr lang="en-US" b="1" dirty="0"/>
              <a:t> same end</a:t>
            </a:r>
          </a:p>
          <a:p>
            <a:pPr lvl="1"/>
            <a:r>
              <a:rPr lang="en-US" b="1" dirty="0"/>
              <a:t>LIFO </a:t>
            </a:r>
            <a:r>
              <a:rPr lang="en-US" dirty="0"/>
              <a:t>: Last in First Out </a:t>
            </a:r>
          </a:p>
          <a:p>
            <a:pPr lvl="1"/>
            <a:r>
              <a:rPr lang="en-US" dirty="0"/>
              <a:t>Examples </a:t>
            </a:r>
          </a:p>
          <a:p>
            <a:pPr lvl="2"/>
            <a:r>
              <a:rPr lang="en-US" dirty="0"/>
              <a:t>Stack of plates </a:t>
            </a:r>
          </a:p>
          <a:p>
            <a:pPr lvl="2"/>
            <a:r>
              <a:rPr lang="en-US" dirty="0"/>
              <a:t>Your turned in paper assignments</a:t>
            </a:r>
          </a:p>
          <a:p>
            <a:r>
              <a:rPr lang="en-US" dirty="0"/>
              <a:t>What is a </a:t>
            </a:r>
            <a:r>
              <a:rPr lang="en-US" b="1" dirty="0"/>
              <a:t>Queue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Another sequential structure of </a:t>
            </a:r>
            <a:r>
              <a:rPr lang="en-US" b="1" dirty="0"/>
              <a:t>items</a:t>
            </a:r>
          </a:p>
          <a:p>
            <a:pPr lvl="1"/>
            <a:r>
              <a:rPr lang="en-US" dirty="0"/>
              <a:t>that are</a:t>
            </a:r>
            <a:r>
              <a:rPr lang="en-US" b="1" dirty="0"/>
              <a:t> pushed at one end</a:t>
            </a:r>
          </a:p>
          <a:p>
            <a:pPr lvl="1"/>
            <a:r>
              <a:rPr lang="en-US" b="1" dirty="0"/>
              <a:t>Pulled </a:t>
            </a:r>
            <a:r>
              <a:rPr lang="en-US" dirty="0"/>
              <a:t>via</a:t>
            </a:r>
            <a:r>
              <a:rPr lang="en-US" b="1" dirty="0"/>
              <a:t> </a:t>
            </a:r>
            <a:r>
              <a:rPr lang="en-US" dirty="0"/>
              <a:t>the</a:t>
            </a:r>
            <a:r>
              <a:rPr lang="en-US" b="1" dirty="0"/>
              <a:t> opposite end</a:t>
            </a:r>
          </a:p>
          <a:p>
            <a:pPr lvl="1"/>
            <a:r>
              <a:rPr lang="en-US" b="1" dirty="0"/>
              <a:t>FIFO</a:t>
            </a:r>
            <a:r>
              <a:rPr lang="en-US" dirty="0"/>
              <a:t> : First In First Out</a:t>
            </a:r>
          </a:p>
          <a:p>
            <a:pPr lvl="1"/>
            <a:r>
              <a:rPr lang="en-US" dirty="0"/>
              <a:t>Examples</a:t>
            </a:r>
          </a:p>
          <a:p>
            <a:pPr lvl="2"/>
            <a:r>
              <a:rPr lang="en-US" dirty="0"/>
              <a:t>Queue for buying tickets</a:t>
            </a:r>
          </a:p>
          <a:p>
            <a:pPr lvl="2"/>
            <a:r>
              <a:rPr lang="en-US" dirty="0"/>
              <a:t>Traffic in one way single lane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7C3E84-BAA0-4755-B397-ECE0CB002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102939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67EB7-FC80-227F-6B6C-0D979456D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</a:t>
            </a:r>
            <a:r>
              <a:rPr lang="en-US" b="1" dirty="0"/>
              <a:t>prefix</a:t>
            </a:r>
            <a:r>
              <a:rPr lang="en-US" dirty="0"/>
              <a:t>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D56AB4-1F51-A74F-12F5-061A8D8B33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Infix : (5+6)*3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- + 2 * 3 4 / 16 ^ 2 3</a:t>
            </a:r>
          </a:p>
          <a:p>
            <a:r>
              <a:rPr lang="en-US" dirty="0">
                <a:sym typeface="Wingdings" panose="05000000000000000000" pitchFamily="2" charset="2"/>
              </a:rPr>
              <a:t>Algorithm (harder way)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Scan from right to left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Anytime you find an operator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Evaluate the operation using the previous 2 operands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Replace the </a:t>
            </a:r>
            <a:r>
              <a:rPr lang="en-US" dirty="0"/>
              <a:t>&lt;</a:t>
            </a:r>
            <a:r>
              <a:rPr lang="en-US" i="1" dirty="0">
                <a:solidFill>
                  <a:schemeClr val="tx2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</a:rPr>
              <a:t>operator</a:t>
            </a:r>
            <a:r>
              <a:rPr lang="en-US" dirty="0"/>
              <a:t>&gt;  &lt;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&lt;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operand</a:t>
            </a:r>
            <a:r>
              <a:rPr lang="en-US" dirty="0"/>
              <a:t>&gt; with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result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in the expression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Repeat the steps till only 1 operand is left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FA5EA8-8E52-3BA2-1D1B-5AE6B9294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2010043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D9CCC-B73A-534F-54B8-DDB86625D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postfix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A0144-D9A8-B144-B5F0-B30C28CF73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Evaluate </a:t>
            </a:r>
          </a:p>
          <a:p>
            <a:pPr lvl="1"/>
            <a:r>
              <a:rPr lang="en-US" dirty="0"/>
              <a:t>2 3 1 * + 9 –</a:t>
            </a:r>
          </a:p>
          <a:p>
            <a:pPr lvl="1"/>
            <a:r>
              <a:rPr lang="en-US" dirty="0"/>
              <a:t>5 3 + 6 2 / * 3 5 * +</a:t>
            </a:r>
          </a:p>
          <a:p>
            <a:r>
              <a:rPr lang="en-US" i="1" dirty="0"/>
              <a:t>Algorithm to evaluate (use </a:t>
            </a:r>
            <a:r>
              <a:rPr lang="en-US" b="1" i="1" dirty="0"/>
              <a:t>stack</a:t>
            </a:r>
            <a:r>
              <a:rPr lang="en-US" i="1" dirty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Push the operands in a stack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When you encounter a operator </a:t>
            </a:r>
          </a:p>
          <a:p>
            <a:pPr lvl="2"/>
            <a:r>
              <a:rPr lang="en-US" dirty="0"/>
              <a:t>Pop 2 operands</a:t>
            </a:r>
          </a:p>
          <a:p>
            <a:pPr lvl="2"/>
            <a:r>
              <a:rPr lang="en-US" dirty="0"/>
              <a:t>Perform the operation on operands</a:t>
            </a:r>
          </a:p>
          <a:p>
            <a:pPr lvl="2"/>
            <a:r>
              <a:rPr lang="en-US" dirty="0"/>
              <a:t>Push the result in stack </a:t>
            </a:r>
          </a:p>
          <a:p>
            <a:pPr lvl="1"/>
            <a:r>
              <a:rPr lang="en-US" dirty="0"/>
              <a:t>Repeat from 1 until expression is parsed</a:t>
            </a:r>
          </a:p>
          <a:p>
            <a:pPr lvl="1"/>
            <a:r>
              <a:rPr lang="en-US" dirty="0"/>
              <a:t>The last item in stack is the answer</a:t>
            </a:r>
          </a:p>
          <a:p>
            <a:pPr lvl="2"/>
            <a:r>
              <a:rPr lang="en-US" dirty="0"/>
              <a:t>There would be only 1 item left when done correctly</a:t>
            </a:r>
          </a:p>
          <a:p>
            <a:r>
              <a:rPr lang="en-US" dirty="0"/>
              <a:t>* prefix expr can also be evaluated in this way ( </a:t>
            </a:r>
            <a:r>
              <a:rPr lang="en-US" i="1" dirty="0"/>
              <a:t>just in </a:t>
            </a:r>
            <a:r>
              <a:rPr lang="en-US" b="1" i="1" dirty="0"/>
              <a:t>reverse</a:t>
            </a:r>
            <a:r>
              <a:rPr lang="en-US" dirty="0"/>
              <a:t>)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A1BEF0-D4B5-79D3-99C5-AE3F44B4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3701768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43874-CB60-DB45-CE8B-7A74B5117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17527-44D3-CD21-C2E1-0160D8339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1"/>
            <a:r>
              <a:rPr lang="en-US" dirty="0"/>
              <a:t>- * + 3 5 7 + / 4 2 1</a:t>
            </a:r>
          </a:p>
          <a:p>
            <a:pPr lvl="1"/>
            <a:r>
              <a:rPr lang="en-US" dirty="0"/>
              <a:t>- + 10 * 2 3 + 4 / 5 5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1"/>
            <a:r>
              <a:rPr lang="en-US" dirty="0"/>
              <a:t>8 2 / 3 4 + * 5 1 + 2 / -</a:t>
            </a:r>
          </a:p>
          <a:p>
            <a:pPr lvl="1"/>
            <a:r>
              <a:rPr lang="en-US" dirty="0"/>
              <a:t>9 8 4 2 1 ^ * / - 3 +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30C2C-A857-2CE9-4877-556490D84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207350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49718-FD7B-BBC3-1D54-780109F2D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7F6AF-3B4E-C1A2-4EB1-34DC6F5AA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Answers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C4B36-8522-51F2-8F37-212F894EF5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Prefix </a:t>
            </a:r>
          </a:p>
          <a:p>
            <a:pPr lvl="1"/>
            <a:r>
              <a:rPr lang="en-US" dirty="0"/>
              <a:t>- * 5 + - 4 2 2 / 6 3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18</a:t>
            </a:r>
          </a:p>
          <a:p>
            <a:pPr lvl="1"/>
            <a:r>
              <a:rPr lang="en-US" dirty="0"/>
              <a:t>- * + 3 5 7 + / 4 2 1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53</a:t>
            </a:r>
          </a:p>
          <a:p>
            <a:pPr lvl="1"/>
            <a:r>
              <a:rPr lang="en-US" dirty="0"/>
              <a:t>- + 10 * 2 3 + 4 / 5 5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r>
              <a:rPr lang="en-US" dirty="0"/>
              <a:t>Postfix </a:t>
            </a:r>
          </a:p>
          <a:p>
            <a:pPr lvl="1"/>
            <a:r>
              <a:rPr lang="en-US" dirty="0"/>
              <a:t>1 2 + 3 4 + * 5 6 - / 7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-14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</a:t>
            </a:r>
          </a:p>
          <a:p>
            <a:pPr lvl="1"/>
            <a:r>
              <a:rPr lang="en-US" dirty="0"/>
              <a:t>8 2 / 3 4 + * 5 1 + 2 / -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25</a:t>
            </a:r>
          </a:p>
          <a:p>
            <a:pPr lvl="1"/>
            <a:r>
              <a:rPr lang="en-US" dirty="0"/>
              <a:t>9 8 4 2 1 ^ * / - 3 +</a:t>
            </a:r>
          </a:p>
          <a:p>
            <a:pPr lvl="2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Ans : </a:t>
            </a: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017D47-227F-8158-DD87-C6DC14A78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335803686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714B-546B-8601-A89D-A057C4A1A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Practice: Programming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06790-5F81-C6BD-1C95-31862CB35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 that takes a string and checks if it is a palindrome</a:t>
            </a:r>
          </a:p>
          <a:p>
            <a:pPr lvl="1"/>
            <a:r>
              <a:rPr lang="en-US" dirty="0"/>
              <a:t>Returns true if palindrome is found else false</a:t>
            </a:r>
          </a:p>
          <a:p>
            <a:pPr lvl="1"/>
            <a:r>
              <a:rPr lang="en-US" dirty="0"/>
              <a:t>Hints:  string indexing, loops, if , comparing characters</a:t>
            </a:r>
          </a:p>
          <a:p>
            <a:r>
              <a:rPr lang="en-US" dirty="0"/>
              <a:t>Count the number of vowels, consonants in a sentence.</a:t>
            </a:r>
          </a:p>
          <a:p>
            <a:pPr lvl="1"/>
            <a:r>
              <a:rPr lang="en-US" dirty="0"/>
              <a:t>Vowels : </a:t>
            </a:r>
            <a:r>
              <a:rPr lang="en-US" dirty="0" err="1"/>
              <a:t>a,e,i,o,u</a:t>
            </a:r>
            <a:endParaRPr lang="en-US" dirty="0"/>
          </a:p>
          <a:p>
            <a:pPr lvl="1"/>
            <a:r>
              <a:rPr lang="en-US" dirty="0"/>
              <a:t>Consonant : everything else other than vowels</a:t>
            </a:r>
          </a:p>
          <a:p>
            <a:pPr lvl="1"/>
            <a:r>
              <a:rPr lang="en-US" dirty="0"/>
              <a:t>Ignore : spaces (‘ ’,) comma(,) dash(-),semicolon(;),colon(</a:t>
            </a:r>
            <a:r>
              <a:rPr lang="en-US" dirty="0">
                <a:sym typeface="Wingdings" panose="05000000000000000000" pitchFamily="2" charset="2"/>
              </a:rPr>
              <a:t> : )</a:t>
            </a:r>
            <a:r>
              <a:rPr lang="en-US" dirty="0"/>
              <a:t> </a:t>
            </a:r>
          </a:p>
          <a:p>
            <a:r>
              <a:rPr lang="en-US" dirty="0"/>
              <a:t>Find the most frequent word in a sentence</a:t>
            </a:r>
          </a:p>
          <a:p>
            <a:pPr lvl="1"/>
            <a:r>
              <a:rPr lang="en-US" dirty="0"/>
              <a:t>If more than 1 word has same frequency return the lexicographically smaller one.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A4E3D-D25E-39BB-AC3F-07C40080F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</p:spTree>
    <p:extLst>
      <p:ext uri="{BB962C8B-B14F-4D97-AF65-F5344CB8AC3E}">
        <p14:creationId xmlns:p14="http://schemas.microsoft.com/office/powerpoint/2010/main" val="17766526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61EBE-94BF-8DC3-7A70-133273508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Evaluating Prefix/Postfix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F04C8D-ACC2-700D-8DC8-D1E3DF891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last week </a:t>
            </a:r>
          </a:p>
          <a:p>
            <a:pPr lvl="1"/>
            <a:r>
              <a:rPr lang="en-US" dirty="0"/>
              <a:t>Operator</a:t>
            </a:r>
          </a:p>
          <a:p>
            <a:pPr lvl="1"/>
            <a:r>
              <a:rPr lang="en-US" dirty="0"/>
              <a:t>Operand</a:t>
            </a:r>
          </a:p>
          <a:p>
            <a:pPr lvl="1"/>
            <a:r>
              <a:rPr lang="en-US" dirty="0"/>
              <a:t>Stack</a:t>
            </a:r>
          </a:p>
          <a:p>
            <a:pPr lvl="1"/>
            <a:r>
              <a:rPr lang="en-US" dirty="0"/>
              <a:t>Queue</a:t>
            </a:r>
          </a:p>
          <a:p>
            <a:r>
              <a:rPr lang="en-US" dirty="0"/>
              <a:t>Evaluating Prefix/Postfix</a:t>
            </a:r>
          </a:p>
          <a:p>
            <a:pPr lvl="1"/>
            <a:r>
              <a:rPr lang="en-US" dirty="0"/>
              <a:t>&lt;3 questions each&gt;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819EF1-EA0B-AAC3-0AF3-6004E6147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92391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759E1-3328-9C22-3B68-54F3969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263C0C-0E13-B399-DFBF-3C1B931E61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Precedence ( highest priority first)</a:t>
            </a:r>
          </a:p>
          <a:p>
            <a:pPr lvl="1"/>
            <a:r>
              <a:rPr lang="en-US" dirty="0"/>
              <a:t>()</a:t>
            </a:r>
          </a:p>
          <a:p>
            <a:pPr lvl="1"/>
            <a:r>
              <a:rPr lang="en-US" dirty="0"/>
              <a:t>^</a:t>
            </a:r>
          </a:p>
          <a:p>
            <a:pPr lvl="1"/>
            <a:r>
              <a:rPr lang="en-US" dirty="0"/>
              <a:t>/ * </a:t>
            </a:r>
          </a:p>
          <a:p>
            <a:pPr lvl="1"/>
            <a:r>
              <a:rPr lang="en-US" dirty="0"/>
              <a:t>- +</a:t>
            </a:r>
          </a:p>
          <a:p>
            <a:r>
              <a:rPr lang="en-US" dirty="0"/>
              <a:t>Associativity</a:t>
            </a:r>
          </a:p>
          <a:p>
            <a:pPr lvl="1"/>
            <a:r>
              <a:rPr lang="en-US" dirty="0"/>
              <a:t>Right to left : ^ </a:t>
            </a:r>
          </a:p>
          <a:p>
            <a:pPr lvl="1"/>
            <a:r>
              <a:rPr lang="en-US" dirty="0"/>
              <a:t>Left to right : + , - , * , /</a:t>
            </a:r>
          </a:p>
          <a:p>
            <a:r>
              <a:rPr lang="en-US" dirty="0"/>
              <a:t>Notes </a:t>
            </a:r>
          </a:p>
          <a:p>
            <a:pPr lvl="1"/>
            <a:r>
              <a:rPr lang="en-US" dirty="0"/>
              <a:t>() not categorized as associative, they represent grouping mechanism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97326-75CB-1EC7-7EDC-E27BCF231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8657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06A23-6060-2190-0369-68E869C5B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BC35DB-2FC0-BEB4-4F1A-943AC9E39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EA6B0-A3AC-84B7-F071-7B7A8C5BA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10 + 20 / 2 * 3 –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+((20 / 2) * 3)-5   // added parenthesis for denoting precedence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10 + (10 * 3 ) -5 // interior most precedence first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10 + 30 - 5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  </a:t>
            </a:r>
            <a:r>
              <a:rPr lang="en-US" b="1" dirty="0">
                <a:sym typeface="Wingdings" panose="05000000000000000000" pitchFamily="2" charset="2"/>
              </a:rPr>
              <a:t>35</a:t>
            </a:r>
            <a:endParaRPr lang="en-US" b="1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80B3E-D3F4-B6F0-D0A1-8630AB30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56195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AB0D3-9A93-3387-68DE-0B08CE7BF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(lets 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89DA9E-1EE2-4F6F-68A9-7032500D0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2 + 3 * 4 ^2  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1B0676-9EC8-6524-C686-59ECD7A16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6317131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BB090-BF7B-301A-B062-E97BFE4C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582A2-AB54-D133-9974-37E13F35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Precedence and associativity </a:t>
            </a:r>
            <a:r>
              <a:rPr lang="en-US" sz="2000" dirty="0"/>
              <a:t>(answers)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AC9B0-991C-C5D4-CE00-383566D4A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 + 3 * 4 ^2 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+ 3 * 16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+ 48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50</a:t>
            </a:r>
          </a:p>
          <a:p>
            <a:r>
              <a:rPr lang="en-US" dirty="0">
                <a:sym typeface="Wingdings" panose="05000000000000000000" pitchFamily="2" charset="2"/>
              </a:rPr>
              <a:t>2 ^ 3 ^ 2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2 ^ 9 // ^ is evaluated from right to left , so 3 ^ 2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</a:t>
            </a:r>
            <a:r>
              <a:rPr lang="en-US" b="1" dirty="0">
                <a:sym typeface="Wingdings" panose="05000000000000000000" pitchFamily="2" charset="2"/>
              </a:rPr>
              <a:t>512</a:t>
            </a:r>
          </a:p>
          <a:p>
            <a:pPr lvl="1"/>
            <a:r>
              <a:rPr lang="en-US" strike="sngStrike" dirty="0">
                <a:sym typeface="Wingdings" panose="05000000000000000000" pitchFamily="2" charset="2"/>
              </a:rPr>
              <a:t>Not 64</a:t>
            </a:r>
          </a:p>
          <a:p>
            <a:r>
              <a:rPr lang="en-US" dirty="0">
                <a:sym typeface="Wingdings" panose="05000000000000000000" pitchFamily="2" charset="2"/>
              </a:rPr>
              <a:t>100 / 2 * 5 ^ 2 ^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100 / 2 * 25 // Again 2 ^ 1 goes first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 50 x 25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</a:t>
            </a:r>
            <a:r>
              <a:rPr lang="en-US" b="1" dirty="0">
                <a:sym typeface="Wingdings" panose="05000000000000000000" pitchFamily="2" charset="2"/>
              </a:rPr>
              <a:t>1250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13E5C7-992D-9036-31F0-DE97F948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3364482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193FB-B92E-805D-C84A-070CBB1B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Prefix/Postfix </a:t>
            </a:r>
            <a:r>
              <a:rPr lang="en-US" sz="2000" dirty="0"/>
              <a:t>(examples)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3DC8AB-5242-ADA9-A503-4ECC2166F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B 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B C *</a:t>
            </a:r>
            <a:endParaRPr lang="en-US" b="1" dirty="0"/>
          </a:p>
          <a:p>
            <a:r>
              <a:rPr lang="en-US" dirty="0"/>
              <a:t>A + B * C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+</a:t>
            </a:r>
            <a:r>
              <a:rPr lang="en-US" b="1" dirty="0">
                <a:sym typeface="Wingdings" panose="05000000000000000000" pitchFamily="2" charset="2"/>
              </a:rPr>
              <a:t>A</a:t>
            </a:r>
            <a:r>
              <a:rPr lang="en-US" b="1" dirty="0"/>
              <a:t>*BC</a:t>
            </a:r>
          </a:p>
          <a:p>
            <a:pPr lvl="1"/>
            <a:r>
              <a:rPr lang="en-US" dirty="0"/>
              <a:t>Postfix :  </a:t>
            </a:r>
            <a:r>
              <a:rPr lang="en-US" b="1" dirty="0"/>
              <a:t>ABC*+</a:t>
            </a:r>
          </a:p>
          <a:p>
            <a:r>
              <a:rPr lang="en-US" dirty="0"/>
              <a:t>(5 + 6) * 3 </a:t>
            </a:r>
            <a:endParaRPr lang="en-US" dirty="0">
              <a:sym typeface="Wingdings" panose="05000000000000000000" pitchFamily="2" charset="2"/>
            </a:endParaRPr>
          </a:p>
          <a:p>
            <a:pPr lvl="1"/>
            <a:r>
              <a:rPr lang="en-US" dirty="0">
                <a:sym typeface="Wingdings" panose="05000000000000000000" pitchFamily="2" charset="2"/>
              </a:rPr>
              <a:t>Prefix   : </a:t>
            </a:r>
            <a:r>
              <a:rPr lang="en-US" b="1" dirty="0">
                <a:sym typeface="Wingdings" panose="05000000000000000000" pitchFamily="2" charset="2"/>
              </a:rPr>
              <a:t>* + 5 6 3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Postfix : </a:t>
            </a:r>
            <a:r>
              <a:rPr lang="en-US" b="1" dirty="0">
                <a:sym typeface="Wingdings" panose="05000000000000000000" pitchFamily="2" charset="2"/>
              </a:rPr>
              <a:t>5 6 + 3 *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779E42-5809-59FE-951E-7B455BB7C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7023236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BE059-48D8-260A-BA41-3E35FB9D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F769B-CC51-FA9F-B19F-9F5AA32C8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precedence/priority first </a:t>
            </a:r>
          </a:p>
          <a:p>
            <a:pPr lvl="1"/>
            <a:r>
              <a:rPr lang="pt-BR" dirty="0"/>
              <a:t>( do paranthesize for mental ease) </a:t>
            </a:r>
          </a:p>
          <a:p>
            <a:r>
              <a:rPr lang="pt-BR" dirty="0"/>
              <a:t>(a + b) / (c – d ) + e </a:t>
            </a:r>
          </a:p>
          <a:p>
            <a:r>
              <a:rPr lang="pt-BR" dirty="0"/>
              <a:t>x + y  / (g * h – k)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A02D68-CC18-2522-08A7-07B93CCBFC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1629761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C564D-B638-9D95-941D-AD0146783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6BDC7-1CB3-8A4F-F288-9B357273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24EB7-0DC5-B135-34E7-7DD2D49E85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How to convert! </a:t>
            </a:r>
          </a:p>
          <a:p>
            <a:pPr lvl="1"/>
            <a:r>
              <a:rPr lang="pt-BR" dirty="0"/>
              <a:t>Convert the highest priority first </a:t>
            </a:r>
          </a:p>
          <a:p>
            <a:pPr lvl="1"/>
            <a:r>
              <a:rPr lang="pt-BR" dirty="0"/>
              <a:t>( and paranthesize for mental ease) </a:t>
            </a:r>
          </a:p>
          <a:p>
            <a:r>
              <a:rPr lang="pt-BR" dirty="0"/>
              <a:t>(a + b) / (c – d ) + e 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/ + a b – c d e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a b + c d - / e +</a:t>
            </a:r>
          </a:p>
          <a:p>
            <a:r>
              <a:rPr lang="pt-BR" dirty="0"/>
              <a:t>x + y  / (g * h – k)</a:t>
            </a:r>
          </a:p>
          <a:p>
            <a:pPr lvl="1"/>
            <a:r>
              <a:rPr lang="pt-BR" dirty="0"/>
              <a:t>Prefix : </a:t>
            </a:r>
            <a:r>
              <a:rPr lang="pt-BR" b="1" dirty="0"/>
              <a:t>+ x / y - * g h k</a:t>
            </a:r>
          </a:p>
          <a:p>
            <a:pPr lvl="1"/>
            <a:r>
              <a:rPr lang="pt-BR" dirty="0"/>
              <a:t>Postfix : </a:t>
            </a:r>
            <a:r>
              <a:rPr lang="pt-BR" b="1" dirty="0"/>
              <a:t>x y g h * k - / +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0253A3-2553-8CEE-4FC1-99E0B3F04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606561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75F4E-FDCD-0164-1335-A362235F7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457E-39D3-7BBE-282F-FB8240E444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+ b - c * d + e ^ f	</a:t>
            </a:r>
          </a:p>
          <a:p>
            <a:r>
              <a:rPr lang="pt-BR" dirty="0"/>
              <a:t>(a + b) * c - (d - e) * (f + g)	</a:t>
            </a:r>
          </a:p>
          <a:p>
            <a:r>
              <a:rPr lang="pt-BR" dirty="0"/>
              <a:t>((a + b) * (c + d) / (e - f)) + g	</a:t>
            </a:r>
          </a:p>
          <a:p>
            <a:r>
              <a:rPr lang="pt-BR" dirty="0"/>
              <a:t>a * (b + c) / (d - e) </a:t>
            </a:r>
          </a:p>
          <a:p>
            <a:r>
              <a:rPr lang="pt-BR" dirty="0"/>
              <a:t>a - b / (c * d ^ e)	 </a:t>
            </a:r>
          </a:p>
          <a:p>
            <a:r>
              <a:rPr lang="pt-BR" dirty="0"/>
              <a:t>(a + b) * (c + d) - 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81B0BD-44A6-01E4-B569-E440DFAAC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298075155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508BA-925D-B446-6102-4DD2DE59B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FCC50-372A-1FA3-A515-CD0B5B7E5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 to Prefix and Postfix </a:t>
            </a:r>
            <a:r>
              <a:rPr lang="en-US" sz="2000" dirty="0"/>
              <a:t>(answers)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BFE5F1B-9892-BDB6-3128-731DCED46B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198065"/>
              </p:ext>
            </p:extLst>
          </p:nvPr>
        </p:nvGraphicFramePr>
        <p:xfrm>
          <a:off x="838200" y="1825625"/>
          <a:ext cx="10515597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83637947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23698482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72950009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4912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+ b - c * d + e ^ f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- + a b * c d ^ e 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* - e f ^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2006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c - (d - e) * (f + g)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c * - d e +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* d e - f g + *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681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((a + b) * (c + d) / (e - f)) + g	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+ / * + a b + c d - e f 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f - / g +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3615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* (b + c) / (d - e)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/ * a + b c -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+ * d e - 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7974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a - b / (c * d ^ e)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a / b * c ^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c d e ^ * /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5753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(a + b) * (c + d) -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- * + a b + c d 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a b + c d + * e -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12593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B4F96-5862-C493-CA94-3E72FA84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</p:spTree>
    <p:extLst>
      <p:ext uri="{BB962C8B-B14F-4D97-AF65-F5344CB8AC3E}">
        <p14:creationId xmlns:p14="http://schemas.microsoft.com/office/powerpoint/2010/main" val="14109544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81F6A-4CC1-7603-9C25-803B7E6FF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 (for bits/bytes)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8BBB-41E3-F605-A10E-B187C7B1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Bitwise </a:t>
            </a:r>
          </a:p>
          <a:p>
            <a:pPr lvl="1"/>
            <a:r>
              <a:rPr lang="en-US" dirty="0"/>
              <a:t>NOT, AND,  XOR , OR</a:t>
            </a:r>
          </a:p>
          <a:p>
            <a:r>
              <a:rPr lang="en-US" dirty="0"/>
              <a:t>Shift</a:t>
            </a:r>
          </a:p>
          <a:p>
            <a:pPr lvl="1"/>
            <a:r>
              <a:rPr lang="en-US" dirty="0"/>
              <a:t>Linear : LSHIFT, RSHIFT,</a:t>
            </a:r>
          </a:p>
          <a:p>
            <a:pPr lvl="1"/>
            <a:r>
              <a:rPr lang="en-US" dirty="0"/>
              <a:t>Circular : RCIRC, LCIRC</a:t>
            </a:r>
          </a:p>
          <a:p>
            <a:r>
              <a:rPr lang="en-US" dirty="0"/>
              <a:t>Precedence</a:t>
            </a:r>
          </a:p>
          <a:p>
            <a:pPr lvl="1"/>
            <a:r>
              <a:rPr lang="en-US" dirty="0"/>
              <a:t>NOT, </a:t>
            </a:r>
          </a:p>
          <a:p>
            <a:pPr lvl="1"/>
            <a:r>
              <a:rPr lang="en-US" dirty="0"/>
              <a:t>SHIFT, CIRC, </a:t>
            </a:r>
          </a:p>
          <a:p>
            <a:pPr lvl="1"/>
            <a:r>
              <a:rPr lang="en-US" dirty="0"/>
              <a:t>AND , </a:t>
            </a:r>
          </a:p>
          <a:p>
            <a:pPr lvl="1"/>
            <a:r>
              <a:rPr lang="en-US" dirty="0"/>
              <a:t>XOR,</a:t>
            </a:r>
          </a:p>
          <a:p>
            <a:pPr lvl="1"/>
            <a:r>
              <a:rPr lang="en-US" dirty="0"/>
              <a:t>OR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D11172-56A8-1F96-728C-10483E87F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6541120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CFA9C-7881-D44C-FBD7-3646B0711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8E6D5F-744D-F45D-7743-881CDF0120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27131913"/>
              </p:ext>
            </p:extLst>
          </p:nvPr>
        </p:nvGraphicFramePr>
        <p:xfrm>
          <a:off x="950310" y="3429000"/>
          <a:ext cx="8784895" cy="18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979">
                  <a:extLst>
                    <a:ext uri="{9D8B030D-6E8A-4147-A177-3AD203B41FA5}">
                      <a16:colId xmlns:a16="http://schemas.microsoft.com/office/drawing/2014/main" val="4184432793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0846746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2121035788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1496895670"/>
                    </a:ext>
                  </a:extLst>
                </a:gridCol>
                <a:gridCol w="1756979">
                  <a:extLst>
                    <a:ext uri="{9D8B030D-6E8A-4147-A177-3AD203B41FA5}">
                      <a16:colId xmlns:a16="http://schemas.microsoft.com/office/drawing/2014/main" val="4230776581"/>
                    </a:ext>
                  </a:extLst>
                </a:gridCol>
              </a:tblGrid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AND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OR 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 XOR 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4535812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725689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471183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581744"/>
                  </a:ext>
                </a:extLst>
              </a:tr>
              <a:tr h="379872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125282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5928E5-3976-66FD-A576-965DC0DB5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9788260"/>
              </p:ext>
            </p:extLst>
          </p:nvPr>
        </p:nvGraphicFramePr>
        <p:xfrm>
          <a:off x="950310" y="1839017"/>
          <a:ext cx="3619938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969">
                  <a:extLst>
                    <a:ext uri="{9D8B030D-6E8A-4147-A177-3AD203B41FA5}">
                      <a16:colId xmlns:a16="http://schemas.microsoft.com/office/drawing/2014/main" val="923450553"/>
                    </a:ext>
                  </a:extLst>
                </a:gridCol>
                <a:gridCol w="1809969">
                  <a:extLst>
                    <a:ext uri="{9D8B030D-6E8A-4147-A177-3AD203B41FA5}">
                      <a16:colId xmlns:a16="http://schemas.microsoft.com/office/drawing/2014/main" val="3015741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 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4864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463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4500155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ED0B632-E3BD-4605-A56F-29BD029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3089335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2B2F3-3653-AB0D-1E39-97D458927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10AC6-5722-EADC-4BF4-254281F6B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F6501D-1166-2DB8-5AE6-864FFE39E7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306533"/>
              </p:ext>
            </p:extLst>
          </p:nvPr>
        </p:nvGraphicFramePr>
        <p:xfrm>
          <a:off x="1117600" y="400129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56521852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5300491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04649717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75108564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369889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(LSHIFT-2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(RSHIFT-3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(LCIRC-3 X)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(RCIRC-1 X)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04630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01101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10110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08783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9421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1110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0001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0111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6366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1011011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1101100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0001011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1011101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1101101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403312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FE2945A-A5F3-713F-EBD6-F32D5F84E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shift , add 0s as padding ( either left or right)</a:t>
            </a:r>
          </a:p>
          <a:p>
            <a:pPr lvl="1"/>
            <a:r>
              <a:rPr lang="en-US" dirty="0"/>
              <a:t>Shifting by word size (or more) would result in all 0s</a:t>
            </a:r>
          </a:p>
          <a:p>
            <a:r>
              <a:rPr lang="en-US" dirty="0"/>
              <a:t>Circular shift just rolls over the bits ( as per direction)</a:t>
            </a:r>
          </a:p>
          <a:p>
            <a:pPr lvl="1"/>
            <a:r>
              <a:rPr lang="en-US" dirty="0"/>
              <a:t>Shifting by the number of word size , same bit sequence would be produced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4F85C7-8DDD-6F3E-CA30-012F6CABA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3866530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AB4E-F19A-BB7D-F60A-959E8419E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85BE8-1CBF-4C83-9A22-9C383BD5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039F9-4927-C643-FB68-EC0CF26E0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97238540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F13F6-DCD3-F70A-99B5-3DCB1951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07715-F916-4B95-F4FF-7837E4663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10971-A49D-885C-875C-44C95655F3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0110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1011 </a:t>
            </a:r>
          </a:p>
          <a:p>
            <a:r>
              <a:rPr lang="en-US" dirty="0"/>
              <a:t>1100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0101</a:t>
            </a:r>
          </a:p>
          <a:p>
            <a:r>
              <a:rPr lang="en-US" dirty="0"/>
              <a:t>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1111</a:t>
            </a:r>
          </a:p>
          <a:p>
            <a:r>
              <a:rPr lang="en-US" dirty="0"/>
              <a:t> 1010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1100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 0001</a:t>
            </a:r>
          </a:p>
          <a:p>
            <a:r>
              <a:rPr lang="en-US" dirty="0"/>
              <a:t> 0011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OR</a:t>
            </a:r>
            <a:r>
              <a:rPr lang="en-US" dirty="0"/>
              <a:t>  1010   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r>
              <a:rPr lang="en-US" dirty="0"/>
              <a:t>(1100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XOR</a:t>
            </a:r>
            <a:r>
              <a:rPr lang="en-US" dirty="0"/>
              <a:t> 1010)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0110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09262-8A0F-6858-976A-183276173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03398990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7676B-DF2F-0D75-1F2F-D5706E969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Operations : Shift </a:t>
            </a:r>
            <a:r>
              <a:rPr lang="en-US" sz="2000" dirty="0"/>
              <a:t>(evaluate)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903CD-CB6C-2FEA-F395-0E130814EA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</p:txBody>
      </p:sp>
    </p:spTree>
    <p:extLst>
      <p:ext uri="{BB962C8B-B14F-4D97-AF65-F5344CB8AC3E}">
        <p14:creationId xmlns:p14="http://schemas.microsoft.com/office/powerpoint/2010/main" val="385571696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BB2FC-C20D-29F2-EA67-7864CD433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Answsers</a:t>
            </a:r>
            <a:r>
              <a:rPr lang="en-US" dirty="0"/>
              <a:t> 1..3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C4EEE-6173-2D24-0658-2C120397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10101)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11010)</a:t>
            </a:r>
          </a:p>
          <a:p>
            <a:pPr lvl="1"/>
            <a:r>
              <a:rPr lang="en-US" dirty="0"/>
              <a:t>→ 01010 AND 00110 </a:t>
            </a:r>
          </a:p>
          <a:p>
            <a:pPr lvl="1"/>
            <a:r>
              <a:rPr lang="en-US" dirty="0"/>
              <a:t>→ </a:t>
            </a:r>
            <a:r>
              <a:rPr lang="en-US" b="1" dirty="0"/>
              <a:t>00010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RCIRC-2</a:t>
            </a:r>
            <a:r>
              <a:rPr lang="en-US" dirty="0"/>
              <a:t> 01111)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LSHIFT-3</a:t>
            </a:r>
            <a:r>
              <a:rPr lang="en-US" dirty="0"/>
              <a:t> 10010)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11011 OR 10000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11011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11100)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XOR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LCIRC-2</a:t>
            </a:r>
            <a:r>
              <a:rPr lang="en-US" dirty="0"/>
              <a:t> 01011)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01110 XOR 01101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→ </a:t>
            </a:r>
            <a:r>
              <a:rPr lang="en-US" b="1" dirty="0"/>
              <a:t>00011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05638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9BD7F-A798-35AE-793C-868D060F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7ECD0-8B39-0692-C574-6ABB3CEA7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RCIRC-1</a:t>
            </a:r>
            <a:r>
              <a:rPr lang="en-US" dirty="0"/>
              <a:t> 10101)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11101)</a:t>
            </a:r>
          </a:p>
          <a:p>
            <a:pPr lvl="1"/>
            <a:r>
              <a:rPr lang="en-US" dirty="0"/>
              <a:t>11000 OR 11010 AND 00011 </a:t>
            </a:r>
            <a:r>
              <a:rPr lang="en-US" i="1" dirty="0"/>
              <a:t>//parenthesis evaluated first</a:t>
            </a:r>
          </a:p>
          <a:p>
            <a:pPr lvl="1"/>
            <a:r>
              <a:rPr lang="en-US" dirty="0"/>
              <a:t>11000 OR 00010 </a:t>
            </a:r>
            <a:r>
              <a:rPr lang="en-US" i="1" dirty="0"/>
              <a:t>// And has higher precedence so evaluated first</a:t>
            </a:r>
          </a:p>
          <a:p>
            <a:pPr lvl="1"/>
            <a:r>
              <a:rPr lang="en-US" b="1" dirty="0"/>
              <a:t>11010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LCIRC-3</a:t>
            </a:r>
            <a:r>
              <a:rPr lang="en-US" dirty="0"/>
              <a:t> 11001)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RSHIFT-2</a:t>
            </a:r>
            <a:r>
              <a:rPr lang="en-US" dirty="0"/>
              <a:t> 10110)</a:t>
            </a:r>
          </a:p>
          <a:p>
            <a:pPr lvl="1"/>
            <a:r>
              <a:rPr lang="en-US" dirty="0"/>
              <a:t>01110 AND (RSHIFT-2 10110)</a:t>
            </a:r>
          </a:p>
          <a:p>
            <a:pPr lvl="1"/>
            <a:r>
              <a:rPr lang="en-US" dirty="0"/>
              <a:t>01110 AND 00101</a:t>
            </a:r>
          </a:p>
          <a:p>
            <a:pPr lvl="1"/>
            <a:r>
              <a:rPr lang="en-US" b="1" dirty="0"/>
              <a:t>00100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RCIRC-4</a:t>
            </a:r>
            <a:r>
              <a:rPr lang="en-US" dirty="0"/>
              <a:t> 10011)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LSHIFT-1</a:t>
            </a:r>
            <a:r>
              <a:rPr lang="en-US" dirty="0"/>
              <a:t> 01101)</a:t>
            </a:r>
          </a:p>
          <a:p>
            <a:pPr lvl="1"/>
            <a:r>
              <a:rPr lang="en-US" dirty="0"/>
              <a:t>00111 OR 11010</a:t>
            </a:r>
          </a:p>
          <a:p>
            <a:pPr lvl="1"/>
            <a:r>
              <a:rPr lang="en-US" b="1" dirty="0"/>
              <a:t>11111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750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75B44-46CD-74DE-1EC2-6C3ABA92D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A9FC4-3A4E-8667-749A-CA557659A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RSHIFT-3</a:t>
            </a:r>
            <a:r>
              <a:rPr lang="en-US" dirty="0"/>
              <a:t> 11110)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LCIRC-1</a:t>
            </a:r>
            <a:r>
              <a:rPr lang="en-US" dirty="0"/>
              <a:t> 00111)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01010)</a:t>
            </a:r>
          </a:p>
          <a:p>
            <a:pPr lvl="1"/>
            <a:r>
              <a:rPr lang="en-US" dirty="0"/>
              <a:t>00011 AND 01110 OR (01000)</a:t>
            </a:r>
          </a:p>
          <a:p>
            <a:pPr lvl="1"/>
            <a:r>
              <a:rPr lang="en-US" dirty="0"/>
              <a:t>00010 OR 01000</a:t>
            </a:r>
          </a:p>
          <a:p>
            <a:pPr lvl="1"/>
            <a:r>
              <a:rPr lang="en-US" b="1" dirty="0"/>
              <a:t>01010</a:t>
            </a:r>
          </a:p>
          <a:p>
            <a:pPr marL="514350" indent="-514350">
              <a:buFont typeface="+mj-lt"/>
              <a:buAutoNum type="arabicPeriod" startAt="7"/>
            </a:pPr>
            <a:r>
              <a:rPr lang="en-US" dirty="0"/>
              <a:t>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LSHIFT-2</a:t>
            </a:r>
            <a:r>
              <a:rPr lang="en-US" dirty="0"/>
              <a:t> 01101)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OR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RCIRC-3</a:t>
            </a:r>
            <a:r>
              <a:rPr lang="en-US" dirty="0"/>
              <a:t> 10110)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AND</a:t>
            </a:r>
            <a:r>
              <a:rPr lang="en-US" dirty="0"/>
              <a:t> (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RSHIFT-1</a:t>
            </a:r>
            <a:r>
              <a:rPr lang="en-US" dirty="0"/>
              <a:t> 11011)</a:t>
            </a:r>
          </a:p>
          <a:p>
            <a:pPr lvl="1"/>
            <a:r>
              <a:rPr lang="en-US" dirty="0"/>
              <a:t>11010 OR 11010 AND 01101</a:t>
            </a:r>
          </a:p>
          <a:p>
            <a:pPr lvl="1"/>
            <a:r>
              <a:rPr lang="en-US" dirty="0"/>
              <a:t>11010 OR 01000</a:t>
            </a:r>
          </a:p>
          <a:p>
            <a:pPr lvl="1"/>
            <a:r>
              <a:rPr lang="en-US" b="1" dirty="0"/>
              <a:t>11010</a:t>
            </a:r>
          </a:p>
        </p:txBody>
      </p:sp>
    </p:spTree>
    <p:extLst>
      <p:ext uri="{BB962C8B-B14F-4D97-AF65-F5344CB8AC3E}">
        <p14:creationId xmlns:p14="http://schemas.microsoft.com/office/powerpoint/2010/main" val="29303469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2448</TotalTime>
  <Words>3772</Words>
  <Application>Microsoft Office PowerPoint</Application>
  <PresentationFormat>Widescreen</PresentationFormat>
  <Paragraphs>752</Paragraphs>
  <Slides>55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4" baseType="lpstr">
      <vt:lpstr>Aptos</vt:lpstr>
      <vt:lpstr>Aptos Display</vt:lpstr>
      <vt:lpstr>Aptos Narrow</vt:lpstr>
      <vt:lpstr>Arial</vt:lpstr>
      <vt:lpstr>Bahnschrift SemiBold</vt:lpstr>
      <vt:lpstr>Cascadia Code</vt:lpstr>
      <vt:lpstr>Consolas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  <vt:lpstr>Test 1, observations</vt:lpstr>
      <vt:lpstr>Test 2 , analysis</vt:lpstr>
      <vt:lpstr>Topics for Test 2</vt:lpstr>
      <vt:lpstr>Infix expressions</vt:lpstr>
      <vt:lpstr>Expression : anatomy </vt:lpstr>
      <vt:lpstr>Prefix/Postfix expressions</vt:lpstr>
      <vt:lpstr>Evaluating expression,  but first Stacks and Queues </vt:lpstr>
      <vt:lpstr>Evaluating prefix expression</vt:lpstr>
      <vt:lpstr>Evaluating postfix expression</vt:lpstr>
      <vt:lpstr>Evaluate </vt:lpstr>
      <vt:lpstr>Answers </vt:lpstr>
      <vt:lpstr>Practice: Programming </vt:lpstr>
      <vt:lpstr>Review Evaluating Prefix/Postfix</vt:lpstr>
      <vt:lpstr>Precedence and associativity</vt:lpstr>
      <vt:lpstr>Precedence and associativity</vt:lpstr>
      <vt:lpstr>Precedence and associativity (lets evaluate)</vt:lpstr>
      <vt:lpstr>Precedence and associativity (answers)</vt:lpstr>
      <vt:lpstr>Convert to Prefix/Postfix (examples)</vt:lpstr>
      <vt:lpstr>Convert to Postfix</vt:lpstr>
      <vt:lpstr>Convert to Postfix</vt:lpstr>
      <vt:lpstr>Convert to Prefix and Postfix</vt:lpstr>
      <vt:lpstr>Convert to Prefix and Postfix (answers)</vt:lpstr>
      <vt:lpstr>Logical operators (for bits/bytes)</vt:lpstr>
      <vt:lpstr>Truth Tables</vt:lpstr>
      <vt:lpstr>Truth Tables</vt:lpstr>
      <vt:lpstr>Operations (evaluate)</vt:lpstr>
      <vt:lpstr>Operations (evaluate)</vt:lpstr>
      <vt:lpstr>Operations : Shift (evaluate)</vt:lpstr>
      <vt:lpstr>Answsers 1..3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29</cp:revision>
  <dcterms:created xsi:type="dcterms:W3CDTF">2025-12-04T21:37:48Z</dcterms:created>
  <dcterms:modified xsi:type="dcterms:W3CDTF">2026-01-29T21:55:49Z</dcterms:modified>
</cp:coreProperties>
</file>