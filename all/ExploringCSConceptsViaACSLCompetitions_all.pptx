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8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57" r:id="rId81"/>
    <p:sldId id="349" r:id="rId82"/>
    <p:sldId id="351" r:id="rId83"/>
    <p:sldId id="353" r:id="rId84"/>
    <p:sldId id="352" r:id="rId85"/>
    <p:sldId id="354" r:id="rId86"/>
    <p:sldId id="350" r:id="rId87"/>
    <p:sldId id="355" r:id="rId88"/>
    <p:sldId id="356" r:id="rId89"/>
    <p:sldId id="358" r:id="rId90"/>
    <p:sldId id="367" r:id="rId91"/>
    <p:sldId id="359" r:id="rId92"/>
    <p:sldId id="368" r:id="rId93"/>
    <p:sldId id="360" r:id="rId94"/>
    <p:sldId id="369" r:id="rId95"/>
    <p:sldId id="361" r:id="rId96"/>
    <p:sldId id="370" r:id="rId97"/>
    <p:sldId id="363" r:id="rId98"/>
    <p:sldId id="371" r:id="rId99"/>
    <p:sldId id="366" r:id="rId100"/>
    <p:sldId id="372" r:id="rId101"/>
    <p:sldId id="373" r:id="rId102"/>
    <p:sldId id="374" r:id="rId103"/>
    <p:sldId id="375" r:id="rId104"/>
    <p:sldId id="376" r:id="rId105"/>
    <p:sldId id="377" r:id="rId106"/>
    <p:sldId id="378" r:id="rId107"/>
    <p:sldId id="379" r:id="rId108"/>
    <p:sldId id="380" r:id="rId109"/>
    <p:sldId id="381" r:id="rId110"/>
    <p:sldId id="382" r:id="rId111"/>
    <p:sldId id="383" r:id="rId112"/>
    <p:sldId id="384" r:id="rId113"/>
    <p:sldId id="385" r:id="rId114"/>
    <p:sldId id="386" r:id="rId115"/>
    <p:sldId id="387" r:id="rId116"/>
    <p:sldId id="388" r:id="rId117"/>
    <p:sldId id="389" r:id="rId118"/>
    <p:sldId id="390" r:id="rId119"/>
    <p:sldId id="392" r:id="rId120"/>
    <p:sldId id="393" r:id="rId121"/>
    <p:sldId id="395" r:id="rId122"/>
    <p:sldId id="391" r:id="rId123"/>
    <p:sldId id="396" r:id="rId124"/>
    <p:sldId id="398" r:id="rId125"/>
    <p:sldId id="397" r:id="rId126"/>
    <p:sldId id="399" r:id="rId12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20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3T21:10:15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14 3618,'0'0'8502,"-1"-13"-6722,1 13-1863,-1 0 0,1 0 0,0 0 0,0 0 0,-1 0 0,1 0 1,0 0-1,0 0 0,-1 0 0,1 0 0,0 0 0,-1 0 0,1 0 1,0 0-1,0 0 0,-1 1 0,1-1 0,0 0 0,0 0 0,0 0 0,-1 0 1,1 1-1,0-1 0,0 0 0,0 0 0,0 1 0,-1-1 0,1 0 1,0 0-1,0 0 0,0 1 0,0-1 0,0 0 0,0 1 0,0-1 0,0 0 1,0 0-1,0 1 0,0-1 0,0 0 0,0 0 0,0 1 0,0-1 1,0 0-1,0 0 0,0 1 0,0-1 0,0 1 0,-8 1-5354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65887" lvl="1" defTabSz="931774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65887" lvl="1" defTabSz="931774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7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 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  <m:r>
                      <a:rPr lang="en-US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26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9C9B2-45AB-787B-5C91-05A5B558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DC5A-141E-6F8B-7CFB-CAA9C873B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7423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Tables/Expressions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Create truth table for each and validate/discover simplifications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768-6F15-06E9-C840-DA5612F8D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DE1B-D96A-3D30-68AE-1B60E274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980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ABC3-2FB2-EB18-7247-2C7A596D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C898-35FC-6EF2-7A80-305B2EB0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in reverse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b="0" i="1" dirty="0"/>
                  <a:t> 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97324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7EA4-5E46-1419-52D3-511DA43F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//See 4</a:t>
                </a:r>
              </a:p>
              <a:p>
                <a:pPr lvl="2"/>
                <a:r>
                  <a:rPr lang="en-US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//Distribution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//De-Morgan’s Law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//Factor the like terms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//Identity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78301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18A9-801A-714A-A234-6CD3FE66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0F5D-20D4-03D8-1456-187A1EC7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(A.B +B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 and expansion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A.B  + 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 and combine like terms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</a:t>
                </a:r>
                <a:r>
                  <a:rPr lang="en-US" i="1" dirty="0">
                    <a:latin typeface="Cambria Math" panose="02040503050406030204" pitchFamily="18" charset="0"/>
                  </a:rPr>
                  <a:t>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 Law and rearrange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74539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BA96-FDEB-0275-31FE-0F91C76B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B8CE-CBD7-DE7D-2F24-555C4474D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FIFO : First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queue</a:t>
            </a:r>
          </a:p>
          <a:p>
            <a:pPr lvl="2"/>
            <a:r>
              <a:rPr lang="en-US" dirty="0"/>
              <a:t>Can also be called (enqueue , </a:t>
            </a:r>
            <a:r>
              <a:rPr lang="en-US" dirty="0" err="1"/>
              <a:t>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(dequeue ,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 front,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6858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37F5-6EB6-D652-74CB-258C0615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8800-5A6E-82AE-A5CB-5CDEE0CF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A019D-DD89-5C1B-B36F-A3C88E7A9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LIFO : Last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stack</a:t>
            </a:r>
          </a:p>
          <a:p>
            <a:pPr lvl="2"/>
            <a:r>
              <a:rPr lang="en-US" dirty="0"/>
              <a:t>Can also be called (</a:t>
            </a:r>
            <a:r>
              <a:rPr lang="en-US" dirty="0" err="1"/>
              <a:t>insert,push_back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(back,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7101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9D11A-E375-E71D-07F3-EE29E1111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1AE1CA-0CED-FC52-B3A9-B263513E5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062" y="1690688"/>
            <a:ext cx="4036690" cy="4213159"/>
          </a:xfrm>
        </p:spPr>
      </p:pic>
    </p:spTree>
    <p:extLst>
      <p:ext uri="{BB962C8B-B14F-4D97-AF65-F5344CB8AC3E}">
        <p14:creationId xmlns:p14="http://schemas.microsoft.com/office/powerpoint/2010/main" val="35109705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178D-935B-AAEE-36BA-F87AA98B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6CD-D406-A389-02FF-0BA92261C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ECFA53-052C-D6F6-6B28-122C1A2DBA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3421758"/>
              </p:ext>
            </p:extLst>
          </p:nvPr>
        </p:nvGraphicFramePr>
        <p:xfrm>
          <a:off x="1224455" y="2948151"/>
          <a:ext cx="4001814" cy="2774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938">
                  <a:extLst>
                    <a:ext uri="{9D8B030D-6E8A-4147-A177-3AD203B41FA5}">
                      <a16:colId xmlns:a16="http://schemas.microsoft.com/office/drawing/2014/main" val="563773428"/>
                    </a:ext>
                  </a:extLst>
                </a:gridCol>
                <a:gridCol w="1453930">
                  <a:extLst>
                    <a:ext uri="{9D8B030D-6E8A-4147-A177-3AD203B41FA5}">
                      <a16:colId xmlns:a16="http://schemas.microsoft.com/office/drawing/2014/main" val="2982123843"/>
                    </a:ext>
                  </a:extLst>
                </a:gridCol>
                <a:gridCol w="1213946">
                  <a:extLst>
                    <a:ext uri="{9D8B030D-6E8A-4147-A177-3AD203B41FA5}">
                      <a16:colId xmlns:a16="http://schemas.microsoft.com/office/drawing/2014/main" val="905214871"/>
                    </a:ext>
                  </a:extLst>
                </a:gridCol>
              </a:tblGrid>
              <a:tr h="46245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037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111627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4521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189348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260239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806729"/>
                  </a:ext>
                </a:extLst>
              </a:tr>
            </a:tbl>
          </a:graphicData>
        </a:graphic>
      </p:graphicFrame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0E50695-BDC5-0370-1DB9-2A32436F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48" y="1675557"/>
            <a:ext cx="4036690" cy="4213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5E9F79-29BB-4CDA-46A4-57558B564644}"/>
              </a:ext>
            </a:extLst>
          </p:cNvPr>
          <p:cNvSpPr txBox="1"/>
          <p:nvPr/>
        </p:nvSpPr>
        <p:spPr>
          <a:xfrm>
            <a:off x="1224455" y="2088587"/>
            <a:ext cx="41246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9 7 5 3 1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72070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0C2-3FE9-DE1C-F670-2471C6908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A649AB-679F-53E7-0286-70971B8EF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4934" y="1690688"/>
            <a:ext cx="4516662" cy="4142553"/>
          </a:xfrm>
        </p:spPr>
      </p:pic>
    </p:spTree>
    <p:extLst>
      <p:ext uri="{BB962C8B-B14F-4D97-AF65-F5344CB8AC3E}">
        <p14:creationId xmlns:p14="http://schemas.microsoft.com/office/powerpoint/2010/main" val="167432419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532A-6F5A-F03B-491E-8D861097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84C87-8A76-0A64-FF44-67BE47DD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8AF0C-177A-2287-B125-733572E3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2 4 6 8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This program tried to sort</a:t>
            </a:r>
          </a:p>
          <a:p>
            <a:pPr>
              <a:buFontTx/>
              <a:buChar char="-"/>
            </a:pPr>
            <a:r>
              <a:rPr lang="en-US" dirty="0"/>
              <a:t>Already sorted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Nothing happens 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58DBF8-59D4-4A3D-CD6D-54C16CC7A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599" y="1825625"/>
            <a:ext cx="4212021" cy="38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79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C7EA-2D17-DA29-7BE7-A16B9FCC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7385F-E344-2CA5-16FD-C3C3301D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75DD1A-FC8B-A807-42A0-48613AC90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313" y="1690688"/>
            <a:ext cx="5064006" cy="4071609"/>
          </a:xfrm>
        </p:spPr>
      </p:pic>
    </p:spTree>
    <p:extLst>
      <p:ext uri="{BB962C8B-B14F-4D97-AF65-F5344CB8AC3E}">
        <p14:creationId xmlns:p14="http://schemas.microsoft.com/office/powerpoint/2010/main" val="19672751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86C3-3556-C4E4-2F98-34D72C0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13A8-03DC-CAC0-8256-B67ADE32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127C6-BB4E-AE59-83D7-ECD64EB85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13</a:t>
            </a:r>
          </a:p>
          <a:p>
            <a:r>
              <a:rPr lang="en-US" dirty="0"/>
              <a:t>Add j only when (</a:t>
            </a:r>
            <a:r>
              <a:rPr lang="en-US" dirty="0" err="1"/>
              <a:t>i+j</a:t>
            </a:r>
            <a:r>
              <a:rPr lang="en-US" dirty="0"/>
              <a:t>) is even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=1</a:t>
            </a:r>
          </a:p>
          <a:p>
            <a:pPr lvl="2"/>
            <a:r>
              <a:rPr lang="en-US" dirty="0"/>
              <a:t>j=1 → 2 (even) → +1 → sum=1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=2</a:t>
            </a:r>
          </a:p>
          <a:p>
            <a:pPr lvl="2"/>
            <a:r>
              <a:rPr lang="en-US" dirty="0"/>
              <a:t>j=1 → 3</a:t>
            </a:r>
          </a:p>
          <a:p>
            <a:pPr lvl="2"/>
            <a:r>
              <a:rPr lang="en-US" dirty="0"/>
              <a:t>j=2 → 4(even) → +2 → sum=3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=3</a:t>
            </a:r>
          </a:p>
          <a:p>
            <a:pPr lvl="2"/>
            <a:r>
              <a:rPr lang="en-US" dirty="0"/>
              <a:t>j=1 → 4 (even) → +1 → sum=4</a:t>
            </a:r>
          </a:p>
          <a:p>
            <a:pPr lvl="2"/>
            <a:r>
              <a:rPr lang="en-US" dirty="0"/>
              <a:t>j=2 → 5 (odd)</a:t>
            </a:r>
          </a:p>
          <a:p>
            <a:pPr lvl="2"/>
            <a:r>
              <a:rPr lang="en-US" dirty="0"/>
              <a:t>j=3 → 6 (even) → +3 → sum=7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=4</a:t>
            </a:r>
          </a:p>
          <a:p>
            <a:pPr lvl="2"/>
            <a:r>
              <a:rPr lang="en-US" dirty="0"/>
              <a:t>j=1 → 5 (odd)</a:t>
            </a:r>
          </a:p>
          <a:p>
            <a:pPr lvl="2"/>
            <a:r>
              <a:rPr lang="en-US" dirty="0"/>
              <a:t>j=2 → 6 (even) → +2 → sum=9</a:t>
            </a:r>
          </a:p>
          <a:p>
            <a:pPr lvl="2"/>
            <a:r>
              <a:rPr lang="en-US" dirty="0"/>
              <a:t>j=3 → 7 (odd)</a:t>
            </a:r>
          </a:p>
          <a:p>
            <a:pPr lvl="2"/>
            <a:r>
              <a:rPr lang="en-US" dirty="0"/>
              <a:t>j=4 → 8 (even) → +4 → sum=13</a:t>
            </a:r>
          </a:p>
          <a:p>
            <a:pPr lvl="2"/>
            <a:endParaRPr lang="en-U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AD373F5-91BE-5532-CE2F-4C5A2A454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661" y="1990233"/>
            <a:ext cx="4855249" cy="390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390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4A83-F873-72A7-C405-8ABD45D0B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68C33-D8B7-9D19-DBFD-BAAA6B1E4A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2788" y="1799728"/>
            <a:ext cx="4100645" cy="4563898"/>
          </a:xfrm>
        </p:spPr>
      </p:pic>
    </p:spTree>
    <p:extLst>
      <p:ext uri="{BB962C8B-B14F-4D97-AF65-F5344CB8AC3E}">
        <p14:creationId xmlns:p14="http://schemas.microsoft.com/office/powerpoint/2010/main" val="3622320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A11-13A6-13EA-2BBF-E3F325435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73A9-D3A1-EA46-9965-88D8075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F4CA66-2E1D-A65D-96B1-7D63B9B6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</a:t>
            </a:r>
          </a:p>
          <a:p>
            <a:r>
              <a:rPr lang="en-US" dirty="0"/>
              <a:t>Count how many times A[</a:t>
            </a:r>
            <a:r>
              <a:rPr lang="en-US" dirty="0" err="1"/>
              <a:t>i</a:t>
            </a:r>
            <a:r>
              <a:rPr lang="en-US" dirty="0"/>
              <a:t>] &lt; A[j]</a:t>
            </a:r>
          </a:p>
          <a:p>
            <a:pPr lvl="1"/>
            <a:r>
              <a:rPr lang="it-IT" dirty="0"/>
              <a:t>1 &lt; 3,5,7 → 3</a:t>
            </a:r>
          </a:p>
          <a:p>
            <a:pPr lvl="1"/>
            <a:r>
              <a:rPr lang="it-IT" dirty="0"/>
              <a:t>3 &lt; 5,7 → 2</a:t>
            </a:r>
          </a:p>
          <a:p>
            <a:pPr lvl="1"/>
            <a:r>
              <a:rPr lang="it-IT" dirty="0"/>
              <a:t>5 &lt; 7 → 1</a:t>
            </a:r>
          </a:p>
          <a:p>
            <a:pPr lvl="1"/>
            <a:r>
              <a:rPr lang="it-IT" dirty="0"/>
              <a:t>7 &lt; none → 0</a:t>
            </a:r>
            <a:endParaRPr lang="en-US" dirty="0"/>
          </a:p>
          <a:p>
            <a:r>
              <a:rPr lang="en-US" dirty="0"/>
              <a:t>Total = 3 + 2 + 1 = 6</a:t>
            </a:r>
            <a:endParaRPr lang="it-IT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665AAB9F-0F4E-0B93-A910-68451237E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937" y="1690687"/>
            <a:ext cx="390965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950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58E75-5553-324F-5B48-028B76BB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274CD-93BF-0487-A229-2394EC9B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3C46BAF-D801-5E6F-3276-708F9CF1C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1615" y="1616107"/>
            <a:ext cx="2220578" cy="474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554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9693-7FD9-47E4-BA86-B97EB940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C0844-6D66-B048-A14A-CE67FE9B5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FC1A9-4F46-A34B-EC6F-15BA81F9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5 2 1</a:t>
            </a:r>
          </a:p>
          <a:p>
            <a:pPr lvl="1"/>
            <a:r>
              <a:rPr lang="en-US" dirty="0"/>
              <a:t>Push 1,2,3,4</a:t>
            </a:r>
          </a:p>
          <a:p>
            <a:pPr lvl="1"/>
            <a:r>
              <a:rPr lang="en-US" dirty="0"/>
              <a:t>Pop twice </a:t>
            </a:r>
          </a:p>
          <a:p>
            <a:pPr lvl="2"/>
            <a:r>
              <a:rPr lang="en-US" dirty="0"/>
              <a:t>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1,2,3</a:t>
            </a:r>
          </a:p>
          <a:p>
            <a:pPr lvl="2"/>
            <a:r>
              <a:rPr lang="en-US" dirty="0"/>
              <a:t>3 </a:t>
            </a:r>
            <a:r>
              <a:rPr lang="en-US" dirty="0">
                <a:sym typeface="Wingdings" panose="05000000000000000000" pitchFamily="2" charset="2"/>
              </a:rPr>
              <a:t> 1,2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Push 5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1,2,5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Pop all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5,2,1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4979409-7BA8-5D3F-228C-B55060B2B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690688"/>
            <a:ext cx="2039275" cy="43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034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5AF1E-B94B-B679-DF50-9B417918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0D29-E26E-CC89-ED61-E18E39F86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20711A-4624-D6E5-76BF-5063A92FA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588" y="1690688"/>
            <a:ext cx="5122423" cy="4260795"/>
          </a:xfrm>
        </p:spPr>
      </p:pic>
    </p:spTree>
    <p:extLst>
      <p:ext uri="{BB962C8B-B14F-4D97-AF65-F5344CB8AC3E}">
        <p14:creationId xmlns:p14="http://schemas.microsoft.com/office/powerpoint/2010/main" val="3862328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78AA-FE52-CD93-522C-CD1CAD6E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0B23-C7DE-7BD3-3432-914ED568A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</a:t>
            </a:r>
            <a:r>
              <a:rPr lang="en-US"/>
              <a:t>A6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1FF15-17C3-E624-760A-CCA518D19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1 2 3 4</a:t>
            </a:r>
          </a:p>
          <a:p>
            <a:pPr lvl="1"/>
            <a:r>
              <a:rPr lang="en-US" dirty="0"/>
              <a:t>Bubble sort</a:t>
            </a:r>
          </a:p>
          <a:p>
            <a:pPr lvl="2"/>
            <a:r>
              <a:rPr lang="en-US" dirty="0"/>
              <a:t>Pass 1 </a:t>
            </a:r>
            <a:r>
              <a:rPr lang="en-US" dirty="0">
                <a:sym typeface="Wingdings" panose="05000000000000000000" pitchFamily="2" charset="2"/>
              </a:rPr>
              <a:t> 1,3,2,4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2  1,2,3,4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3  (No Change)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4  (No Change)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81A62B2-389D-56BD-B428-9D0DBD6C1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469" y="1943866"/>
            <a:ext cx="4660660" cy="387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834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E7288-A3E9-2E4B-1CFA-A9FE653B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86A02-254A-2D1D-68EE-6C2694AC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the green/woody kind </a:t>
            </a:r>
          </a:p>
          <a:p>
            <a:pPr lvl="1"/>
            <a:r>
              <a:rPr lang="en-US" dirty="0"/>
              <a:t>But they actually look like upside down trees </a:t>
            </a:r>
          </a:p>
          <a:p>
            <a:r>
              <a:rPr lang="en-US" dirty="0"/>
              <a:t>Trees are data structures that represents data in parent/child relationships</a:t>
            </a:r>
          </a:p>
          <a:p>
            <a:pPr lvl="1"/>
            <a:r>
              <a:rPr lang="en-US" dirty="0"/>
              <a:t>Start with a </a:t>
            </a:r>
            <a:r>
              <a:rPr lang="en-US" b="1" dirty="0"/>
              <a:t>root</a:t>
            </a:r>
            <a:r>
              <a:rPr lang="en-US" dirty="0"/>
              <a:t> node </a:t>
            </a:r>
          </a:p>
          <a:p>
            <a:pPr lvl="1"/>
            <a:r>
              <a:rPr lang="en-US" dirty="0"/>
              <a:t>(May) point to other nodes </a:t>
            </a:r>
          </a:p>
          <a:p>
            <a:pPr lvl="2"/>
            <a:r>
              <a:rPr lang="en-US" dirty="0"/>
              <a:t>This is </a:t>
            </a:r>
            <a:r>
              <a:rPr lang="en-US" b="1" dirty="0"/>
              <a:t>parent</a:t>
            </a:r>
            <a:r>
              <a:rPr lang="en-US" dirty="0"/>
              <a:t> pointing to </a:t>
            </a:r>
            <a:r>
              <a:rPr lang="en-US" b="1" dirty="0"/>
              <a:t>child</a:t>
            </a:r>
            <a:r>
              <a:rPr lang="en-US" dirty="0"/>
              <a:t> ( generally) or vice versa</a:t>
            </a:r>
          </a:p>
          <a:p>
            <a:pPr lvl="1"/>
            <a:r>
              <a:rPr lang="en-US" dirty="0"/>
              <a:t>The nodes with no children are </a:t>
            </a:r>
            <a:r>
              <a:rPr lang="en-US" b="1" dirty="0"/>
              <a:t>leaf</a:t>
            </a:r>
            <a:r>
              <a:rPr lang="en-US" dirty="0"/>
              <a:t> nodes</a:t>
            </a:r>
          </a:p>
        </p:txBody>
      </p:sp>
    </p:spTree>
    <p:extLst>
      <p:ext uri="{BB962C8B-B14F-4D97-AF65-F5344CB8AC3E}">
        <p14:creationId xmlns:p14="http://schemas.microsoft.com/office/powerpoint/2010/main" val="328698197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D1CE6-1DED-8A20-394D-424C73A1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Tree: Visuals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807D5B-BD36-72DB-EF4C-02875547A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29D248-619E-F8D5-1EB5-7C1366A17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87" y="2540719"/>
            <a:ext cx="8820603" cy="292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0347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8C887-3C8C-169D-F409-469D624A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B5F16-DAD5-744D-2F75-11549F6B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child count</a:t>
            </a:r>
          </a:p>
          <a:p>
            <a:pPr lvl="1"/>
            <a:r>
              <a:rPr lang="en-US" dirty="0"/>
              <a:t>Binary trees (most popular)</a:t>
            </a:r>
          </a:p>
          <a:p>
            <a:pPr lvl="2"/>
            <a:r>
              <a:rPr lang="en-US" dirty="0"/>
              <a:t>Each node max 2 children (</a:t>
            </a:r>
            <a:r>
              <a:rPr lang="en-US" dirty="0" err="1"/>
              <a:t>i.e</a:t>
            </a:r>
            <a:r>
              <a:rPr lang="en-US" dirty="0"/>
              <a:t> 0,1 or 2 )</a:t>
            </a:r>
          </a:p>
          <a:p>
            <a:pPr lvl="1"/>
            <a:r>
              <a:rPr lang="en-US" dirty="0"/>
              <a:t>Ternary trees</a:t>
            </a:r>
          </a:p>
          <a:p>
            <a:pPr lvl="2"/>
            <a:r>
              <a:rPr lang="en-US" dirty="0"/>
              <a:t>Max 3 children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ary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Max N children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260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42CB8-C999-0471-92B1-89909ABF7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502A5-1746-0B16-F272-087655FC8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Based on data organization</a:t>
            </a:r>
          </a:p>
          <a:p>
            <a:pPr lvl="1"/>
            <a:r>
              <a:rPr lang="en-US" dirty="0"/>
              <a:t>Binary Tree</a:t>
            </a:r>
          </a:p>
          <a:p>
            <a:pPr lvl="2"/>
            <a:r>
              <a:rPr lang="en-US" dirty="0"/>
              <a:t>No organization requirement</a:t>
            </a:r>
          </a:p>
          <a:p>
            <a:pPr lvl="1"/>
            <a:r>
              <a:rPr lang="en-US" dirty="0"/>
              <a:t>Binary Search trees , </a:t>
            </a:r>
          </a:p>
          <a:p>
            <a:pPr lvl="2"/>
            <a:r>
              <a:rPr lang="en-US" dirty="0"/>
              <a:t>Left child is smaller ( or equal to) the root</a:t>
            </a:r>
          </a:p>
          <a:p>
            <a:pPr lvl="2"/>
            <a:r>
              <a:rPr lang="en-US" dirty="0"/>
              <a:t>Right child is bigger than the root</a:t>
            </a:r>
          </a:p>
          <a:p>
            <a:pPr lvl="1"/>
            <a:r>
              <a:rPr lang="en-US" b="1" dirty="0"/>
              <a:t>AVL tree </a:t>
            </a:r>
            <a:r>
              <a:rPr lang="en-US" dirty="0"/>
              <a:t>(Adelson-</a:t>
            </a:r>
            <a:r>
              <a:rPr lang="en-US" dirty="0" err="1"/>
              <a:t>Velsky</a:t>
            </a:r>
            <a:r>
              <a:rPr lang="en-US" dirty="0"/>
              <a:t> and Landis)</a:t>
            </a:r>
          </a:p>
          <a:p>
            <a:pPr lvl="2"/>
            <a:r>
              <a:rPr lang="en-US" dirty="0"/>
              <a:t>Binary search tree with limits on height </a:t>
            </a:r>
          </a:p>
          <a:p>
            <a:pPr lvl="2"/>
            <a:r>
              <a:rPr lang="en-US" dirty="0"/>
              <a:t>No one leaf can be more than a 1 distance </a:t>
            </a:r>
            <a:r>
              <a:rPr lang="en-US" dirty="0" err="1"/>
              <a:t>logner</a:t>
            </a:r>
            <a:r>
              <a:rPr lang="en-US" dirty="0"/>
              <a:t> than any other leaf node</a:t>
            </a:r>
          </a:p>
          <a:p>
            <a:pPr lvl="1"/>
            <a:r>
              <a:rPr lang="en-US" dirty="0"/>
              <a:t>Red black tree</a:t>
            </a:r>
          </a:p>
          <a:p>
            <a:pPr lvl="2"/>
            <a:r>
              <a:rPr lang="en-US" dirty="0"/>
              <a:t>A representation of AVL tree that color codes the nodes ( red/black) to organize info.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627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DF003-F9A9-1475-DB83-84CB2D60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: 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C6801-7726-EB38-A181-96B8F89CC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Root : there is only 1 root( 0 for empty tree)</a:t>
            </a:r>
          </a:p>
          <a:p>
            <a:r>
              <a:rPr lang="en-US" dirty="0"/>
              <a:t>Parent </a:t>
            </a:r>
          </a:p>
          <a:p>
            <a:pPr lvl="1"/>
            <a:r>
              <a:rPr lang="en-US" dirty="0"/>
              <a:t>All other nodes have one parent (except the root node)</a:t>
            </a:r>
          </a:p>
          <a:p>
            <a:r>
              <a:rPr lang="en-US" dirty="0"/>
              <a:t>Children </a:t>
            </a:r>
          </a:p>
          <a:p>
            <a:pPr lvl="1"/>
            <a:r>
              <a:rPr lang="en-US" dirty="0"/>
              <a:t>In Binary Tree : there can be at most 2 children</a:t>
            </a:r>
          </a:p>
          <a:p>
            <a:pPr lvl="1"/>
            <a:r>
              <a:rPr lang="en-US" dirty="0"/>
              <a:t>The 2 children are also referred as siblings</a:t>
            </a:r>
          </a:p>
          <a:p>
            <a:r>
              <a:rPr lang="en-US" dirty="0"/>
              <a:t>Leaf nodes : nodes with no children are leaf nodes</a:t>
            </a:r>
          </a:p>
          <a:p>
            <a:r>
              <a:rPr lang="en-US" dirty="0"/>
              <a:t>Height : the distance from the root to furthest leaf node is height of the tree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613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6E64-3C52-4650-4748-F1D6527BB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F3575-C8F7-080A-D3E0-6D7604D24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child must be smaller than or equal to the  parent</a:t>
            </a:r>
          </a:p>
          <a:p>
            <a:r>
              <a:rPr lang="en-US" dirty="0"/>
              <a:t>Right child must be larger than the parent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C87756-9D75-31B8-6253-ECE1FBD69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17" y="2768028"/>
            <a:ext cx="5164154" cy="304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1075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1B119-127E-62DE-A543-B9405E52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F40EE-91EE-F334-EACC-374919DC7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52, 18, 74, 5, 33, 61, 89, 25, 42, 67</a:t>
            </a:r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579547-A6B0-EB11-4B61-2AEB9D57A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015" y="2348917"/>
            <a:ext cx="6417578" cy="358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5667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9B443-40AD-BC01-446B-D41711F9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EE65A-AAAA-2D72-CFD9-35F9EE48E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tree for </a:t>
            </a:r>
          </a:p>
          <a:p>
            <a:pPr lvl="1"/>
            <a:r>
              <a:rPr lang="en-US" dirty="0"/>
              <a:t>S U P E R N A T U R A L </a:t>
            </a:r>
          </a:p>
          <a:p>
            <a:pPr lvl="1"/>
            <a:r>
              <a:rPr lang="en-US" dirty="0"/>
              <a:t>16  93  81  37  98  84 </a:t>
            </a:r>
          </a:p>
          <a:p>
            <a:pPr lvl="1"/>
            <a:r>
              <a:rPr lang="en-US" dirty="0"/>
              <a:t>0  9  2  6  2  3  5  1  4  2  9  7  6  8   9   2   7</a:t>
            </a:r>
          </a:p>
          <a:p>
            <a:pPr lvl="1"/>
            <a:r>
              <a:rPr lang="en-US" dirty="0"/>
              <a:t>C O N I O S I S</a:t>
            </a:r>
          </a:p>
          <a:p>
            <a:pPr lvl="1"/>
            <a:r>
              <a:rPr lang="en-US" dirty="0"/>
              <a:t>A L P H A B E T I C A L</a:t>
            </a:r>
          </a:p>
          <a:p>
            <a:pPr lvl="1"/>
            <a:r>
              <a:rPr lang="en-US" dirty="0"/>
              <a:t>M A T H E M A T I C S</a:t>
            </a:r>
          </a:p>
        </p:txBody>
      </p:sp>
    </p:spTree>
    <p:extLst>
      <p:ext uri="{BB962C8B-B14F-4D97-AF65-F5344CB8AC3E}">
        <p14:creationId xmlns:p14="http://schemas.microsoft.com/office/powerpoint/2010/main" val="278483957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FBD44-EBD1-07DC-DF8E-F30552C65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9665F-B850-FB04-2549-9B4B1250F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Graphs are data structure that can represent complex relationships between items. They are made of </a:t>
            </a:r>
          </a:p>
          <a:p>
            <a:pPr lvl="1"/>
            <a:r>
              <a:rPr lang="en-US" dirty="0"/>
              <a:t>Vertices( also called nodes)</a:t>
            </a:r>
          </a:p>
          <a:p>
            <a:pPr lvl="1"/>
            <a:r>
              <a:rPr lang="en-US" dirty="0"/>
              <a:t>Edges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DAD95-1C7C-BBBF-5940-31D7F0581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790" y="2842243"/>
            <a:ext cx="4107401" cy="3167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8186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99F5-A503-C753-D924-BDEF6972D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BA19D-0D87-CD7F-2436-A90504790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Major part of day to day life </a:t>
            </a:r>
          </a:p>
          <a:p>
            <a:pPr lvl="1"/>
            <a:r>
              <a:rPr lang="en-US" dirty="0"/>
              <a:t>Maps</a:t>
            </a:r>
          </a:p>
          <a:p>
            <a:pPr lvl="2"/>
            <a:r>
              <a:rPr lang="en-US" dirty="0"/>
              <a:t>Shortest/fastest routes</a:t>
            </a:r>
          </a:p>
          <a:p>
            <a:pPr lvl="1"/>
            <a:r>
              <a:rPr lang="en-US" dirty="0"/>
              <a:t>Internet/Computer networks</a:t>
            </a:r>
          </a:p>
          <a:p>
            <a:pPr lvl="2"/>
            <a:r>
              <a:rPr lang="en-US" dirty="0"/>
              <a:t>Communication over internet</a:t>
            </a:r>
          </a:p>
          <a:p>
            <a:pPr lvl="1"/>
            <a:r>
              <a:rPr lang="en-US" dirty="0"/>
              <a:t>Commerce</a:t>
            </a:r>
          </a:p>
          <a:p>
            <a:pPr lvl="2"/>
            <a:r>
              <a:rPr lang="en-US" dirty="0"/>
              <a:t>Stocks</a:t>
            </a:r>
          </a:p>
          <a:p>
            <a:pPr lvl="2"/>
            <a:r>
              <a:rPr lang="en-US" dirty="0"/>
              <a:t>goods</a:t>
            </a:r>
          </a:p>
          <a:p>
            <a:pPr lvl="1"/>
            <a:r>
              <a:rPr lang="en-US" dirty="0"/>
              <a:t>Social Networks </a:t>
            </a:r>
          </a:p>
          <a:p>
            <a:pPr lvl="2"/>
            <a:r>
              <a:rPr lang="en-US" dirty="0"/>
              <a:t>Friends</a:t>
            </a:r>
          </a:p>
          <a:p>
            <a:pPr lvl="2"/>
            <a:r>
              <a:rPr lang="en-US" dirty="0"/>
              <a:t>Ads</a:t>
            </a:r>
          </a:p>
          <a:p>
            <a:pPr lvl="1"/>
            <a:r>
              <a:rPr lang="en-US" dirty="0"/>
              <a:t>Circuits</a:t>
            </a:r>
          </a:p>
          <a:p>
            <a:pPr lvl="2"/>
            <a:r>
              <a:rPr lang="en-US" dirty="0"/>
              <a:t>Computer</a:t>
            </a:r>
          </a:p>
          <a:p>
            <a:pPr lvl="1"/>
            <a:r>
              <a:rPr lang="en-US" dirty="0"/>
              <a:t>Schedules</a:t>
            </a:r>
          </a:p>
          <a:p>
            <a:pPr lvl="2"/>
            <a:r>
              <a:rPr lang="en-US" dirty="0"/>
              <a:t>dependency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69135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594CF-E56D-9A6C-E3FF-4352F59F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by Edge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29D19-9EC9-463D-5938-7DFED8B7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Directed </a:t>
            </a:r>
            <a:r>
              <a:rPr lang="en-US" dirty="0"/>
              <a:t>: think one way</a:t>
            </a:r>
          </a:p>
          <a:p>
            <a:pPr lvl="1"/>
            <a:r>
              <a:rPr lang="en-US" dirty="0"/>
              <a:t>The edges have a </a:t>
            </a:r>
            <a:r>
              <a:rPr lang="en-US" b="1" dirty="0"/>
              <a:t>source</a:t>
            </a:r>
            <a:r>
              <a:rPr lang="en-US" dirty="0"/>
              <a:t> where they begin from </a:t>
            </a:r>
          </a:p>
          <a:p>
            <a:pPr lvl="1"/>
            <a:r>
              <a:rPr lang="en-US" dirty="0"/>
              <a:t>And a </a:t>
            </a:r>
            <a:r>
              <a:rPr lang="en-US" b="1" dirty="0"/>
              <a:t>destination</a:t>
            </a:r>
            <a:r>
              <a:rPr lang="en-US" dirty="0"/>
              <a:t> where they end.</a:t>
            </a:r>
          </a:p>
          <a:p>
            <a:pPr lvl="1"/>
            <a:r>
              <a:rPr lang="en-US" b="1" i="1" dirty="0"/>
              <a:t>Think of this as one way connection</a:t>
            </a:r>
          </a:p>
          <a:p>
            <a:r>
              <a:rPr lang="en-US" i="1" dirty="0"/>
              <a:t>Undirected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376AB-227B-DBD3-7622-5859089D7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453" y="3773614"/>
            <a:ext cx="4578989" cy="187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36445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FF23-6F34-7ED0-BAD1-7D662ED24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8A1DF-487F-705B-EEB9-D66C72F2A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by Edge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8D58B-0329-19D7-2F29-84ACB5C9D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</a:t>
            </a:r>
          </a:p>
          <a:p>
            <a:r>
              <a:rPr lang="en-US" b="1" dirty="0"/>
              <a:t>Undirected</a:t>
            </a:r>
          </a:p>
          <a:p>
            <a:pPr lvl="1"/>
            <a:r>
              <a:rPr lang="en-US" dirty="0"/>
              <a:t>The edges do not have direction</a:t>
            </a:r>
          </a:p>
          <a:p>
            <a:pPr lvl="1"/>
            <a:r>
              <a:rPr lang="en-US" dirty="0"/>
              <a:t>The edge connects vertices in both direction</a:t>
            </a:r>
          </a:p>
          <a:p>
            <a:pPr lvl="1"/>
            <a:r>
              <a:rPr lang="en-US" b="1" i="1" dirty="0"/>
              <a:t>Think of this as two way connection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555328-ED29-B541-3570-7CDE3FDBC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0284" y="4001294"/>
            <a:ext cx="4578989" cy="187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5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377F6-CB3C-29C3-E593-4C149CA5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representation(s)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AFD61-5580-96EB-7E35-D315B16E5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9820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Assuming </a:t>
            </a:r>
            <a:r>
              <a:rPr lang="en-US" b="1" dirty="0"/>
              <a:t>graph with ‘V’ vertices and ‘E’ edges</a:t>
            </a:r>
          </a:p>
          <a:p>
            <a:r>
              <a:rPr lang="en-US" dirty="0"/>
              <a:t>Adjacency matrix </a:t>
            </a:r>
            <a:r>
              <a:rPr lang="en-US" i="1" dirty="0"/>
              <a:t>(double dimension array)</a:t>
            </a:r>
          </a:p>
          <a:p>
            <a:pPr lvl="1"/>
            <a:r>
              <a:rPr lang="en-US" dirty="0" err="1"/>
              <a:t>VxV</a:t>
            </a:r>
            <a:r>
              <a:rPr lang="en-US" dirty="0"/>
              <a:t> array, entry in row ‘</a:t>
            </a:r>
            <a:r>
              <a:rPr lang="en-US" dirty="0" err="1"/>
              <a:t>i</a:t>
            </a:r>
            <a:r>
              <a:rPr lang="en-US" dirty="0"/>
              <a:t>’ column ‘j’ denotes connectivity between node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: j</a:t>
            </a:r>
          </a:p>
          <a:p>
            <a:pPr lvl="1"/>
            <a:r>
              <a:rPr lang="en-US" i="1" dirty="0">
                <a:sym typeface="Wingdings" panose="05000000000000000000" pitchFamily="2" charset="2"/>
              </a:rPr>
              <a:t>Very useful and efficient representation</a:t>
            </a:r>
            <a:endParaRPr lang="en-US" i="1" dirty="0"/>
          </a:p>
          <a:p>
            <a:r>
              <a:rPr lang="en-US" dirty="0"/>
              <a:t>array of edges</a:t>
            </a:r>
          </a:p>
          <a:p>
            <a:pPr lvl="1"/>
            <a:r>
              <a:rPr lang="en-US" dirty="0"/>
              <a:t>Array of size ‘E’ containing source and destination of edges</a:t>
            </a:r>
          </a:p>
          <a:p>
            <a:pPr lvl="1"/>
            <a:r>
              <a:rPr lang="en-US" i="1" dirty="0"/>
              <a:t>Simple but slower representation</a:t>
            </a:r>
          </a:p>
          <a:p>
            <a:r>
              <a:rPr lang="en-US" dirty="0"/>
              <a:t>Array of adjacency lists </a:t>
            </a:r>
          </a:p>
          <a:p>
            <a:pPr lvl="1"/>
            <a:r>
              <a:rPr lang="en-US" dirty="0"/>
              <a:t>Vertex indexed array of edges. </a:t>
            </a:r>
          </a:p>
          <a:p>
            <a:pPr lvl="1"/>
            <a:r>
              <a:rPr lang="en-US" i="1" dirty="0"/>
              <a:t>Flexible and quite efficient </a:t>
            </a:r>
            <a:r>
              <a:rPr lang="en-US" dirty="0"/>
              <a:t>(the goat)</a:t>
            </a:r>
          </a:p>
          <a:p>
            <a:r>
              <a:rPr lang="en-US" dirty="0"/>
              <a:t>…(and there are more representations)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4801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E521D-C6E0-32CE-A5F4-A5A5C1BA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class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1CB59-8274-EDDE-2358-516BE319A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2808854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1076-F3E4-1031-12A9-F4565731A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gates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0DD9E-4067-269B-1E64-829DFCC45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Cictuits</a:t>
            </a:r>
            <a:r>
              <a:rPr lang="en-US" dirty="0"/>
              <a:t> in electronics ( Pcs, gaming consoles, phones) are made of basic logic units, called </a:t>
            </a:r>
            <a:r>
              <a:rPr lang="en-US" b="1" dirty="0"/>
              <a:t>logic gates</a:t>
            </a:r>
          </a:p>
          <a:p>
            <a:pPr lvl="1"/>
            <a:r>
              <a:rPr lang="en-US" dirty="0"/>
              <a:t>Basic :</a:t>
            </a:r>
            <a:r>
              <a:rPr lang="en-US" b="1" dirty="0"/>
              <a:t> AND, OR, NOT , XOR</a:t>
            </a:r>
          </a:p>
          <a:p>
            <a:pPr lvl="1"/>
            <a:r>
              <a:rPr lang="en-US" dirty="0"/>
              <a:t>Negated : </a:t>
            </a:r>
            <a:r>
              <a:rPr lang="en-US" b="1" dirty="0"/>
              <a:t>NAND, NOR , XNOR</a:t>
            </a:r>
          </a:p>
          <a:p>
            <a:pPr lvl="2"/>
            <a:r>
              <a:rPr lang="en-US" dirty="0"/>
              <a:t>Similar to AND , OR, XOR respectively but with extra NOT at the end</a:t>
            </a:r>
          </a:p>
          <a:p>
            <a:pPr lvl="1"/>
            <a:r>
              <a:rPr lang="en-US" i="1" dirty="0"/>
              <a:t>There are more custom gates but these are basic ones</a:t>
            </a:r>
          </a:p>
          <a:p>
            <a:r>
              <a:rPr lang="en-US" dirty="0"/>
              <a:t>These are visual representation of the Boolean algebra</a:t>
            </a:r>
          </a:p>
          <a:p>
            <a:r>
              <a:rPr lang="en-US" dirty="0"/>
              <a:t>All the complex calculations you can think of are fundamentally run by these gates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93300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9EFF-479C-4084-0898-6CD2DF5A3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gates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4731AC-5492-99CF-3E60-19F9DA062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001" y="1728206"/>
            <a:ext cx="3257143" cy="386666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5C96D6-89CC-83D8-DB78-AE34A991351F}"/>
                  </a:ext>
                </a:extLst>
              </p:cNvPr>
              <p:cNvSpPr txBox="1"/>
              <p:nvPr/>
            </p:nvSpPr>
            <p:spPr>
              <a:xfrm>
                <a:off x="2386667" y="2269222"/>
                <a:ext cx="6501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</m:oMath>
                  </m:oMathPara>
                </a14:m>
                <a:endParaRPr lang="en-US" dirty="0">
                  <a:sym typeface="Wingdings" panose="05000000000000000000" pitchFamily="2" charset="2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5C96D6-89CC-83D8-DB78-AE34A9913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667" y="2269222"/>
                <a:ext cx="650147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D27392-E3E8-AE04-9B73-B0E569D7E67A}"/>
                  </a:ext>
                </a:extLst>
              </p:cNvPr>
              <p:cNvSpPr txBox="1"/>
              <p:nvPr/>
            </p:nvSpPr>
            <p:spPr>
              <a:xfrm>
                <a:off x="2398203" y="3214973"/>
                <a:ext cx="579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D27392-E3E8-AE04-9B73-B0E569D7E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203" y="3214973"/>
                <a:ext cx="57988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53047D-6311-1B2A-9E7D-13D6101BF77B}"/>
                  </a:ext>
                </a:extLst>
              </p:cNvPr>
              <p:cNvSpPr txBox="1"/>
              <p:nvPr/>
            </p:nvSpPr>
            <p:spPr>
              <a:xfrm>
                <a:off x="2336683" y="4160724"/>
                <a:ext cx="579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53047D-6311-1B2A-9E7D-13D6101BF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6683" y="4160724"/>
                <a:ext cx="579889" cy="369332"/>
              </a:xfrm>
              <a:prstGeom prst="rect">
                <a:avLst/>
              </a:prstGeom>
              <a:blipFill>
                <a:blip r:embed="rId5"/>
                <a:stretch>
                  <a:fillRect r="-2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9C1AD9-B7E1-E94E-F295-2063EFA912DC}"/>
                  </a:ext>
                </a:extLst>
              </p:cNvPr>
              <p:cNvSpPr txBox="1"/>
              <p:nvPr/>
            </p:nvSpPr>
            <p:spPr>
              <a:xfrm>
                <a:off x="5113090" y="2269222"/>
                <a:ext cx="91859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</m:oMath>
                  </m:oMathPara>
                </a14:m>
                <a:endParaRPr lang="en-US" dirty="0">
                  <a:sym typeface="Wingdings" panose="05000000000000000000" pitchFamily="2" charset="2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9C1AD9-B7E1-E94E-F295-2063EFA91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2269222"/>
                <a:ext cx="918594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A6EF8D-55B5-EED8-761B-57BA076D458B}"/>
                  </a:ext>
                </a:extLst>
              </p:cNvPr>
              <p:cNvSpPr txBox="1"/>
              <p:nvPr/>
            </p:nvSpPr>
            <p:spPr>
              <a:xfrm>
                <a:off x="5113090" y="3214973"/>
                <a:ext cx="7980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A6EF8D-55B5-EED8-761B-57BA076D4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3214973"/>
                <a:ext cx="7980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F20778-59D5-5E67-0CCD-D0473185BA58}"/>
                  </a:ext>
                </a:extLst>
              </p:cNvPr>
              <p:cNvSpPr txBox="1"/>
              <p:nvPr/>
            </p:nvSpPr>
            <p:spPr>
              <a:xfrm>
                <a:off x="5113090" y="4206646"/>
                <a:ext cx="8640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⊕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F20778-59D5-5E67-0CCD-D0473185BA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4206646"/>
                <a:ext cx="864065" cy="369332"/>
              </a:xfrm>
              <a:prstGeom prst="rect">
                <a:avLst/>
              </a:prstGeom>
              <a:blipFill>
                <a:blip r:embed="rId8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7254A3-0FB9-8C25-720A-63AC970A119F}"/>
                  </a:ext>
                </a:extLst>
              </p:cNvPr>
              <p:cNvSpPr txBox="1"/>
              <p:nvPr/>
            </p:nvSpPr>
            <p:spPr>
              <a:xfrm>
                <a:off x="5113090" y="5013653"/>
                <a:ext cx="592472" cy="3770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𝐴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7254A3-0FB9-8C25-720A-63AC970A1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5013653"/>
                <a:ext cx="592472" cy="377091"/>
              </a:xfrm>
              <a:prstGeom prst="rect">
                <a:avLst/>
              </a:prstGeom>
              <a:blipFill>
                <a:blip r:embed="rId9"/>
                <a:stretch>
                  <a:fillRect r="-35052"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49197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5419E-9061-2D41-0402-D7E929B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logic diagram 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F6F0FA-37D1-9644-1AA0-6C234F992D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F6F0FA-37D1-9644-1AA0-6C234F992D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0300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98180-4559-0A9F-B063-70F529A11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Boolean Expression and Simplify</a:t>
            </a:r>
          </a:p>
        </p:txBody>
      </p:sp>
      <p:pic>
        <p:nvPicPr>
          <p:cNvPr id="75" name="Content Placeholder 74">
            <a:extLst>
              <a:ext uri="{FF2B5EF4-FFF2-40B4-BE49-F238E27FC236}">
                <a16:creationId xmlns:a16="http://schemas.microsoft.com/office/drawing/2014/main" id="{B7A44507-2493-B494-D86F-2481D976DC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6355" y="1917622"/>
            <a:ext cx="3960301" cy="1291167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F49D9E4-A8FE-C475-E660-CD22BB1520E6}"/>
                  </a:ext>
                </a:extLst>
              </p14:cNvPr>
              <p14:cNvContentPartPr/>
              <p14:nvPr/>
            </p14:nvContentPartPr>
            <p14:xfrm>
              <a:off x="19694" y="9509"/>
              <a:ext cx="648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F49D9E4-A8FE-C475-E660-CD22BB1520E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54" y="869"/>
                <a:ext cx="24120" cy="22680"/>
              </a:xfrm>
              <a:prstGeom prst="rect">
                <a:avLst/>
              </a:prstGeom>
            </p:spPr>
          </p:pic>
        </mc:Fallback>
      </mc:AlternateContent>
      <p:pic>
        <p:nvPicPr>
          <p:cNvPr id="81" name="Picture 80">
            <a:extLst>
              <a:ext uri="{FF2B5EF4-FFF2-40B4-BE49-F238E27FC236}">
                <a16:creationId xmlns:a16="http://schemas.microsoft.com/office/drawing/2014/main" id="{A5C5742F-D204-9E73-4C2A-9A4D6A0AE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6355" y="3727465"/>
            <a:ext cx="3994269" cy="1346726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C11DDAA1-BC9A-8191-CDB4-F3CAC90D9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5242" y="1917622"/>
            <a:ext cx="3767442" cy="1291167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03C0698-F6C1-92DA-64AE-E654D09A27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5242" y="3570652"/>
            <a:ext cx="3691154" cy="159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7460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DD0B-A632-7D56-A60C-B5777D1D5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D4C39-2DAB-261A-6A73-F53F2E4D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155E3-9477-D29E-712E-25C51BD05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74">
            <a:extLst>
              <a:ext uri="{FF2B5EF4-FFF2-40B4-BE49-F238E27FC236}">
                <a16:creationId xmlns:a16="http://schemas.microsoft.com/office/drawing/2014/main" id="{C18C1A76-4DC7-B781-ADF9-3BAF09AD4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517" y="1509326"/>
            <a:ext cx="2905335" cy="9472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8DF5B6-3288-B9FF-9B57-870D602D4D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5198" y="2907789"/>
            <a:ext cx="2840782" cy="9578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A30D28-2D86-1503-9003-3C3EEE6AAF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8112" y="4075637"/>
            <a:ext cx="2870144" cy="9836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9DC05C-2483-F8D0-8638-BB2121DA96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5069" y="5086072"/>
            <a:ext cx="2840783" cy="1225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3972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5B326-5B7C-CA16-D253-A6331E9E4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34B4B-2F13-75F7-2068-BBD325424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Identify number of cycles in this graph </a:t>
            </a:r>
          </a:p>
          <a:p>
            <a:pPr lvl="1"/>
            <a:r>
              <a:rPr lang="en-US" dirty="0"/>
              <a:t>Represented as adjacency matrix </a:t>
            </a:r>
          </a:p>
          <a:p>
            <a:pPr lvl="1"/>
            <a:r>
              <a:rPr lang="en-US" dirty="0"/>
              <a:t>Hint : Convert to a graph  first  </a:t>
            </a:r>
            <a:r>
              <a:rPr lang="en-US" i="1" dirty="0"/>
              <a:t>(one that you can see)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C7F9B8-D717-4E95-531D-3BFEF32DD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880544"/>
              </p:ext>
            </p:extLst>
          </p:nvPr>
        </p:nvGraphicFramePr>
        <p:xfrm>
          <a:off x="1432187" y="3014054"/>
          <a:ext cx="4347832" cy="297988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543479">
                  <a:extLst>
                    <a:ext uri="{9D8B030D-6E8A-4147-A177-3AD203B41FA5}">
                      <a16:colId xmlns:a16="http://schemas.microsoft.com/office/drawing/2014/main" val="2690793717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67057943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624113693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944418674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50429676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00240820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39576045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774186086"/>
                    </a:ext>
                  </a:extLst>
                </a:gridCol>
              </a:tblGrid>
              <a:tr h="37248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79745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217198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41208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809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3371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92250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427859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644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828077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20B8C-4FA4-8707-9062-99D1E18D3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501F-C764-46E6-28BC-123771CBE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1BD0E-3A2B-0969-821C-9F75D867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</a:t>
            </a:r>
            <a:r>
              <a:rPr lang="en-US" b="1" dirty="0"/>
              <a:t>2</a:t>
            </a:r>
            <a:r>
              <a:rPr lang="en-US" dirty="0"/>
              <a:t> cycles in this graph </a:t>
            </a:r>
            <a:endParaRPr lang="en-US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C47EAF-5449-5F11-5684-2C1B8CFA6533}"/>
              </a:ext>
            </a:extLst>
          </p:cNvPr>
          <p:cNvGraphicFramePr>
            <a:graphicFrameLocks noGrp="1"/>
          </p:cNvGraphicFramePr>
          <p:nvPr/>
        </p:nvGraphicFramePr>
        <p:xfrm>
          <a:off x="1432187" y="3014054"/>
          <a:ext cx="4347832" cy="297988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543479">
                  <a:extLst>
                    <a:ext uri="{9D8B030D-6E8A-4147-A177-3AD203B41FA5}">
                      <a16:colId xmlns:a16="http://schemas.microsoft.com/office/drawing/2014/main" val="2690793717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67057943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624113693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944418674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50429676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00240820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39576045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774186086"/>
                    </a:ext>
                  </a:extLst>
                </a:gridCol>
              </a:tblGrid>
              <a:tr h="37248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79745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217198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41208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809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3371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92250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427859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64425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B75F401-EEDD-DF47-E2DE-A6BF31DE2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3176275"/>
            <a:ext cx="4490416" cy="24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49849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8AF5A-A614-D5E4-8489-1A221132D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Programs (matrix practice)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CF001-2C3B-CA70-2D24-965BBEEA5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086" y="1697605"/>
            <a:ext cx="10515600" cy="4351338"/>
          </a:xfrm>
        </p:spPr>
        <p:txBody>
          <a:bodyPr/>
          <a:lstStyle/>
          <a:p>
            <a:r>
              <a:rPr lang="en-US" dirty="0"/>
              <a:t>Create a 2d array(matrix) and fill it with values</a:t>
            </a:r>
          </a:p>
          <a:p>
            <a:pPr lvl="1"/>
            <a:r>
              <a:rPr lang="en-US" dirty="0"/>
              <a:t>Input N ( size of the matrix would </a:t>
            </a:r>
            <a:r>
              <a:rPr lang="en-US"/>
              <a:t>be N x 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Fill 4 different ways (these are 4 different problems)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E1A682-CC45-4041-C59E-6281E56AEB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743551"/>
              </p:ext>
            </p:extLst>
          </p:nvPr>
        </p:nvGraphicFramePr>
        <p:xfrm>
          <a:off x="1321267" y="2992430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0CC52B-A625-4AE1-EFA0-0C8CFDD0D9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664988"/>
              </p:ext>
            </p:extLst>
          </p:nvPr>
        </p:nvGraphicFramePr>
        <p:xfrm>
          <a:off x="4200089" y="2992430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2B1716-8FC1-D95B-270D-08E5BBE14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355711"/>
              </p:ext>
            </p:extLst>
          </p:nvPr>
        </p:nvGraphicFramePr>
        <p:xfrm>
          <a:off x="1321267" y="4651119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820BFF-D0A1-B2DF-A909-777DAC76B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50131"/>
              </p:ext>
            </p:extLst>
          </p:nvPr>
        </p:nvGraphicFramePr>
        <p:xfrm>
          <a:off x="4200089" y="4690268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48680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8DA-0FB3-DEE5-3B4F-E31B5DE8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Gates -&gt; Boolean | truth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0C976-87D8-9E30-9462-07A3EFF21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Boolean expression and simplify the expression</a:t>
            </a:r>
          </a:p>
          <a:p>
            <a:r>
              <a:rPr lang="en-US" dirty="0"/>
              <a:t>Create a truth table for original and simplified expressions.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5C1802-0D08-5712-D600-8DABD5F5C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483" y="2881135"/>
            <a:ext cx="3569039" cy="1340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5B1F3-ED77-FB90-AFA5-A36030BC8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5302837" y="2786481"/>
            <a:ext cx="5423113" cy="242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70654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9B775-00C2-D1C0-5CB8-B0D1FF5BE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9123-DCD2-06C1-9B58-4CB34F455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Gates -&gt; Boolean | truth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02D4F-2E6A-CE5B-B566-56C3B952F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Boolean expression and simplify the expression</a:t>
            </a:r>
          </a:p>
          <a:p>
            <a:r>
              <a:rPr lang="en-US" dirty="0"/>
              <a:t>Create a truth table for original and simplified expressions.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C81D4-9C22-7402-FDF9-96BB08E83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483" y="2881135"/>
            <a:ext cx="3569039" cy="1340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55E94-F2FD-BB6D-2A7B-92505BF8A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5302837" y="2786481"/>
            <a:ext cx="5423113" cy="24296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71FA92-F197-1C8B-B658-5AE112702410}"/>
                  </a:ext>
                </a:extLst>
              </p:cNvPr>
              <p:cNvSpPr txBox="1"/>
              <p:nvPr/>
            </p:nvSpPr>
            <p:spPr>
              <a:xfrm>
                <a:off x="1108364" y="4701227"/>
                <a:ext cx="2678544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71FA92-F197-1C8B-B658-5AE112702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364" y="4701227"/>
                <a:ext cx="2678544" cy="369909"/>
              </a:xfrm>
              <a:prstGeom prst="rect">
                <a:avLst/>
              </a:prstGeom>
              <a:blipFill>
                <a:blip r:embed="rId4"/>
                <a:stretch>
                  <a:fillRect r="-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4E8DC6D-1C96-FE77-31B7-33D6EF0C79C7}"/>
                  </a:ext>
                </a:extLst>
              </p:cNvPr>
              <p:cNvSpPr txBox="1"/>
              <p:nvPr/>
            </p:nvSpPr>
            <p:spPr>
              <a:xfrm>
                <a:off x="5394037" y="5309999"/>
                <a:ext cx="511404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4E8DC6D-1C96-FE77-31B7-33D6EF0C7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037" y="5309999"/>
                <a:ext cx="5114040" cy="369909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748222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9EB89-4250-BEF9-31ED-4093F02E6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40548-0CA2-2B78-26A9-968B7B55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adjacency matrix for each</a:t>
            </a:r>
          </a:p>
          <a:p>
            <a:r>
              <a:rPr lang="en-US" dirty="0"/>
              <a:t>Count paths of size 1, 2, 3, 4, 5</a:t>
            </a:r>
          </a:p>
          <a:p>
            <a:r>
              <a:rPr lang="en-US" dirty="0"/>
              <a:t>Count number of cycles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95C29-70FE-7919-B48B-F557672F7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729" y="4023183"/>
            <a:ext cx="5397777" cy="18352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9146E8-79F5-E5D8-6FB0-7120FCF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726" y="4023183"/>
            <a:ext cx="3710834" cy="1865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06699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FFAAD-9D20-971D-2CCD-4E450B454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Programs | strings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65F83-DFB1-D877-7B20-EDF705A2E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Write a program to take a string(char array) and convert it into number </a:t>
            </a:r>
          </a:p>
          <a:p>
            <a:pPr lvl="1"/>
            <a:r>
              <a:rPr lang="en-US" dirty="0"/>
              <a:t>“256” </a:t>
            </a:r>
            <a:r>
              <a:rPr lang="en-US" dirty="0">
                <a:sym typeface="Wingdings" panose="05000000000000000000" pitchFamily="2" charset="2"/>
              </a:rPr>
              <a:t> 256</a:t>
            </a:r>
          </a:p>
          <a:p>
            <a:r>
              <a:rPr lang="en-US" dirty="0">
                <a:sym typeface="Wingdings" panose="05000000000000000000" pitchFamily="2" charset="2"/>
              </a:rPr>
              <a:t>Modify the program to sum each number individually and print</a:t>
            </a:r>
          </a:p>
          <a:p>
            <a:pPr lvl="1"/>
            <a:r>
              <a:rPr lang="en-US"/>
              <a:t>2+5+6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</a:t>
            </a:r>
            <a:r>
              <a:rPr lang="en-US" dirty="0"/>
              <a:t>13</a:t>
            </a:r>
          </a:p>
          <a:p>
            <a:r>
              <a:rPr lang="en-US" dirty="0"/>
              <a:t>Modify the program to add the summed number to original, convert to string and print</a:t>
            </a:r>
          </a:p>
          <a:p>
            <a:pPr lvl="1"/>
            <a:r>
              <a:rPr lang="en-US" dirty="0"/>
              <a:t>“256” </a:t>
            </a:r>
            <a:r>
              <a:rPr lang="en-US" dirty="0">
                <a:sym typeface="Wingdings" panose="05000000000000000000" pitchFamily="2" charset="2"/>
              </a:rPr>
              <a:t> 256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2+5+6  13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256+ 13 269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269  “269”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673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5302</TotalTime>
  <Words>7328</Words>
  <Application>Microsoft Office PowerPoint</Application>
  <PresentationFormat>Widescreen</PresentationFormat>
  <Paragraphs>1555</Paragraphs>
  <Slides>126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126</vt:i4>
      </vt:variant>
    </vt:vector>
  </HeadingPairs>
  <TitlesOfParts>
    <vt:vector size="136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Lets Simplify 5..11 : answers</vt:lpstr>
      <vt:lpstr>Truth Tables/Expressions</vt:lpstr>
      <vt:lpstr>Expressions: Soln</vt:lpstr>
      <vt:lpstr>Expressions: Soln 1..4</vt:lpstr>
      <vt:lpstr>Expressions: Soln 5,6</vt:lpstr>
      <vt:lpstr>Expressions: Soln 5,6</vt:lpstr>
      <vt:lpstr>Programming Practice</vt:lpstr>
      <vt:lpstr>Data Structures : Queue</vt:lpstr>
      <vt:lpstr>Data Structures : Stack</vt:lpstr>
      <vt:lpstr>What does this program do ? Q1</vt:lpstr>
      <vt:lpstr>What does this program do ? A1</vt:lpstr>
      <vt:lpstr>What does this program do ? Q2</vt:lpstr>
      <vt:lpstr>What does this program do ? A2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Q5</vt:lpstr>
      <vt:lpstr>What does this program do ? Q6</vt:lpstr>
      <vt:lpstr>What does this program do ? A6</vt:lpstr>
      <vt:lpstr>Data structure : Trees</vt:lpstr>
      <vt:lpstr>Tree: Visuals </vt:lpstr>
      <vt:lpstr>Trees : types</vt:lpstr>
      <vt:lpstr>Trees: Types</vt:lpstr>
      <vt:lpstr>Binary Tree : Key terms</vt:lpstr>
      <vt:lpstr>Binary Search tree : Examples</vt:lpstr>
      <vt:lpstr>Creation of a BST</vt:lpstr>
      <vt:lpstr>Binary Search Tree : exercise</vt:lpstr>
      <vt:lpstr>Data Structure : Graphs</vt:lpstr>
      <vt:lpstr>Graphs : uses</vt:lpstr>
      <vt:lpstr>Graphs : by Edge types</vt:lpstr>
      <vt:lpstr>Graphs : by Edge types</vt:lpstr>
      <vt:lpstr>Graph representation(s)</vt:lpstr>
      <vt:lpstr>In class exercises</vt:lpstr>
      <vt:lpstr>Logic gates</vt:lpstr>
      <vt:lpstr>Logic gates </vt:lpstr>
      <vt:lpstr>Create a logic diagram …</vt:lpstr>
      <vt:lpstr>Create a Boolean Expression and Simplify</vt:lpstr>
      <vt:lpstr>Answers</vt:lpstr>
      <vt:lpstr>Graphs</vt:lpstr>
      <vt:lpstr>Graphs</vt:lpstr>
      <vt:lpstr>Programs (matrix practice)</vt:lpstr>
      <vt:lpstr>Gates -&gt; Boolean | truth Table</vt:lpstr>
      <vt:lpstr>Gates -&gt; Boolean | truth Table</vt:lpstr>
      <vt:lpstr>Graphs</vt:lpstr>
      <vt:lpstr>Programs | strings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67</cp:revision>
  <cp:lastPrinted>2026-04-09T22:42:33Z</cp:lastPrinted>
  <dcterms:created xsi:type="dcterms:W3CDTF">2025-12-04T21:37:48Z</dcterms:created>
  <dcterms:modified xsi:type="dcterms:W3CDTF">2026-04-30T21:11:18Z</dcterms:modified>
</cp:coreProperties>
</file>