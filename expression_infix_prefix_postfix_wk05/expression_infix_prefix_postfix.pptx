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5" r:id="rId2"/>
    <p:sldId id="296" r:id="rId3"/>
    <p:sldId id="287" r:id="rId4"/>
    <p:sldId id="288" r:id="rId5"/>
    <p:sldId id="289" r:id="rId6"/>
    <p:sldId id="290" r:id="rId7"/>
    <p:sldId id="293" r:id="rId8"/>
    <p:sldId id="291" r:id="rId9"/>
    <p:sldId id="292" r:id="rId10"/>
    <p:sldId id="294" r:id="rId11"/>
    <p:sldId id="298" r:id="rId12"/>
    <p:sldId id="29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81" d="100"/>
          <a:sy n="81" d="100"/>
        </p:scale>
        <p:origin x="64" y="16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7FDFB-F532-DAD3-7FA2-A8CA763164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7F81AF-165F-9578-1FBD-7B410AE71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33393-84DC-EB66-B11A-CCD17F19D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95ECB-B46C-468F-A5BB-49583F8E8D1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BA0F1-4694-EA96-67A2-399FE5672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0CC59-C124-1654-B457-39D6E70D9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983F8-6455-4EF6-B55A-E661739AE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98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362A1-B3F4-F164-42EE-3ABE7ADE9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D3805-E144-D5F4-B4F3-5836B919F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7EC41-5CFC-F14D-610A-17B6445B4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95ECB-B46C-468F-A5BB-49583F8E8D1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5788D-B964-BA50-5ADC-2B7AB3E8B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2F85E-AF7D-9FF5-9F5F-5B16EBD6B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983F8-6455-4EF6-B55A-E661739AE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714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04C70-38B3-1A4D-9CB7-6CF0C303A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937FB-86C8-0AC5-F819-F90351BAF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DD355-9D86-05CC-3AFC-95C39A606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95ECB-B46C-468F-A5BB-49583F8E8D1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3A986-CE51-B06A-DA74-722B7D452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C01E-6038-2627-DF66-D81FB253B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983F8-6455-4EF6-B55A-E661739AE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98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2109B-0F46-28FB-2707-69B479A13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C6BC6-C708-C53D-1341-53344506F7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53233A-98AA-381C-9B4C-417F37076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0D410-A372-5B08-3AFB-937E0FF3D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95ECB-B46C-468F-A5BB-49583F8E8D1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5CD87-65F0-C944-0316-759A4B843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9857C-08F1-5D51-0517-5ECDE2F57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983F8-6455-4EF6-B55A-E661739AE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9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92BA6-71B1-07D8-3B55-3983988E7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A63B4-C1DD-DADC-16E3-F7E4DF8A5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55874-F6F0-6585-F395-73DC07CF3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DDAC8F-7638-EE40-F01A-6C53EB9FAA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056FBC-F28B-BE09-2577-72D4B904D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F55CA-7020-939A-1536-75A1B4E4A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95ECB-B46C-468F-A5BB-49583F8E8D1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DD1D0A-199F-D36D-5294-828B87CE0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5A5128-65B1-496E-A17B-4B453DB0E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983F8-6455-4EF6-B55A-E661739AE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86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32987-959A-D068-B963-1E63CAB05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BF9E8C-2EA1-D788-3106-FAD0733B3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95ECB-B46C-468F-A5BB-49583F8E8D1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22118-21FC-25B2-2AA6-1BD216E9D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4A0FBF-55A3-7A19-4DDD-F8DE037C5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983F8-6455-4EF6-B55A-E661739AE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72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959259-881A-FFFE-6F65-ADA385AEF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95ECB-B46C-468F-A5BB-49583F8E8D1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752DEC-99E3-D494-C4FA-7AC1B4E6C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FF06D-7302-8993-7618-D7EA1BB34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983F8-6455-4EF6-B55A-E661739AE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43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17FAA-07CF-CB1D-BB61-195E349DE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E704E-86EA-F8EF-F3FF-A473F2A01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EF7FD4-058F-EFAD-5862-DF7AE0A6A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ADD74-1D79-98F3-7B10-0991E9BDB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95ECB-B46C-468F-A5BB-49583F8E8D1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8A55D-7150-F8F0-D88D-D1226521A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F71A3-878E-3E09-D931-2420A44EB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983F8-6455-4EF6-B55A-E661739AE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60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97E75-4476-8F18-EAFA-8EF580D1A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72774-6B54-ACB6-E59F-B974BB632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B6C1A-6431-A2A2-A13B-DA7393C05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49FCC-0B20-6029-445C-002C5F770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95ECB-B46C-468F-A5BB-49583F8E8D1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329EC-FE98-7C70-B1D7-7E6BA9AB5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C9FAC-094B-5C47-F483-BA2E21777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983F8-6455-4EF6-B55A-E661739AE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26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F0897-BA72-DDE3-6C4E-0F530ABB2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777B4-CF59-F0CE-536C-1D8AA0655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AA7BF-4E5B-5E80-DB19-728A7CA5C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95ECB-B46C-468F-A5BB-49583F8E8D1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62117-4A20-39A6-E034-46D2E1ADE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63D53-1996-C7A2-D8EC-BE19FDA0A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983F8-6455-4EF6-B55A-E661739AE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12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A7929-9C04-3AF3-FB5A-16734890F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2727FF-4A02-97DF-33DF-7ECFEB100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D9CAD-DA5D-BF11-CEB4-994952B60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95ECB-B46C-468F-A5BB-49583F8E8D1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522FD-99F1-C980-8FA3-718472278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9853E-8E2F-108F-20F8-2EC233763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983F8-6455-4EF6-B55A-E661739AE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81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0B546D-3A22-2A7A-74DA-1F340C8EF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AB313-F170-872C-5C17-3FED229F1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AC54F-B33D-2104-3F53-F200D59A79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695ECB-B46C-468F-A5BB-49583F8E8D1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04DA1-687E-28A4-477F-F4008AE8A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50E07-4440-3032-6A9A-46CD2AC62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0983F8-6455-4EF6-B55A-E661739AE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0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39C56-5A5D-4E4D-4D8E-F37DFB3CA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1,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D378D-5E4D-E294-B700-72DCD213F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847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Great participation, nearly everyone attempted!</a:t>
            </a:r>
          </a:p>
          <a:p>
            <a:r>
              <a:rPr lang="en-US" dirty="0"/>
              <a:t>Overall students did better in quiz</a:t>
            </a:r>
          </a:p>
          <a:p>
            <a:pPr lvl="1"/>
            <a:r>
              <a:rPr lang="en-US" dirty="0"/>
              <a:t>8x full marks in quiz vs 5x full marks in programming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4 students got a zero in programming </a:t>
            </a:r>
            <a:r>
              <a:rPr lang="en-US" dirty="0"/>
              <a:t>( with 1 not attempted)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F89DCDD-2254-1A30-3A13-C6AB2863E4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243" y="3707934"/>
            <a:ext cx="3174403" cy="26185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8624B3F-D128-6B7B-1206-8E41B254F3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719" y="3683515"/>
            <a:ext cx="3233606" cy="2667433"/>
          </a:xfrm>
          <a:prstGeom prst="rect">
            <a:avLst/>
          </a:prstGeom>
        </p:spPr>
      </p:pic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5B24662-16BA-0617-641E-BE5B6C1B1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2268875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64546-56C5-F32B-B7B4-0BB3361D7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2 ,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6DBCF-54D6-390D-D097-F17F35024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quizzes </a:t>
            </a:r>
          </a:p>
          <a:p>
            <a:pPr lvl="1"/>
            <a:r>
              <a:rPr lang="en-US" dirty="0"/>
              <a:t>seem to be easier for students to master</a:t>
            </a:r>
          </a:p>
          <a:p>
            <a:pPr lvl="1"/>
            <a:r>
              <a:rPr lang="en-US" dirty="0"/>
              <a:t>Success cause everyone attempted, next we figure out how to raise scores there</a:t>
            </a:r>
          </a:p>
          <a:p>
            <a:pPr lvl="2"/>
            <a:r>
              <a:rPr lang="en-US" dirty="0"/>
              <a:t>Suggestions ?</a:t>
            </a:r>
          </a:p>
          <a:p>
            <a:r>
              <a:rPr lang="en-US" dirty="0"/>
              <a:t>Programming </a:t>
            </a:r>
          </a:p>
          <a:p>
            <a:pPr lvl="1"/>
            <a:r>
              <a:rPr lang="en-US" dirty="0"/>
              <a:t>It was amazing attempt</a:t>
            </a:r>
          </a:p>
          <a:p>
            <a:pPr lvl="1"/>
            <a:r>
              <a:rPr lang="en-US" dirty="0"/>
              <a:t>The codes generally worked</a:t>
            </a:r>
          </a:p>
          <a:p>
            <a:pPr lvl="1"/>
            <a:r>
              <a:rPr lang="en-US" dirty="0"/>
              <a:t>But 4/15 students had zeroes.</a:t>
            </a:r>
          </a:p>
          <a:p>
            <a:pPr lvl="1"/>
            <a:r>
              <a:rPr lang="en-US" dirty="0"/>
              <a:t>Suggestions ?</a:t>
            </a:r>
          </a:p>
          <a:p>
            <a:r>
              <a:rPr lang="en-US" dirty="0"/>
              <a:t>Goal :We need raise scores for everyone and move some in attempted stage</a:t>
            </a:r>
          </a:p>
          <a:p>
            <a:pPr lvl="1"/>
            <a:r>
              <a:rPr lang="en-US" dirty="0"/>
              <a:t>Note</a:t>
            </a:r>
          </a:p>
          <a:p>
            <a:pPr lvl="2"/>
            <a:r>
              <a:rPr lang="en-US" dirty="0"/>
              <a:t>Compete with yourself , Do better than your last attempt </a:t>
            </a:r>
          </a:p>
          <a:p>
            <a:pPr lvl="2"/>
            <a:r>
              <a:rPr lang="en-US" dirty="0"/>
              <a:t>Ask for help </a:t>
            </a:r>
          </a:p>
          <a:p>
            <a:pPr lvl="3"/>
            <a:r>
              <a:rPr lang="en-US" dirty="0"/>
              <a:t>on what you don’t know, to learn it.</a:t>
            </a:r>
          </a:p>
          <a:p>
            <a:pPr lvl="3"/>
            <a:r>
              <a:rPr lang="en-US" dirty="0"/>
              <a:t>And even on what you know , i.e. to master it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7F394-AD18-1EC7-38C3-9A61FEB14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3908428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10063-C526-EA6B-3D7A-9BD910729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for Test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8505C-A605-E7E4-9046-72C419C36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Mathematical expressions</a:t>
            </a:r>
          </a:p>
          <a:p>
            <a:pPr lvl="1"/>
            <a:r>
              <a:rPr lang="en-US" dirty="0"/>
              <a:t>Representations ( infix, prefix, postfix)</a:t>
            </a:r>
          </a:p>
          <a:p>
            <a:pPr lvl="1"/>
            <a:r>
              <a:rPr lang="en-US" dirty="0"/>
              <a:t>Evaluation or expression</a:t>
            </a:r>
          </a:p>
          <a:p>
            <a:r>
              <a:rPr lang="en-US" dirty="0"/>
              <a:t>Discrete Mathematics</a:t>
            </a:r>
          </a:p>
          <a:p>
            <a:pPr lvl="1"/>
            <a:r>
              <a:rPr lang="en-US" dirty="0"/>
              <a:t>Logical Operators (AND , OR , NOT, SHIFT,…)</a:t>
            </a:r>
          </a:p>
          <a:p>
            <a:pPr lvl="1"/>
            <a:r>
              <a:rPr lang="en-US" dirty="0"/>
              <a:t>Boolean logic</a:t>
            </a:r>
          </a:p>
          <a:p>
            <a:r>
              <a:rPr lang="en-US" dirty="0"/>
              <a:t>Programming </a:t>
            </a:r>
          </a:p>
          <a:p>
            <a:pPr lvl="1"/>
            <a:r>
              <a:rPr lang="en-US" dirty="0"/>
              <a:t>char, string ,arrays</a:t>
            </a:r>
          </a:p>
          <a:p>
            <a:pPr lvl="1"/>
            <a:r>
              <a:rPr lang="en-US" dirty="0"/>
              <a:t>Loops </a:t>
            </a:r>
          </a:p>
          <a:p>
            <a:pPr lvl="1"/>
            <a:r>
              <a:rPr lang="en-US" dirty="0"/>
              <a:t>Conditionals</a:t>
            </a:r>
          </a:p>
          <a:p>
            <a:pPr lvl="2"/>
            <a:r>
              <a:rPr lang="en-US" dirty="0"/>
              <a:t>If/else</a:t>
            </a:r>
          </a:p>
          <a:p>
            <a:pPr lvl="2"/>
            <a:r>
              <a:rPr lang="en-US" dirty="0"/>
              <a:t>switch/case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FCFCBD-DCB6-DA2A-15CD-C1320C57B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3369536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09036-DB73-EF71-EE0A-E0F5D254B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Infix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A8B8B-A6D4-B8E0-9265-7EBCA0EDA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Encounter them in grade </a:t>
            </a:r>
            <a:r>
              <a:rPr lang="en-US" dirty="0" err="1"/>
              <a:t>maths</a:t>
            </a:r>
            <a:r>
              <a:rPr lang="en-US" dirty="0"/>
              <a:t>. e.g. </a:t>
            </a:r>
          </a:p>
          <a:p>
            <a:pPr lvl="1"/>
            <a:r>
              <a:rPr lang="en-US" dirty="0"/>
              <a:t>(11+14)/(9 - 3) + 2</a:t>
            </a:r>
          </a:p>
          <a:p>
            <a:pPr lvl="1"/>
            <a:r>
              <a:rPr lang="en-US" dirty="0"/>
              <a:t>3+7 / (4 * 5 - 6)</a:t>
            </a:r>
          </a:p>
          <a:p>
            <a:pPr lvl="1"/>
            <a:r>
              <a:rPr lang="en-US" dirty="0"/>
              <a:t>- 2 + 8 / 2</a:t>
            </a:r>
          </a:p>
          <a:p>
            <a:r>
              <a:rPr lang="en-US" dirty="0"/>
              <a:t>Can also be written using variables</a:t>
            </a:r>
          </a:p>
          <a:p>
            <a:pPr lvl="1"/>
            <a:r>
              <a:rPr lang="en-US" dirty="0"/>
              <a:t>(a + b) / (c – d ) + e </a:t>
            </a:r>
          </a:p>
          <a:p>
            <a:pPr lvl="1"/>
            <a:r>
              <a:rPr lang="en-US" dirty="0"/>
              <a:t>x + y  / (g * h – k)</a:t>
            </a:r>
          </a:p>
          <a:p>
            <a:r>
              <a:rPr lang="en-US" dirty="0"/>
              <a:t>Evaluated using </a:t>
            </a:r>
          </a:p>
          <a:p>
            <a:pPr lvl="1"/>
            <a:r>
              <a:rPr lang="en-US" dirty="0"/>
              <a:t>PEMDAS / BODMAS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4BE138-382D-4140-3301-E9A9F4B74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1373064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8543D-4AED-1560-6020-DBDF03CC2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 : anatomy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B474B-E50F-9A75-FDCD-ECE8C37DB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Expression is made of</a:t>
            </a:r>
          </a:p>
          <a:p>
            <a:pPr lvl="1"/>
            <a:r>
              <a:rPr lang="en-US" dirty="0"/>
              <a:t>Operators ( + , - , * , /)</a:t>
            </a:r>
          </a:p>
          <a:p>
            <a:pPr lvl="1"/>
            <a:r>
              <a:rPr lang="en-US" dirty="0"/>
              <a:t>Operands (numbers, variables)</a:t>
            </a:r>
          </a:p>
          <a:p>
            <a:r>
              <a:rPr lang="en-US" dirty="0"/>
              <a:t>Unary operators :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-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</a:t>
            </a:r>
          </a:p>
          <a:p>
            <a:pPr lvl="1"/>
            <a:r>
              <a:rPr lang="en-US" dirty="0"/>
              <a:t>&lt;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operator</a:t>
            </a:r>
            <a:r>
              <a:rPr lang="en-US" dirty="0"/>
              <a:t>&gt; &lt;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operand</a:t>
            </a:r>
            <a:r>
              <a:rPr lang="en-US" dirty="0"/>
              <a:t>&gt;</a:t>
            </a:r>
          </a:p>
          <a:p>
            <a:r>
              <a:rPr lang="en-US" dirty="0"/>
              <a:t> Binary operators (infix) :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</a:t>
            </a:r>
            <a:r>
              <a:rPr lang="en-US" dirty="0"/>
              <a:t>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+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b </a:t>
            </a:r>
          </a:p>
          <a:p>
            <a:pPr lvl="1"/>
            <a:r>
              <a:rPr lang="en-US" dirty="0"/>
              <a:t>&lt;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operand</a:t>
            </a:r>
            <a:r>
              <a:rPr lang="en-US" dirty="0"/>
              <a:t>&gt; &lt;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operator</a:t>
            </a:r>
            <a:r>
              <a:rPr lang="en-US" dirty="0"/>
              <a:t>&gt;  &lt;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operand</a:t>
            </a:r>
            <a:r>
              <a:rPr lang="en-US" dirty="0"/>
              <a:t>&gt;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BB1C1A-17CA-D188-02EC-25677E359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2398303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8428-71F3-9434-03CF-F3DD0692B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Prefix/Postfix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221BA-4008-7A96-D38C-705D413BB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Remove ambiguity( i.e. can  forget PEMDAS, BODMAS) </a:t>
            </a:r>
          </a:p>
          <a:p>
            <a:pPr lvl="1"/>
            <a:r>
              <a:rPr lang="en-US" dirty="0"/>
              <a:t>Computer friendly </a:t>
            </a:r>
          </a:p>
          <a:p>
            <a:pPr lvl="1"/>
            <a:r>
              <a:rPr lang="en-US" dirty="0"/>
              <a:t>Works with both unary/binary</a:t>
            </a:r>
          </a:p>
          <a:p>
            <a:pPr lvl="1"/>
            <a:r>
              <a:rPr lang="en-US" dirty="0"/>
              <a:t>Faster evaluation </a:t>
            </a:r>
          </a:p>
          <a:p>
            <a:r>
              <a:rPr lang="en-US" dirty="0"/>
              <a:t>Expression styles</a:t>
            </a:r>
          </a:p>
          <a:p>
            <a:pPr lvl="1"/>
            <a:r>
              <a:rPr lang="en-US" dirty="0"/>
              <a:t>Infix : operator in </a:t>
            </a:r>
            <a:r>
              <a:rPr lang="en-US" b="1" dirty="0"/>
              <a:t>middle</a:t>
            </a:r>
            <a:r>
              <a:rPr lang="en-US" dirty="0"/>
              <a:t> of operands</a:t>
            </a:r>
          </a:p>
          <a:p>
            <a:pPr lvl="2"/>
            <a:r>
              <a:rPr lang="en-US" dirty="0"/>
              <a:t>(5+6)*3  </a:t>
            </a:r>
          </a:p>
          <a:p>
            <a:pPr lvl="2"/>
            <a:r>
              <a:rPr lang="en-US" dirty="0"/>
              <a:t>&lt;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operand</a:t>
            </a:r>
            <a:r>
              <a:rPr lang="en-US" dirty="0"/>
              <a:t>&gt; &lt;</a:t>
            </a:r>
            <a:r>
              <a:rPr lang="en-US" i="1" dirty="0">
                <a:solidFill>
                  <a:schemeClr val="tx2">
                    <a:lumMod val="75000"/>
                    <a:lumOff val="25000"/>
                  </a:schemeClr>
                </a:solidFill>
                <a:latin typeface="Bahnschrift SemiBold" panose="020B0502040204020203" pitchFamily="34" charset="0"/>
              </a:rPr>
              <a:t>operator</a:t>
            </a:r>
            <a:r>
              <a:rPr lang="en-US" dirty="0"/>
              <a:t>&gt;  &lt;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operand</a:t>
            </a:r>
            <a:r>
              <a:rPr lang="en-US" dirty="0"/>
              <a:t>&gt;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Prefix : operator </a:t>
            </a:r>
            <a:r>
              <a:rPr lang="en-US" b="1" dirty="0">
                <a:sym typeface="Wingdings" panose="05000000000000000000" pitchFamily="2" charset="2"/>
              </a:rPr>
              <a:t>before</a:t>
            </a:r>
            <a:r>
              <a:rPr lang="en-US" dirty="0">
                <a:sym typeface="Wingdings" panose="05000000000000000000" pitchFamily="2" charset="2"/>
              </a:rPr>
              <a:t> operands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* + 5 6 3</a:t>
            </a:r>
          </a:p>
          <a:p>
            <a:pPr lvl="2"/>
            <a:r>
              <a:rPr lang="en-US" dirty="0"/>
              <a:t>&lt;</a:t>
            </a:r>
            <a:r>
              <a:rPr lang="en-US" i="1" dirty="0">
                <a:solidFill>
                  <a:schemeClr val="tx2">
                    <a:lumMod val="75000"/>
                    <a:lumOff val="25000"/>
                  </a:schemeClr>
                </a:solidFill>
                <a:latin typeface="Bahnschrift SemiBold" panose="020B0502040204020203" pitchFamily="34" charset="0"/>
              </a:rPr>
              <a:t>operator</a:t>
            </a:r>
            <a:r>
              <a:rPr lang="en-US" dirty="0"/>
              <a:t>&gt;  &lt;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operand</a:t>
            </a:r>
            <a:r>
              <a:rPr lang="en-US" dirty="0"/>
              <a:t>&gt; &lt;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operand</a:t>
            </a:r>
            <a:r>
              <a:rPr lang="en-US" dirty="0"/>
              <a:t>&gt;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Postfix : operator </a:t>
            </a:r>
            <a:r>
              <a:rPr lang="en-US" b="1" dirty="0">
                <a:sym typeface="Wingdings" panose="05000000000000000000" pitchFamily="2" charset="2"/>
              </a:rPr>
              <a:t>after</a:t>
            </a:r>
            <a:r>
              <a:rPr lang="en-US" dirty="0">
                <a:sym typeface="Wingdings" panose="05000000000000000000" pitchFamily="2" charset="2"/>
              </a:rPr>
              <a:t> operands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5 6 + 3 *</a:t>
            </a:r>
          </a:p>
          <a:p>
            <a:pPr lvl="2"/>
            <a:r>
              <a:rPr lang="en-US" dirty="0"/>
              <a:t>&lt;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operand</a:t>
            </a:r>
            <a:r>
              <a:rPr lang="en-US" dirty="0"/>
              <a:t>&gt; &lt;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operand</a:t>
            </a:r>
            <a:r>
              <a:rPr lang="en-US" dirty="0"/>
              <a:t>&gt; &lt;</a:t>
            </a:r>
            <a:r>
              <a:rPr lang="en-US" i="1" dirty="0">
                <a:solidFill>
                  <a:schemeClr val="tx2">
                    <a:lumMod val="75000"/>
                    <a:lumOff val="25000"/>
                  </a:schemeClr>
                </a:solidFill>
                <a:latin typeface="Bahnschrift SemiBold" panose="020B0502040204020203" pitchFamily="34" charset="0"/>
              </a:rPr>
              <a:t>operator</a:t>
            </a:r>
            <a:r>
              <a:rPr lang="en-US" dirty="0"/>
              <a:t>&gt;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96621B-5CCF-4F7B-2238-5B2FA2BB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4045988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9DA08-124C-F08B-AE2A-330F62990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expression, </a:t>
            </a:r>
            <a:br>
              <a:rPr lang="en-US" dirty="0"/>
            </a:br>
            <a:r>
              <a:rPr lang="en-US" sz="3200" i="1" dirty="0"/>
              <a:t>but first </a:t>
            </a:r>
            <a:r>
              <a:rPr lang="en-US" sz="3200" b="1" i="1" dirty="0"/>
              <a:t>Stacks</a:t>
            </a:r>
            <a:r>
              <a:rPr lang="en-US" sz="3200" i="1" dirty="0"/>
              <a:t> and </a:t>
            </a:r>
            <a:r>
              <a:rPr lang="en-US" sz="3200" b="1" i="1" dirty="0"/>
              <a:t>Queues</a:t>
            </a:r>
            <a:r>
              <a:rPr lang="en-US" sz="3200" i="1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35E2-ED41-222B-756A-12721F4F2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What is a </a:t>
            </a:r>
            <a:r>
              <a:rPr lang="en-US" b="1" dirty="0"/>
              <a:t>Stack</a:t>
            </a:r>
            <a:r>
              <a:rPr lang="en-US" dirty="0"/>
              <a:t> ?</a:t>
            </a:r>
          </a:p>
          <a:p>
            <a:pPr lvl="1"/>
            <a:r>
              <a:rPr lang="en-US" dirty="0"/>
              <a:t>This is a sequential structure of </a:t>
            </a:r>
            <a:r>
              <a:rPr lang="en-US" b="1" dirty="0"/>
              <a:t>items</a:t>
            </a:r>
          </a:p>
          <a:p>
            <a:pPr lvl="1"/>
            <a:r>
              <a:rPr lang="en-US" dirty="0"/>
              <a:t>That are </a:t>
            </a:r>
            <a:r>
              <a:rPr lang="en-US" b="1" dirty="0"/>
              <a:t>pushed at one end </a:t>
            </a:r>
          </a:p>
          <a:p>
            <a:pPr lvl="1"/>
            <a:r>
              <a:rPr lang="en-US" b="1" dirty="0"/>
              <a:t>Pulled </a:t>
            </a:r>
            <a:r>
              <a:rPr lang="en-US" dirty="0"/>
              <a:t>via the</a:t>
            </a:r>
            <a:r>
              <a:rPr lang="en-US" b="1" dirty="0"/>
              <a:t> same end</a:t>
            </a:r>
          </a:p>
          <a:p>
            <a:pPr lvl="1"/>
            <a:r>
              <a:rPr lang="en-US" b="1" dirty="0"/>
              <a:t>LIFO </a:t>
            </a:r>
            <a:r>
              <a:rPr lang="en-US" dirty="0"/>
              <a:t>: Last in First Out </a:t>
            </a:r>
          </a:p>
          <a:p>
            <a:pPr lvl="1"/>
            <a:r>
              <a:rPr lang="en-US" dirty="0"/>
              <a:t>Examples </a:t>
            </a:r>
          </a:p>
          <a:p>
            <a:pPr lvl="2"/>
            <a:r>
              <a:rPr lang="en-US" dirty="0"/>
              <a:t>Stack of plates </a:t>
            </a:r>
          </a:p>
          <a:p>
            <a:pPr lvl="2"/>
            <a:r>
              <a:rPr lang="en-US" dirty="0"/>
              <a:t>Your turned in paper assignments</a:t>
            </a:r>
          </a:p>
          <a:p>
            <a:r>
              <a:rPr lang="en-US" dirty="0"/>
              <a:t>What is a </a:t>
            </a:r>
            <a:r>
              <a:rPr lang="en-US" b="1" dirty="0"/>
              <a:t>Queue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Another sequential structure of </a:t>
            </a:r>
            <a:r>
              <a:rPr lang="en-US" b="1" dirty="0"/>
              <a:t>items</a:t>
            </a:r>
          </a:p>
          <a:p>
            <a:pPr lvl="1"/>
            <a:r>
              <a:rPr lang="en-US" dirty="0"/>
              <a:t>that are</a:t>
            </a:r>
            <a:r>
              <a:rPr lang="en-US" b="1" dirty="0"/>
              <a:t> pushed at one end</a:t>
            </a:r>
          </a:p>
          <a:p>
            <a:pPr lvl="1"/>
            <a:r>
              <a:rPr lang="en-US" b="1" dirty="0"/>
              <a:t>Pulled </a:t>
            </a:r>
            <a:r>
              <a:rPr lang="en-US" dirty="0"/>
              <a:t>via</a:t>
            </a:r>
            <a:r>
              <a:rPr lang="en-US" b="1" dirty="0"/>
              <a:t> </a:t>
            </a:r>
            <a:r>
              <a:rPr lang="en-US" dirty="0"/>
              <a:t>the</a:t>
            </a:r>
            <a:r>
              <a:rPr lang="en-US" b="1" dirty="0"/>
              <a:t> opposite end</a:t>
            </a:r>
          </a:p>
          <a:p>
            <a:pPr lvl="1"/>
            <a:r>
              <a:rPr lang="en-US" b="1" dirty="0"/>
              <a:t>FIFO</a:t>
            </a:r>
            <a:r>
              <a:rPr lang="en-US" dirty="0"/>
              <a:t> : First In First Out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/>
              <a:t>Queue for buying tickets</a:t>
            </a:r>
          </a:p>
          <a:p>
            <a:pPr lvl="2"/>
            <a:r>
              <a:rPr lang="en-US" dirty="0"/>
              <a:t>Traffic in one way single lane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C3E84-BAA0-4755-B397-ECE0CB00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1710293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67EB7-FC80-227F-6B6C-0D979456D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</a:t>
            </a:r>
            <a:r>
              <a:rPr lang="en-US" b="1" dirty="0"/>
              <a:t>prefix</a:t>
            </a:r>
            <a:r>
              <a:rPr lang="en-US" dirty="0"/>
              <a:t>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56AB4-1F51-A74F-12F5-061A8D8B3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Infix : (5+6)*3 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* + 5 6 3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- + 2 * 3 4 / 16 ^ 2 3</a:t>
            </a:r>
          </a:p>
          <a:p>
            <a:r>
              <a:rPr lang="en-US" dirty="0">
                <a:sym typeface="Wingdings" panose="05000000000000000000" pitchFamily="2" charset="2"/>
              </a:rPr>
              <a:t>Algorithm (harder way)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Scan from right to left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Anytime you find an operator 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Evaluate the operation using the previous 2 operands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Replace the </a:t>
            </a:r>
            <a:r>
              <a:rPr lang="en-US" dirty="0"/>
              <a:t>&lt;</a:t>
            </a:r>
            <a:r>
              <a:rPr lang="en-US" i="1" dirty="0">
                <a:solidFill>
                  <a:schemeClr val="tx2">
                    <a:lumMod val="75000"/>
                    <a:lumOff val="25000"/>
                  </a:schemeClr>
                </a:solidFill>
                <a:latin typeface="Bahnschrift SemiBold" panose="020B0502040204020203" pitchFamily="34" charset="0"/>
              </a:rPr>
              <a:t>operator</a:t>
            </a:r>
            <a:r>
              <a:rPr lang="en-US" dirty="0"/>
              <a:t>&gt;  &lt;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operand</a:t>
            </a:r>
            <a:r>
              <a:rPr lang="en-US" dirty="0"/>
              <a:t>&gt; &lt;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operand</a:t>
            </a:r>
            <a:r>
              <a:rPr lang="en-US" dirty="0"/>
              <a:t>&gt; with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result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in the expression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Repeat the steps till only 1 operand is left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A5EA8-8E52-3BA2-1D1B-5AE6B9294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2201004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D9CCC-B73A-534F-54B8-DDB86625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postfix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A0144-D9A8-B144-B5F0-B30C28CF7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Evaluate </a:t>
            </a:r>
          </a:p>
          <a:p>
            <a:pPr lvl="1"/>
            <a:r>
              <a:rPr lang="en-US" dirty="0"/>
              <a:t>2 3 1 * + 9 –</a:t>
            </a:r>
          </a:p>
          <a:p>
            <a:pPr lvl="1"/>
            <a:r>
              <a:rPr lang="en-US" dirty="0"/>
              <a:t>5 3 + 6 2 / * 3 5 * +</a:t>
            </a:r>
          </a:p>
          <a:p>
            <a:r>
              <a:rPr lang="en-US" i="1" dirty="0"/>
              <a:t>Algorithm to evaluate (use </a:t>
            </a:r>
            <a:r>
              <a:rPr lang="en-US" b="1" i="1" dirty="0"/>
              <a:t>stack</a:t>
            </a:r>
            <a:r>
              <a:rPr lang="en-US" i="1" dirty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Push the operands in a stack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When you encounter a operator </a:t>
            </a:r>
          </a:p>
          <a:p>
            <a:pPr lvl="2"/>
            <a:r>
              <a:rPr lang="en-US" dirty="0"/>
              <a:t>Pop 2 operands</a:t>
            </a:r>
          </a:p>
          <a:p>
            <a:pPr lvl="2"/>
            <a:r>
              <a:rPr lang="en-US" dirty="0"/>
              <a:t>Perform the operation on operands</a:t>
            </a:r>
          </a:p>
          <a:p>
            <a:pPr lvl="2"/>
            <a:r>
              <a:rPr lang="en-US" dirty="0"/>
              <a:t>Push the result in stack </a:t>
            </a:r>
          </a:p>
          <a:p>
            <a:pPr lvl="1"/>
            <a:r>
              <a:rPr lang="en-US" dirty="0"/>
              <a:t>Repeat from 1 until expression is parsed</a:t>
            </a:r>
          </a:p>
          <a:p>
            <a:pPr lvl="1"/>
            <a:r>
              <a:rPr lang="en-US" dirty="0"/>
              <a:t>The last item in stack is the answer</a:t>
            </a:r>
          </a:p>
          <a:p>
            <a:pPr lvl="2"/>
            <a:r>
              <a:rPr lang="en-US" dirty="0"/>
              <a:t>There would be only 1 item left when done correctly</a:t>
            </a:r>
          </a:p>
          <a:p>
            <a:r>
              <a:rPr lang="en-US" dirty="0"/>
              <a:t>* prefix expr can also be evaluated in this way ( </a:t>
            </a:r>
            <a:r>
              <a:rPr lang="en-US" i="1" dirty="0"/>
              <a:t>just in </a:t>
            </a:r>
            <a:r>
              <a:rPr lang="en-US" b="1" i="1" dirty="0"/>
              <a:t>reverse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1BEF0-D4B5-79D3-99C5-AE3F44B40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137017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43874-CB60-DB45-CE8B-7A74B5117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17527-44D3-CD21-C2E1-0160D8339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Prefix </a:t>
            </a:r>
          </a:p>
          <a:p>
            <a:pPr lvl="1"/>
            <a:r>
              <a:rPr lang="en-US" dirty="0"/>
              <a:t>- * 5 + - 4 2 2 / 6 3</a:t>
            </a:r>
          </a:p>
          <a:p>
            <a:pPr lvl="1"/>
            <a:r>
              <a:rPr lang="en-US" dirty="0"/>
              <a:t>- * + 3 5 7 + / 4 2 1</a:t>
            </a:r>
          </a:p>
          <a:p>
            <a:pPr lvl="1"/>
            <a:r>
              <a:rPr lang="en-US" dirty="0"/>
              <a:t>- + 10 * 2 3 + 4 / 5 5</a:t>
            </a:r>
          </a:p>
          <a:p>
            <a:r>
              <a:rPr lang="en-US" dirty="0"/>
              <a:t>Postfix </a:t>
            </a:r>
          </a:p>
          <a:p>
            <a:pPr lvl="1"/>
            <a:r>
              <a:rPr lang="en-US" dirty="0"/>
              <a:t>1 2 + 3 4 + * 5 6 - / 7 +</a:t>
            </a:r>
          </a:p>
          <a:p>
            <a:pPr lvl="1"/>
            <a:r>
              <a:rPr lang="en-US" dirty="0"/>
              <a:t>8 2 / 3 4 + * 5 1 + 2 / -</a:t>
            </a:r>
          </a:p>
          <a:p>
            <a:pPr lvl="1"/>
            <a:r>
              <a:rPr lang="en-US" dirty="0"/>
              <a:t>9 8 4 2 1 ^ * / - 3 +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30C2C-A857-2CE9-4877-556490D84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2073502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49718-FD7B-BBC3-1D54-780109F2D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7F6AF-3B4E-C1A2-4EB1-34DC6F5AA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C4B36-8522-51F2-8F37-212F894EF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Prefix </a:t>
            </a:r>
          </a:p>
          <a:p>
            <a:pPr lvl="1"/>
            <a:r>
              <a:rPr lang="en-US" dirty="0"/>
              <a:t>- * 5 + - 4 2 2 / 6 3</a:t>
            </a:r>
          </a:p>
          <a:p>
            <a:pPr lvl="2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Ans :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18</a:t>
            </a:r>
          </a:p>
          <a:p>
            <a:pPr lvl="1"/>
            <a:r>
              <a:rPr lang="en-US" dirty="0"/>
              <a:t>- * + 3 5 7 + / 4 2 1</a:t>
            </a:r>
          </a:p>
          <a:p>
            <a:pPr lvl="2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Ans :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53</a:t>
            </a:r>
          </a:p>
          <a:p>
            <a:pPr lvl="1"/>
            <a:r>
              <a:rPr lang="en-US" dirty="0"/>
              <a:t>- + 10 * 2 3 + 4 / 5 5</a:t>
            </a:r>
          </a:p>
          <a:p>
            <a:pPr lvl="2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Ans :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11</a:t>
            </a:r>
          </a:p>
          <a:p>
            <a:r>
              <a:rPr lang="en-US" dirty="0"/>
              <a:t>Postfix </a:t>
            </a:r>
          </a:p>
          <a:p>
            <a:pPr lvl="1"/>
            <a:r>
              <a:rPr lang="en-US" dirty="0"/>
              <a:t>1 2 + 3 4 + * 5 6 - / 7 +</a:t>
            </a:r>
          </a:p>
          <a:p>
            <a:pPr lvl="2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Ans :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-14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  <a:p>
            <a:pPr lvl="1"/>
            <a:r>
              <a:rPr lang="en-US" dirty="0"/>
              <a:t>8 2 / 3 4 + * 5 1 + 2 / -</a:t>
            </a:r>
          </a:p>
          <a:p>
            <a:pPr lvl="2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Ans :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25</a:t>
            </a:r>
          </a:p>
          <a:p>
            <a:pPr lvl="1"/>
            <a:r>
              <a:rPr lang="en-US" dirty="0"/>
              <a:t>9 8 4 2 1 ^ * / - 3 +</a:t>
            </a:r>
          </a:p>
          <a:p>
            <a:pPr lvl="2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Ans :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11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017D47-227F-8158-DD87-C6DC14A78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3358036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E714B-546B-8601-A89D-A057C4A1A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Practice: Programming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06790-5F81-C6BD-1C95-31862CB35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function that takes a string and checks if it is a palindrome</a:t>
            </a:r>
          </a:p>
          <a:p>
            <a:pPr lvl="1"/>
            <a:r>
              <a:rPr lang="en-US" dirty="0"/>
              <a:t>Returns true if palindrome is found else false</a:t>
            </a:r>
          </a:p>
          <a:p>
            <a:pPr lvl="1"/>
            <a:r>
              <a:rPr lang="en-US" dirty="0"/>
              <a:t>Hints:  string indexing, loops, if , comparing characters</a:t>
            </a:r>
          </a:p>
          <a:p>
            <a:r>
              <a:rPr lang="en-US" dirty="0"/>
              <a:t>Count the number of vowels, consonants in a sentence.</a:t>
            </a:r>
          </a:p>
          <a:p>
            <a:pPr lvl="1"/>
            <a:r>
              <a:rPr lang="en-US" dirty="0"/>
              <a:t>Vowels : </a:t>
            </a:r>
            <a:r>
              <a:rPr lang="en-US" dirty="0" err="1"/>
              <a:t>a,e,i,o,u</a:t>
            </a:r>
            <a:endParaRPr lang="en-US" dirty="0"/>
          </a:p>
          <a:p>
            <a:pPr lvl="1"/>
            <a:r>
              <a:rPr lang="en-US" dirty="0"/>
              <a:t>Consonant : everything else other than vowels</a:t>
            </a:r>
          </a:p>
          <a:p>
            <a:pPr lvl="1"/>
            <a:r>
              <a:rPr lang="en-US" dirty="0"/>
              <a:t>Ignore : spaces (‘ ’,) comma(,) dash(-),semicolon(;),colon(</a:t>
            </a:r>
            <a:r>
              <a:rPr lang="en-US" dirty="0">
                <a:sym typeface="Wingdings" panose="05000000000000000000" pitchFamily="2" charset="2"/>
              </a:rPr>
              <a:t> : )</a:t>
            </a:r>
            <a:r>
              <a:rPr lang="en-US" dirty="0"/>
              <a:t> </a:t>
            </a:r>
          </a:p>
          <a:p>
            <a:r>
              <a:rPr lang="en-US" dirty="0"/>
              <a:t>Find the most frequent word in a sentence</a:t>
            </a:r>
          </a:p>
          <a:p>
            <a:pPr lvl="1"/>
            <a:r>
              <a:rPr lang="en-US" dirty="0"/>
              <a:t>If more than 1 word has same frequency return the lexicographically smaller one.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3A4E3D-D25E-39BB-AC3F-07C40080F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1776652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940</Words>
  <Application>Microsoft Office PowerPoint</Application>
  <PresentationFormat>Widescreen</PresentationFormat>
  <Paragraphs>155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Bahnschrift SemiBold</vt:lpstr>
      <vt:lpstr>Cascadia Code</vt:lpstr>
      <vt:lpstr>Wingdings</vt:lpstr>
      <vt:lpstr>Office Theme</vt:lpstr>
      <vt:lpstr>Test 1, observations</vt:lpstr>
      <vt:lpstr>Test 2 , analysis</vt:lpstr>
      <vt:lpstr>Topics for Test 2</vt:lpstr>
      <vt:lpstr>Infix expressions</vt:lpstr>
      <vt:lpstr>Expression : anatomy </vt:lpstr>
      <vt:lpstr>Prefix/Postfix expressions</vt:lpstr>
      <vt:lpstr>Evaluating expression,  but first Stacks and Queues </vt:lpstr>
      <vt:lpstr>Evaluating prefix expression</vt:lpstr>
      <vt:lpstr>Evaluating postfix expression</vt:lpstr>
      <vt:lpstr>Evaluate </vt:lpstr>
      <vt:lpstr>Answers </vt:lpstr>
      <vt:lpstr>Practice: Programming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Sankalp Gupta</dc:creator>
  <cp:lastModifiedBy>Sankalp Gupta</cp:lastModifiedBy>
  <cp:revision>2</cp:revision>
  <dcterms:created xsi:type="dcterms:W3CDTF">2026-01-16T06:25:00Z</dcterms:created>
  <dcterms:modified xsi:type="dcterms:W3CDTF">2026-01-16T06:27:50Z</dcterms:modified>
</cp:coreProperties>
</file>